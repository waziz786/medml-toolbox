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356" autoAdjust="0"/>
  </p:normalViewPr>
  <p:slideViewPr>
    <p:cSldViewPr snapToGrid="0" snapToObjects="1">
      <p:cViewPr varScale="1">
        <p:scale>
          <a:sx n="47" d="100"/>
          <a:sy n="47" d="100"/>
        </p:scale>
        <p:origin x="139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39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separating the prediction question from the clinical decision. This deck asks whether information available at ED triage can rank stays by a later hospitalization label. It is a retrospective benchmark, not a deployed triage recommendation. The notebook keeps patients disjoint between training and test, evaluates on the original held-out population, and then explains the fitted Gradient Boosting model. The positive class is not rare in this M4 test population: approximately 47.2 percent of held-out stays are hospitalized. That changes how to interpret PPV, NPV, average precision, and accuracy compared with the previous critical-outcome module. The through-line is disciplined interpretation: define the label, protect the time boundary, read the metrics, then interrogate the model without turning associations into causes.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M1 established what a row means and why time is part of the data definition. One row is one ED stay. A triage measurement is not interchangeable with a later measurement simply because both are numeric. M1 also separated raw fields, imputed analysis fields, identifiers, and outcome-related audit columns. M4 inherits that contract. The question changes from length of stay or another prior module outcome to hospitalization, but the modeling discipline does not change. If a downstream field is predictive because it records what happened after the decision, it belongs in the audit trail, not in the model inputs.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M2 supplied the reusable workflow: name the question, identify the target, choose the feature boundary, split data in a way that respects dependence, fit a baseline, and evaluate on held-out data. M4 is a classification problem because hospitalization is represented as yes or no. The target is not a vague clinical idea; it is a specific operational definition in the source table. The features are not all columns that happen to exist; they are the columns that could plausibly be available around triage. The split is not just a random row split because the same subject can have multiple stays. Each of those choices is part of the model, even though it is not an algorithm name.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target is explicit: outcome_hospitalization equals one when hadm_id is present. That definition uses a field that becomes known after the triage-time prediction point. It is therefore appropriate for constructing and auditing the label, but it must not be used as an input. The timeline is the key distinction. Arrival and triage define the index window. The ED course and disposition happen later. A model can be evaluated against a later outcome, but it cannot use the later outcome or a downstream proxy while claiming to predict from triage. This is a retrospective prediction task, not a causal model of admission decisions.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feature boundary is a modeling assumption about availability. The notebook uses triage measurements, demographic and arrival context, prior utilization counts, chief-complaint indicators, and comorbidity indicators. It excludes hadm_id because that defines the target, along with disposition, ED departure fields, later measurements, downstream outcomes, ICU timing, and other post-index information. The important teaching point is that a feature can be highly predictive and still be invalid for the intended use if it is recorded after the prediction moment. The model answers the question created by this boundary, not every question that could be answered with the full source table.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held-out M4 test set contains 9,926 stays, with 4,686 hospitalized and 5,240 not hospitalized, or about 47.2 percent positive. The exact counts come from the Gradient Boosting row, but all models are evaluated on the same test rows. Patient-disjoint splitting matters because repeated observations from the same subject can otherwise make the task look easier than generalizing to a new patient. Prevalence matters because predictive values depend on the population being evaluated. A PPV measured in this source table is not a universal property of the model. It can change with hospital, period, case mix, admission practice, or deployment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candidate models form a ladder from a no-information reference to nonlinear ensembles. The prior dummy predicts from the class prior and provides a floor. Logistic regression is a transparent linear baseline after preprocessing. Random Forest averages many trees. Gradient Boosting builds trees sequentially, using later trees to improve earlier residual errors. All models use the same declared feature boundary and the same patient-disjoint test partition. The deck will later focus on Gradient Boosting for native importance and SHAP. That is an explainability choice, not a claim that Gradient Boosting has the highest AUROC: the current Random Forest row has the highest AUROC. A fair presentation should say both things clearly.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the metrics before showing results. AUROC is the probability that a randomly chosen hospitalized stay receives a higher score than a randomly chosen non-hospitalized stay; it summarizes ranking across thresholds. Average precision summarizes the precision-recall relationship and keeps attention on the positive class. Sensitivity is the fraction of hospitalized stays flagged. Specificity is the fraction of non-hospitalized stays not flagged. PPV is the fraction of flagged stays that are hospitalized. NPV is the fraction of unflagged stays that are not hospitalized. AUROC and average precision do not choose an action threshold. Sensitivity, specificity, PPV, and NPV do. That distinction prevents a common mistake: treating a ranking score as if it were already a clinical policy.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held-out test set, Random Forest has the highest AUROC at 0.824, with logistic regression close behind at 0.821. Gradient Boosting is lower at 0.813, while the prior dummy sits at 0.500. Average precision is approximately 0.794 for Random Forest and logistic regression, 0.783 for Gradient Boosting, and 0.472 for the prior dummy, which matches the positive prevalence. At the default 0.50 threshold, the model rows also show different sensitivity and PPV. The teaching choice here is deliberately transparent: we use Gradient Boosting for native feature importance and SHAP because the M4 explainability request is about that fitted model. Do not silently convert that choice into a performance claim.</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left panel as a ranking view across false-positive rates. A curve closer to the upper-left generally indicates stronger discrimination, and the legend gives AUROC. Read the right panel as a positive-class view: as recall increases, what precision remains? The horizontal reference is the prior positive prevalence. Because hospitalization is close to half the test population here, the precision-recall baseline is much higher than it was for a rare critical outcome. The curves should not be used to choose a clinical threshold by themselves. They show the available trade-off; the intended action, capacity, and cost of errors must choose the operating point.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Gradient Boosting threshold table makes the policy choice visible. At 0.25, sensitivity is 0.956 but there are 3,285 false positives. At 0.50, sensitivity is 0.744, specificity is 0.736, PPV is 0.716, and there are 1,385 false positives. At 0.75, specificity rises to 0.955 and PPV to 0.856, but sensitivity falls to 0.299 and 3,286 hospitalized stays are missed. These are not competing truths; they are different operating points. A threshold should be chosen with an explicit action, available review capacity, and a stated cost for missed hospitalization versus unnecessary attention. The default 0.50 cutoff is a convention, not a clinical threshold.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confusion matrix translates rates into counts. At the 0.50 cutoff, Gradient Boosting correctly flags 3,487 hospitalized stays and misses 1,199. It flags 1,385 non-hospitalized stays and correctly leaves 3,855 negative. True positives and false negatives are the hospitalized cases the model does or does not flag. False positives and true negatives describe the non-hospitalized population. The operational meaning depends on what a positive alert triggers. A false positive may consume review capacity; a false negative may delay attention. Counts should be shown next to rates because a seemingly acceptable rate can still create a large workload in a high-volume 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Calibration asks whether the numerical score means what it says. A perfectly calibrated group with average prediction 0.70 would have an observed hospitalization fraction near 0.70. The diagonal is that reference. Points below the diagonal indicate overprediction in those bins; points above indicate underprediction. The current Gradient Boosting curve is below the diagonal at lower predicted values and closer to or above it at the upper end. This is a descriptive test-set curve, not a guarantee that the relationship will hold in another hospital or period. A model can have useful ranking and imperfect probability meaning. If the score will be communicated as risk, calibration needs its own validation and potentially a recalibration procedure.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grouped three-fold cross-validation results are 0.822, 0.822, and 0.826, with a mean of approximately 0.823 and a small fold-to-fold standard deviation. This suggests limited variation across these training folds under the same grouping rule. It is still an internal stability check, not external validation. The held-out test set should remain reserved for the final comparison rather than repeatedly tuning against it. Cross-validation also cannot establish that the model transports across hospitals, time periods, admission practices, or patient populations. Nor does it answer whether an alert improves care. Those questions need separate validation designs.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Permutation importance is the first global influence lens. It starts from the held-out test rows, shuffles one raw feature, and measures how much the complete pipeline's AUROC falls. The current ranking is led by triage acuity, age, arrival transport, and prior hospitalization counts. This is a statement about predictive dependence in this fitted pipeline and these held-out rows. It is not a causal effect, a biological mechanism, or proof that removing a feature would change care. Correlated variables can substitute for one another, so shuffling one may understate shared information. Workflow variables can also be proxies for severity, access, or documentation.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defines the three influence concepts before showing the results. Permutation importance is a held-out performance perturbation. Native Gradient Boosting importance comes from the fitted tree estimator and reflects split-based importance over transformed inputs. SHAP assigns additive per-row contributions relative to a baseline model output. These methods answer different questions and should not be expected to produce identical rankings. The notebook groups one-hot categorical levels and missingness indicators back to their source feature for readability. That grouping improves communication but hides which level or indicator carried the contribution. Most importantly, predictive importance is not causality. A feature can be informative because it is a proxy, a correlated signal, or a workflow artifact.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native Gradient Boosting and mean absolute SHAP summaries agree on the leading source features: triage acuity, age, arrival transport, and n_hosp_365d, followed by n_hosp_90d and selected clinical indicators. Native importance gives triage_acuity approximately 0.448 of the summed transformed split importance; age is approximately 0.172; arrival transport is approximately 0.164; and n_hosp_365d is approximately 0.084. Mean absolute SHAP is largest for triage_acuity at about 0.549, followed by age at 0.320, arrival_transport at 0.306, and n_hosp_365d at 0.137. Agreement is reassuring as a descriptive pattern, but it does not validate a causal story. One-hot levels are aggregated to the source feature, so the chart intentionally answers at the source-feature level.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direction plot uses grouped source-feature SHAP values. The zero line is the neutral point. The red dot is the mean signed contribution across the held-out explainability sample, and the gray line spans the observed minimum to maximum contribution. Positive values move the model toward a hospitalization prediction; negative values move it away. The mean can be close to zero even when a feature matters strongly in both directions, which is why mean absolute SHAP is the main global ranking measure. For this scikit-learn Gradient Boosting estimator, TreeExplainer values are additive on the estimator's raw model-output scale. They should not be described as direct percentage-point changes in predicted probability. A feature's direction can also vary by patient and by interaction with other features.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final table is local rather than global. For each sampled held-out row it reports the observed outcome, the Gradient Boosting predicted probability, and the three largest positive and negative grouped source-feature contributions. A positive contribution pushes the raw model output toward hospitalization relative to the model baseline; a negative contribution pushes it away. The table can help audit an individual score: do the dominant contributors look like triage-time information, are missingness indicators involved, and does the case sit near the chosen threshold? It should not be used to write a causal story about the patient. The explanation belongs to this model, preprocessing, sample, and baseline. It is one useful audit view, not proof that the model is clinically correct.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933"/>
        </a:solidFill>
        <a:effectLst/>
      </p:bgPr>
    </p:bg>
    <p:spTree>
      <p:nvGrpSpPr>
        <p:cNvPr id="1" name=""/>
        <p:cNvGrpSpPr/>
        <p:nvPr/>
      </p:nvGrpSpPr>
      <p:grpSpPr>
        <a:xfrm>
          <a:off x="0" y="0"/>
          <a:ext cx="0" cy="0"/>
          <a:chOff x="0" y="0"/>
          <a:chExt cx="0" cy="0"/>
        </a:xfrm>
      </p:grpSpPr>
      <p:sp>
        <p:nvSpPr>
          <p:cNvPr id="2" name="Rectangle 1"/>
          <p:cNvSpPr/>
          <p:nvPr/>
        </p:nvSpPr>
        <p:spPr>
          <a:xfrm>
            <a:off x="0" y="0"/>
            <a:ext cx="219456" cy="6858000"/>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19456" y="0"/>
            <a:ext cx="109728" cy="685800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713232"/>
            <a:ext cx="7132320" cy="256032"/>
          </a:xfrm>
          <a:prstGeom prst="rect">
            <a:avLst/>
          </a:prstGeom>
          <a:noFill/>
        </p:spPr>
        <p:txBody>
          <a:bodyPr wrap="square" lIns="54864" tIns="54864" rIns="54864" bIns="54864" anchor="t">
            <a:spAutoFit/>
          </a:bodyPr>
          <a:lstStyle/>
          <a:p>
            <a:pPr algn="l"/>
            <a:r>
              <a:rPr sz="1200" b="1">
                <a:solidFill>
                  <a:srgbClr val="F59E0B"/>
                </a:solidFill>
                <a:latin typeface="Aptos"/>
              </a:rPr>
              <a:t>M4  /  HOSPITALIZATION AT ED TRIAGE</a:t>
            </a:r>
          </a:p>
        </p:txBody>
      </p:sp>
      <p:sp>
        <p:nvSpPr>
          <p:cNvPr id="5" name="TextBox 4"/>
          <p:cNvSpPr txBox="1"/>
          <p:nvPr/>
        </p:nvSpPr>
        <p:spPr>
          <a:xfrm>
            <a:off x="749808" y="1371600"/>
            <a:ext cx="10241280" cy="868680"/>
          </a:xfrm>
          <a:prstGeom prst="rect">
            <a:avLst/>
          </a:prstGeom>
          <a:noFill/>
        </p:spPr>
        <p:txBody>
          <a:bodyPr wrap="square" lIns="54864" tIns="54864" rIns="54864" bIns="54864" anchor="t">
            <a:spAutoFit/>
          </a:bodyPr>
          <a:lstStyle/>
          <a:p>
            <a:pPr algn="l"/>
            <a:r>
              <a:rPr sz="3800" b="1">
                <a:solidFill>
                  <a:srgbClr val="FFFFFF"/>
                </a:solidFill>
                <a:latin typeface="Aptos Display"/>
              </a:rPr>
              <a:t>Can triage information anticipate a hospital stay?</a:t>
            </a:r>
          </a:p>
        </p:txBody>
      </p:sp>
      <p:sp>
        <p:nvSpPr>
          <p:cNvPr id="6" name="TextBox 5"/>
          <p:cNvSpPr txBox="1"/>
          <p:nvPr/>
        </p:nvSpPr>
        <p:spPr>
          <a:xfrm>
            <a:off x="786384" y="2487168"/>
            <a:ext cx="9784080" cy="502920"/>
          </a:xfrm>
          <a:prstGeom prst="rect">
            <a:avLst/>
          </a:prstGeom>
          <a:noFill/>
        </p:spPr>
        <p:txBody>
          <a:bodyPr wrap="square" lIns="54864" tIns="54864" rIns="54864" bIns="54864" anchor="t">
            <a:spAutoFit/>
          </a:bodyPr>
          <a:lstStyle/>
          <a:p>
            <a:pPr algn="l"/>
            <a:r>
              <a:rPr sz="2100" b="0">
                <a:solidFill>
                  <a:srgbClr val="E2E8F0"/>
                </a:solidFill>
                <a:latin typeface="Aptos"/>
              </a:rPr>
              <a:t>A patient-disjoint benchmark from target definition through explainable Gradient Boosting</a:t>
            </a:r>
          </a:p>
        </p:txBody>
      </p:sp>
      <p:sp>
        <p:nvSpPr>
          <p:cNvPr id="7" name="Rectangle 6"/>
          <p:cNvSpPr/>
          <p:nvPr/>
        </p:nvSpPr>
        <p:spPr>
          <a:xfrm>
            <a:off x="786384" y="3401568"/>
            <a:ext cx="1188720" cy="640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6384" y="3950208"/>
            <a:ext cx="2743200" cy="256032"/>
          </a:xfrm>
          <a:prstGeom prst="rect">
            <a:avLst/>
          </a:prstGeom>
          <a:noFill/>
        </p:spPr>
        <p:txBody>
          <a:bodyPr wrap="square" lIns="54864" tIns="54864" rIns="54864" bIns="54864" anchor="t">
            <a:spAutoFit/>
          </a:bodyPr>
          <a:lstStyle/>
          <a:p>
            <a:pPr algn="l"/>
            <a:r>
              <a:rPr sz="1500" b="1">
                <a:solidFill>
                  <a:srgbClr val="F59E0B"/>
                </a:solidFill>
                <a:latin typeface="Aptos"/>
              </a:rPr>
              <a:t>The teaching question</a:t>
            </a:r>
          </a:p>
        </p:txBody>
      </p:sp>
      <p:sp>
        <p:nvSpPr>
          <p:cNvPr id="9" name="TextBox 8"/>
          <p:cNvSpPr txBox="1"/>
          <p:nvPr/>
        </p:nvSpPr>
        <p:spPr>
          <a:xfrm>
            <a:off x="786384" y="4315968"/>
            <a:ext cx="9052560" cy="594360"/>
          </a:xfrm>
          <a:prstGeom prst="rect">
            <a:avLst/>
          </a:prstGeom>
          <a:noFill/>
        </p:spPr>
        <p:txBody>
          <a:bodyPr wrap="square" lIns="54864" tIns="54864" rIns="54864" bIns="54864" anchor="t">
            <a:spAutoFit/>
          </a:bodyPr>
          <a:lstStyle/>
          <a:p>
            <a:pPr algn="l"/>
            <a:r>
              <a:rPr sz="2000" b="1">
                <a:solidFill>
                  <a:srgbClr val="FFFFFF"/>
                </a:solidFill>
                <a:latin typeface="Aptos"/>
              </a:rPr>
              <a:t>What does a model learn, how should its score be evaluated, and what can an explanation honestly tell us?</a:t>
            </a:r>
          </a:p>
        </p:txBody>
      </p:sp>
      <p:sp>
        <p:nvSpPr>
          <p:cNvPr id="10" name="TextBox 9"/>
          <p:cNvSpPr txBox="1"/>
          <p:nvPr/>
        </p:nvSpPr>
        <p:spPr>
          <a:xfrm>
            <a:off x="786384" y="6236208"/>
            <a:ext cx="8138160" cy="280077"/>
          </a:xfrm>
          <a:prstGeom prst="rect">
            <a:avLst/>
          </a:prstGeom>
          <a:noFill/>
        </p:spPr>
        <p:txBody>
          <a:bodyPr wrap="square" lIns="54864" tIns="54864" rIns="54864" bIns="54864" anchor="t">
            <a:spAutoFit/>
          </a:bodyPr>
          <a:lstStyle/>
          <a:p>
            <a:pPr algn="l"/>
            <a:r>
              <a:rPr sz="1100" b="0" dirty="0">
                <a:solidFill>
                  <a:srgbClr val="E2E8F0"/>
                </a:solidFill>
                <a:latin typeface="Aptos"/>
              </a:rPr>
              <a:t>  9,926 held-out stays  |  47.2% hospitalized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6"/>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1D4ED8"/>
                </a:solidFill>
                <a:latin typeface="Aptos"/>
              </a:rPr>
              <a:t>M1 RECAP</a:t>
            </a:r>
          </a:p>
        </p:txBody>
      </p:sp>
      <p:sp>
        <p:nvSpPr>
          <p:cNvPr id="3" name="TextBox 2"/>
          <p:cNvSpPr txBox="1"/>
          <p:nvPr/>
        </p:nvSpPr>
        <p:spPr>
          <a:xfrm>
            <a:off x="566928" y="530352"/>
            <a:ext cx="10287000" cy="594360"/>
          </a:xfrm>
          <a:prstGeom prst="rect">
            <a:avLst/>
          </a:prstGeom>
          <a:noFill/>
        </p:spPr>
        <p:txBody>
          <a:bodyPr wrap="square" lIns="54864" tIns="54864" rIns="54864" bIns="54864" anchor="t">
            <a:spAutoFit/>
          </a:bodyPr>
          <a:lstStyle/>
          <a:p>
            <a:pPr algn="l"/>
            <a:r>
              <a:rPr sz="3000" b="1">
                <a:solidFill>
                  <a:srgbClr val="1F2933"/>
                </a:solidFill>
                <a:latin typeface="Aptos Display"/>
              </a:rPr>
              <a:t>The data contract comes before the model</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64748B"/>
                </a:solidFill>
                <a:latin typeface="Aptos"/>
              </a:rPr>
              <a:t>M4  /  02</a:t>
            </a:r>
          </a:p>
        </p:txBody>
      </p:sp>
      <p:sp>
        <p:nvSpPr>
          <p:cNvPr id="5" name="Rectangle 4"/>
          <p:cNvSpPr/>
          <p:nvPr/>
        </p:nvSpPr>
        <p:spPr>
          <a:xfrm>
            <a:off x="566928" y="1243584"/>
            <a:ext cx="11064240" cy="32004"/>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1737360"/>
            <a:ext cx="109728" cy="868680"/>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 y="1773936"/>
            <a:ext cx="2560320" cy="274320"/>
          </a:xfrm>
          <a:prstGeom prst="rect">
            <a:avLst/>
          </a:prstGeom>
          <a:noFill/>
        </p:spPr>
        <p:txBody>
          <a:bodyPr wrap="square" lIns="54864" tIns="54864" rIns="54864" bIns="54864" anchor="t">
            <a:spAutoFit/>
          </a:bodyPr>
          <a:lstStyle/>
          <a:p>
            <a:pPr algn="l"/>
            <a:r>
              <a:rPr sz="2100" b="1">
                <a:solidFill>
                  <a:srgbClr val="1F2933"/>
                </a:solidFill>
                <a:latin typeface="Aptos Display"/>
              </a:rPr>
              <a:t>Row grain</a:t>
            </a:r>
          </a:p>
        </p:txBody>
      </p:sp>
      <p:sp>
        <p:nvSpPr>
          <p:cNvPr id="8" name="TextBox 7"/>
          <p:cNvSpPr txBox="1"/>
          <p:nvPr/>
        </p:nvSpPr>
        <p:spPr>
          <a:xfrm>
            <a:off x="1115568" y="2176272"/>
            <a:ext cx="4709160" cy="320040"/>
          </a:xfrm>
          <a:prstGeom prst="rect">
            <a:avLst/>
          </a:prstGeom>
          <a:noFill/>
        </p:spPr>
        <p:txBody>
          <a:bodyPr wrap="square" lIns="54864" tIns="54864" rIns="54864" bIns="54864" anchor="t">
            <a:spAutoFit/>
          </a:bodyPr>
          <a:lstStyle/>
          <a:p>
            <a:pPr algn="l"/>
            <a:r>
              <a:rPr sz="1600" b="0" dirty="0">
                <a:solidFill>
                  <a:srgbClr val="2A3742"/>
                </a:solidFill>
                <a:latin typeface="Aptos"/>
              </a:rPr>
              <a:t>one record represents one ED stay</a:t>
            </a:r>
          </a:p>
        </p:txBody>
      </p:sp>
      <p:sp>
        <p:nvSpPr>
          <p:cNvPr id="9" name="Rectangle 8"/>
          <p:cNvSpPr/>
          <p:nvPr/>
        </p:nvSpPr>
        <p:spPr>
          <a:xfrm>
            <a:off x="6309360" y="1737360"/>
            <a:ext cx="109728" cy="86868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01968" y="1773936"/>
            <a:ext cx="2560320" cy="274320"/>
          </a:xfrm>
          <a:prstGeom prst="rect">
            <a:avLst/>
          </a:prstGeom>
          <a:noFill/>
        </p:spPr>
        <p:txBody>
          <a:bodyPr wrap="square" lIns="54864" tIns="54864" rIns="54864" bIns="54864" anchor="t">
            <a:spAutoFit/>
          </a:bodyPr>
          <a:lstStyle/>
          <a:p>
            <a:pPr algn="l"/>
            <a:r>
              <a:rPr sz="2100" b="1">
                <a:solidFill>
                  <a:srgbClr val="1F2933"/>
                </a:solidFill>
                <a:latin typeface="Aptos Display"/>
              </a:rPr>
              <a:t>Availability</a:t>
            </a:r>
          </a:p>
        </p:txBody>
      </p:sp>
      <p:sp>
        <p:nvSpPr>
          <p:cNvPr id="11" name="TextBox 10"/>
          <p:cNvSpPr txBox="1"/>
          <p:nvPr/>
        </p:nvSpPr>
        <p:spPr>
          <a:xfrm>
            <a:off x="6601968" y="2176272"/>
            <a:ext cx="4709160" cy="320040"/>
          </a:xfrm>
          <a:prstGeom prst="rect">
            <a:avLst/>
          </a:prstGeom>
          <a:noFill/>
        </p:spPr>
        <p:txBody>
          <a:bodyPr wrap="square" lIns="54864" tIns="54864" rIns="54864" bIns="54864" anchor="t">
            <a:spAutoFit/>
          </a:bodyPr>
          <a:lstStyle/>
          <a:p>
            <a:pPr algn="l"/>
            <a:r>
              <a:rPr sz="1600" b="0">
                <a:solidFill>
                  <a:srgbClr val="2A3742"/>
                </a:solidFill>
                <a:latin typeface="Aptos"/>
              </a:rPr>
              <a:t>triage fields belong to the index-time window</a:t>
            </a:r>
          </a:p>
        </p:txBody>
      </p:sp>
      <p:sp>
        <p:nvSpPr>
          <p:cNvPr id="12" name="Rectangle 11"/>
          <p:cNvSpPr/>
          <p:nvPr/>
        </p:nvSpPr>
        <p:spPr>
          <a:xfrm>
            <a:off x="822960" y="3154680"/>
            <a:ext cx="109728" cy="86868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15568" y="3191256"/>
            <a:ext cx="2560320" cy="274320"/>
          </a:xfrm>
          <a:prstGeom prst="rect">
            <a:avLst/>
          </a:prstGeom>
          <a:noFill/>
        </p:spPr>
        <p:txBody>
          <a:bodyPr wrap="square" lIns="54864" tIns="54864" rIns="54864" bIns="54864" anchor="t">
            <a:spAutoFit/>
          </a:bodyPr>
          <a:lstStyle/>
          <a:p>
            <a:pPr algn="l"/>
            <a:r>
              <a:rPr sz="2100" b="1">
                <a:solidFill>
                  <a:srgbClr val="1F2933"/>
                </a:solidFill>
                <a:latin typeface="Aptos Display"/>
              </a:rPr>
              <a:t>Quality</a:t>
            </a:r>
          </a:p>
        </p:txBody>
      </p:sp>
      <p:sp>
        <p:nvSpPr>
          <p:cNvPr id="14" name="TextBox 13"/>
          <p:cNvSpPr txBox="1"/>
          <p:nvPr/>
        </p:nvSpPr>
        <p:spPr>
          <a:xfrm>
            <a:off x="1115568" y="3593592"/>
            <a:ext cx="4709160" cy="320040"/>
          </a:xfrm>
          <a:prstGeom prst="rect">
            <a:avLst/>
          </a:prstGeom>
          <a:noFill/>
        </p:spPr>
        <p:txBody>
          <a:bodyPr wrap="square" lIns="54864" tIns="54864" rIns="54864" bIns="54864" anchor="t">
            <a:spAutoFit/>
          </a:bodyPr>
          <a:lstStyle/>
          <a:p>
            <a:pPr algn="l"/>
            <a:r>
              <a:rPr sz="1600" b="0" dirty="0">
                <a:solidFill>
                  <a:srgbClr val="2A3742"/>
                </a:solidFill>
                <a:latin typeface="Aptos"/>
              </a:rPr>
              <a:t>missingness and derived fields remain visible</a:t>
            </a:r>
          </a:p>
        </p:txBody>
      </p:sp>
      <p:sp>
        <p:nvSpPr>
          <p:cNvPr id="15" name="Rectangle 14"/>
          <p:cNvSpPr/>
          <p:nvPr/>
        </p:nvSpPr>
        <p:spPr>
          <a:xfrm>
            <a:off x="6309360" y="3154680"/>
            <a:ext cx="109728" cy="868680"/>
          </a:xfrm>
          <a:prstGeom prst="rect">
            <a:avLst/>
          </a:prstGeom>
          <a:solidFill>
            <a:srgbClr val="E11D48"/>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01968" y="3191256"/>
            <a:ext cx="2560320" cy="274320"/>
          </a:xfrm>
          <a:prstGeom prst="rect">
            <a:avLst/>
          </a:prstGeom>
          <a:noFill/>
        </p:spPr>
        <p:txBody>
          <a:bodyPr wrap="square" lIns="54864" tIns="54864" rIns="54864" bIns="54864" anchor="t">
            <a:spAutoFit/>
          </a:bodyPr>
          <a:lstStyle/>
          <a:p>
            <a:pPr algn="l"/>
            <a:r>
              <a:rPr sz="2100" b="1">
                <a:solidFill>
                  <a:srgbClr val="1F2933"/>
                </a:solidFill>
                <a:latin typeface="Aptos Display"/>
              </a:rPr>
              <a:t>Leakage</a:t>
            </a:r>
          </a:p>
        </p:txBody>
      </p:sp>
      <p:sp>
        <p:nvSpPr>
          <p:cNvPr id="17" name="TextBox 16"/>
          <p:cNvSpPr txBox="1"/>
          <p:nvPr/>
        </p:nvSpPr>
        <p:spPr>
          <a:xfrm>
            <a:off x="6601968" y="3593592"/>
            <a:ext cx="4709160" cy="320040"/>
          </a:xfrm>
          <a:prstGeom prst="rect">
            <a:avLst/>
          </a:prstGeom>
          <a:noFill/>
        </p:spPr>
        <p:txBody>
          <a:bodyPr wrap="square" lIns="54864" tIns="54864" rIns="54864" bIns="54864" anchor="t">
            <a:spAutoFit/>
          </a:bodyPr>
          <a:lstStyle/>
          <a:p>
            <a:pPr algn="l"/>
            <a:r>
              <a:rPr sz="1600" b="0">
                <a:solidFill>
                  <a:srgbClr val="2A3742"/>
                </a:solidFill>
                <a:latin typeface="Aptos"/>
              </a:rPr>
              <a:t>identifiers, labels, and downstream fields stay out of X</a:t>
            </a:r>
          </a:p>
        </p:txBody>
      </p:sp>
      <p:sp>
        <p:nvSpPr>
          <p:cNvPr id="18" name="Rounded Rectangle 17"/>
          <p:cNvSpPr/>
          <p:nvPr/>
        </p:nvSpPr>
        <p:spPr>
          <a:xfrm>
            <a:off x="822960" y="4983480"/>
            <a:ext cx="10561320" cy="749808"/>
          </a:xfrm>
          <a:prstGeom prst="roundRect">
            <a:avLst>
              <a:gd name="adj" fmla="val 8000"/>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60704" y="5230368"/>
            <a:ext cx="10058400" cy="274320"/>
          </a:xfrm>
          <a:prstGeom prst="rect">
            <a:avLst/>
          </a:prstGeom>
          <a:noFill/>
        </p:spPr>
        <p:txBody>
          <a:bodyPr wrap="square" lIns="54864" tIns="54864" rIns="54864" bIns="54864" anchor="t">
            <a:spAutoFit/>
          </a:bodyPr>
          <a:lstStyle/>
          <a:p>
            <a:pPr algn="ctr"/>
            <a:r>
              <a:rPr sz="2000" b="1">
                <a:solidFill>
                  <a:srgbClr val="1F2933"/>
                </a:solidFill>
                <a:latin typeface="Aptos"/>
              </a:rPr>
              <a:t>M4 keeps the M1 contract and changes the outcome: hospitalization after triage.</a:t>
            </a:r>
          </a:p>
        </p:txBody>
      </p:sp>
      <p:sp>
        <p:nvSpPr>
          <p:cNvPr id="20" name="Rectangle 19"/>
          <p:cNvSpPr/>
          <p:nvPr/>
        </p:nvSpPr>
        <p:spPr>
          <a:xfrm>
            <a:off x="566928" y="6519672"/>
            <a:ext cx="11064240" cy="109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6"/>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1D4ED8"/>
                </a:solidFill>
                <a:latin typeface="Aptos"/>
              </a:rPr>
              <a:t>M2 RECAP</a:t>
            </a:r>
          </a:p>
        </p:txBody>
      </p:sp>
      <p:sp>
        <p:nvSpPr>
          <p:cNvPr id="3" name="TextBox 2"/>
          <p:cNvSpPr txBox="1"/>
          <p:nvPr/>
        </p:nvSpPr>
        <p:spPr>
          <a:xfrm>
            <a:off x="566928" y="530352"/>
            <a:ext cx="10287000" cy="594360"/>
          </a:xfrm>
          <a:prstGeom prst="rect">
            <a:avLst/>
          </a:prstGeom>
          <a:noFill/>
        </p:spPr>
        <p:txBody>
          <a:bodyPr wrap="square" lIns="54864" tIns="54864" rIns="54864" bIns="54864" anchor="t">
            <a:spAutoFit/>
          </a:bodyPr>
          <a:lstStyle/>
          <a:p>
            <a:pPr algn="l"/>
            <a:r>
              <a:rPr sz="3000" b="1">
                <a:solidFill>
                  <a:srgbClr val="1F2933"/>
                </a:solidFill>
                <a:latin typeface="Aptos Display"/>
              </a:rPr>
              <a:t>A clinical question becomes a testable ML task</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64748B"/>
                </a:solidFill>
                <a:latin typeface="Aptos"/>
              </a:rPr>
              <a:t>M4  /  03</a:t>
            </a:r>
          </a:p>
        </p:txBody>
      </p:sp>
      <p:sp>
        <p:nvSpPr>
          <p:cNvPr id="5" name="Rectangle 4"/>
          <p:cNvSpPr/>
          <p:nvPr/>
        </p:nvSpPr>
        <p:spPr>
          <a:xfrm>
            <a:off x="566928" y="1243584"/>
            <a:ext cx="11064240" cy="32004"/>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58368" y="1828800"/>
            <a:ext cx="658368" cy="658368"/>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2029968"/>
            <a:ext cx="658368" cy="155448"/>
          </a:xfrm>
          <a:prstGeom prst="rect">
            <a:avLst/>
          </a:prstGeom>
          <a:noFill/>
        </p:spPr>
        <p:txBody>
          <a:bodyPr wrap="square" lIns="54864" tIns="54864" rIns="54864" bIns="54864" anchor="t">
            <a:spAutoFit/>
          </a:bodyPr>
          <a:lstStyle/>
          <a:p>
            <a:pPr algn="ctr"/>
            <a:r>
              <a:rPr sz="1400" b="1">
                <a:solidFill>
                  <a:srgbClr val="FFFFFF"/>
                </a:solidFill>
                <a:latin typeface="Aptos"/>
              </a:rPr>
              <a:t>01</a:t>
            </a:r>
          </a:p>
        </p:txBody>
      </p:sp>
      <p:sp>
        <p:nvSpPr>
          <p:cNvPr id="8" name="TextBox 7"/>
          <p:cNvSpPr txBox="1"/>
          <p:nvPr/>
        </p:nvSpPr>
        <p:spPr>
          <a:xfrm>
            <a:off x="475487" y="2788920"/>
            <a:ext cx="1325879" cy="387798"/>
          </a:xfrm>
          <a:prstGeom prst="rect">
            <a:avLst/>
          </a:prstGeom>
          <a:noFill/>
        </p:spPr>
        <p:txBody>
          <a:bodyPr wrap="square" lIns="54864" tIns="54864" rIns="54864" bIns="54864" anchor="t">
            <a:spAutoFit/>
          </a:bodyPr>
          <a:lstStyle/>
          <a:p>
            <a:pPr algn="ctr"/>
            <a:r>
              <a:rPr sz="1800" b="1" dirty="0">
                <a:solidFill>
                  <a:srgbClr val="1F2933"/>
                </a:solidFill>
                <a:latin typeface="Aptos"/>
              </a:rPr>
              <a:t>Question</a:t>
            </a:r>
          </a:p>
        </p:txBody>
      </p:sp>
      <p:sp>
        <p:nvSpPr>
          <p:cNvPr id="9" name="TextBox 8"/>
          <p:cNvSpPr txBox="1"/>
          <p:nvPr/>
        </p:nvSpPr>
        <p:spPr>
          <a:xfrm>
            <a:off x="155447" y="3182112"/>
            <a:ext cx="1645920" cy="548640"/>
          </a:xfrm>
          <a:prstGeom prst="rect">
            <a:avLst/>
          </a:prstGeom>
          <a:noFill/>
        </p:spPr>
        <p:txBody>
          <a:bodyPr wrap="square" lIns="54864" tIns="54864" rIns="54864" bIns="54864" anchor="t">
            <a:spAutoFit/>
          </a:bodyPr>
          <a:lstStyle/>
          <a:p>
            <a:pPr algn="ctr"/>
            <a:r>
              <a:rPr sz="1400" b="0" dirty="0">
                <a:solidFill>
                  <a:srgbClr val="2A3742"/>
                </a:solidFill>
                <a:latin typeface="Aptos"/>
              </a:rPr>
              <a:t>what should be predicted?</a:t>
            </a:r>
          </a:p>
        </p:txBody>
      </p:sp>
      <p:sp>
        <p:nvSpPr>
          <p:cNvPr id="10" name="Rectangle 9"/>
          <p:cNvSpPr/>
          <p:nvPr/>
        </p:nvSpPr>
        <p:spPr>
          <a:xfrm>
            <a:off x="1463040" y="2139696"/>
            <a:ext cx="1261872" cy="32004"/>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926080" y="1828800"/>
            <a:ext cx="658368" cy="658368"/>
          </a:xfrm>
          <a:prstGeom prst="ellipse">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26080" y="2029968"/>
            <a:ext cx="658368" cy="155448"/>
          </a:xfrm>
          <a:prstGeom prst="rect">
            <a:avLst/>
          </a:prstGeom>
          <a:noFill/>
        </p:spPr>
        <p:txBody>
          <a:bodyPr wrap="square" lIns="54864" tIns="54864" rIns="54864" bIns="54864" anchor="t">
            <a:spAutoFit/>
          </a:bodyPr>
          <a:lstStyle/>
          <a:p>
            <a:pPr algn="ctr"/>
            <a:r>
              <a:rPr sz="1400" b="1">
                <a:solidFill>
                  <a:srgbClr val="FFFFFF"/>
                </a:solidFill>
                <a:latin typeface="Aptos"/>
              </a:rPr>
              <a:t>02</a:t>
            </a:r>
          </a:p>
        </p:txBody>
      </p:sp>
      <p:sp>
        <p:nvSpPr>
          <p:cNvPr id="13" name="TextBox 12"/>
          <p:cNvSpPr txBox="1"/>
          <p:nvPr/>
        </p:nvSpPr>
        <p:spPr>
          <a:xfrm>
            <a:off x="2743200" y="2788920"/>
            <a:ext cx="1051560" cy="256032"/>
          </a:xfrm>
          <a:prstGeom prst="rect">
            <a:avLst/>
          </a:prstGeom>
          <a:noFill/>
        </p:spPr>
        <p:txBody>
          <a:bodyPr wrap="square" lIns="54864" tIns="54864" rIns="54864" bIns="54864" anchor="t">
            <a:spAutoFit/>
          </a:bodyPr>
          <a:lstStyle/>
          <a:p>
            <a:pPr algn="ctr"/>
            <a:r>
              <a:rPr sz="1800" b="1">
                <a:solidFill>
                  <a:srgbClr val="1F2933"/>
                </a:solidFill>
                <a:latin typeface="Aptos"/>
              </a:rPr>
              <a:t>Target</a:t>
            </a:r>
          </a:p>
        </p:txBody>
      </p:sp>
      <p:sp>
        <p:nvSpPr>
          <p:cNvPr id="14" name="TextBox 13"/>
          <p:cNvSpPr txBox="1"/>
          <p:nvPr/>
        </p:nvSpPr>
        <p:spPr>
          <a:xfrm>
            <a:off x="2423160" y="3182112"/>
            <a:ext cx="1645920" cy="548640"/>
          </a:xfrm>
          <a:prstGeom prst="rect">
            <a:avLst/>
          </a:prstGeom>
          <a:noFill/>
        </p:spPr>
        <p:txBody>
          <a:bodyPr wrap="square" lIns="54864" tIns="54864" rIns="54864" bIns="54864" anchor="t">
            <a:spAutoFit/>
          </a:bodyPr>
          <a:lstStyle/>
          <a:p>
            <a:pPr algn="ctr"/>
            <a:r>
              <a:rPr sz="1400" b="0" dirty="0">
                <a:solidFill>
                  <a:srgbClr val="2A3742"/>
                </a:solidFill>
                <a:latin typeface="Aptos"/>
              </a:rPr>
              <a:t>which column defines y?</a:t>
            </a:r>
          </a:p>
        </p:txBody>
      </p:sp>
      <p:sp>
        <p:nvSpPr>
          <p:cNvPr id="15" name="Rectangle 14"/>
          <p:cNvSpPr/>
          <p:nvPr/>
        </p:nvSpPr>
        <p:spPr>
          <a:xfrm>
            <a:off x="3730752" y="2139696"/>
            <a:ext cx="1261872" cy="32004"/>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193792" y="1828800"/>
            <a:ext cx="658368" cy="658368"/>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93792" y="2029968"/>
            <a:ext cx="658368" cy="155448"/>
          </a:xfrm>
          <a:prstGeom prst="rect">
            <a:avLst/>
          </a:prstGeom>
          <a:noFill/>
        </p:spPr>
        <p:txBody>
          <a:bodyPr wrap="square" lIns="54864" tIns="54864" rIns="54864" bIns="54864" anchor="t">
            <a:spAutoFit/>
          </a:bodyPr>
          <a:lstStyle/>
          <a:p>
            <a:pPr algn="ctr"/>
            <a:r>
              <a:rPr sz="1400" b="1">
                <a:solidFill>
                  <a:srgbClr val="FFFFFF"/>
                </a:solidFill>
                <a:latin typeface="Aptos"/>
              </a:rPr>
              <a:t>03</a:t>
            </a:r>
          </a:p>
        </p:txBody>
      </p:sp>
      <p:sp>
        <p:nvSpPr>
          <p:cNvPr id="18" name="TextBox 17"/>
          <p:cNvSpPr txBox="1"/>
          <p:nvPr/>
        </p:nvSpPr>
        <p:spPr>
          <a:xfrm>
            <a:off x="5010912" y="2788920"/>
            <a:ext cx="1051560" cy="256032"/>
          </a:xfrm>
          <a:prstGeom prst="rect">
            <a:avLst/>
          </a:prstGeom>
          <a:noFill/>
        </p:spPr>
        <p:txBody>
          <a:bodyPr wrap="square" lIns="54864" tIns="54864" rIns="54864" bIns="54864" anchor="t">
            <a:spAutoFit/>
          </a:bodyPr>
          <a:lstStyle/>
          <a:p>
            <a:pPr algn="ctr"/>
            <a:r>
              <a:rPr sz="1800" b="1">
                <a:solidFill>
                  <a:srgbClr val="1F2933"/>
                </a:solidFill>
                <a:latin typeface="Aptos"/>
              </a:rPr>
              <a:t>Features</a:t>
            </a:r>
          </a:p>
        </p:txBody>
      </p:sp>
      <p:sp>
        <p:nvSpPr>
          <p:cNvPr id="19" name="TextBox 18"/>
          <p:cNvSpPr txBox="1"/>
          <p:nvPr/>
        </p:nvSpPr>
        <p:spPr>
          <a:xfrm>
            <a:off x="4690872" y="3182112"/>
            <a:ext cx="1645920" cy="548640"/>
          </a:xfrm>
          <a:prstGeom prst="rect">
            <a:avLst/>
          </a:prstGeom>
          <a:noFill/>
        </p:spPr>
        <p:txBody>
          <a:bodyPr wrap="square" lIns="54864" tIns="54864" rIns="54864" bIns="54864" anchor="t">
            <a:spAutoFit/>
          </a:bodyPr>
          <a:lstStyle/>
          <a:p>
            <a:pPr algn="ctr"/>
            <a:r>
              <a:rPr sz="1400" b="0" dirty="0">
                <a:solidFill>
                  <a:srgbClr val="2A3742"/>
                </a:solidFill>
                <a:latin typeface="Aptos"/>
              </a:rPr>
              <a:t>what is available at triage?</a:t>
            </a:r>
          </a:p>
        </p:txBody>
      </p:sp>
      <p:sp>
        <p:nvSpPr>
          <p:cNvPr id="20" name="Rectangle 19"/>
          <p:cNvSpPr/>
          <p:nvPr/>
        </p:nvSpPr>
        <p:spPr>
          <a:xfrm>
            <a:off x="5998464" y="2139696"/>
            <a:ext cx="1261872" cy="32004"/>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7461504" y="1828800"/>
            <a:ext cx="658368" cy="658368"/>
          </a:xfrm>
          <a:prstGeom prst="ellipse">
            <a:avLst/>
          </a:prstGeom>
          <a:solidFill>
            <a:srgbClr val="E11D48"/>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61504" y="2029968"/>
            <a:ext cx="658368" cy="155448"/>
          </a:xfrm>
          <a:prstGeom prst="rect">
            <a:avLst/>
          </a:prstGeom>
          <a:noFill/>
        </p:spPr>
        <p:txBody>
          <a:bodyPr wrap="square" lIns="54864" tIns="54864" rIns="54864" bIns="54864" anchor="t">
            <a:spAutoFit/>
          </a:bodyPr>
          <a:lstStyle/>
          <a:p>
            <a:pPr algn="ctr"/>
            <a:r>
              <a:rPr sz="1400" b="1">
                <a:solidFill>
                  <a:srgbClr val="FFFFFF"/>
                </a:solidFill>
                <a:latin typeface="Aptos"/>
              </a:rPr>
              <a:t>04</a:t>
            </a:r>
          </a:p>
        </p:txBody>
      </p:sp>
      <p:sp>
        <p:nvSpPr>
          <p:cNvPr id="23" name="TextBox 22"/>
          <p:cNvSpPr txBox="1"/>
          <p:nvPr/>
        </p:nvSpPr>
        <p:spPr>
          <a:xfrm>
            <a:off x="7278624" y="2788920"/>
            <a:ext cx="1051560" cy="256032"/>
          </a:xfrm>
          <a:prstGeom prst="rect">
            <a:avLst/>
          </a:prstGeom>
          <a:noFill/>
        </p:spPr>
        <p:txBody>
          <a:bodyPr wrap="square" lIns="54864" tIns="54864" rIns="54864" bIns="54864" anchor="t">
            <a:spAutoFit/>
          </a:bodyPr>
          <a:lstStyle/>
          <a:p>
            <a:pPr algn="ctr"/>
            <a:r>
              <a:rPr sz="1800" b="1">
                <a:solidFill>
                  <a:srgbClr val="1F2933"/>
                </a:solidFill>
                <a:latin typeface="Aptos"/>
              </a:rPr>
              <a:t>Split</a:t>
            </a:r>
          </a:p>
        </p:txBody>
      </p:sp>
      <p:sp>
        <p:nvSpPr>
          <p:cNvPr id="24" name="TextBox 23"/>
          <p:cNvSpPr txBox="1"/>
          <p:nvPr/>
        </p:nvSpPr>
        <p:spPr>
          <a:xfrm>
            <a:off x="6958584" y="3182112"/>
            <a:ext cx="1645920" cy="548640"/>
          </a:xfrm>
          <a:prstGeom prst="rect">
            <a:avLst/>
          </a:prstGeom>
          <a:noFill/>
        </p:spPr>
        <p:txBody>
          <a:bodyPr wrap="square" lIns="54864" tIns="54864" rIns="54864" bIns="54864" anchor="t">
            <a:spAutoFit/>
          </a:bodyPr>
          <a:lstStyle/>
          <a:p>
            <a:pPr algn="ctr"/>
            <a:r>
              <a:rPr sz="1400" b="0" dirty="0">
                <a:solidFill>
                  <a:srgbClr val="2A3742"/>
                </a:solidFill>
                <a:latin typeface="Aptos"/>
              </a:rPr>
              <a:t>which patients stay apart?</a:t>
            </a:r>
          </a:p>
        </p:txBody>
      </p:sp>
      <p:sp>
        <p:nvSpPr>
          <p:cNvPr id="25" name="Rectangle 24"/>
          <p:cNvSpPr/>
          <p:nvPr/>
        </p:nvSpPr>
        <p:spPr>
          <a:xfrm>
            <a:off x="8266176" y="2139696"/>
            <a:ext cx="1261872" cy="32004"/>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729216" y="1828800"/>
            <a:ext cx="658368" cy="65836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729216" y="2029968"/>
            <a:ext cx="658368" cy="155448"/>
          </a:xfrm>
          <a:prstGeom prst="rect">
            <a:avLst/>
          </a:prstGeom>
          <a:noFill/>
        </p:spPr>
        <p:txBody>
          <a:bodyPr wrap="square" lIns="54864" tIns="54864" rIns="54864" bIns="54864" anchor="t">
            <a:spAutoFit/>
          </a:bodyPr>
          <a:lstStyle/>
          <a:p>
            <a:pPr algn="ctr"/>
            <a:r>
              <a:rPr sz="1400" b="1">
                <a:solidFill>
                  <a:srgbClr val="FFFFFF"/>
                </a:solidFill>
                <a:latin typeface="Aptos"/>
              </a:rPr>
              <a:t>05</a:t>
            </a:r>
          </a:p>
        </p:txBody>
      </p:sp>
      <p:sp>
        <p:nvSpPr>
          <p:cNvPr id="28" name="TextBox 27"/>
          <p:cNvSpPr txBox="1"/>
          <p:nvPr/>
        </p:nvSpPr>
        <p:spPr>
          <a:xfrm>
            <a:off x="9546336" y="2788920"/>
            <a:ext cx="1051560" cy="256032"/>
          </a:xfrm>
          <a:prstGeom prst="rect">
            <a:avLst/>
          </a:prstGeom>
          <a:noFill/>
        </p:spPr>
        <p:txBody>
          <a:bodyPr wrap="square" lIns="54864" tIns="54864" rIns="54864" bIns="54864" anchor="t">
            <a:spAutoFit/>
          </a:bodyPr>
          <a:lstStyle/>
          <a:p>
            <a:pPr algn="ctr"/>
            <a:r>
              <a:rPr sz="1800" b="1">
                <a:solidFill>
                  <a:srgbClr val="1F2933"/>
                </a:solidFill>
                <a:latin typeface="Aptos"/>
              </a:rPr>
              <a:t>Baseline</a:t>
            </a:r>
          </a:p>
        </p:txBody>
      </p:sp>
      <p:sp>
        <p:nvSpPr>
          <p:cNvPr id="29" name="TextBox 28"/>
          <p:cNvSpPr txBox="1"/>
          <p:nvPr/>
        </p:nvSpPr>
        <p:spPr>
          <a:xfrm>
            <a:off x="9226296" y="3182112"/>
            <a:ext cx="1645920" cy="548640"/>
          </a:xfrm>
          <a:prstGeom prst="rect">
            <a:avLst/>
          </a:prstGeom>
          <a:noFill/>
        </p:spPr>
        <p:txBody>
          <a:bodyPr wrap="square" lIns="54864" tIns="54864" rIns="54864" bIns="54864" anchor="t">
            <a:spAutoFit/>
          </a:bodyPr>
          <a:lstStyle/>
          <a:p>
            <a:pPr algn="ctr"/>
            <a:r>
              <a:rPr sz="1400" b="0" dirty="0">
                <a:solidFill>
                  <a:srgbClr val="2A3742"/>
                </a:solidFill>
                <a:latin typeface="Aptos"/>
              </a:rPr>
              <a:t>what does a simple model do?</a:t>
            </a:r>
          </a:p>
        </p:txBody>
      </p:sp>
      <p:sp>
        <p:nvSpPr>
          <p:cNvPr id="30" name="Rounded Rectangle 29"/>
          <p:cNvSpPr/>
          <p:nvPr/>
        </p:nvSpPr>
        <p:spPr>
          <a:xfrm>
            <a:off x="804672" y="4983480"/>
            <a:ext cx="10607040" cy="749808"/>
          </a:xfrm>
          <a:prstGeom prst="roundRect">
            <a:avLst>
              <a:gd name="adj" fmla="val 8000"/>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51560" y="5230368"/>
            <a:ext cx="10058400" cy="274320"/>
          </a:xfrm>
          <a:prstGeom prst="rect">
            <a:avLst/>
          </a:prstGeom>
          <a:noFill/>
        </p:spPr>
        <p:txBody>
          <a:bodyPr wrap="square" lIns="54864" tIns="54864" rIns="54864" bIns="54864" anchor="t">
            <a:spAutoFit/>
          </a:bodyPr>
          <a:lstStyle/>
          <a:p>
            <a:pPr algn="ctr"/>
            <a:r>
              <a:rPr sz="2100" b="1">
                <a:solidFill>
                  <a:srgbClr val="1F2933"/>
                </a:solidFill>
                <a:latin typeface="Aptos"/>
              </a:rPr>
              <a:t>The target and the time boundary decide what the score means.</a:t>
            </a:r>
          </a:p>
        </p:txBody>
      </p:sp>
      <p:sp>
        <p:nvSpPr>
          <p:cNvPr id="32" name="Rectangle 31"/>
          <p:cNvSpPr/>
          <p:nvPr/>
        </p:nvSpPr>
        <p:spPr>
          <a:xfrm>
            <a:off x="566928" y="6519672"/>
            <a:ext cx="11064240" cy="109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F2933"/>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F59E0B"/>
                </a:solidFill>
                <a:latin typeface="Aptos"/>
              </a:rPr>
              <a:t>01  /  PROBLEM DEFINITION</a:t>
            </a:r>
          </a:p>
        </p:txBody>
      </p:sp>
      <p:sp>
        <p:nvSpPr>
          <p:cNvPr id="3" name="TextBox 2"/>
          <p:cNvSpPr txBox="1"/>
          <p:nvPr/>
        </p:nvSpPr>
        <p:spPr>
          <a:xfrm>
            <a:off x="566928" y="530352"/>
            <a:ext cx="10287000" cy="594360"/>
          </a:xfrm>
          <a:prstGeom prst="rect">
            <a:avLst/>
          </a:prstGeom>
          <a:noFill/>
        </p:spPr>
        <p:txBody>
          <a:bodyPr wrap="square" lIns="54864" tIns="54864" rIns="54864" bIns="54864" anchor="t">
            <a:spAutoFit/>
          </a:bodyPr>
          <a:lstStyle/>
          <a:p>
            <a:pPr algn="l"/>
            <a:r>
              <a:rPr sz="3000" b="1">
                <a:solidFill>
                  <a:srgbClr val="FFFFFF"/>
                </a:solidFill>
                <a:latin typeface="Aptos Display"/>
              </a:rPr>
              <a:t>Hospitalization is a later disposition label</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E2E8F0"/>
                </a:solidFill>
                <a:latin typeface="Aptos"/>
              </a:rPr>
              <a:t>M4  /  04</a:t>
            </a:r>
          </a:p>
        </p:txBody>
      </p:sp>
      <p:sp>
        <p:nvSpPr>
          <p:cNvPr id="5" name="Rectangle 4"/>
          <p:cNvSpPr/>
          <p:nvPr/>
        </p:nvSpPr>
        <p:spPr>
          <a:xfrm>
            <a:off x="566928" y="1243584"/>
            <a:ext cx="11064240" cy="3200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91640"/>
            <a:ext cx="10241280" cy="502920"/>
          </a:xfrm>
          <a:prstGeom prst="rect">
            <a:avLst/>
          </a:prstGeom>
          <a:noFill/>
        </p:spPr>
        <p:txBody>
          <a:bodyPr wrap="square" lIns="54864" tIns="54864" rIns="54864" bIns="54864" anchor="t">
            <a:spAutoFit/>
          </a:bodyPr>
          <a:lstStyle/>
          <a:p>
            <a:pPr algn="ctr"/>
            <a:r>
              <a:rPr sz="2800" b="1">
                <a:solidFill>
                  <a:srgbClr val="F59E0B"/>
                </a:solidFill>
                <a:latin typeface="Aptos Display"/>
              </a:rPr>
              <a:t>outcome_hospitalization = 1 when hadm_id is present</a:t>
            </a:r>
          </a:p>
        </p:txBody>
      </p:sp>
      <p:sp>
        <p:nvSpPr>
          <p:cNvPr id="7" name="Rectangle 6"/>
          <p:cNvSpPr/>
          <p:nvPr/>
        </p:nvSpPr>
        <p:spPr>
          <a:xfrm>
            <a:off x="1234440" y="3154680"/>
            <a:ext cx="9372600" cy="4572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14400" y="2816352"/>
            <a:ext cx="713232" cy="713232"/>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3858768"/>
            <a:ext cx="1170432" cy="228600"/>
          </a:xfrm>
          <a:prstGeom prst="rect">
            <a:avLst/>
          </a:prstGeom>
          <a:noFill/>
        </p:spPr>
        <p:txBody>
          <a:bodyPr wrap="square" lIns="54864" tIns="54864" rIns="54864" bIns="54864" anchor="t">
            <a:spAutoFit/>
          </a:bodyPr>
          <a:lstStyle/>
          <a:p>
            <a:pPr algn="ctr"/>
            <a:r>
              <a:rPr sz="1700" b="1">
                <a:solidFill>
                  <a:srgbClr val="FFFFFF"/>
                </a:solidFill>
                <a:latin typeface="Aptos"/>
              </a:rPr>
              <a:t>Arrival</a:t>
            </a:r>
          </a:p>
        </p:txBody>
      </p:sp>
      <p:sp>
        <p:nvSpPr>
          <p:cNvPr id="10" name="TextBox 9"/>
          <p:cNvSpPr txBox="1"/>
          <p:nvPr/>
        </p:nvSpPr>
        <p:spPr>
          <a:xfrm>
            <a:off x="411479" y="4224528"/>
            <a:ext cx="1737360" cy="274320"/>
          </a:xfrm>
          <a:prstGeom prst="rect">
            <a:avLst/>
          </a:prstGeom>
          <a:noFill/>
        </p:spPr>
        <p:txBody>
          <a:bodyPr wrap="square" lIns="54864" tIns="54864" rIns="54864" bIns="54864" anchor="t">
            <a:spAutoFit/>
          </a:bodyPr>
          <a:lstStyle/>
          <a:p>
            <a:pPr algn="ctr"/>
            <a:r>
              <a:rPr sz="1300" b="0">
                <a:solidFill>
                  <a:srgbClr val="E2E8F0"/>
                </a:solidFill>
                <a:latin typeface="Aptos"/>
              </a:rPr>
              <a:t>index starts</a:t>
            </a:r>
          </a:p>
        </p:txBody>
      </p:sp>
      <p:sp>
        <p:nvSpPr>
          <p:cNvPr id="11" name="Oval 10"/>
          <p:cNvSpPr/>
          <p:nvPr/>
        </p:nvSpPr>
        <p:spPr>
          <a:xfrm>
            <a:off x="3429000" y="2816352"/>
            <a:ext cx="713232" cy="713232"/>
          </a:xfrm>
          <a:prstGeom prst="ellipse">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0" y="3858768"/>
            <a:ext cx="1170432" cy="228600"/>
          </a:xfrm>
          <a:prstGeom prst="rect">
            <a:avLst/>
          </a:prstGeom>
          <a:noFill/>
        </p:spPr>
        <p:txBody>
          <a:bodyPr wrap="square" lIns="54864" tIns="54864" rIns="54864" bIns="54864" anchor="t">
            <a:spAutoFit/>
          </a:bodyPr>
          <a:lstStyle/>
          <a:p>
            <a:pPr algn="ctr"/>
            <a:r>
              <a:rPr sz="1700" b="1">
                <a:solidFill>
                  <a:srgbClr val="FFFFFF"/>
                </a:solidFill>
                <a:latin typeface="Aptos"/>
              </a:rPr>
              <a:t>Triage</a:t>
            </a:r>
          </a:p>
        </p:txBody>
      </p:sp>
      <p:sp>
        <p:nvSpPr>
          <p:cNvPr id="13" name="TextBox 12"/>
          <p:cNvSpPr txBox="1"/>
          <p:nvPr/>
        </p:nvSpPr>
        <p:spPr>
          <a:xfrm>
            <a:off x="2926080" y="4224528"/>
            <a:ext cx="1737360" cy="274320"/>
          </a:xfrm>
          <a:prstGeom prst="rect">
            <a:avLst/>
          </a:prstGeom>
          <a:noFill/>
        </p:spPr>
        <p:txBody>
          <a:bodyPr wrap="square" lIns="54864" tIns="54864" rIns="54864" bIns="54864" anchor="t">
            <a:spAutoFit/>
          </a:bodyPr>
          <a:lstStyle/>
          <a:p>
            <a:pPr algn="ctr"/>
            <a:r>
              <a:rPr sz="1300" b="0">
                <a:solidFill>
                  <a:srgbClr val="E2E8F0"/>
                </a:solidFill>
                <a:latin typeface="Aptos"/>
              </a:rPr>
              <a:t>predictor window</a:t>
            </a:r>
          </a:p>
        </p:txBody>
      </p:sp>
      <p:sp>
        <p:nvSpPr>
          <p:cNvPr id="14" name="Oval 13"/>
          <p:cNvSpPr/>
          <p:nvPr/>
        </p:nvSpPr>
        <p:spPr>
          <a:xfrm>
            <a:off x="5943600" y="2816352"/>
            <a:ext cx="713232" cy="713232"/>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15000" y="3858768"/>
            <a:ext cx="1170432" cy="228600"/>
          </a:xfrm>
          <a:prstGeom prst="rect">
            <a:avLst/>
          </a:prstGeom>
          <a:noFill/>
        </p:spPr>
        <p:txBody>
          <a:bodyPr wrap="square" lIns="54864" tIns="54864" rIns="54864" bIns="54864" anchor="t">
            <a:spAutoFit/>
          </a:bodyPr>
          <a:lstStyle/>
          <a:p>
            <a:pPr algn="ctr"/>
            <a:r>
              <a:rPr sz="1700" b="1">
                <a:solidFill>
                  <a:srgbClr val="FFFFFF"/>
                </a:solidFill>
                <a:latin typeface="Aptos"/>
              </a:rPr>
              <a:t>ED course</a:t>
            </a:r>
          </a:p>
        </p:txBody>
      </p:sp>
      <p:sp>
        <p:nvSpPr>
          <p:cNvPr id="16" name="TextBox 15"/>
          <p:cNvSpPr txBox="1"/>
          <p:nvPr/>
        </p:nvSpPr>
        <p:spPr>
          <a:xfrm>
            <a:off x="5440680" y="4224528"/>
            <a:ext cx="1737360" cy="274320"/>
          </a:xfrm>
          <a:prstGeom prst="rect">
            <a:avLst/>
          </a:prstGeom>
          <a:noFill/>
        </p:spPr>
        <p:txBody>
          <a:bodyPr wrap="square" lIns="54864" tIns="54864" rIns="54864" bIns="54864" anchor="t">
            <a:spAutoFit/>
          </a:bodyPr>
          <a:lstStyle/>
          <a:p>
            <a:pPr algn="ctr"/>
            <a:r>
              <a:rPr sz="1300" b="0">
                <a:solidFill>
                  <a:srgbClr val="E2E8F0"/>
                </a:solidFill>
                <a:latin typeface="Aptos"/>
              </a:rPr>
              <a:t>information accrues</a:t>
            </a:r>
          </a:p>
        </p:txBody>
      </p:sp>
      <p:sp>
        <p:nvSpPr>
          <p:cNvPr id="17" name="Oval 16"/>
          <p:cNvSpPr/>
          <p:nvPr/>
        </p:nvSpPr>
        <p:spPr>
          <a:xfrm>
            <a:off x="8458200" y="2816352"/>
            <a:ext cx="713232" cy="713232"/>
          </a:xfrm>
          <a:prstGeom prst="ellipse">
            <a:avLst/>
          </a:prstGeom>
          <a:solidFill>
            <a:srgbClr val="E11D48"/>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0" y="3858768"/>
            <a:ext cx="1170432" cy="228600"/>
          </a:xfrm>
          <a:prstGeom prst="rect">
            <a:avLst/>
          </a:prstGeom>
          <a:noFill/>
        </p:spPr>
        <p:txBody>
          <a:bodyPr wrap="square" lIns="54864" tIns="54864" rIns="54864" bIns="54864" anchor="t">
            <a:spAutoFit/>
          </a:bodyPr>
          <a:lstStyle/>
          <a:p>
            <a:pPr algn="ctr"/>
            <a:r>
              <a:rPr sz="1700" b="1">
                <a:solidFill>
                  <a:srgbClr val="FFFFFF"/>
                </a:solidFill>
                <a:latin typeface="Aptos"/>
              </a:rPr>
              <a:t>Disposition</a:t>
            </a:r>
          </a:p>
        </p:txBody>
      </p:sp>
      <p:sp>
        <p:nvSpPr>
          <p:cNvPr id="19" name="TextBox 18"/>
          <p:cNvSpPr txBox="1"/>
          <p:nvPr/>
        </p:nvSpPr>
        <p:spPr>
          <a:xfrm>
            <a:off x="7955279" y="4224528"/>
            <a:ext cx="1737360" cy="274320"/>
          </a:xfrm>
          <a:prstGeom prst="rect">
            <a:avLst/>
          </a:prstGeom>
          <a:noFill/>
        </p:spPr>
        <p:txBody>
          <a:bodyPr wrap="square" lIns="54864" tIns="54864" rIns="54864" bIns="54864" anchor="t">
            <a:spAutoFit/>
          </a:bodyPr>
          <a:lstStyle/>
          <a:p>
            <a:pPr algn="ctr"/>
            <a:r>
              <a:rPr sz="1300" b="0">
                <a:solidFill>
                  <a:srgbClr val="E2E8F0"/>
                </a:solidFill>
                <a:latin typeface="Aptos"/>
              </a:rPr>
              <a:t>label becomes known</a:t>
            </a:r>
          </a:p>
        </p:txBody>
      </p:sp>
      <p:sp>
        <p:nvSpPr>
          <p:cNvPr id="20" name="Rounded Rectangle 19"/>
          <p:cNvSpPr/>
          <p:nvPr/>
        </p:nvSpPr>
        <p:spPr>
          <a:xfrm>
            <a:off x="914400" y="5074920"/>
            <a:ext cx="10241280" cy="713232"/>
          </a:xfrm>
          <a:prstGeom prst="roundRect">
            <a:avLst>
              <a:gd name="adj" fmla="val 8000"/>
            </a:avLst>
          </a:prstGeom>
          <a:solidFill>
            <a:srgbClr val="303D49"/>
          </a:solidFill>
          <a:ln>
            <a:solidFill>
              <a:srgbClr val="303D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88720" y="5303520"/>
            <a:ext cx="9692640" cy="274320"/>
          </a:xfrm>
          <a:prstGeom prst="rect">
            <a:avLst/>
          </a:prstGeom>
          <a:noFill/>
        </p:spPr>
        <p:txBody>
          <a:bodyPr wrap="square" lIns="54864" tIns="54864" rIns="54864" bIns="54864" anchor="t">
            <a:spAutoFit/>
          </a:bodyPr>
          <a:lstStyle/>
          <a:p>
            <a:pPr algn="ctr"/>
            <a:r>
              <a:rPr sz="2000" b="1">
                <a:solidFill>
                  <a:srgbClr val="F59E0B"/>
                </a:solidFill>
                <a:latin typeface="Aptos"/>
              </a:rPr>
              <a:t>The outcome is valid for evaluation, but unavailable at the moment of prediction.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6"/>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1D4ED8"/>
                </a:solidFill>
                <a:latin typeface="Aptos"/>
              </a:rPr>
              <a:t>01  /  PROBLEM DEFINITION</a:t>
            </a:r>
          </a:p>
        </p:txBody>
      </p:sp>
      <p:sp>
        <p:nvSpPr>
          <p:cNvPr id="3" name="TextBox 2"/>
          <p:cNvSpPr txBox="1"/>
          <p:nvPr/>
        </p:nvSpPr>
        <p:spPr>
          <a:xfrm>
            <a:off x="566928" y="530352"/>
            <a:ext cx="10287000" cy="594360"/>
          </a:xfrm>
          <a:prstGeom prst="rect">
            <a:avLst/>
          </a:prstGeom>
          <a:noFill/>
        </p:spPr>
        <p:txBody>
          <a:bodyPr wrap="square" lIns="54864" tIns="54864" rIns="54864" bIns="54864" anchor="t">
            <a:spAutoFit/>
          </a:bodyPr>
          <a:lstStyle/>
          <a:p>
            <a:pPr algn="l"/>
            <a:r>
              <a:rPr sz="3000" b="1">
                <a:solidFill>
                  <a:srgbClr val="1F2933"/>
                </a:solidFill>
                <a:latin typeface="Aptos Display"/>
              </a:rPr>
              <a:t>The predictor boundary is a clinical assumption</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64748B"/>
                </a:solidFill>
                <a:latin typeface="Aptos"/>
              </a:rPr>
              <a:t>M4  /  05</a:t>
            </a:r>
          </a:p>
        </p:txBody>
      </p:sp>
      <p:sp>
        <p:nvSpPr>
          <p:cNvPr id="5" name="Rectangle 4"/>
          <p:cNvSpPr/>
          <p:nvPr/>
        </p:nvSpPr>
        <p:spPr>
          <a:xfrm>
            <a:off x="566928" y="1243584"/>
            <a:ext cx="11064240" cy="32004"/>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1828800"/>
            <a:ext cx="128016" cy="107899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 y="1856231"/>
            <a:ext cx="2194560" cy="256032"/>
          </a:xfrm>
          <a:prstGeom prst="rect">
            <a:avLst/>
          </a:prstGeom>
          <a:noFill/>
        </p:spPr>
        <p:txBody>
          <a:bodyPr wrap="square" lIns="54864" tIns="54864" rIns="54864" bIns="54864" anchor="t">
            <a:spAutoFit/>
          </a:bodyPr>
          <a:lstStyle/>
          <a:p>
            <a:pPr algn="l"/>
            <a:r>
              <a:rPr sz="2000" b="1">
                <a:solidFill>
                  <a:srgbClr val="1F2933"/>
                </a:solidFill>
                <a:latin typeface="Aptos Display"/>
              </a:rPr>
              <a:t>Triage</a:t>
            </a:r>
          </a:p>
        </p:txBody>
      </p:sp>
      <p:sp>
        <p:nvSpPr>
          <p:cNvPr id="8" name="TextBox 7"/>
          <p:cNvSpPr txBox="1"/>
          <p:nvPr/>
        </p:nvSpPr>
        <p:spPr>
          <a:xfrm>
            <a:off x="1115568" y="2286000"/>
            <a:ext cx="2176272" cy="502920"/>
          </a:xfrm>
          <a:prstGeom prst="rect">
            <a:avLst/>
          </a:prstGeom>
          <a:noFill/>
        </p:spPr>
        <p:txBody>
          <a:bodyPr wrap="square" lIns="54864" tIns="54864" rIns="54864" bIns="54864" anchor="t">
            <a:spAutoFit/>
          </a:bodyPr>
          <a:lstStyle/>
          <a:p>
            <a:pPr algn="l"/>
            <a:r>
              <a:rPr sz="1500" b="0">
                <a:solidFill>
                  <a:srgbClr val="2A3742"/>
                </a:solidFill>
                <a:latin typeface="Aptos"/>
              </a:rPr>
              <a:t>vitals, acuity, pain</a:t>
            </a:r>
          </a:p>
        </p:txBody>
      </p:sp>
      <p:sp>
        <p:nvSpPr>
          <p:cNvPr id="9" name="Rectangle 8"/>
          <p:cNvSpPr/>
          <p:nvPr/>
        </p:nvSpPr>
        <p:spPr>
          <a:xfrm>
            <a:off x="3611879" y="1828800"/>
            <a:ext cx="128016" cy="1078992"/>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04487" y="1856231"/>
            <a:ext cx="2194560" cy="256032"/>
          </a:xfrm>
          <a:prstGeom prst="rect">
            <a:avLst/>
          </a:prstGeom>
          <a:noFill/>
        </p:spPr>
        <p:txBody>
          <a:bodyPr wrap="square" lIns="54864" tIns="54864" rIns="54864" bIns="54864" anchor="t">
            <a:spAutoFit/>
          </a:bodyPr>
          <a:lstStyle/>
          <a:p>
            <a:pPr algn="l"/>
            <a:r>
              <a:rPr sz="2000" b="1">
                <a:solidFill>
                  <a:srgbClr val="1F2933"/>
                </a:solidFill>
                <a:latin typeface="Aptos Display"/>
              </a:rPr>
              <a:t>Context</a:t>
            </a:r>
          </a:p>
        </p:txBody>
      </p:sp>
      <p:sp>
        <p:nvSpPr>
          <p:cNvPr id="11" name="TextBox 10"/>
          <p:cNvSpPr txBox="1"/>
          <p:nvPr/>
        </p:nvSpPr>
        <p:spPr>
          <a:xfrm>
            <a:off x="3904487" y="2286000"/>
            <a:ext cx="2176272" cy="502920"/>
          </a:xfrm>
          <a:prstGeom prst="rect">
            <a:avLst/>
          </a:prstGeom>
          <a:noFill/>
        </p:spPr>
        <p:txBody>
          <a:bodyPr wrap="square" lIns="54864" tIns="54864" rIns="54864" bIns="54864" anchor="t">
            <a:spAutoFit/>
          </a:bodyPr>
          <a:lstStyle/>
          <a:p>
            <a:pPr algn="l"/>
            <a:r>
              <a:rPr sz="1500" b="0">
                <a:solidFill>
                  <a:srgbClr val="2A3742"/>
                </a:solidFill>
                <a:latin typeface="Aptos"/>
              </a:rPr>
              <a:t>age, gender, race, arrival transport</a:t>
            </a:r>
          </a:p>
        </p:txBody>
      </p:sp>
      <p:sp>
        <p:nvSpPr>
          <p:cNvPr id="12" name="Rectangle 11"/>
          <p:cNvSpPr/>
          <p:nvPr/>
        </p:nvSpPr>
        <p:spPr>
          <a:xfrm>
            <a:off x="6400800" y="1828800"/>
            <a:ext cx="128016" cy="107899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93408" y="1856231"/>
            <a:ext cx="2194560" cy="256032"/>
          </a:xfrm>
          <a:prstGeom prst="rect">
            <a:avLst/>
          </a:prstGeom>
          <a:noFill/>
        </p:spPr>
        <p:txBody>
          <a:bodyPr wrap="square" lIns="54864" tIns="54864" rIns="54864" bIns="54864" anchor="t">
            <a:spAutoFit/>
          </a:bodyPr>
          <a:lstStyle/>
          <a:p>
            <a:pPr algn="l"/>
            <a:r>
              <a:rPr sz="2000" b="1">
                <a:solidFill>
                  <a:srgbClr val="1F2933"/>
                </a:solidFill>
                <a:latin typeface="Aptos Display"/>
              </a:rPr>
              <a:t>Prior use</a:t>
            </a:r>
          </a:p>
        </p:txBody>
      </p:sp>
      <p:sp>
        <p:nvSpPr>
          <p:cNvPr id="14" name="TextBox 13"/>
          <p:cNvSpPr txBox="1"/>
          <p:nvPr/>
        </p:nvSpPr>
        <p:spPr>
          <a:xfrm>
            <a:off x="6693408" y="2286000"/>
            <a:ext cx="2176272" cy="502920"/>
          </a:xfrm>
          <a:prstGeom prst="rect">
            <a:avLst/>
          </a:prstGeom>
          <a:noFill/>
        </p:spPr>
        <p:txBody>
          <a:bodyPr wrap="square" lIns="54864" tIns="54864" rIns="54864" bIns="54864" anchor="t">
            <a:spAutoFit/>
          </a:bodyPr>
          <a:lstStyle/>
          <a:p>
            <a:pPr algn="l"/>
            <a:r>
              <a:rPr sz="1500" b="0">
                <a:solidFill>
                  <a:srgbClr val="2A3742"/>
                </a:solidFill>
                <a:latin typeface="Aptos"/>
              </a:rPr>
              <a:t>ED, hospital, and ICU counts</a:t>
            </a:r>
          </a:p>
        </p:txBody>
      </p:sp>
      <p:sp>
        <p:nvSpPr>
          <p:cNvPr id="15" name="Rectangle 14"/>
          <p:cNvSpPr/>
          <p:nvPr/>
        </p:nvSpPr>
        <p:spPr>
          <a:xfrm>
            <a:off x="9189719" y="1828800"/>
            <a:ext cx="128016" cy="1078992"/>
          </a:xfrm>
          <a:prstGeom prst="rect">
            <a:avLst/>
          </a:prstGeom>
          <a:solidFill>
            <a:srgbClr val="E11D48"/>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82328" y="1856231"/>
            <a:ext cx="2194560" cy="256032"/>
          </a:xfrm>
          <a:prstGeom prst="rect">
            <a:avLst/>
          </a:prstGeom>
          <a:noFill/>
        </p:spPr>
        <p:txBody>
          <a:bodyPr wrap="square" lIns="54864" tIns="54864" rIns="54864" bIns="54864" anchor="t">
            <a:spAutoFit/>
          </a:bodyPr>
          <a:lstStyle/>
          <a:p>
            <a:pPr algn="l"/>
            <a:r>
              <a:rPr sz="2000" b="1">
                <a:solidFill>
                  <a:srgbClr val="1F2933"/>
                </a:solidFill>
                <a:latin typeface="Aptos Display"/>
              </a:rPr>
              <a:t>Clinical flags</a:t>
            </a:r>
          </a:p>
        </p:txBody>
      </p:sp>
      <p:sp>
        <p:nvSpPr>
          <p:cNvPr id="17" name="TextBox 16"/>
          <p:cNvSpPr txBox="1"/>
          <p:nvPr/>
        </p:nvSpPr>
        <p:spPr>
          <a:xfrm>
            <a:off x="9482328" y="2286000"/>
            <a:ext cx="2176272" cy="502920"/>
          </a:xfrm>
          <a:prstGeom prst="rect">
            <a:avLst/>
          </a:prstGeom>
          <a:noFill/>
        </p:spPr>
        <p:txBody>
          <a:bodyPr wrap="square" lIns="54864" tIns="54864" rIns="54864" bIns="54864" anchor="t">
            <a:spAutoFit/>
          </a:bodyPr>
          <a:lstStyle/>
          <a:p>
            <a:pPr algn="l"/>
            <a:r>
              <a:rPr sz="1500" b="0">
                <a:solidFill>
                  <a:srgbClr val="2A3742"/>
                </a:solidFill>
                <a:latin typeface="Aptos"/>
              </a:rPr>
              <a:t>chief complaint and comorbidity indicators</a:t>
            </a:r>
          </a:p>
        </p:txBody>
      </p:sp>
      <p:sp>
        <p:nvSpPr>
          <p:cNvPr id="18" name="Rounded Rectangle 17"/>
          <p:cNvSpPr/>
          <p:nvPr/>
        </p:nvSpPr>
        <p:spPr>
          <a:xfrm>
            <a:off x="841248" y="3886200"/>
            <a:ext cx="4983480" cy="1280160"/>
          </a:xfrm>
          <a:prstGeom prst="roundRect">
            <a:avLst>
              <a:gd name="adj" fmla="val 8000"/>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70432" y="4160520"/>
            <a:ext cx="2286000" cy="274320"/>
          </a:xfrm>
          <a:prstGeom prst="rect">
            <a:avLst/>
          </a:prstGeom>
          <a:noFill/>
        </p:spPr>
        <p:txBody>
          <a:bodyPr wrap="square" lIns="54864" tIns="54864" rIns="54864" bIns="54864" anchor="t">
            <a:spAutoFit/>
          </a:bodyPr>
          <a:lstStyle/>
          <a:p>
            <a:pPr algn="l"/>
            <a:r>
              <a:rPr sz="2100" b="1">
                <a:solidFill>
                  <a:srgbClr val="1D4ED8"/>
                </a:solidFill>
                <a:latin typeface="Aptos Display"/>
              </a:rPr>
              <a:t>Included in X</a:t>
            </a:r>
          </a:p>
        </p:txBody>
      </p:sp>
      <p:sp>
        <p:nvSpPr>
          <p:cNvPr id="20" name="TextBox 19"/>
          <p:cNvSpPr txBox="1"/>
          <p:nvPr/>
        </p:nvSpPr>
        <p:spPr>
          <a:xfrm>
            <a:off x="1170432" y="4590288"/>
            <a:ext cx="4160520" cy="384048"/>
          </a:xfrm>
          <a:prstGeom prst="rect">
            <a:avLst/>
          </a:prstGeom>
          <a:noFill/>
        </p:spPr>
        <p:txBody>
          <a:bodyPr wrap="square" lIns="54864" tIns="54864" rIns="54864" bIns="54864" anchor="t">
            <a:spAutoFit/>
          </a:bodyPr>
          <a:lstStyle/>
          <a:p>
            <a:pPr algn="l"/>
            <a:r>
              <a:rPr sz="1600" b="0">
                <a:solidFill>
                  <a:srgbClr val="2A3742"/>
                </a:solidFill>
                <a:latin typeface="Aptos"/>
              </a:rPr>
              <a:t>Information plausibly available at triage, transformed inside the fitted pipeline.</a:t>
            </a:r>
          </a:p>
        </p:txBody>
      </p:sp>
      <p:sp>
        <p:nvSpPr>
          <p:cNvPr id="21" name="Rounded Rectangle 20"/>
          <p:cNvSpPr/>
          <p:nvPr/>
        </p:nvSpPr>
        <p:spPr>
          <a:xfrm>
            <a:off x="6263640" y="3886200"/>
            <a:ext cx="4983480" cy="1549908"/>
          </a:xfrm>
          <a:prstGeom prst="roundRect">
            <a:avLst>
              <a:gd name="adj" fmla="val 8000"/>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0" y="4160520"/>
            <a:ext cx="2651760" cy="274320"/>
          </a:xfrm>
          <a:prstGeom prst="rect">
            <a:avLst/>
          </a:prstGeom>
          <a:noFill/>
        </p:spPr>
        <p:txBody>
          <a:bodyPr wrap="square" lIns="54864" tIns="54864" rIns="54864" bIns="54864" anchor="t">
            <a:spAutoFit/>
          </a:bodyPr>
          <a:lstStyle/>
          <a:p>
            <a:pPr algn="l"/>
            <a:r>
              <a:rPr sz="2100" b="1">
                <a:solidFill>
                  <a:srgbClr val="E11D48"/>
                </a:solidFill>
                <a:latin typeface="Aptos Display"/>
              </a:rPr>
              <a:t>Excluded from X</a:t>
            </a:r>
          </a:p>
        </p:txBody>
      </p:sp>
      <p:sp>
        <p:nvSpPr>
          <p:cNvPr id="23" name="TextBox 22"/>
          <p:cNvSpPr txBox="1"/>
          <p:nvPr/>
        </p:nvSpPr>
        <p:spPr>
          <a:xfrm>
            <a:off x="6583680" y="4590288"/>
            <a:ext cx="4160520" cy="384048"/>
          </a:xfrm>
          <a:prstGeom prst="rect">
            <a:avLst/>
          </a:prstGeom>
          <a:noFill/>
        </p:spPr>
        <p:txBody>
          <a:bodyPr wrap="square" lIns="54864" tIns="54864" rIns="54864" bIns="54864" anchor="t">
            <a:spAutoFit/>
          </a:bodyPr>
          <a:lstStyle/>
          <a:p>
            <a:pPr algn="l"/>
            <a:r>
              <a:rPr sz="1600" b="0" dirty="0" err="1">
                <a:solidFill>
                  <a:srgbClr val="2A3742"/>
                </a:solidFill>
                <a:latin typeface="Aptos"/>
              </a:rPr>
              <a:t>hadm_id</a:t>
            </a:r>
            <a:r>
              <a:rPr sz="1600" b="0" dirty="0">
                <a:solidFill>
                  <a:srgbClr val="2A3742"/>
                </a:solidFill>
                <a:latin typeface="Aptos"/>
              </a:rPr>
              <a:t>, disposition, later measurements, ED departure fields, and downstream outcomes.</a:t>
            </a:r>
          </a:p>
        </p:txBody>
      </p:sp>
      <p:sp>
        <p:nvSpPr>
          <p:cNvPr id="24" name="Rectangle 23"/>
          <p:cNvSpPr/>
          <p:nvPr/>
        </p:nvSpPr>
        <p:spPr>
          <a:xfrm>
            <a:off x="566928" y="6519672"/>
            <a:ext cx="11064240" cy="109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6"/>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1D4ED8"/>
                </a:solidFill>
                <a:latin typeface="Aptos"/>
              </a:rPr>
              <a:t>02  /  EVALUATION DESIGN</a:t>
            </a:r>
          </a:p>
        </p:txBody>
      </p:sp>
      <p:sp>
        <p:nvSpPr>
          <p:cNvPr id="3" name="TextBox 2"/>
          <p:cNvSpPr txBox="1"/>
          <p:nvPr/>
        </p:nvSpPr>
        <p:spPr>
          <a:xfrm>
            <a:off x="566928" y="530352"/>
            <a:ext cx="10287000" cy="594360"/>
          </a:xfrm>
          <a:prstGeom prst="rect">
            <a:avLst/>
          </a:prstGeom>
          <a:noFill/>
        </p:spPr>
        <p:txBody>
          <a:bodyPr wrap="square" lIns="54864" tIns="54864" rIns="54864" bIns="54864" anchor="t">
            <a:spAutoFit/>
          </a:bodyPr>
          <a:lstStyle/>
          <a:p>
            <a:pPr algn="l"/>
            <a:r>
              <a:rPr sz="3000" b="1">
                <a:solidFill>
                  <a:srgbClr val="1F2933"/>
                </a:solidFill>
                <a:latin typeface="Aptos Display"/>
              </a:rPr>
              <a:t>The evaluation contract keeps the test population honest</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64748B"/>
                </a:solidFill>
                <a:latin typeface="Aptos"/>
              </a:rPr>
              <a:t>M4  /  06</a:t>
            </a:r>
          </a:p>
        </p:txBody>
      </p:sp>
      <p:sp>
        <p:nvSpPr>
          <p:cNvPr id="5" name="Rectangle 4"/>
          <p:cNvSpPr/>
          <p:nvPr/>
        </p:nvSpPr>
        <p:spPr>
          <a:xfrm>
            <a:off x="566928" y="1243584"/>
            <a:ext cx="11064240" cy="32004"/>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86384" y="1664208"/>
            <a:ext cx="2560320" cy="484632"/>
          </a:xfrm>
          <a:prstGeom prst="rect">
            <a:avLst/>
          </a:prstGeom>
          <a:noFill/>
        </p:spPr>
        <p:txBody>
          <a:bodyPr wrap="square" lIns="54864" tIns="54864" rIns="54864" bIns="54864" anchor="t">
            <a:spAutoFit/>
          </a:bodyPr>
          <a:lstStyle/>
          <a:p>
            <a:pPr algn="l"/>
            <a:r>
              <a:rPr sz="3200" b="1">
                <a:solidFill>
                  <a:srgbClr val="1D4ED8"/>
                </a:solidFill>
                <a:latin typeface="Aptos Display"/>
              </a:rPr>
              <a:t>9,926</a:t>
            </a:r>
          </a:p>
        </p:txBody>
      </p:sp>
      <p:sp>
        <p:nvSpPr>
          <p:cNvPr id="7" name="TextBox 6"/>
          <p:cNvSpPr txBox="1"/>
          <p:nvPr/>
        </p:nvSpPr>
        <p:spPr>
          <a:xfrm>
            <a:off x="786384" y="2167128"/>
            <a:ext cx="2560320" cy="365760"/>
          </a:xfrm>
          <a:prstGeom prst="rect">
            <a:avLst/>
          </a:prstGeom>
          <a:noFill/>
        </p:spPr>
        <p:txBody>
          <a:bodyPr wrap="square" lIns="54864" tIns="54864" rIns="54864" bIns="54864" anchor="t">
            <a:spAutoFit/>
          </a:bodyPr>
          <a:lstStyle/>
          <a:p>
            <a:pPr algn="l"/>
            <a:r>
              <a:rPr sz="1300" b="0">
                <a:solidFill>
                  <a:srgbClr val="64748B"/>
                </a:solidFill>
                <a:latin typeface="Aptos"/>
              </a:rPr>
              <a:t>held-out test stays</a:t>
            </a:r>
          </a:p>
        </p:txBody>
      </p:sp>
      <p:sp>
        <p:nvSpPr>
          <p:cNvPr id="8" name="TextBox 7"/>
          <p:cNvSpPr txBox="1"/>
          <p:nvPr/>
        </p:nvSpPr>
        <p:spPr>
          <a:xfrm>
            <a:off x="3520440" y="1664208"/>
            <a:ext cx="2286000" cy="484632"/>
          </a:xfrm>
          <a:prstGeom prst="rect">
            <a:avLst/>
          </a:prstGeom>
          <a:noFill/>
        </p:spPr>
        <p:txBody>
          <a:bodyPr wrap="square" lIns="54864" tIns="54864" rIns="54864" bIns="54864" anchor="t">
            <a:spAutoFit/>
          </a:bodyPr>
          <a:lstStyle/>
          <a:p>
            <a:pPr algn="l"/>
            <a:r>
              <a:rPr sz="3200" b="1">
                <a:solidFill>
                  <a:srgbClr val="F59E0B"/>
                </a:solidFill>
                <a:latin typeface="Aptos Display"/>
              </a:rPr>
              <a:t>47.2%</a:t>
            </a:r>
          </a:p>
        </p:txBody>
      </p:sp>
      <p:sp>
        <p:nvSpPr>
          <p:cNvPr id="9" name="TextBox 8"/>
          <p:cNvSpPr txBox="1"/>
          <p:nvPr/>
        </p:nvSpPr>
        <p:spPr>
          <a:xfrm>
            <a:off x="3520440" y="2167128"/>
            <a:ext cx="2286000" cy="365760"/>
          </a:xfrm>
          <a:prstGeom prst="rect">
            <a:avLst/>
          </a:prstGeom>
          <a:noFill/>
        </p:spPr>
        <p:txBody>
          <a:bodyPr wrap="square" lIns="54864" tIns="54864" rIns="54864" bIns="54864" anchor="t">
            <a:spAutoFit/>
          </a:bodyPr>
          <a:lstStyle/>
          <a:p>
            <a:pPr algn="l"/>
            <a:r>
              <a:rPr sz="1300" b="0">
                <a:solidFill>
                  <a:srgbClr val="64748B"/>
                </a:solidFill>
                <a:latin typeface="Aptos"/>
              </a:rPr>
              <a:t>hospitalized in test</a:t>
            </a:r>
          </a:p>
        </p:txBody>
      </p:sp>
      <p:sp>
        <p:nvSpPr>
          <p:cNvPr id="10" name="TextBox 9"/>
          <p:cNvSpPr txBox="1"/>
          <p:nvPr/>
        </p:nvSpPr>
        <p:spPr>
          <a:xfrm>
            <a:off x="6080760" y="1664208"/>
            <a:ext cx="2377440" cy="484632"/>
          </a:xfrm>
          <a:prstGeom prst="rect">
            <a:avLst/>
          </a:prstGeom>
          <a:noFill/>
        </p:spPr>
        <p:txBody>
          <a:bodyPr wrap="square" lIns="54864" tIns="54864" rIns="54864" bIns="54864" anchor="t">
            <a:spAutoFit/>
          </a:bodyPr>
          <a:lstStyle/>
          <a:p>
            <a:pPr algn="l"/>
            <a:r>
              <a:rPr sz="3200" b="1">
                <a:solidFill>
                  <a:srgbClr val="10B981"/>
                </a:solidFill>
                <a:latin typeface="Aptos Display"/>
              </a:rPr>
              <a:t>5,240</a:t>
            </a:r>
          </a:p>
        </p:txBody>
      </p:sp>
      <p:sp>
        <p:nvSpPr>
          <p:cNvPr id="11" name="TextBox 10"/>
          <p:cNvSpPr txBox="1"/>
          <p:nvPr/>
        </p:nvSpPr>
        <p:spPr>
          <a:xfrm>
            <a:off x="6080760" y="2167128"/>
            <a:ext cx="2377440" cy="365760"/>
          </a:xfrm>
          <a:prstGeom prst="rect">
            <a:avLst/>
          </a:prstGeom>
          <a:noFill/>
        </p:spPr>
        <p:txBody>
          <a:bodyPr wrap="square" lIns="54864" tIns="54864" rIns="54864" bIns="54864" anchor="t">
            <a:spAutoFit/>
          </a:bodyPr>
          <a:lstStyle/>
          <a:p>
            <a:pPr algn="l"/>
            <a:r>
              <a:rPr sz="1300" b="0">
                <a:solidFill>
                  <a:srgbClr val="64748B"/>
                </a:solidFill>
                <a:latin typeface="Aptos"/>
              </a:rPr>
              <a:t>non-hospitalized stays</a:t>
            </a:r>
          </a:p>
        </p:txBody>
      </p:sp>
      <p:sp>
        <p:nvSpPr>
          <p:cNvPr id="12" name="TextBox 11"/>
          <p:cNvSpPr txBox="1"/>
          <p:nvPr/>
        </p:nvSpPr>
        <p:spPr>
          <a:xfrm>
            <a:off x="8732520" y="1664208"/>
            <a:ext cx="2057400" cy="484632"/>
          </a:xfrm>
          <a:prstGeom prst="rect">
            <a:avLst/>
          </a:prstGeom>
          <a:noFill/>
        </p:spPr>
        <p:txBody>
          <a:bodyPr wrap="square" lIns="54864" tIns="54864" rIns="54864" bIns="54864" anchor="t">
            <a:spAutoFit/>
          </a:bodyPr>
          <a:lstStyle/>
          <a:p>
            <a:pPr algn="l"/>
            <a:r>
              <a:rPr sz="3200" b="1">
                <a:solidFill>
                  <a:srgbClr val="E11D48"/>
                </a:solidFill>
                <a:latin typeface="Aptos Display"/>
              </a:rPr>
              <a:t>0</a:t>
            </a:r>
          </a:p>
        </p:txBody>
      </p:sp>
      <p:sp>
        <p:nvSpPr>
          <p:cNvPr id="13" name="TextBox 12"/>
          <p:cNvSpPr txBox="1"/>
          <p:nvPr/>
        </p:nvSpPr>
        <p:spPr>
          <a:xfrm>
            <a:off x="8732520" y="2167128"/>
            <a:ext cx="2057400" cy="365760"/>
          </a:xfrm>
          <a:prstGeom prst="rect">
            <a:avLst/>
          </a:prstGeom>
          <a:noFill/>
        </p:spPr>
        <p:txBody>
          <a:bodyPr wrap="square" lIns="54864" tIns="54864" rIns="54864" bIns="54864" anchor="t">
            <a:spAutoFit/>
          </a:bodyPr>
          <a:lstStyle/>
          <a:p>
            <a:pPr algn="l"/>
            <a:r>
              <a:rPr sz="1300" b="0">
                <a:solidFill>
                  <a:srgbClr val="64748B"/>
                </a:solidFill>
                <a:latin typeface="Aptos"/>
              </a:rPr>
              <a:t>patient overlap</a:t>
            </a:r>
          </a:p>
        </p:txBody>
      </p:sp>
      <p:sp>
        <p:nvSpPr>
          <p:cNvPr id="14" name="Rounded Rectangle 13"/>
          <p:cNvSpPr/>
          <p:nvPr/>
        </p:nvSpPr>
        <p:spPr>
          <a:xfrm>
            <a:off x="841248" y="3246120"/>
            <a:ext cx="4983480" cy="2543206"/>
          </a:xfrm>
          <a:prstGeom prst="roundRect">
            <a:avLst>
              <a:gd name="adj" fmla="val 8000"/>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70432" y="3566160"/>
            <a:ext cx="4297680" cy="274320"/>
          </a:xfrm>
          <a:prstGeom prst="rect">
            <a:avLst/>
          </a:prstGeom>
          <a:noFill/>
        </p:spPr>
        <p:txBody>
          <a:bodyPr wrap="square" lIns="54864" tIns="54864" rIns="54864" bIns="54864" anchor="t">
            <a:spAutoFit/>
          </a:bodyPr>
          <a:lstStyle/>
          <a:p>
            <a:pPr algn="l"/>
            <a:r>
              <a:rPr sz="2200" b="1">
                <a:solidFill>
                  <a:srgbClr val="1F2933"/>
                </a:solidFill>
                <a:latin typeface="Aptos Display"/>
              </a:rPr>
              <a:t>Why patient-disjoint matters</a:t>
            </a:r>
          </a:p>
        </p:txBody>
      </p:sp>
      <p:sp>
        <p:nvSpPr>
          <p:cNvPr id="16" name="Oval 15"/>
          <p:cNvSpPr/>
          <p:nvPr/>
        </p:nvSpPr>
        <p:spPr>
          <a:xfrm>
            <a:off x="1170432" y="4206240"/>
            <a:ext cx="91440" cy="9144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53312" y="4114800"/>
            <a:ext cx="3977639" cy="393192"/>
          </a:xfrm>
          <a:prstGeom prst="rect">
            <a:avLst/>
          </a:prstGeom>
          <a:noFill/>
        </p:spPr>
        <p:txBody>
          <a:bodyPr wrap="square" lIns="54864" tIns="54864" rIns="54864" bIns="54864" anchor="t">
            <a:spAutoFit/>
          </a:bodyPr>
          <a:lstStyle/>
          <a:p>
            <a:pPr algn="l"/>
            <a:r>
              <a:rPr sz="1500" b="0">
                <a:solidFill>
                  <a:srgbClr val="2A3742"/>
                </a:solidFill>
                <a:latin typeface="Aptos"/>
              </a:rPr>
              <a:t>Repeated stays from one subject cannot teach and test the same person.</a:t>
            </a:r>
          </a:p>
        </p:txBody>
      </p:sp>
      <p:sp>
        <p:nvSpPr>
          <p:cNvPr id="18" name="Oval 17"/>
          <p:cNvSpPr/>
          <p:nvPr/>
        </p:nvSpPr>
        <p:spPr>
          <a:xfrm>
            <a:off x="1170432" y="4690872"/>
            <a:ext cx="91440" cy="9144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353312" y="4599432"/>
            <a:ext cx="3977639" cy="393192"/>
          </a:xfrm>
          <a:prstGeom prst="rect">
            <a:avLst/>
          </a:prstGeom>
          <a:noFill/>
        </p:spPr>
        <p:txBody>
          <a:bodyPr wrap="square" lIns="54864" tIns="54864" rIns="54864" bIns="54864" anchor="t">
            <a:spAutoFit/>
          </a:bodyPr>
          <a:lstStyle/>
          <a:p>
            <a:pPr algn="l"/>
            <a:r>
              <a:rPr sz="1500" b="0">
                <a:solidFill>
                  <a:srgbClr val="2A3742"/>
                </a:solidFill>
                <a:latin typeface="Aptos"/>
              </a:rPr>
              <a:t>GroupShuffleSplit uses subject_id to keep patients together.</a:t>
            </a:r>
          </a:p>
        </p:txBody>
      </p:sp>
      <p:sp>
        <p:nvSpPr>
          <p:cNvPr id="20" name="Oval 19"/>
          <p:cNvSpPr/>
          <p:nvPr/>
        </p:nvSpPr>
        <p:spPr>
          <a:xfrm>
            <a:off x="1170432" y="5175504"/>
            <a:ext cx="91440" cy="9144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53312" y="5084064"/>
            <a:ext cx="3977639" cy="393192"/>
          </a:xfrm>
          <a:prstGeom prst="rect">
            <a:avLst/>
          </a:prstGeom>
          <a:noFill/>
        </p:spPr>
        <p:txBody>
          <a:bodyPr wrap="square" lIns="54864" tIns="54864" rIns="54864" bIns="54864" anchor="t">
            <a:spAutoFit/>
          </a:bodyPr>
          <a:lstStyle/>
          <a:p>
            <a:pPr algn="l"/>
            <a:r>
              <a:rPr sz="1500" b="0">
                <a:solidFill>
                  <a:srgbClr val="2A3742"/>
                </a:solidFill>
                <a:latin typeface="Aptos"/>
              </a:rPr>
              <a:t>The test set estimates generalization to unseen patients from this source.</a:t>
            </a:r>
          </a:p>
        </p:txBody>
      </p:sp>
      <p:sp>
        <p:nvSpPr>
          <p:cNvPr id="22" name="Rounded Rectangle 21"/>
          <p:cNvSpPr/>
          <p:nvPr/>
        </p:nvSpPr>
        <p:spPr>
          <a:xfrm>
            <a:off x="6263640" y="3246120"/>
            <a:ext cx="4983480" cy="2543206"/>
          </a:xfrm>
          <a:prstGeom prst="roundRect">
            <a:avLst>
              <a:gd name="adj" fmla="val 8000"/>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0" y="3566160"/>
            <a:ext cx="4297680" cy="274320"/>
          </a:xfrm>
          <a:prstGeom prst="rect">
            <a:avLst/>
          </a:prstGeom>
          <a:noFill/>
        </p:spPr>
        <p:txBody>
          <a:bodyPr wrap="square" lIns="54864" tIns="54864" rIns="54864" bIns="54864" anchor="t">
            <a:spAutoFit/>
          </a:bodyPr>
          <a:lstStyle/>
          <a:p>
            <a:pPr algn="l"/>
            <a:r>
              <a:rPr sz="2200" b="1">
                <a:solidFill>
                  <a:srgbClr val="1F2933"/>
                </a:solidFill>
                <a:latin typeface="Aptos Display"/>
              </a:rPr>
              <a:t>Why prevalence matters</a:t>
            </a:r>
          </a:p>
        </p:txBody>
      </p:sp>
      <p:sp>
        <p:nvSpPr>
          <p:cNvPr id="24" name="Oval 23"/>
          <p:cNvSpPr/>
          <p:nvPr/>
        </p:nvSpPr>
        <p:spPr>
          <a:xfrm>
            <a:off x="6583680" y="4206240"/>
            <a:ext cx="91440" cy="9144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66560" y="4114800"/>
            <a:ext cx="3977639" cy="393192"/>
          </a:xfrm>
          <a:prstGeom prst="rect">
            <a:avLst/>
          </a:prstGeom>
          <a:noFill/>
        </p:spPr>
        <p:txBody>
          <a:bodyPr wrap="square" lIns="54864" tIns="54864" rIns="54864" bIns="54864" anchor="t">
            <a:spAutoFit/>
          </a:bodyPr>
          <a:lstStyle/>
          <a:p>
            <a:pPr algn="l"/>
            <a:r>
              <a:rPr sz="1500" b="0">
                <a:solidFill>
                  <a:srgbClr val="2A3742"/>
                </a:solidFill>
                <a:latin typeface="Aptos"/>
              </a:rPr>
              <a:t>A positive prediction is not automatically a rare-alert event in M4.</a:t>
            </a:r>
          </a:p>
        </p:txBody>
      </p:sp>
      <p:sp>
        <p:nvSpPr>
          <p:cNvPr id="26" name="Oval 25"/>
          <p:cNvSpPr/>
          <p:nvPr/>
        </p:nvSpPr>
        <p:spPr>
          <a:xfrm>
            <a:off x="6583680" y="4690872"/>
            <a:ext cx="91440" cy="9144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66560" y="4599432"/>
            <a:ext cx="3977639" cy="393192"/>
          </a:xfrm>
          <a:prstGeom prst="rect">
            <a:avLst/>
          </a:prstGeom>
          <a:noFill/>
        </p:spPr>
        <p:txBody>
          <a:bodyPr wrap="square" lIns="54864" tIns="54864" rIns="54864" bIns="54864" anchor="t">
            <a:spAutoFit/>
          </a:bodyPr>
          <a:lstStyle/>
          <a:p>
            <a:pPr algn="l"/>
            <a:r>
              <a:rPr sz="1500" b="0">
                <a:solidFill>
                  <a:srgbClr val="2A3742"/>
                </a:solidFill>
                <a:latin typeface="Aptos"/>
              </a:rPr>
              <a:t>PPV and NPV depend on the evaluated population's prevalence.</a:t>
            </a:r>
          </a:p>
        </p:txBody>
      </p:sp>
      <p:sp>
        <p:nvSpPr>
          <p:cNvPr id="28" name="Oval 27"/>
          <p:cNvSpPr/>
          <p:nvPr/>
        </p:nvSpPr>
        <p:spPr>
          <a:xfrm>
            <a:off x="6583680" y="5175504"/>
            <a:ext cx="91440" cy="9144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766560" y="5084064"/>
            <a:ext cx="3977639" cy="393192"/>
          </a:xfrm>
          <a:prstGeom prst="rect">
            <a:avLst/>
          </a:prstGeom>
          <a:noFill/>
        </p:spPr>
        <p:txBody>
          <a:bodyPr wrap="square" lIns="54864" tIns="54864" rIns="54864" bIns="54864" anchor="t">
            <a:spAutoFit/>
          </a:bodyPr>
          <a:lstStyle/>
          <a:p>
            <a:pPr algn="l"/>
            <a:r>
              <a:rPr sz="1500" b="0">
                <a:solidFill>
                  <a:srgbClr val="2A3742"/>
                </a:solidFill>
                <a:latin typeface="Aptos"/>
              </a:rPr>
              <a:t>Do not transfer these rates unchanged to another hospital or workflow.</a:t>
            </a:r>
          </a:p>
        </p:txBody>
      </p:sp>
      <p:sp>
        <p:nvSpPr>
          <p:cNvPr id="30" name="Rectangle 29"/>
          <p:cNvSpPr/>
          <p:nvPr/>
        </p:nvSpPr>
        <p:spPr>
          <a:xfrm>
            <a:off x="566928" y="6519672"/>
            <a:ext cx="11064240" cy="109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F2933"/>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F59E0B"/>
                </a:solidFill>
                <a:latin typeface="Aptos"/>
              </a:rPr>
              <a:t>03  /  MODELING</a:t>
            </a:r>
          </a:p>
        </p:txBody>
      </p:sp>
      <p:sp>
        <p:nvSpPr>
          <p:cNvPr id="3" name="TextBox 2"/>
          <p:cNvSpPr txBox="1"/>
          <p:nvPr/>
        </p:nvSpPr>
        <p:spPr>
          <a:xfrm>
            <a:off x="566928" y="530352"/>
            <a:ext cx="10287000" cy="594360"/>
          </a:xfrm>
          <a:prstGeom prst="rect">
            <a:avLst/>
          </a:prstGeom>
          <a:noFill/>
        </p:spPr>
        <p:txBody>
          <a:bodyPr wrap="square" lIns="54864" tIns="54864" rIns="54864" bIns="54864" anchor="t">
            <a:spAutoFit/>
          </a:bodyPr>
          <a:lstStyle/>
          <a:p>
            <a:pPr algn="l"/>
            <a:r>
              <a:rPr sz="3000" b="1">
                <a:solidFill>
                  <a:srgbClr val="FFFFFF"/>
                </a:solidFill>
                <a:latin typeface="Aptos Display"/>
              </a:rPr>
              <a:t>One preprocessing contract, four model families</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E2E8F0"/>
                </a:solidFill>
                <a:latin typeface="Aptos"/>
              </a:rPr>
              <a:t>M4  /  07</a:t>
            </a:r>
          </a:p>
        </p:txBody>
      </p:sp>
      <p:sp>
        <p:nvSpPr>
          <p:cNvPr id="5" name="Rectangle 4"/>
          <p:cNvSpPr/>
          <p:nvPr/>
        </p:nvSpPr>
        <p:spPr>
          <a:xfrm>
            <a:off x="566928" y="1243584"/>
            <a:ext cx="11064240" cy="3200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41248" y="1627632"/>
            <a:ext cx="128016" cy="640080"/>
          </a:xfrm>
          <a:prstGeom prst="rect">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1682496"/>
            <a:ext cx="2560320" cy="237744"/>
          </a:xfrm>
          <a:prstGeom prst="rect">
            <a:avLst/>
          </a:prstGeom>
          <a:noFill/>
        </p:spPr>
        <p:txBody>
          <a:bodyPr wrap="square" lIns="54864" tIns="54864" rIns="54864" bIns="54864" anchor="t">
            <a:spAutoFit/>
          </a:bodyPr>
          <a:lstStyle/>
          <a:p>
            <a:pPr algn="l"/>
            <a:r>
              <a:rPr sz="1900" b="1">
                <a:solidFill>
                  <a:srgbClr val="FFFFFF"/>
                </a:solidFill>
                <a:latin typeface="Aptos Display"/>
              </a:rPr>
              <a:t>Prior dummy</a:t>
            </a:r>
          </a:p>
        </p:txBody>
      </p:sp>
      <p:sp>
        <p:nvSpPr>
          <p:cNvPr id="8" name="TextBox 7"/>
          <p:cNvSpPr txBox="1"/>
          <p:nvPr/>
        </p:nvSpPr>
        <p:spPr>
          <a:xfrm>
            <a:off x="3886200" y="1691640"/>
            <a:ext cx="4297680" cy="357021"/>
          </a:xfrm>
          <a:prstGeom prst="rect">
            <a:avLst/>
          </a:prstGeom>
          <a:noFill/>
        </p:spPr>
        <p:txBody>
          <a:bodyPr wrap="square" lIns="54864" tIns="54864" rIns="54864" bIns="54864" anchor="t">
            <a:spAutoFit/>
          </a:bodyPr>
          <a:lstStyle/>
          <a:p>
            <a:pPr algn="l"/>
            <a:r>
              <a:rPr sz="1600" b="0" dirty="0">
                <a:solidFill>
                  <a:srgbClr val="E2E8F0"/>
                </a:solidFill>
                <a:latin typeface="Aptos"/>
              </a:rPr>
              <a:t>uses prevalence only</a:t>
            </a:r>
          </a:p>
        </p:txBody>
      </p:sp>
      <p:sp>
        <p:nvSpPr>
          <p:cNvPr id="9" name="TextBox 8"/>
          <p:cNvSpPr txBox="1"/>
          <p:nvPr/>
        </p:nvSpPr>
        <p:spPr>
          <a:xfrm>
            <a:off x="8458200" y="1691640"/>
            <a:ext cx="2377440" cy="341632"/>
          </a:xfrm>
          <a:prstGeom prst="rect">
            <a:avLst/>
          </a:prstGeom>
          <a:noFill/>
        </p:spPr>
        <p:txBody>
          <a:bodyPr wrap="square" lIns="54864" tIns="54864" rIns="54864" bIns="54864" anchor="t">
            <a:spAutoFit/>
          </a:bodyPr>
          <a:lstStyle/>
          <a:p>
            <a:pPr algn="l"/>
            <a:r>
              <a:rPr sz="1500" b="1" dirty="0">
                <a:solidFill>
                  <a:srgbClr val="64748B"/>
                </a:solidFill>
                <a:highlight>
                  <a:srgbClr val="FFFF00"/>
                </a:highlight>
                <a:latin typeface="Aptos"/>
              </a:rPr>
              <a:t>reference floor</a:t>
            </a:r>
          </a:p>
        </p:txBody>
      </p:sp>
      <p:sp>
        <p:nvSpPr>
          <p:cNvPr id="10" name="Rectangle 9"/>
          <p:cNvSpPr/>
          <p:nvPr/>
        </p:nvSpPr>
        <p:spPr>
          <a:xfrm>
            <a:off x="841248" y="2542032"/>
            <a:ext cx="128016" cy="640080"/>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88720" y="2596896"/>
            <a:ext cx="2560320" cy="237744"/>
          </a:xfrm>
          <a:prstGeom prst="rect">
            <a:avLst/>
          </a:prstGeom>
          <a:noFill/>
        </p:spPr>
        <p:txBody>
          <a:bodyPr wrap="square" lIns="54864" tIns="54864" rIns="54864" bIns="54864" anchor="t">
            <a:spAutoFit/>
          </a:bodyPr>
          <a:lstStyle/>
          <a:p>
            <a:pPr algn="l"/>
            <a:r>
              <a:rPr sz="1900" b="1">
                <a:solidFill>
                  <a:srgbClr val="FFFFFF"/>
                </a:solidFill>
                <a:latin typeface="Aptos Display"/>
              </a:rPr>
              <a:t>Logistic regression</a:t>
            </a:r>
          </a:p>
        </p:txBody>
      </p:sp>
      <p:sp>
        <p:nvSpPr>
          <p:cNvPr id="12" name="TextBox 11"/>
          <p:cNvSpPr txBox="1"/>
          <p:nvPr/>
        </p:nvSpPr>
        <p:spPr>
          <a:xfrm>
            <a:off x="3886200" y="2606040"/>
            <a:ext cx="4297680" cy="357021"/>
          </a:xfrm>
          <a:prstGeom prst="rect">
            <a:avLst/>
          </a:prstGeom>
          <a:noFill/>
        </p:spPr>
        <p:txBody>
          <a:bodyPr wrap="square" lIns="54864" tIns="54864" rIns="54864" bIns="54864" anchor="t">
            <a:spAutoFit/>
          </a:bodyPr>
          <a:lstStyle/>
          <a:p>
            <a:pPr algn="l"/>
            <a:r>
              <a:rPr sz="1600" b="0" dirty="0">
                <a:solidFill>
                  <a:srgbClr val="E2E8F0"/>
                </a:solidFill>
                <a:latin typeface="Aptos"/>
              </a:rPr>
              <a:t>linear signal after preprocessing</a:t>
            </a:r>
          </a:p>
        </p:txBody>
      </p:sp>
      <p:sp>
        <p:nvSpPr>
          <p:cNvPr id="13" name="TextBox 12"/>
          <p:cNvSpPr txBox="1"/>
          <p:nvPr/>
        </p:nvSpPr>
        <p:spPr>
          <a:xfrm>
            <a:off x="8458200" y="2606040"/>
            <a:ext cx="2377440" cy="341632"/>
          </a:xfrm>
          <a:prstGeom prst="rect">
            <a:avLst/>
          </a:prstGeom>
          <a:noFill/>
        </p:spPr>
        <p:txBody>
          <a:bodyPr wrap="square" lIns="54864" tIns="54864" rIns="54864" bIns="54864" anchor="t">
            <a:spAutoFit/>
          </a:bodyPr>
          <a:lstStyle/>
          <a:p>
            <a:pPr algn="l"/>
            <a:r>
              <a:rPr sz="1500" b="1" dirty="0">
                <a:solidFill>
                  <a:srgbClr val="1D4ED8"/>
                </a:solidFill>
                <a:highlight>
                  <a:srgbClr val="FFFF00"/>
                </a:highlight>
                <a:latin typeface="Aptos"/>
              </a:rPr>
              <a:t>transparent baseline</a:t>
            </a:r>
          </a:p>
        </p:txBody>
      </p:sp>
      <p:sp>
        <p:nvSpPr>
          <p:cNvPr id="14" name="Rectangle 13"/>
          <p:cNvSpPr/>
          <p:nvPr/>
        </p:nvSpPr>
        <p:spPr>
          <a:xfrm>
            <a:off x="841248" y="3456432"/>
            <a:ext cx="128016" cy="640080"/>
          </a:xfrm>
          <a:prstGeom prst="rect">
            <a:avLst/>
          </a:prstGeom>
          <a:solidFill>
            <a:srgbClr val="E11D48"/>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88720" y="3511296"/>
            <a:ext cx="2560320" cy="237744"/>
          </a:xfrm>
          <a:prstGeom prst="rect">
            <a:avLst/>
          </a:prstGeom>
          <a:noFill/>
        </p:spPr>
        <p:txBody>
          <a:bodyPr wrap="square" lIns="54864" tIns="54864" rIns="54864" bIns="54864" anchor="t">
            <a:spAutoFit/>
          </a:bodyPr>
          <a:lstStyle/>
          <a:p>
            <a:pPr algn="l"/>
            <a:r>
              <a:rPr sz="1900" b="1">
                <a:solidFill>
                  <a:srgbClr val="FFFFFF"/>
                </a:solidFill>
                <a:latin typeface="Aptos Display"/>
              </a:rPr>
              <a:t>Random forest</a:t>
            </a:r>
          </a:p>
        </p:txBody>
      </p:sp>
      <p:sp>
        <p:nvSpPr>
          <p:cNvPr id="16" name="TextBox 15"/>
          <p:cNvSpPr txBox="1"/>
          <p:nvPr/>
        </p:nvSpPr>
        <p:spPr>
          <a:xfrm>
            <a:off x="3886200" y="3520440"/>
            <a:ext cx="4297680" cy="357021"/>
          </a:xfrm>
          <a:prstGeom prst="rect">
            <a:avLst/>
          </a:prstGeom>
          <a:noFill/>
        </p:spPr>
        <p:txBody>
          <a:bodyPr wrap="square" lIns="54864" tIns="54864" rIns="54864" bIns="54864" anchor="t">
            <a:spAutoFit/>
          </a:bodyPr>
          <a:lstStyle/>
          <a:p>
            <a:pPr algn="l"/>
            <a:r>
              <a:rPr sz="1600" b="0" dirty="0">
                <a:solidFill>
                  <a:srgbClr val="E2E8F0"/>
                </a:solidFill>
                <a:latin typeface="Aptos"/>
              </a:rPr>
              <a:t>many trees averaged</a:t>
            </a:r>
          </a:p>
        </p:txBody>
      </p:sp>
      <p:sp>
        <p:nvSpPr>
          <p:cNvPr id="17" name="TextBox 16"/>
          <p:cNvSpPr txBox="1"/>
          <p:nvPr/>
        </p:nvSpPr>
        <p:spPr>
          <a:xfrm>
            <a:off x="8458200" y="3520440"/>
            <a:ext cx="2377440" cy="341632"/>
          </a:xfrm>
          <a:prstGeom prst="rect">
            <a:avLst/>
          </a:prstGeom>
          <a:noFill/>
        </p:spPr>
        <p:txBody>
          <a:bodyPr wrap="square" lIns="54864" tIns="54864" rIns="54864" bIns="54864" anchor="t">
            <a:spAutoFit/>
          </a:bodyPr>
          <a:lstStyle/>
          <a:p>
            <a:pPr algn="l"/>
            <a:r>
              <a:rPr sz="1500" b="1" dirty="0">
                <a:solidFill>
                  <a:srgbClr val="E11D48"/>
                </a:solidFill>
                <a:highlight>
                  <a:srgbClr val="FFFF00"/>
                </a:highlight>
                <a:latin typeface="Aptos"/>
              </a:rPr>
              <a:t>nonlinear ensemble</a:t>
            </a:r>
          </a:p>
        </p:txBody>
      </p:sp>
      <p:sp>
        <p:nvSpPr>
          <p:cNvPr id="18" name="Rectangle 17"/>
          <p:cNvSpPr/>
          <p:nvPr/>
        </p:nvSpPr>
        <p:spPr>
          <a:xfrm>
            <a:off x="841248" y="4370832"/>
            <a:ext cx="128016" cy="64008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4425696"/>
            <a:ext cx="2560320" cy="237744"/>
          </a:xfrm>
          <a:prstGeom prst="rect">
            <a:avLst/>
          </a:prstGeom>
          <a:noFill/>
        </p:spPr>
        <p:txBody>
          <a:bodyPr wrap="square" lIns="54864" tIns="54864" rIns="54864" bIns="54864" anchor="t">
            <a:spAutoFit/>
          </a:bodyPr>
          <a:lstStyle/>
          <a:p>
            <a:pPr algn="l"/>
            <a:r>
              <a:rPr sz="1900" b="1">
                <a:solidFill>
                  <a:srgbClr val="FFFFFF"/>
                </a:solidFill>
                <a:latin typeface="Aptos Display"/>
              </a:rPr>
              <a:t>Gradient boosting</a:t>
            </a:r>
          </a:p>
        </p:txBody>
      </p:sp>
      <p:sp>
        <p:nvSpPr>
          <p:cNvPr id="20" name="TextBox 19"/>
          <p:cNvSpPr txBox="1"/>
          <p:nvPr/>
        </p:nvSpPr>
        <p:spPr>
          <a:xfrm>
            <a:off x="3886200" y="4434840"/>
            <a:ext cx="4297680" cy="357021"/>
          </a:xfrm>
          <a:prstGeom prst="rect">
            <a:avLst/>
          </a:prstGeom>
          <a:noFill/>
        </p:spPr>
        <p:txBody>
          <a:bodyPr wrap="square" lIns="54864" tIns="54864" rIns="54864" bIns="54864" anchor="t">
            <a:spAutoFit/>
          </a:bodyPr>
          <a:lstStyle/>
          <a:p>
            <a:pPr algn="l"/>
            <a:r>
              <a:rPr sz="1600" b="0" dirty="0">
                <a:solidFill>
                  <a:srgbClr val="E2E8F0"/>
                </a:solidFill>
                <a:latin typeface="Aptos"/>
              </a:rPr>
              <a:t>sequential trees correct earlier errors</a:t>
            </a:r>
          </a:p>
        </p:txBody>
      </p:sp>
      <p:sp>
        <p:nvSpPr>
          <p:cNvPr id="21" name="TextBox 20"/>
          <p:cNvSpPr txBox="1"/>
          <p:nvPr/>
        </p:nvSpPr>
        <p:spPr>
          <a:xfrm>
            <a:off x="8458200" y="4434840"/>
            <a:ext cx="2377440" cy="341632"/>
          </a:xfrm>
          <a:prstGeom prst="rect">
            <a:avLst/>
          </a:prstGeom>
          <a:noFill/>
        </p:spPr>
        <p:txBody>
          <a:bodyPr wrap="square" lIns="54864" tIns="54864" rIns="54864" bIns="54864" anchor="t">
            <a:spAutoFit/>
          </a:bodyPr>
          <a:lstStyle/>
          <a:p>
            <a:pPr algn="l"/>
            <a:r>
              <a:rPr sz="1500" b="1" dirty="0">
                <a:solidFill>
                  <a:srgbClr val="10B981"/>
                </a:solidFill>
                <a:highlight>
                  <a:srgbClr val="FFFF00"/>
                </a:highlight>
                <a:latin typeface="Aptos"/>
              </a:rPr>
              <a:t>explainability target</a:t>
            </a:r>
          </a:p>
        </p:txBody>
      </p:sp>
      <p:sp>
        <p:nvSpPr>
          <p:cNvPr id="22" name="Rounded Rectangle 21"/>
          <p:cNvSpPr/>
          <p:nvPr/>
        </p:nvSpPr>
        <p:spPr>
          <a:xfrm>
            <a:off x="841248" y="5596128"/>
            <a:ext cx="10469880" cy="731520"/>
          </a:xfrm>
          <a:prstGeom prst="roundRect">
            <a:avLst>
              <a:gd name="adj" fmla="val 8000"/>
            </a:avLst>
          </a:prstGeom>
          <a:solidFill>
            <a:srgbClr val="303D49"/>
          </a:solidFill>
          <a:ln>
            <a:solidFill>
              <a:srgbClr val="303D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42415" y="5751576"/>
            <a:ext cx="10058400" cy="201168"/>
          </a:xfrm>
          <a:prstGeom prst="rect">
            <a:avLst/>
          </a:prstGeom>
          <a:noFill/>
        </p:spPr>
        <p:txBody>
          <a:bodyPr wrap="square" lIns="54864" tIns="54864" rIns="54864" bIns="54864" anchor="t">
            <a:spAutoFit/>
          </a:bodyPr>
          <a:lstStyle/>
          <a:p>
            <a:pPr algn="ctr"/>
            <a:r>
              <a:rPr sz="1600" b="1" dirty="0">
                <a:solidFill>
                  <a:srgbClr val="F59E0B"/>
                </a:solidFill>
                <a:latin typeface="Aptos"/>
              </a:rPr>
              <a:t>Preprocessing: imputation + missingness indicators + scaling/encoding, fitted only inside each training pipeline.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6"/>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1D4ED8"/>
                </a:solidFill>
                <a:latin typeface="Aptos"/>
              </a:rPr>
              <a:t>04  /  METRICS</a:t>
            </a:r>
          </a:p>
        </p:txBody>
      </p:sp>
      <p:sp>
        <p:nvSpPr>
          <p:cNvPr id="3" name="TextBox 2"/>
          <p:cNvSpPr txBox="1"/>
          <p:nvPr/>
        </p:nvSpPr>
        <p:spPr>
          <a:xfrm>
            <a:off x="566928" y="530352"/>
            <a:ext cx="10287000" cy="594360"/>
          </a:xfrm>
          <a:prstGeom prst="rect">
            <a:avLst/>
          </a:prstGeom>
          <a:noFill/>
        </p:spPr>
        <p:txBody>
          <a:bodyPr wrap="square" lIns="54864" tIns="54864" rIns="54864" bIns="54864" anchor="t">
            <a:spAutoFit/>
          </a:bodyPr>
          <a:lstStyle/>
          <a:p>
            <a:pPr algn="l"/>
            <a:r>
              <a:rPr sz="3000" b="1">
                <a:solidFill>
                  <a:srgbClr val="1F2933"/>
                </a:solidFill>
                <a:latin typeface="Aptos Display"/>
              </a:rPr>
              <a:t>Metric vocabulary before metric results</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64748B"/>
                </a:solidFill>
                <a:latin typeface="Aptos"/>
              </a:rPr>
              <a:t>M4  /  08</a:t>
            </a:r>
          </a:p>
        </p:txBody>
      </p:sp>
      <p:sp>
        <p:nvSpPr>
          <p:cNvPr id="5" name="Rectangle 4"/>
          <p:cNvSpPr/>
          <p:nvPr/>
        </p:nvSpPr>
        <p:spPr>
          <a:xfrm>
            <a:off x="566928" y="1243584"/>
            <a:ext cx="11064240" cy="32004"/>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68680" y="1627632"/>
            <a:ext cx="1417320" cy="585216"/>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1719072"/>
            <a:ext cx="1344168" cy="357021"/>
          </a:xfrm>
          <a:prstGeom prst="rect">
            <a:avLst/>
          </a:prstGeom>
          <a:noFill/>
        </p:spPr>
        <p:txBody>
          <a:bodyPr wrap="square" lIns="54864" tIns="54864" rIns="54864" bIns="54864" anchor="t">
            <a:spAutoFit/>
          </a:bodyPr>
          <a:lstStyle/>
          <a:p>
            <a:pPr algn="ctr"/>
            <a:r>
              <a:rPr sz="1600" b="1">
                <a:solidFill>
                  <a:srgbClr val="FFFFFF"/>
                </a:solidFill>
                <a:latin typeface="Aptos"/>
              </a:rPr>
              <a:t>Metric</a:t>
            </a:r>
          </a:p>
        </p:txBody>
      </p:sp>
      <p:sp>
        <p:nvSpPr>
          <p:cNvPr id="8" name="Rectangle 7"/>
          <p:cNvSpPr/>
          <p:nvPr/>
        </p:nvSpPr>
        <p:spPr>
          <a:xfrm>
            <a:off x="2286000" y="1627632"/>
            <a:ext cx="1234440" cy="585216"/>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322576" y="1719072"/>
            <a:ext cx="1161288" cy="357021"/>
          </a:xfrm>
          <a:prstGeom prst="rect">
            <a:avLst/>
          </a:prstGeom>
          <a:noFill/>
        </p:spPr>
        <p:txBody>
          <a:bodyPr wrap="square" lIns="54864" tIns="54864" rIns="54864" bIns="54864" anchor="t">
            <a:spAutoFit/>
          </a:bodyPr>
          <a:lstStyle/>
          <a:p>
            <a:pPr algn="ctr"/>
            <a:r>
              <a:rPr sz="1600" b="1">
                <a:solidFill>
                  <a:srgbClr val="FFFFFF"/>
                </a:solidFill>
                <a:latin typeface="Aptos"/>
              </a:rPr>
              <a:t>View</a:t>
            </a:r>
          </a:p>
        </p:txBody>
      </p:sp>
      <p:sp>
        <p:nvSpPr>
          <p:cNvPr id="10" name="Rectangle 9"/>
          <p:cNvSpPr/>
          <p:nvPr/>
        </p:nvSpPr>
        <p:spPr>
          <a:xfrm>
            <a:off x="3520440" y="1627632"/>
            <a:ext cx="8138160" cy="585216"/>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57016" y="1719072"/>
            <a:ext cx="8065008" cy="357021"/>
          </a:xfrm>
          <a:prstGeom prst="rect">
            <a:avLst/>
          </a:prstGeom>
          <a:noFill/>
        </p:spPr>
        <p:txBody>
          <a:bodyPr wrap="square" lIns="54864" tIns="54864" rIns="54864" bIns="54864" anchor="t">
            <a:spAutoFit/>
          </a:bodyPr>
          <a:lstStyle/>
          <a:p>
            <a:pPr algn="ctr"/>
            <a:r>
              <a:rPr sz="1600" b="1">
                <a:solidFill>
                  <a:srgbClr val="FFFFFF"/>
                </a:solidFill>
                <a:latin typeface="Aptos"/>
              </a:rPr>
              <a:t>Plain-language meaning</a:t>
            </a:r>
          </a:p>
        </p:txBody>
      </p:sp>
      <p:sp>
        <p:nvSpPr>
          <p:cNvPr id="12" name="Rectangle 11"/>
          <p:cNvSpPr/>
          <p:nvPr/>
        </p:nvSpPr>
        <p:spPr>
          <a:xfrm>
            <a:off x="868680" y="2212848"/>
            <a:ext cx="1417320" cy="58521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p:cNvSpPr txBox="1"/>
          <p:nvPr/>
        </p:nvSpPr>
        <p:spPr>
          <a:xfrm>
            <a:off x="905256" y="2304288"/>
            <a:ext cx="1344168" cy="357021"/>
          </a:xfrm>
          <a:prstGeom prst="rect">
            <a:avLst/>
          </a:prstGeom>
          <a:noFill/>
        </p:spPr>
        <p:txBody>
          <a:bodyPr wrap="square" lIns="54864" tIns="54864" rIns="54864" bIns="54864" anchor="t">
            <a:spAutoFit/>
          </a:bodyPr>
          <a:lstStyle/>
          <a:p>
            <a:pPr algn="ctr"/>
            <a:r>
              <a:rPr sz="1600" b="1">
                <a:solidFill>
                  <a:srgbClr val="2A3742"/>
                </a:solidFill>
                <a:latin typeface="Aptos"/>
              </a:rPr>
              <a:t>AUROC</a:t>
            </a:r>
          </a:p>
        </p:txBody>
      </p:sp>
      <p:sp>
        <p:nvSpPr>
          <p:cNvPr id="14" name="Rectangle 13"/>
          <p:cNvSpPr/>
          <p:nvPr/>
        </p:nvSpPr>
        <p:spPr>
          <a:xfrm>
            <a:off x="2286000" y="2212848"/>
            <a:ext cx="1234440" cy="58521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2322576" y="2304288"/>
            <a:ext cx="1161288" cy="357021"/>
          </a:xfrm>
          <a:prstGeom prst="rect">
            <a:avLst/>
          </a:prstGeom>
          <a:noFill/>
        </p:spPr>
        <p:txBody>
          <a:bodyPr wrap="square" lIns="54864" tIns="54864" rIns="54864" bIns="54864" anchor="t">
            <a:spAutoFit/>
          </a:bodyPr>
          <a:lstStyle/>
          <a:p>
            <a:pPr algn="ctr"/>
            <a:r>
              <a:rPr sz="1600" b="0">
                <a:solidFill>
                  <a:srgbClr val="2A3742"/>
                </a:solidFill>
                <a:latin typeface="Aptos"/>
              </a:rPr>
              <a:t>ranking</a:t>
            </a:r>
          </a:p>
        </p:txBody>
      </p:sp>
      <p:sp>
        <p:nvSpPr>
          <p:cNvPr id="16" name="Rectangle 15"/>
          <p:cNvSpPr/>
          <p:nvPr/>
        </p:nvSpPr>
        <p:spPr>
          <a:xfrm>
            <a:off x="3520440" y="2212848"/>
            <a:ext cx="8138160" cy="58521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p:cNvSpPr txBox="1"/>
          <p:nvPr/>
        </p:nvSpPr>
        <p:spPr>
          <a:xfrm>
            <a:off x="3557016" y="2304288"/>
            <a:ext cx="8065008" cy="357021"/>
          </a:xfrm>
          <a:prstGeom prst="rect">
            <a:avLst/>
          </a:prstGeom>
          <a:noFill/>
        </p:spPr>
        <p:txBody>
          <a:bodyPr wrap="square" lIns="54864" tIns="54864" rIns="54864" bIns="54864" anchor="t">
            <a:spAutoFit/>
          </a:bodyPr>
          <a:lstStyle/>
          <a:p>
            <a:pPr algn="ctr"/>
            <a:r>
              <a:rPr sz="1600" b="0">
                <a:solidFill>
                  <a:srgbClr val="2A3742"/>
                </a:solidFill>
                <a:latin typeface="Aptos"/>
              </a:rPr>
              <a:t>How well positives rank above negatives across cutoffs</a:t>
            </a:r>
          </a:p>
        </p:txBody>
      </p:sp>
      <p:sp>
        <p:nvSpPr>
          <p:cNvPr id="18" name="Rectangle 17"/>
          <p:cNvSpPr/>
          <p:nvPr/>
        </p:nvSpPr>
        <p:spPr>
          <a:xfrm>
            <a:off x="868680" y="2798064"/>
            <a:ext cx="1417320" cy="5852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TextBox 18"/>
          <p:cNvSpPr txBox="1"/>
          <p:nvPr/>
        </p:nvSpPr>
        <p:spPr>
          <a:xfrm>
            <a:off x="905256" y="2889504"/>
            <a:ext cx="1344168" cy="603242"/>
          </a:xfrm>
          <a:prstGeom prst="rect">
            <a:avLst/>
          </a:prstGeom>
          <a:noFill/>
        </p:spPr>
        <p:txBody>
          <a:bodyPr wrap="square" lIns="54864" tIns="54864" rIns="54864" bIns="54864" anchor="t">
            <a:spAutoFit/>
          </a:bodyPr>
          <a:lstStyle/>
          <a:p>
            <a:pPr algn="ctr"/>
            <a:r>
              <a:rPr sz="1600" b="1">
                <a:solidFill>
                  <a:srgbClr val="2A3742"/>
                </a:solidFill>
                <a:latin typeface="Aptos"/>
              </a:rPr>
              <a:t>Average precision</a:t>
            </a:r>
          </a:p>
        </p:txBody>
      </p:sp>
      <p:sp>
        <p:nvSpPr>
          <p:cNvPr id="20" name="Rectangle 19"/>
          <p:cNvSpPr/>
          <p:nvPr/>
        </p:nvSpPr>
        <p:spPr>
          <a:xfrm>
            <a:off x="2286000" y="2798064"/>
            <a:ext cx="1234440" cy="5852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TextBox 20"/>
          <p:cNvSpPr txBox="1"/>
          <p:nvPr/>
        </p:nvSpPr>
        <p:spPr>
          <a:xfrm>
            <a:off x="2322576" y="2889504"/>
            <a:ext cx="1161288" cy="357021"/>
          </a:xfrm>
          <a:prstGeom prst="rect">
            <a:avLst/>
          </a:prstGeom>
          <a:noFill/>
        </p:spPr>
        <p:txBody>
          <a:bodyPr wrap="square" lIns="54864" tIns="54864" rIns="54864" bIns="54864" anchor="t">
            <a:spAutoFit/>
          </a:bodyPr>
          <a:lstStyle/>
          <a:p>
            <a:pPr algn="ctr"/>
            <a:r>
              <a:rPr sz="1600" b="0">
                <a:solidFill>
                  <a:srgbClr val="2A3742"/>
                </a:solidFill>
                <a:latin typeface="Aptos"/>
              </a:rPr>
              <a:t>ranking</a:t>
            </a:r>
          </a:p>
        </p:txBody>
      </p:sp>
      <p:sp>
        <p:nvSpPr>
          <p:cNvPr id="22" name="Rectangle 21"/>
          <p:cNvSpPr/>
          <p:nvPr/>
        </p:nvSpPr>
        <p:spPr>
          <a:xfrm>
            <a:off x="3520440" y="2798064"/>
            <a:ext cx="8138160" cy="5852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TextBox 22"/>
          <p:cNvSpPr txBox="1"/>
          <p:nvPr/>
        </p:nvSpPr>
        <p:spPr>
          <a:xfrm>
            <a:off x="3557016" y="2889504"/>
            <a:ext cx="8065008" cy="357021"/>
          </a:xfrm>
          <a:prstGeom prst="rect">
            <a:avLst/>
          </a:prstGeom>
          <a:noFill/>
        </p:spPr>
        <p:txBody>
          <a:bodyPr wrap="square" lIns="54864" tIns="54864" rIns="54864" bIns="54864" anchor="t">
            <a:spAutoFit/>
          </a:bodyPr>
          <a:lstStyle/>
          <a:p>
            <a:pPr algn="ctr"/>
            <a:r>
              <a:rPr sz="1600" b="0">
                <a:solidFill>
                  <a:srgbClr val="2A3742"/>
                </a:solidFill>
                <a:latin typeface="Aptos"/>
              </a:rPr>
              <a:t>Precision-recall summary, informative for the positive class</a:t>
            </a:r>
          </a:p>
        </p:txBody>
      </p:sp>
      <p:sp>
        <p:nvSpPr>
          <p:cNvPr id="24" name="Rectangle 23"/>
          <p:cNvSpPr/>
          <p:nvPr/>
        </p:nvSpPr>
        <p:spPr>
          <a:xfrm>
            <a:off x="868680" y="3383280"/>
            <a:ext cx="1417320" cy="58521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TextBox 24"/>
          <p:cNvSpPr txBox="1"/>
          <p:nvPr/>
        </p:nvSpPr>
        <p:spPr>
          <a:xfrm>
            <a:off x="905256" y="3474720"/>
            <a:ext cx="1344168" cy="357021"/>
          </a:xfrm>
          <a:prstGeom prst="rect">
            <a:avLst/>
          </a:prstGeom>
          <a:noFill/>
        </p:spPr>
        <p:txBody>
          <a:bodyPr wrap="square" lIns="54864" tIns="54864" rIns="54864" bIns="54864" anchor="t">
            <a:spAutoFit/>
          </a:bodyPr>
          <a:lstStyle/>
          <a:p>
            <a:pPr algn="ctr"/>
            <a:r>
              <a:rPr sz="1600" b="1">
                <a:solidFill>
                  <a:srgbClr val="2A3742"/>
                </a:solidFill>
                <a:latin typeface="Aptos"/>
              </a:rPr>
              <a:t>Sensitivity</a:t>
            </a:r>
          </a:p>
        </p:txBody>
      </p:sp>
      <p:sp>
        <p:nvSpPr>
          <p:cNvPr id="26" name="Rectangle 25"/>
          <p:cNvSpPr/>
          <p:nvPr/>
        </p:nvSpPr>
        <p:spPr>
          <a:xfrm>
            <a:off x="2286000" y="3383280"/>
            <a:ext cx="1234440" cy="58521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2322576" y="3474720"/>
            <a:ext cx="1161288" cy="357021"/>
          </a:xfrm>
          <a:prstGeom prst="rect">
            <a:avLst/>
          </a:prstGeom>
          <a:noFill/>
        </p:spPr>
        <p:txBody>
          <a:bodyPr wrap="square" lIns="54864" tIns="54864" rIns="54864" bIns="54864" anchor="t">
            <a:spAutoFit/>
          </a:bodyPr>
          <a:lstStyle/>
          <a:p>
            <a:pPr algn="ctr"/>
            <a:r>
              <a:rPr sz="1600" b="0">
                <a:solidFill>
                  <a:srgbClr val="2A3742"/>
                </a:solidFill>
                <a:latin typeface="Aptos"/>
              </a:rPr>
              <a:t>threshold</a:t>
            </a:r>
          </a:p>
        </p:txBody>
      </p:sp>
      <p:sp>
        <p:nvSpPr>
          <p:cNvPr id="28" name="Rectangle 27"/>
          <p:cNvSpPr/>
          <p:nvPr/>
        </p:nvSpPr>
        <p:spPr>
          <a:xfrm>
            <a:off x="3520440" y="3383280"/>
            <a:ext cx="8138160" cy="58521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3557016" y="3474720"/>
            <a:ext cx="8065008" cy="357021"/>
          </a:xfrm>
          <a:prstGeom prst="rect">
            <a:avLst/>
          </a:prstGeom>
          <a:noFill/>
        </p:spPr>
        <p:txBody>
          <a:bodyPr wrap="square" lIns="54864" tIns="54864" rIns="54864" bIns="54864" anchor="t">
            <a:spAutoFit/>
          </a:bodyPr>
          <a:lstStyle/>
          <a:p>
            <a:pPr algn="ctr"/>
            <a:r>
              <a:rPr sz="1600" b="0">
                <a:solidFill>
                  <a:srgbClr val="2A3742"/>
                </a:solidFill>
                <a:latin typeface="Aptos"/>
              </a:rPr>
              <a:t>Among hospitalized stays, fraction flagged positive</a:t>
            </a:r>
          </a:p>
        </p:txBody>
      </p:sp>
      <p:sp>
        <p:nvSpPr>
          <p:cNvPr id="30" name="Rectangle 29"/>
          <p:cNvSpPr/>
          <p:nvPr/>
        </p:nvSpPr>
        <p:spPr>
          <a:xfrm>
            <a:off x="868680" y="3968496"/>
            <a:ext cx="1417320" cy="5852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1" name="TextBox 30"/>
          <p:cNvSpPr txBox="1"/>
          <p:nvPr/>
        </p:nvSpPr>
        <p:spPr>
          <a:xfrm>
            <a:off x="905256" y="4059935"/>
            <a:ext cx="1344168" cy="357021"/>
          </a:xfrm>
          <a:prstGeom prst="rect">
            <a:avLst/>
          </a:prstGeom>
          <a:noFill/>
        </p:spPr>
        <p:txBody>
          <a:bodyPr wrap="square" lIns="54864" tIns="54864" rIns="54864" bIns="54864" anchor="t">
            <a:spAutoFit/>
          </a:bodyPr>
          <a:lstStyle/>
          <a:p>
            <a:pPr algn="ctr"/>
            <a:r>
              <a:rPr sz="1600" b="1">
                <a:solidFill>
                  <a:srgbClr val="2A3742"/>
                </a:solidFill>
                <a:latin typeface="Aptos"/>
              </a:rPr>
              <a:t>Specificity</a:t>
            </a:r>
          </a:p>
        </p:txBody>
      </p:sp>
      <p:sp>
        <p:nvSpPr>
          <p:cNvPr id="32" name="Rectangle 31"/>
          <p:cNvSpPr/>
          <p:nvPr/>
        </p:nvSpPr>
        <p:spPr>
          <a:xfrm>
            <a:off x="2286000" y="3968496"/>
            <a:ext cx="1234440" cy="5852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2322576" y="4059935"/>
            <a:ext cx="1161288" cy="357021"/>
          </a:xfrm>
          <a:prstGeom prst="rect">
            <a:avLst/>
          </a:prstGeom>
          <a:noFill/>
        </p:spPr>
        <p:txBody>
          <a:bodyPr wrap="square" lIns="54864" tIns="54864" rIns="54864" bIns="54864" anchor="t">
            <a:spAutoFit/>
          </a:bodyPr>
          <a:lstStyle/>
          <a:p>
            <a:pPr algn="ctr"/>
            <a:r>
              <a:rPr sz="1600" b="0">
                <a:solidFill>
                  <a:srgbClr val="2A3742"/>
                </a:solidFill>
                <a:latin typeface="Aptos"/>
              </a:rPr>
              <a:t>threshold</a:t>
            </a:r>
          </a:p>
        </p:txBody>
      </p:sp>
      <p:sp>
        <p:nvSpPr>
          <p:cNvPr id="34" name="Rectangle 33"/>
          <p:cNvSpPr/>
          <p:nvPr/>
        </p:nvSpPr>
        <p:spPr>
          <a:xfrm>
            <a:off x="3520440" y="3968496"/>
            <a:ext cx="8138160" cy="5852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TextBox 34"/>
          <p:cNvSpPr txBox="1"/>
          <p:nvPr/>
        </p:nvSpPr>
        <p:spPr>
          <a:xfrm>
            <a:off x="3557016" y="4059935"/>
            <a:ext cx="8065008" cy="357021"/>
          </a:xfrm>
          <a:prstGeom prst="rect">
            <a:avLst/>
          </a:prstGeom>
          <a:noFill/>
        </p:spPr>
        <p:txBody>
          <a:bodyPr wrap="square" lIns="54864" tIns="54864" rIns="54864" bIns="54864" anchor="t">
            <a:spAutoFit/>
          </a:bodyPr>
          <a:lstStyle/>
          <a:p>
            <a:pPr algn="ctr"/>
            <a:r>
              <a:rPr sz="1600" b="0">
                <a:solidFill>
                  <a:srgbClr val="2A3742"/>
                </a:solidFill>
                <a:latin typeface="Aptos"/>
              </a:rPr>
              <a:t>Among non-hospitalized stays, fraction left negative</a:t>
            </a:r>
          </a:p>
        </p:txBody>
      </p:sp>
      <p:sp>
        <p:nvSpPr>
          <p:cNvPr id="36" name="Rectangle 35"/>
          <p:cNvSpPr/>
          <p:nvPr/>
        </p:nvSpPr>
        <p:spPr>
          <a:xfrm>
            <a:off x="868680" y="4553712"/>
            <a:ext cx="1417320" cy="58521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p:cNvSpPr txBox="1"/>
          <p:nvPr/>
        </p:nvSpPr>
        <p:spPr>
          <a:xfrm>
            <a:off x="905256" y="4645152"/>
            <a:ext cx="1344168" cy="357021"/>
          </a:xfrm>
          <a:prstGeom prst="rect">
            <a:avLst/>
          </a:prstGeom>
          <a:noFill/>
        </p:spPr>
        <p:txBody>
          <a:bodyPr wrap="square" lIns="54864" tIns="54864" rIns="54864" bIns="54864" anchor="t">
            <a:spAutoFit/>
          </a:bodyPr>
          <a:lstStyle/>
          <a:p>
            <a:pPr algn="ctr"/>
            <a:r>
              <a:rPr sz="1600" b="1">
                <a:solidFill>
                  <a:srgbClr val="2A3742"/>
                </a:solidFill>
                <a:latin typeface="Aptos"/>
              </a:rPr>
              <a:t>PPV</a:t>
            </a:r>
          </a:p>
        </p:txBody>
      </p:sp>
      <p:sp>
        <p:nvSpPr>
          <p:cNvPr id="38" name="Rectangle 37"/>
          <p:cNvSpPr/>
          <p:nvPr/>
        </p:nvSpPr>
        <p:spPr>
          <a:xfrm>
            <a:off x="2286000" y="4553712"/>
            <a:ext cx="1234440" cy="58521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9" name="TextBox 38"/>
          <p:cNvSpPr txBox="1"/>
          <p:nvPr/>
        </p:nvSpPr>
        <p:spPr>
          <a:xfrm>
            <a:off x="2322576" y="4645152"/>
            <a:ext cx="1161288" cy="357021"/>
          </a:xfrm>
          <a:prstGeom prst="rect">
            <a:avLst/>
          </a:prstGeom>
          <a:noFill/>
        </p:spPr>
        <p:txBody>
          <a:bodyPr wrap="square" lIns="54864" tIns="54864" rIns="54864" bIns="54864" anchor="t">
            <a:spAutoFit/>
          </a:bodyPr>
          <a:lstStyle/>
          <a:p>
            <a:pPr algn="ctr"/>
            <a:r>
              <a:rPr sz="1600" b="0">
                <a:solidFill>
                  <a:srgbClr val="2A3742"/>
                </a:solidFill>
                <a:latin typeface="Aptos"/>
              </a:rPr>
              <a:t>threshold</a:t>
            </a:r>
          </a:p>
        </p:txBody>
      </p:sp>
      <p:sp>
        <p:nvSpPr>
          <p:cNvPr id="40" name="Rectangle 39"/>
          <p:cNvSpPr/>
          <p:nvPr/>
        </p:nvSpPr>
        <p:spPr>
          <a:xfrm>
            <a:off x="3520440" y="4553712"/>
            <a:ext cx="8138160" cy="58521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TextBox 40"/>
          <p:cNvSpPr txBox="1"/>
          <p:nvPr/>
        </p:nvSpPr>
        <p:spPr>
          <a:xfrm>
            <a:off x="3557016" y="4645152"/>
            <a:ext cx="8065008" cy="357021"/>
          </a:xfrm>
          <a:prstGeom prst="rect">
            <a:avLst/>
          </a:prstGeom>
          <a:noFill/>
        </p:spPr>
        <p:txBody>
          <a:bodyPr wrap="square" lIns="54864" tIns="54864" rIns="54864" bIns="54864" anchor="t">
            <a:spAutoFit/>
          </a:bodyPr>
          <a:lstStyle/>
          <a:p>
            <a:pPr algn="ctr"/>
            <a:r>
              <a:rPr sz="1600" b="0">
                <a:solidFill>
                  <a:srgbClr val="2A3742"/>
                </a:solidFill>
                <a:latin typeface="Aptos"/>
              </a:rPr>
              <a:t>Among positive predictions, fraction hospitalized</a:t>
            </a:r>
          </a:p>
        </p:txBody>
      </p:sp>
      <p:sp>
        <p:nvSpPr>
          <p:cNvPr id="42" name="Rectangle 41"/>
          <p:cNvSpPr/>
          <p:nvPr/>
        </p:nvSpPr>
        <p:spPr>
          <a:xfrm>
            <a:off x="868680" y="5138928"/>
            <a:ext cx="1417320" cy="5852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05256" y="5230368"/>
            <a:ext cx="1344168" cy="357021"/>
          </a:xfrm>
          <a:prstGeom prst="rect">
            <a:avLst/>
          </a:prstGeom>
          <a:noFill/>
        </p:spPr>
        <p:txBody>
          <a:bodyPr wrap="square" lIns="54864" tIns="54864" rIns="54864" bIns="54864" anchor="t">
            <a:spAutoFit/>
          </a:bodyPr>
          <a:lstStyle/>
          <a:p>
            <a:pPr algn="ctr"/>
            <a:r>
              <a:rPr sz="1600" b="1">
                <a:solidFill>
                  <a:srgbClr val="2A3742"/>
                </a:solidFill>
                <a:latin typeface="Aptos"/>
              </a:rPr>
              <a:t>NPV</a:t>
            </a:r>
          </a:p>
        </p:txBody>
      </p:sp>
      <p:sp>
        <p:nvSpPr>
          <p:cNvPr id="44" name="Rectangle 43"/>
          <p:cNvSpPr/>
          <p:nvPr/>
        </p:nvSpPr>
        <p:spPr>
          <a:xfrm>
            <a:off x="2286000" y="5138928"/>
            <a:ext cx="1234440" cy="5852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322576" y="5230368"/>
            <a:ext cx="1161288" cy="357021"/>
          </a:xfrm>
          <a:prstGeom prst="rect">
            <a:avLst/>
          </a:prstGeom>
          <a:noFill/>
        </p:spPr>
        <p:txBody>
          <a:bodyPr wrap="square" lIns="54864" tIns="54864" rIns="54864" bIns="54864" anchor="t">
            <a:spAutoFit/>
          </a:bodyPr>
          <a:lstStyle/>
          <a:p>
            <a:pPr algn="ctr"/>
            <a:r>
              <a:rPr sz="1600" b="0">
                <a:solidFill>
                  <a:srgbClr val="2A3742"/>
                </a:solidFill>
                <a:latin typeface="Aptos"/>
              </a:rPr>
              <a:t>threshold</a:t>
            </a:r>
          </a:p>
        </p:txBody>
      </p:sp>
      <p:sp>
        <p:nvSpPr>
          <p:cNvPr id="46" name="Rectangle 45"/>
          <p:cNvSpPr/>
          <p:nvPr/>
        </p:nvSpPr>
        <p:spPr>
          <a:xfrm>
            <a:off x="3520440" y="5138928"/>
            <a:ext cx="8138160" cy="5852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557016" y="5230368"/>
            <a:ext cx="8065008" cy="357021"/>
          </a:xfrm>
          <a:prstGeom prst="rect">
            <a:avLst/>
          </a:prstGeom>
          <a:noFill/>
        </p:spPr>
        <p:txBody>
          <a:bodyPr wrap="square" lIns="54864" tIns="54864" rIns="54864" bIns="54864" anchor="t">
            <a:spAutoFit/>
          </a:bodyPr>
          <a:lstStyle/>
          <a:p>
            <a:pPr algn="ctr"/>
            <a:r>
              <a:rPr sz="1600" b="0">
                <a:solidFill>
                  <a:srgbClr val="2A3742"/>
                </a:solidFill>
                <a:latin typeface="Aptos"/>
              </a:rPr>
              <a:t>Among negative predictions, fraction not hospitalized</a:t>
            </a:r>
          </a:p>
        </p:txBody>
      </p:sp>
      <p:sp>
        <p:nvSpPr>
          <p:cNvPr id="48" name="Rounded Rectangle 47"/>
          <p:cNvSpPr/>
          <p:nvPr/>
        </p:nvSpPr>
        <p:spPr>
          <a:xfrm>
            <a:off x="906780" y="5888736"/>
            <a:ext cx="10378440" cy="502920"/>
          </a:xfrm>
          <a:prstGeom prst="roundRect">
            <a:avLst>
              <a:gd name="adj" fmla="val 8000"/>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115568" y="5943338"/>
            <a:ext cx="9966960" cy="201168"/>
          </a:xfrm>
          <a:prstGeom prst="rect">
            <a:avLst/>
          </a:prstGeom>
          <a:noFill/>
        </p:spPr>
        <p:txBody>
          <a:bodyPr wrap="square" lIns="54864" tIns="54864" rIns="54864" bIns="54864" anchor="t">
            <a:spAutoFit/>
          </a:bodyPr>
          <a:lstStyle/>
          <a:p>
            <a:pPr algn="ctr"/>
            <a:r>
              <a:rPr sz="1700" b="1" dirty="0">
                <a:solidFill>
                  <a:srgbClr val="1F2933"/>
                </a:solidFill>
                <a:latin typeface="Aptos"/>
              </a:rPr>
              <a:t>AUROC and average precision describe ranking; the threshold metrics describe one operating point.</a:t>
            </a:r>
          </a:p>
        </p:txBody>
      </p:sp>
      <p:sp>
        <p:nvSpPr>
          <p:cNvPr id="50" name="Rectangle 49"/>
          <p:cNvSpPr/>
          <p:nvPr/>
        </p:nvSpPr>
        <p:spPr>
          <a:xfrm>
            <a:off x="566928" y="6519672"/>
            <a:ext cx="11064240" cy="109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6"/>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1D4ED8"/>
                </a:solidFill>
                <a:latin typeface="Aptos"/>
              </a:rPr>
              <a:t>04  /  METRICS</a:t>
            </a:r>
          </a:p>
        </p:txBody>
      </p:sp>
      <p:sp>
        <p:nvSpPr>
          <p:cNvPr id="3" name="TextBox 2"/>
          <p:cNvSpPr txBox="1"/>
          <p:nvPr/>
        </p:nvSpPr>
        <p:spPr>
          <a:xfrm>
            <a:off x="566927" y="530352"/>
            <a:ext cx="12275615" cy="541687"/>
          </a:xfrm>
          <a:prstGeom prst="rect">
            <a:avLst/>
          </a:prstGeom>
          <a:noFill/>
        </p:spPr>
        <p:txBody>
          <a:bodyPr wrap="square" lIns="54864" tIns="54864" rIns="54864" bIns="54864" anchor="t">
            <a:spAutoFit/>
          </a:bodyPr>
          <a:lstStyle/>
          <a:p>
            <a:pPr algn="l"/>
            <a:r>
              <a:rPr sz="2800" b="1" dirty="0">
                <a:solidFill>
                  <a:srgbClr val="1F2933"/>
                </a:solidFill>
                <a:latin typeface="Aptos Display"/>
              </a:rPr>
              <a:t>Model comparison: Random Forest ranks highest, GB remains interpretable</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64748B"/>
                </a:solidFill>
                <a:latin typeface="Aptos"/>
              </a:rPr>
              <a:t>M4  /  09</a:t>
            </a:r>
          </a:p>
        </p:txBody>
      </p:sp>
      <p:sp>
        <p:nvSpPr>
          <p:cNvPr id="5" name="Rectangle 4"/>
          <p:cNvSpPr/>
          <p:nvPr/>
        </p:nvSpPr>
        <p:spPr>
          <a:xfrm>
            <a:off x="566928" y="1243584"/>
            <a:ext cx="11064240" cy="32004"/>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566928" y="1447133"/>
            <a:ext cx="6382514" cy="4343400"/>
          </a:xfrm>
          <a:prstGeom prst="rect">
            <a:avLst/>
          </a:prstGeom>
        </p:spPr>
      </p:pic>
      <p:sp>
        <p:nvSpPr>
          <p:cNvPr id="7" name="Rectangle 6"/>
          <p:cNvSpPr/>
          <p:nvPr/>
        </p:nvSpPr>
        <p:spPr>
          <a:xfrm>
            <a:off x="7187184" y="1755648"/>
            <a:ext cx="1508760" cy="576072"/>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223760" y="1847088"/>
            <a:ext cx="1435607" cy="326243"/>
          </a:xfrm>
          <a:prstGeom prst="rect">
            <a:avLst/>
          </a:prstGeom>
          <a:noFill/>
        </p:spPr>
        <p:txBody>
          <a:bodyPr wrap="square" lIns="54864" tIns="54864" rIns="54864" bIns="54864" anchor="t">
            <a:spAutoFit/>
          </a:bodyPr>
          <a:lstStyle/>
          <a:p>
            <a:pPr algn="ctr"/>
            <a:r>
              <a:rPr sz="1400" b="1" dirty="0">
                <a:solidFill>
                  <a:srgbClr val="FFFFFF"/>
                </a:solidFill>
                <a:latin typeface="Aptos"/>
              </a:rPr>
              <a:t>Model</a:t>
            </a:r>
          </a:p>
        </p:txBody>
      </p:sp>
      <p:sp>
        <p:nvSpPr>
          <p:cNvPr id="9" name="Rectangle 8"/>
          <p:cNvSpPr/>
          <p:nvPr/>
        </p:nvSpPr>
        <p:spPr>
          <a:xfrm>
            <a:off x="8695944" y="1755648"/>
            <a:ext cx="749808" cy="576072"/>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32519" y="1847088"/>
            <a:ext cx="676656" cy="541687"/>
          </a:xfrm>
          <a:prstGeom prst="rect">
            <a:avLst/>
          </a:prstGeom>
          <a:noFill/>
        </p:spPr>
        <p:txBody>
          <a:bodyPr wrap="square" lIns="54864" tIns="54864" rIns="54864" bIns="54864" anchor="t">
            <a:spAutoFit/>
          </a:bodyPr>
          <a:lstStyle/>
          <a:p>
            <a:pPr algn="ctr"/>
            <a:r>
              <a:rPr sz="1400" b="1">
                <a:solidFill>
                  <a:srgbClr val="FFFFFF"/>
                </a:solidFill>
                <a:latin typeface="Aptos"/>
              </a:rPr>
              <a:t>AUROC</a:t>
            </a:r>
          </a:p>
        </p:txBody>
      </p:sp>
      <p:sp>
        <p:nvSpPr>
          <p:cNvPr id="11" name="Rectangle 10"/>
          <p:cNvSpPr/>
          <p:nvPr/>
        </p:nvSpPr>
        <p:spPr>
          <a:xfrm>
            <a:off x="9445752" y="1755648"/>
            <a:ext cx="1078992" cy="576072"/>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82328" y="1847088"/>
            <a:ext cx="1005839" cy="541687"/>
          </a:xfrm>
          <a:prstGeom prst="rect">
            <a:avLst/>
          </a:prstGeom>
          <a:noFill/>
        </p:spPr>
        <p:txBody>
          <a:bodyPr wrap="square" lIns="54864" tIns="54864" rIns="54864" bIns="54864" anchor="t">
            <a:spAutoFit/>
          </a:bodyPr>
          <a:lstStyle/>
          <a:p>
            <a:pPr algn="ctr"/>
            <a:r>
              <a:rPr sz="1400" b="1">
                <a:solidFill>
                  <a:srgbClr val="FFFFFF"/>
                </a:solidFill>
                <a:latin typeface="Aptos"/>
              </a:rPr>
              <a:t>Avg. precision</a:t>
            </a:r>
          </a:p>
        </p:txBody>
      </p:sp>
      <p:sp>
        <p:nvSpPr>
          <p:cNvPr id="13" name="Rectangle 12"/>
          <p:cNvSpPr/>
          <p:nvPr/>
        </p:nvSpPr>
        <p:spPr>
          <a:xfrm>
            <a:off x="10524744" y="1755648"/>
            <a:ext cx="960120" cy="576072"/>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61319" y="1847088"/>
            <a:ext cx="886968" cy="541687"/>
          </a:xfrm>
          <a:prstGeom prst="rect">
            <a:avLst/>
          </a:prstGeom>
          <a:noFill/>
        </p:spPr>
        <p:txBody>
          <a:bodyPr wrap="square" lIns="54864" tIns="54864" rIns="54864" bIns="54864" anchor="t">
            <a:spAutoFit/>
          </a:bodyPr>
          <a:lstStyle/>
          <a:p>
            <a:pPr algn="ctr"/>
            <a:r>
              <a:rPr sz="1400" b="1">
                <a:solidFill>
                  <a:srgbClr val="FFFFFF"/>
                </a:solidFill>
                <a:latin typeface="Aptos"/>
              </a:rPr>
              <a:t>Sensitivity</a:t>
            </a:r>
          </a:p>
        </p:txBody>
      </p:sp>
      <p:sp>
        <p:nvSpPr>
          <p:cNvPr id="15" name="Rectangle 14"/>
          <p:cNvSpPr/>
          <p:nvPr/>
        </p:nvSpPr>
        <p:spPr>
          <a:xfrm>
            <a:off x="11484864" y="1755648"/>
            <a:ext cx="685800" cy="576072"/>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521440" y="1847088"/>
            <a:ext cx="612648" cy="326243"/>
          </a:xfrm>
          <a:prstGeom prst="rect">
            <a:avLst/>
          </a:prstGeom>
          <a:noFill/>
        </p:spPr>
        <p:txBody>
          <a:bodyPr wrap="square" lIns="54864" tIns="54864" rIns="54864" bIns="54864" anchor="t">
            <a:spAutoFit/>
          </a:bodyPr>
          <a:lstStyle/>
          <a:p>
            <a:pPr algn="ctr"/>
            <a:r>
              <a:rPr sz="1400" b="1">
                <a:solidFill>
                  <a:srgbClr val="FFFFFF"/>
                </a:solidFill>
                <a:latin typeface="Aptos"/>
              </a:rPr>
              <a:t>PPV</a:t>
            </a:r>
          </a:p>
        </p:txBody>
      </p:sp>
      <p:sp>
        <p:nvSpPr>
          <p:cNvPr id="17" name="Rectangle 16"/>
          <p:cNvSpPr/>
          <p:nvPr/>
        </p:nvSpPr>
        <p:spPr>
          <a:xfrm>
            <a:off x="7187184" y="2331720"/>
            <a:ext cx="1508760" cy="5760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7223760" y="2423160"/>
            <a:ext cx="1435607" cy="326243"/>
          </a:xfrm>
          <a:prstGeom prst="rect">
            <a:avLst/>
          </a:prstGeom>
          <a:noFill/>
        </p:spPr>
        <p:txBody>
          <a:bodyPr wrap="square" lIns="54864" tIns="54864" rIns="54864" bIns="54864" anchor="t">
            <a:spAutoFit/>
          </a:bodyPr>
          <a:lstStyle/>
          <a:p>
            <a:pPr algn="ctr"/>
            <a:r>
              <a:rPr sz="1400" b="1">
                <a:solidFill>
                  <a:srgbClr val="2A3742"/>
                </a:solidFill>
                <a:latin typeface="Aptos"/>
              </a:rPr>
              <a:t>Random Forest</a:t>
            </a:r>
          </a:p>
        </p:txBody>
      </p:sp>
      <p:sp>
        <p:nvSpPr>
          <p:cNvPr id="19" name="Rectangle 18"/>
          <p:cNvSpPr/>
          <p:nvPr/>
        </p:nvSpPr>
        <p:spPr>
          <a:xfrm>
            <a:off x="8695944" y="2331720"/>
            <a:ext cx="749808" cy="5760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8732519" y="2423160"/>
            <a:ext cx="676656" cy="326243"/>
          </a:xfrm>
          <a:prstGeom prst="rect">
            <a:avLst/>
          </a:prstGeom>
          <a:noFill/>
        </p:spPr>
        <p:txBody>
          <a:bodyPr wrap="square" lIns="54864" tIns="54864" rIns="54864" bIns="54864" anchor="t">
            <a:spAutoFit/>
          </a:bodyPr>
          <a:lstStyle/>
          <a:p>
            <a:pPr algn="ctr"/>
            <a:r>
              <a:rPr sz="1400" b="0">
                <a:solidFill>
                  <a:srgbClr val="2A3742"/>
                </a:solidFill>
                <a:latin typeface="Aptos"/>
              </a:rPr>
              <a:t>0.824</a:t>
            </a:r>
          </a:p>
        </p:txBody>
      </p:sp>
      <p:sp>
        <p:nvSpPr>
          <p:cNvPr id="21" name="Rectangle 20"/>
          <p:cNvSpPr/>
          <p:nvPr/>
        </p:nvSpPr>
        <p:spPr>
          <a:xfrm>
            <a:off x="9445752" y="2331720"/>
            <a:ext cx="1078992" cy="5760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9482328" y="2423160"/>
            <a:ext cx="1005839" cy="326243"/>
          </a:xfrm>
          <a:prstGeom prst="rect">
            <a:avLst/>
          </a:prstGeom>
          <a:noFill/>
        </p:spPr>
        <p:txBody>
          <a:bodyPr wrap="square" lIns="54864" tIns="54864" rIns="54864" bIns="54864" anchor="t">
            <a:spAutoFit/>
          </a:bodyPr>
          <a:lstStyle/>
          <a:p>
            <a:pPr algn="ctr"/>
            <a:r>
              <a:rPr sz="1400" b="0">
                <a:solidFill>
                  <a:srgbClr val="2A3742"/>
                </a:solidFill>
                <a:latin typeface="Aptos"/>
              </a:rPr>
              <a:t>0.794</a:t>
            </a:r>
          </a:p>
        </p:txBody>
      </p:sp>
      <p:sp>
        <p:nvSpPr>
          <p:cNvPr id="23" name="Rectangle 22"/>
          <p:cNvSpPr/>
          <p:nvPr/>
        </p:nvSpPr>
        <p:spPr>
          <a:xfrm>
            <a:off x="10524744" y="2331720"/>
            <a:ext cx="960120" cy="5760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10561319" y="2423160"/>
            <a:ext cx="886968" cy="326243"/>
          </a:xfrm>
          <a:prstGeom prst="rect">
            <a:avLst/>
          </a:prstGeom>
          <a:noFill/>
        </p:spPr>
        <p:txBody>
          <a:bodyPr wrap="square" lIns="54864" tIns="54864" rIns="54864" bIns="54864" anchor="t">
            <a:spAutoFit/>
          </a:bodyPr>
          <a:lstStyle/>
          <a:p>
            <a:pPr algn="ctr"/>
            <a:r>
              <a:rPr sz="1400" b="0">
                <a:solidFill>
                  <a:srgbClr val="2A3742"/>
                </a:solidFill>
                <a:latin typeface="Aptos"/>
              </a:rPr>
              <a:t>0.773</a:t>
            </a:r>
          </a:p>
        </p:txBody>
      </p:sp>
      <p:sp>
        <p:nvSpPr>
          <p:cNvPr id="25" name="Rectangle 24"/>
          <p:cNvSpPr/>
          <p:nvPr/>
        </p:nvSpPr>
        <p:spPr>
          <a:xfrm>
            <a:off x="11484864" y="2331720"/>
            <a:ext cx="685800" cy="5760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p:cNvSpPr txBox="1"/>
          <p:nvPr/>
        </p:nvSpPr>
        <p:spPr>
          <a:xfrm>
            <a:off x="11521440" y="2423160"/>
            <a:ext cx="612648" cy="326243"/>
          </a:xfrm>
          <a:prstGeom prst="rect">
            <a:avLst/>
          </a:prstGeom>
          <a:noFill/>
        </p:spPr>
        <p:txBody>
          <a:bodyPr wrap="square" lIns="54864" tIns="54864" rIns="54864" bIns="54864" anchor="t">
            <a:spAutoFit/>
          </a:bodyPr>
          <a:lstStyle/>
          <a:p>
            <a:pPr algn="ctr"/>
            <a:r>
              <a:rPr sz="1400" b="0">
                <a:solidFill>
                  <a:srgbClr val="2A3742"/>
                </a:solidFill>
                <a:latin typeface="Aptos"/>
              </a:rPr>
              <a:t>0.715</a:t>
            </a:r>
          </a:p>
        </p:txBody>
      </p:sp>
      <p:sp>
        <p:nvSpPr>
          <p:cNvPr id="27" name="Rectangle 26"/>
          <p:cNvSpPr/>
          <p:nvPr/>
        </p:nvSpPr>
        <p:spPr>
          <a:xfrm>
            <a:off x="7187184" y="2907791"/>
            <a:ext cx="1508760" cy="5760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27"/>
          <p:cNvSpPr txBox="1"/>
          <p:nvPr/>
        </p:nvSpPr>
        <p:spPr>
          <a:xfrm>
            <a:off x="7223760" y="2999232"/>
            <a:ext cx="1435607" cy="541687"/>
          </a:xfrm>
          <a:prstGeom prst="rect">
            <a:avLst/>
          </a:prstGeom>
          <a:noFill/>
        </p:spPr>
        <p:txBody>
          <a:bodyPr wrap="square" lIns="54864" tIns="54864" rIns="54864" bIns="54864" anchor="t">
            <a:spAutoFit/>
          </a:bodyPr>
          <a:lstStyle/>
          <a:p>
            <a:pPr algn="ctr"/>
            <a:r>
              <a:rPr sz="1400" b="1">
                <a:solidFill>
                  <a:srgbClr val="2A3742"/>
                </a:solidFill>
                <a:latin typeface="Aptos"/>
              </a:rPr>
              <a:t>Logistic Regression</a:t>
            </a:r>
          </a:p>
        </p:txBody>
      </p:sp>
      <p:sp>
        <p:nvSpPr>
          <p:cNvPr id="29" name="Rectangle 28"/>
          <p:cNvSpPr/>
          <p:nvPr/>
        </p:nvSpPr>
        <p:spPr>
          <a:xfrm>
            <a:off x="8695944" y="2907791"/>
            <a:ext cx="749808" cy="5760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p:cNvSpPr txBox="1"/>
          <p:nvPr/>
        </p:nvSpPr>
        <p:spPr>
          <a:xfrm>
            <a:off x="8732519" y="2999232"/>
            <a:ext cx="676656" cy="326243"/>
          </a:xfrm>
          <a:prstGeom prst="rect">
            <a:avLst/>
          </a:prstGeom>
          <a:noFill/>
        </p:spPr>
        <p:txBody>
          <a:bodyPr wrap="square" lIns="54864" tIns="54864" rIns="54864" bIns="54864" anchor="t">
            <a:spAutoFit/>
          </a:bodyPr>
          <a:lstStyle/>
          <a:p>
            <a:pPr algn="ctr"/>
            <a:r>
              <a:rPr sz="1400" b="0">
                <a:solidFill>
                  <a:srgbClr val="2A3742"/>
                </a:solidFill>
                <a:latin typeface="Aptos"/>
              </a:rPr>
              <a:t>0.821</a:t>
            </a:r>
          </a:p>
        </p:txBody>
      </p:sp>
      <p:sp>
        <p:nvSpPr>
          <p:cNvPr id="31" name="Rectangle 30"/>
          <p:cNvSpPr/>
          <p:nvPr/>
        </p:nvSpPr>
        <p:spPr>
          <a:xfrm>
            <a:off x="9445752" y="2907791"/>
            <a:ext cx="1078992" cy="5760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TextBox 31"/>
          <p:cNvSpPr txBox="1"/>
          <p:nvPr/>
        </p:nvSpPr>
        <p:spPr>
          <a:xfrm>
            <a:off x="9482328" y="2999232"/>
            <a:ext cx="1005839" cy="326243"/>
          </a:xfrm>
          <a:prstGeom prst="rect">
            <a:avLst/>
          </a:prstGeom>
          <a:noFill/>
        </p:spPr>
        <p:txBody>
          <a:bodyPr wrap="square" lIns="54864" tIns="54864" rIns="54864" bIns="54864" anchor="t">
            <a:spAutoFit/>
          </a:bodyPr>
          <a:lstStyle/>
          <a:p>
            <a:pPr algn="ctr"/>
            <a:r>
              <a:rPr sz="1400" b="0">
                <a:solidFill>
                  <a:srgbClr val="2A3742"/>
                </a:solidFill>
                <a:latin typeface="Aptos"/>
              </a:rPr>
              <a:t>0.794</a:t>
            </a:r>
          </a:p>
        </p:txBody>
      </p:sp>
      <p:sp>
        <p:nvSpPr>
          <p:cNvPr id="33" name="Rectangle 32"/>
          <p:cNvSpPr/>
          <p:nvPr/>
        </p:nvSpPr>
        <p:spPr>
          <a:xfrm>
            <a:off x="10524744" y="2907791"/>
            <a:ext cx="960120" cy="5760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TextBox 33"/>
          <p:cNvSpPr txBox="1"/>
          <p:nvPr/>
        </p:nvSpPr>
        <p:spPr>
          <a:xfrm>
            <a:off x="10561319" y="2999232"/>
            <a:ext cx="886968" cy="326243"/>
          </a:xfrm>
          <a:prstGeom prst="rect">
            <a:avLst/>
          </a:prstGeom>
          <a:noFill/>
        </p:spPr>
        <p:txBody>
          <a:bodyPr wrap="square" lIns="54864" tIns="54864" rIns="54864" bIns="54864" anchor="t">
            <a:spAutoFit/>
          </a:bodyPr>
          <a:lstStyle/>
          <a:p>
            <a:pPr algn="ctr"/>
            <a:r>
              <a:rPr sz="1400" b="0">
                <a:solidFill>
                  <a:srgbClr val="2A3742"/>
                </a:solidFill>
                <a:latin typeface="Aptos"/>
              </a:rPr>
              <a:t>0.745</a:t>
            </a:r>
          </a:p>
        </p:txBody>
      </p:sp>
      <p:sp>
        <p:nvSpPr>
          <p:cNvPr id="35" name="Rectangle 34"/>
          <p:cNvSpPr/>
          <p:nvPr/>
        </p:nvSpPr>
        <p:spPr>
          <a:xfrm>
            <a:off x="11484864" y="2907791"/>
            <a:ext cx="685800" cy="5760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35"/>
          <p:cNvSpPr txBox="1"/>
          <p:nvPr/>
        </p:nvSpPr>
        <p:spPr>
          <a:xfrm>
            <a:off x="11521440" y="2999232"/>
            <a:ext cx="612648" cy="326243"/>
          </a:xfrm>
          <a:prstGeom prst="rect">
            <a:avLst/>
          </a:prstGeom>
          <a:noFill/>
        </p:spPr>
        <p:txBody>
          <a:bodyPr wrap="square" lIns="54864" tIns="54864" rIns="54864" bIns="54864" anchor="t">
            <a:spAutoFit/>
          </a:bodyPr>
          <a:lstStyle/>
          <a:p>
            <a:pPr algn="ctr"/>
            <a:r>
              <a:rPr sz="1400" b="0">
                <a:solidFill>
                  <a:srgbClr val="2A3742"/>
                </a:solidFill>
                <a:latin typeface="Aptos"/>
              </a:rPr>
              <a:t>0.726</a:t>
            </a:r>
          </a:p>
        </p:txBody>
      </p:sp>
      <p:sp>
        <p:nvSpPr>
          <p:cNvPr id="37" name="Rectangle 36"/>
          <p:cNvSpPr/>
          <p:nvPr/>
        </p:nvSpPr>
        <p:spPr>
          <a:xfrm>
            <a:off x="7187184" y="3483863"/>
            <a:ext cx="1508760" cy="5760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8" name="TextBox 37"/>
          <p:cNvSpPr txBox="1"/>
          <p:nvPr/>
        </p:nvSpPr>
        <p:spPr>
          <a:xfrm>
            <a:off x="7223760" y="3575303"/>
            <a:ext cx="1435607" cy="541687"/>
          </a:xfrm>
          <a:prstGeom prst="rect">
            <a:avLst/>
          </a:prstGeom>
          <a:noFill/>
        </p:spPr>
        <p:txBody>
          <a:bodyPr wrap="square" lIns="54864" tIns="54864" rIns="54864" bIns="54864" anchor="t">
            <a:spAutoFit/>
          </a:bodyPr>
          <a:lstStyle/>
          <a:p>
            <a:pPr algn="ctr"/>
            <a:r>
              <a:rPr sz="1400" b="1">
                <a:solidFill>
                  <a:srgbClr val="2A3742"/>
                </a:solidFill>
                <a:latin typeface="Aptos"/>
              </a:rPr>
              <a:t>Gradient Boosting</a:t>
            </a:r>
          </a:p>
        </p:txBody>
      </p:sp>
      <p:sp>
        <p:nvSpPr>
          <p:cNvPr id="39" name="Rectangle 38"/>
          <p:cNvSpPr/>
          <p:nvPr/>
        </p:nvSpPr>
        <p:spPr>
          <a:xfrm>
            <a:off x="8695944" y="3483863"/>
            <a:ext cx="749808" cy="5760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TextBox 39"/>
          <p:cNvSpPr txBox="1"/>
          <p:nvPr/>
        </p:nvSpPr>
        <p:spPr>
          <a:xfrm>
            <a:off x="8732519" y="3575303"/>
            <a:ext cx="676656" cy="326243"/>
          </a:xfrm>
          <a:prstGeom prst="rect">
            <a:avLst/>
          </a:prstGeom>
          <a:noFill/>
        </p:spPr>
        <p:txBody>
          <a:bodyPr wrap="square" lIns="54864" tIns="54864" rIns="54864" bIns="54864" anchor="t">
            <a:spAutoFit/>
          </a:bodyPr>
          <a:lstStyle/>
          <a:p>
            <a:pPr algn="ctr"/>
            <a:r>
              <a:rPr sz="1400" b="0">
                <a:solidFill>
                  <a:srgbClr val="2A3742"/>
                </a:solidFill>
                <a:latin typeface="Aptos"/>
              </a:rPr>
              <a:t>0.813</a:t>
            </a:r>
          </a:p>
        </p:txBody>
      </p:sp>
      <p:sp>
        <p:nvSpPr>
          <p:cNvPr id="41" name="Rectangle 40"/>
          <p:cNvSpPr/>
          <p:nvPr/>
        </p:nvSpPr>
        <p:spPr>
          <a:xfrm>
            <a:off x="9445752" y="3483863"/>
            <a:ext cx="1078992" cy="5760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2" name="TextBox 41"/>
          <p:cNvSpPr txBox="1"/>
          <p:nvPr/>
        </p:nvSpPr>
        <p:spPr>
          <a:xfrm>
            <a:off x="9482328" y="3575303"/>
            <a:ext cx="1005839" cy="326243"/>
          </a:xfrm>
          <a:prstGeom prst="rect">
            <a:avLst/>
          </a:prstGeom>
          <a:noFill/>
        </p:spPr>
        <p:txBody>
          <a:bodyPr wrap="square" lIns="54864" tIns="54864" rIns="54864" bIns="54864" anchor="t">
            <a:spAutoFit/>
          </a:bodyPr>
          <a:lstStyle/>
          <a:p>
            <a:pPr algn="ctr"/>
            <a:r>
              <a:rPr sz="1400" b="0">
                <a:solidFill>
                  <a:srgbClr val="2A3742"/>
                </a:solidFill>
                <a:latin typeface="Aptos"/>
              </a:rPr>
              <a:t>0.783</a:t>
            </a:r>
          </a:p>
        </p:txBody>
      </p:sp>
      <p:sp>
        <p:nvSpPr>
          <p:cNvPr id="43" name="Rectangle 42"/>
          <p:cNvSpPr/>
          <p:nvPr/>
        </p:nvSpPr>
        <p:spPr>
          <a:xfrm>
            <a:off x="10524744" y="3483863"/>
            <a:ext cx="960120" cy="5760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10561319" y="3575303"/>
            <a:ext cx="886968" cy="326243"/>
          </a:xfrm>
          <a:prstGeom prst="rect">
            <a:avLst/>
          </a:prstGeom>
          <a:noFill/>
        </p:spPr>
        <p:txBody>
          <a:bodyPr wrap="square" lIns="54864" tIns="54864" rIns="54864" bIns="54864" anchor="t">
            <a:spAutoFit/>
          </a:bodyPr>
          <a:lstStyle/>
          <a:p>
            <a:pPr algn="ctr"/>
            <a:r>
              <a:rPr sz="1400" b="0">
                <a:solidFill>
                  <a:srgbClr val="2A3742"/>
                </a:solidFill>
                <a:latin typeface="Aptos"/>
              </a:rPr>
              <a:t>0.744</a:t>
            </a:r>
          </a:p>
        </p:txBody>
      </p:sp>
      <p:sp>
        <p:nvSpPr>
          <p:cNvPr id="45" name="Rectangle 44"/>
          <p:cNvSpPr/>
          <p:nvPr/>
        </p:nvSpPr>
        <p:spPr>
          <a:xfrm>
            <a:off x="11484864" y="3483863"/>
            <a:ext cx="685800" cy="5760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11521440" y="3575303"/>
            <a:ext cx="612648" cy="326243"/>
          </a:xfrm>
          <a:prstGeom prst="rect">
            <a:avLst/>
          </a:prstGeom>
          <a:noFill/>
        </p:spPr>
        <p:txBody>
          <a:bodyPr wrap="square" lIns="54864" tIns="54864" rIns="54864" bIns="54864" anchor="t">
            <a:spAutoFit/>
          </a:bodyPr>
          <a:lstStyle/>
          <a:p>
            <a:pPr algn="ctr"/>
            <a:r>
              <a:rPr sz="1400" b="0">
                <a:solidFill>
                  <a:srgbClr val="2A3742"/>
                </a:solidFill>
                <a:latin typeface="Aptos"/>
              </a:rPr>
              <a:t>0.716</a:t>
            </a:r>
          </a:p>
        </p:txBody>
      </p:sp>
      <p:sp>
        <p:nvSpPr>
          <p:cNvPr id="47" name="Rectangle 46"/>
          <p:cNvSpPr/>
          <p:nvPr/>
        </p:nvSpPr>
        <p:spPr>
          <a:xfrm>
            <a:off x="7187184" y="4059935"/>
            <a:ext cx="1508760" cy="5760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8" name="TextBox 47"/>
          <p:cNvSpPr txBox="1"/>
          <p:nvPr/>
        </p:nvSpPr>
        <p:spPr>
          <a:xfrm>
            <a:off x="7223760" y="4151375"/>
            <a:ext cx="1435607" cy="326243"/>
          </a:xfrm>
          <a:prstGeom prst="rect">
            <a:avLst/>
          </a:prstGeom>
          <a:noFill/>
        </p:spPr>
        <p:txBody>
          <a:bodyPr wrap="square" lIns="54864" tIns="54864" rIns="54864" bIns="54864" anchor="t">
            <a:spAutoFit/>
          </a:bodyPr>
          <a:lstStyle/>
          <a:p>
            <a:pPr algn="ctr"/>
            <a:r>
              <a:rPr sz="1400" b="1">
                <a:solidFill>
                  <a:srgbClr val="2A3742"/>
                </a:solidFill>
                <a:latin typeface="Aptos"/>
              </a:rPr>
              <a:t>Prior Dummy</a:t>
            </a:r>
          </a:p>
        </p:txBody>
      </p:sp>
      <p:sp>
        <p:nvSpPr>
          <p:cNvPr id="49" name="Rectangle 48"/>
          <p:cNvSpPr/>
          <p:nvPr/>
        </p:nvSpPr>
        <p:spPr>
          <a:xfrm>
            <a:off x="8695944" y="4059935"/>
            <a:ext cx="749808" cy="5760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0" name="TextBox 49"/>
          <p:cNvSpPr txBox="1"/>
          <p:nvPr/>
        </p:nvSpPr>
        <p:spPr>
          <a:xfrm>
            <a:off x="8732519" y="4151375"/>
            <a:ext cx="676656" cy="326243"/>
          </a:xfrm>
          <a:prstGeom prst="rect">
            <a:avLst/>
          </a:prstGeom>
          <a:noFill/>
        </p:spPr>
        <p:txBody>
          <a:bodyPr wrap="square" lIns="54864" tIns="54864" rIns="54864" bIns="54864" anchor="t">
            <a:spAutoFit/>
          </a:bodyPr>
          <a:lstStyle/>
          <a:p>
            <a:pPr algn="ctr"/>
            <a:r>
              <a:rPr sz="1400" b="0">
                <a:solidFill>
                  <a:srgbClr val="2A3742"/>
                </a:solidFill>
                <a:latin typeface="Aptos"/>
              </a:rPr>
              <a:t>0.500</a:t>
            </a:r>
          </a:p>
        </p:txBody>
      </p:sp>
      <p:sp>
        <p:nvSpPr>
          <p:cNvPr id="51" name="Rectangle 50"/>
          <p:cNvSpPr/>
          <p:nvPr/>
        </p:nvSpPr>
        <p:spPr>
          <a:xfrm>
            <a:off x="9445752" y="4059935"/>
            <a:ext cx="1078992" cy="5760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51"/>
          <p:cNvSpPr txBox="1"/>
          <p:nvPr/>
        </p:nvSpPr>
        <p:spPr>
          <a:xfrm>
            <a:off x="9482328" y="4151375"/>
            <a:ext cx="1005839" cy="326243"/>
          </a:xfrm>
          <a:prstGeom prst="rect">
            <a:avLst/>
          </a:prstGeom>
          <a:noFill/>
        </p:spPr>
        <p:txBody>
          <a:bodyPr wrap="square" lIns="54864" tIns="54864" rIns="54864" bIns="54864" anchor="t">
            <a:spAutoFit/>
          </a:bodyPr>
          <a:lstStyle/>
          <a:p>
            <a:pPr algn="ctr"/>
            <a:r>
              <a:rPr sz="1400" b="0">
                <a:solidFill>
                  <a:srgbClr val="2A3742"/>
                </a:solidFill>
                <a:latin typeface="Aptos"/>
              </a:rPr>
              <a:t>0.472</a:t>
            </a:r>
          </a:p>
        </p:txBody>
      </p:sp>
      <p:sp>
        <p:nvSpPr>
          <p:cNvPr id="53" name="Rectangle 52"/>
          <p:cNvSpPr/>
          <p:nvPr/>
        </p:nvSpPr>
        <p:spPr>
          <a:xfrm>
            <a:off x="10524744" y="4059935"/>
            <a:ext cx="960120" cy="5760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4" name="TextBox 53"/>
          <p:cNvSpPr txBox="1"/>
          <p:nvPr/>
        </p:nvSpPr>
        <p:spPr>
          <a:xfrm>
            <a:off x="10561319" y="4151375"/>
            <a:ext cx="886968" cy="326243"/>
          </a:xfrm>
          <a:prstGeom prst="rect">
            <a:avLst/>
          </a:prstGeom>
          <a:noFill/>
        </p:spPr>
        <p:txBody>
          <a:bodyPr wrap="square" lIns="54864" tIns="54864" rIns="54864" bIns="54864" anchor="t">
            <a:spAutoFit/>
          </a:bodyPr>
          <a:lstStyle/>
          <a:p>
            <a:pPr algn="ctr"/>
            <a:r>
              <a:rPr sz="1400" b="0">
                <a:solidFill>
                  <a:srgbClr val="2A3742"/>
                </a:solidFill>
                <a:latin typeface="Aptos"/>
              </a:rPr>
              <a:t>0.000</a:t>
            </a:r>
          </a:p>
        </p:txBody>
      </p:sp>
      <p:sp>
        <p:nvSpPr>
          <p:cNvPr id="55" name="Rectangle 54"/>
          <p:cNvSpPr/>
          <p:nvPr/>
        </p:nvSpPr>
        <p:spPr>
          <a:xfrm>
            <a:off x="11484864" y="4059935"/>
            <a:ext cx="685800" cy="5760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6" name="TextBox 55"/>
          <p:cNvSpPr txBox="1"/>
          <p:nvPr/>
        </p:nvSpPr>
        <p:spPr>
          <a:xfrm>
            <a:off x="11521440" y="4151375"/>
            <a:ext cx="612648" cy="326243"/>
          </a:xfrm>
          <a:prstGeom prst="rect">
            <a:avLst/>
          </a:prstGeom>
          <a:noFill/>
        </p:spPr>
        <p:txBody>
          <a:bodyPr wrap="square" lIns="54864" tIns="54864" rIns="54864" bIns="54864" anchor="t">
            <a:spAutoFit/>
          </a:bodyPr>
          <a:lstStyle/>
          <a:p>
            <a:pPr algn="ctr"/>
            <a:r>
              <a:rPr sz="1400" b="0">
                <a:solidFill>
                  <a:srgbClr val="2A3742"/>
                </a:solidFill>
                <a:latin typeface="Aptos"/>
              </a:rPr>
              <a:t>0.000</a:t>
            </a:r>
          </a:p>
        </p:txBody>
      </p:sp>
      <p:sp>
        <p:nvSpPr>
          <p:cNvPr id="57" name="Rounded Rectangle 56"/>
          <p:cNvSpPr/>
          <p:nvPr/>
        </p:nvSpPr>
        <p:spPr>
          <a:xfrm>
            <a:off x="7242048" y="4846320"/>
            <a:ext cx="4709161" cy="713232"/>
          </a:xfrm>
          <a:prstGeom prst="roundRect">
            <a:avLst>
              <a:gd name="adj" fmla="val 8000"/>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8" name="TextBox 57"/>
          <p:cNvSpPr txBox="1"/>
          <p:nvPr/>
        </p:nvSpPr>
        <p:spPr>
          <a:xfrm>
            <a:off x="7424926" y="5010912"/>
            <a:ext cx="4709161" cy="664797"/>
          </a:xfrm>
          <a:prstGeom prst="rect">
            <a:avLst/>
          </a:prstGeom>
          <a:noFill/>
        </p:spPr>
        <p:txBody>
          <a:bodyPr wrap="square" lIns="54864" tIns="54864" rIns="54864" bIns="54864" anchor="t">
            <a:spAutoFit/>
          </a:bodyPr>
          <a:lstStyle/>
          <a:p>
            <a:pPr algn="ctr"/>
            <a:r>
              <a:rPr b="1">
                <a:solidFill>
                  <a:srgbClr val="1F2933"/>
                </a:solidFill>
                <a:latin typeface="Aptos"/>
              </a:rPr>
              <a:t>Best AUROC: Random Forest at 0.824
GB AUROC: 0.813</a:t>
            </a:r>
          </a:p>
        </p:txBody>
      </p:sp>
      <p:sp>
        <p:nvSpPr>
          <p:cNvPr id="59" name="Rectangle 58"/>
          <p:cNvSpPr/>
          <p:nvPr/>
        </p:nvSpPr>
        <p:spPr>
          <a:xfrm>
            <a:off x="566928" y="6519672"/>
            <a:ext cx="11064240" cy="109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F2933"/>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F59E0B"/>
                </a:solidFill>
                <a:latin typeface="Aptos"/>
              </a:rPr>
              <a:t>04  /  METRICS</a:t>
            </a:r>
          </a:p>
        </p:txBody>
      </p:sp>
      <p:sp>
        <p:nvSpPr>
          <p:cNvPr id="3" name="TextBox 2"/>
          <p:cNvSpPr txBox="1"/>
          <p:nvPr/>
        </p:nvSpPr>
        <p:spPr>
          <a:xfrm>
            <a:off x="566928" y="530352"/>
            <a:ext cx="10287000" cy="594360"/>
          </a:xfrm>
          <a:prstGeom prst="rect">
            <a:avLst/>
          </a:prstGeom>
          <a:noFill/>
        </p:spPr>
        <p:txBody>
          <a:bodyPr wrap="square" lIns="54864" tIns="54864" rIns="54864" bIns="54864" anchor="t">
            <a:spAutoFit/>
          </a:bodyPr>
          <a:lstStyle/>
          <a:p>
            <a:pPr algn="l"/>
            <a:r>
              <a:rPr sz="3000" b="1">
                <a:solidFill>
                  <a:srgbClr val="FFFFFF"/>
                </a:solidFill>
                <a:latin typeface="Aptos Display"/>
              </a:rPr>
              <a:t>ROC and precision-recall curves answer different questions</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E2E8F0"/>
                </a:solidFill>
                <a:latin typeface="Aptos"/>
              </a:rPr>
              <a:t>M4  /  10</a:t>
            </a:r>
          </a:p>
        </p:txBody>
      </p:sp>
      <p:sp>
        <p:nvSpPr>
          <p:cNvPr id="5" name="Rectangle 4"/>
          <p:cNvSpPr/>
          <p:nvPr/>
        </p:nvSpPr>
        <p:spPr>
          <a:xfrm>
            <a:off x="566928" y="1243584"/>
            <a:ext cx="11064240" cy="3200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594360" y="1508760"/>
            <a:ext cx="10972800" cy="4343400"/>
          </a:xfrm>
          <a:prstGeom prst="rect">
            <a:avLst/>
          </a:prstGeom>
        </p:spPr>
      </p:pic>
      <p:sp>
        <p:nvSpPr>
          <p:cNvPr id="7" name="TextBox 6"/>
          <p:cNvSpPr txBox="1"/>
          <p:nvPr/>
        </p:nvSpPr>
        <p:spPr>
          <a:xfrm>
            <a:off x="822960" y="5989320"/>
            <a:ext cx="10515600" cy="228600"/>
          </a:xfrm>
          <a:prstGeom prst="rect">
            <a:avLst/>
          </a:prstGeom>
          <a:noFill/>
        </p:spPr>
        <p:txBody>
          <a:bodyPr wrap="square" lIns="54864" tIns="54864" rIns="54864" bIns="54864" anchor="t">
            <a:spAutoFit/>
          </a:bodyPr>
          <a:lstStyle/>
          <a:p>
            <a:pPr algn="ctr"/>
            <a:r>
              <a:rPr sz="1600" b="1">
                <a:solidFill>
                  <a:srgbClr val="F59E0B"/>
                </a:solidFill>
                <a:latin typeface="Aptos"/>
              </a:rPr>
              <a:t>ROC: ranking across false-positive rates  |  PR: positive-class precision as recall changes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6"/>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1D4ED8"/>
                </a:solidFill>
                <a:latin typeface="Aptos"/>
              </a:rPr>
              <a:t>05  /  THRESHOLD</a:t>
            </a:r>
          </a:p>
        </p:txBody>
      </p:sp>
      <p:sp>
        <p:nvSpPr>
          <p:cNvPr id="3" name="TextBox 2"/>
          <p:cNvSpPr txBox="1"/>
          <p:nvPr/>
        </p:nvSpPr>
        <p:spPr>
          <a:xfrm>
            <a:off x="566928" y="530352"/>
            <a:ext cx="10287000" cy="594360"/>
          </a:xfrm>
          <a:prstGeom prst="rect">
            <a:avLst/>
          </a:prstGeom>
          <a:noFill/>
        </p:spPr>
        <p:txBody>
          <a:bodyPr wrap="square" lIns="54864" tIns="54864" rIns="54864" bIns="54864" anchor="t">
            <a:spAutoFit/>
          </a:bodyPr>
          <a:lstStyle/>
          <a:p>
            <a:pPr algn="l"/>
            <a:r>
              <a:rPr sz="3000" b="1">
                <a:solidFill>
                  <a:srgbClr val="1F2933"/>
                </a:solidFill>
                <a:latin typeface="Aptos Display"/>
              </a:rPr>
              <a:t>A probability becomes an action at a cutoff</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64748B"/>
                </a:solidFill>
                <a:latin typeface="Aptos"/>
              </a:rPr>
              <a:t>M4  /  11</a:t>
            </a:r>
          </a:p>
        </p:txBody>
      </p:sp>
      <p:sp>
        <p:nvSpPr>
          <p:cNvPr id="5" name="Rectangle 4"/>
          <p:cNvSpPr/>
          <p:nvPr/>
        </p:nvSpPr>
        <p:spPr>
          <a:xfrm>
            <a:off x="566928" y="1243584"/>
            <a:ext cx="11064240" cy="32004"/>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21792" y="1481328"/>
            <a:ext cx="6537960" cy="4297680"/>
          </a:xfrm>
          <a:prstGeom prst="rect">
            <a:avLst/>
          </a:prstGeom>
        </p:spPr>
      </p:pic>
      <p:sp>
        <p:nvSpPr>
          <p:cNvPr id="7" name="Rectangle 6"/>
          <p:cNvSpPr/>
          <p:nvPr/>
        </p:nvSpPr>
        <p:spPr>
          <a:xfrm>
            <a:off x="7388352" y="1828800"/>
            <a:ext cx="822960" cy="621792"/>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24927" y="1920240"/>
            <a:ext cx="749808" cy="357021"/>
          </a:xfrm>
          <a:prstGeom prst="rect">
            <a:avLst/>
          </a:prstGeom>
          <a:noFill/>
        </p:spPr>
        <p:txBody>
          <a:bodyPr wrap="square" lIns="54864" tIns="54864" rIns="54864" bIns="54864" anchor="t">
            <a:spAutoFit/>
          </a:bodyPr>
          <a:lstStyle/>
          <a:p>
            <a:pPr algn="ctr"/>
            <a:r>
              <a:rPr sz="1600" b="1">
                <a:solidFill>
                  <a:srgbClr val="FFFFFF"/>
                </a:solidFill>
                <a:latin typeface="Aptos"/>
              </a:rPr>
              <a:t>Cutoff</a:t>
            </a:r>
          </a:p>
        </p:txBody>
      </p:sp>
      <p:sp>
        <p:nvSpPr>
          <p:cNvPr id="9" name="Rectangle 8"/>
          <p:cNvSpPr/>
          <p:nvPr/>
        </p:nvSpPr>
        <p:spPr>
          <a:xfrm>
            <a:off x="8211312" y="1828800"/>
            <a:ext cx="868680" cy="621792"/>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8247888" y="1920240"/>
            <a:ext cx="795528" cy="357021"/>
          </a:xfrm>
          <a:prstGeom prst="rect">
            <a:avLst/>
          </a:prstGeom>
          <a:noFill/>
        </p:spPr>
        <p:txBody>
          <a:bodyPr wrap="square" lIns="54864" tIns="54864" rIns="54864" bIns="54864" anchor="t">
            <a:spAutoFit/>
          </a:bodyPr>
          <a:lstStyle/>
          <a:p>
            <a:pPr algn="ctr"/>
            <a:r>
              <a:rPr sz="1600" b="1">
                <a:solidFill>
                  <a:srgbClr val="FFFFFF"/>
                </a:solidFill>
                <a:latin typeface="Aptos"/>
              </a:rPr>
              <a:t>Sens.</a:t>
            </a:r>
          </a:p>
        </p:txBody>
      </p:sp>
      <p:sp>
        <p:nvSpPr>
          <p:cNvPr id="11" name="Rectangle 10"/>
          <p:cNvSpPr/>
          <p:nvPr/>
        </p:nvSpPr>
        <p:spPr>
          <a:xfrm>
            <a:off x="9079992" y="1828800"/>
            <a:ext cx="868680" cy="621792"/>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9116567" y="1920240"/>
            <a:ext cx="795528" cy="357021"/>
          </a:xfrm>
          <a:prstGeom prst="rect">
            <a:avLst/>
          </a:prstGeom>
          <a:noFill/>
        </p:spPr>
        <p:txBody>
          <a:bodyPr wrap="square" lIns="54864" tIns="54864" rIns="54864" bIns="54864" anchor="t">
            <a:spAutoFit/>
          </a:bodyPr>
          <a:lstStyle/>
          <a:p>
            <a:pPr algn="ctr"/>
            <a:r>
              <a:rPr sz="1600" b="1">
                <a:solidFill>
                  <a:srgbClr val="FFFFFF"/>
                </a:solidFill>
                <a:latin typeface="Aptos"/>
              </a:rPr>
              <a:t>Spec.</a:t>
            </a:r>
          </a:p>
        </p:txBody>
      </p:sp>
      <p:sp>
        <p:nvSpPr>
          <p:cNvPr id="13" name="Rectangle 12"/>
          <p:cNvSpPr/>
          <p:nvPr/>
        </p:nvSpPr>
        <p:spPr>
          <a:xfrm>
            <a:off x="9948672" y="1828800"/>
            <a:ext cx="731520" cy="621792"/>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9985247" y="1920240"/>
            <a:ext cx="658368" cy="357021"/>
          </a:xfrm>
          <a:prstGeom prst="rect">
            <a:avLst/>
          </a:prstGeom>
          <a:noFill/>
        </p:spPr>
        <p:txBody>
          <a:bodyPr wrap="square" lIns="54864" tIns="54864" rIns="54864" bIns="54864" anchor="t">
            <a:spAutoFit/>
          </a:bodyPr>
          <a:lstStyle/>
          <a:p>
            <a:pPr algn="ctr"/>
            <a:r>
              <a:rPr sz="1600" b="1">
                <a:solidFill>
                  <a:srgbClr val="FFFFFF"/>
                </a:solidFill>
                <a:latin typeface="Aptos"/>
              </a:rPr>
              <a:t>PPV</a:t>
            </a:r>
          </a:p>
        </p:txBody>
      </p:sp>
      <p:sp>
        <p:nvSpPr>
          <p:cNvPr id="15" name="Rectangle 14"/>
          <p:cNvSpPr/>
          <p:nvPr/>
        </p:nvSpPr>
        <p:spPr>
          <a:xfrm>
            <a:off x="10680192" y="1828800"/>
            <a:ext cx="1005840" cy="621792"/>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10716767" y="1920240"/>
            <a:ext cx="932688" cy="357021"/>
          </a:xfrm>
          <a:prstGeom prst="rect">
            <a:avLst/>
          </a:prstGeom>
          <a:noFill/>
        </p:spPr>
        <p:txBody>
          <a:bodyPr wrap="square" lIns="54864" tIns="54864" rIns="54864" bIns="54864" anchor="t">
            <a:spAutoFit/>
          </a:bodyPr>
          <a:lstStyle/>
          <a:p>
            <a:pPr algn="ctr"/>
            <a:r>
              <a:rPr sz="1600" b="1">
                <a:solidFill>
                  <a:srgbClr val="FFFFFF"/>
                </a:solidFill>
                <a:latin typeface="Aptos"/>
              </a:rPr>
              <a:t>FPs</a:t>
            </a:r>
          </a:p>
        </p:txBody>
      </p:sp>
      <p:sp>
        <p:nvSpPr>
          <p:cNvPr id="17" name="Rectangle 16"/>
          <p:cNvSpPr/>
          <p:nvPr/>
        </p:nvSpPr>
        <p:spPr>
          <a:xfrm>
            <a:off x="7388352" y="2450592"/>
            <a:ext cx="822960" cy="6217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24927" y="2542032"/>
            <a:ext cx="749808" cy="357021"/>
          </a:xfrm>
          <a:prstGeom prst="rect">
            <a:avLst/>
          </a:prstGeom>
          <a:noFill/>
        </p:spPr>
        <p:txBody>
          <a:bodyPr wrap="square" lIns="54864" tIns="54864" rIns="54864" bIns="54864" anchor="t">
            <a:spAutoFit/>
          </a:bodyPr>
          <a:lstStyle/>
          <a:p>
            <a:pPr algn="ctr"/>
            <a:r>
              <a:rPr sz="1600" b="1">
                <a:solidFill>
                  <a:srgbClr val="2A3742"/>
                </a:solidFill>
                <a:latin typeface="Aptos"/>
              </a:rPr>
              <a:t>0.25</a:t>
            </a:r>
          </a:p>
        </p:txBody>
      </p:sp>
      <p:sp>
        <p:nvSpPr>
          <p:cNvPr id="19" name="Rectangle 18"/>
          <p:cNvSpPr/>
          <p:nvPr/>
        </p:nvSpPr>
        <p:spPr>
          <a:xfrm>
            <a:off x="8211312" y="2450592"/>
            <a:ext cx="868680" cy="6217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8247888" y="2542032"/>
            <a:ext cx="795528" cy="357021"/>
          </a:xfrm>
          <a:prstGeom prst="rect">
            <a:avLst/>
          </a:prstGeom>
          <a:noFill/>
        </p:spPr>
        <p:txBody>
          <a:bodyPr wrap="square" lIns="54864" tIns="54864" rIns="54864" bIns="54864" anchor="t">
            <a:spAutoFit/>
          </a:bodyPr>
          <a:lstStyle/>
          <a:p>
            <a:pPr algn="ctr"/>
            <a:r>
              <a:rPr sz="1600" b="0">
                <a:solidFill>
                  <a:srgbClr val="2A3742"/>
                </a:solidFill>
                <a:latin typeface="Aptos"/>
              </a:rPr>
              <a:t>0.956</a:t>
            </a:r>
          </a:p>
        </p:txBody>
      </p:sp>
      <p:sp>
        <p:nvSpPr>
          <p:cNvPr id="21" name="Rectangle 20"/>
          <p:cNvSpPr/>
          <p:nvPr/>
        </p:nvSpPr>
        <p:spPr>
          <a:xfrm>
            <a:off x="9079992" y="2450592"/>
            <a:ext cx="868680" cy="6217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9116567" y="2542032"/>
            <a:ext cx="795528" cy="357021"/>
          </a:xfrm>
          <a:prstGeom prst="rect">
            <a:avLst/>
          </a:prstGeom>
          <a:noFill/>
        </p:spPr>
        <p:txBody>
          <a:bodyPr wrap="square" lIns="54864" tIns="54864" rIns="54864" bIns="54864" anchor="t">
            <a:spAutoFit/>
          </a:bodyPr>
          <a:lstStyle/>
          <a:p>
            <a:pPr algn="ctr"/>
            <a:r>
              <a:rPr sz="1600" b="0">
                <a:solidFill>
                  <a:srgbClr val="2A3742"/>
                </a:solidFill>
                <a:latin typeface="Aptos"/>
              </a:rPr>
              <a:t>0.373</a:t>
            </a:r>
          </a:p>
        </p:txBody>
      </p:sp>
      <p:sp>
        <p:nvSpPr>
          <p:cNvPr id="23" name="Rectangle 22"/>
          <p:cNvSpPr/>
          <p:nvPr/>
        </p:nvSpPr>
        <p:spPr>
          <a:xfrm>
            <a:off x="9948672" y="2450592"/>
            <a:ext cx="731520" cy="6217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9985247" y="2542032"/>
            <a:ext cx="658368" cy="357021"/>
          </a:xfrm>
          <a:prstGeom prst="rect">
            <a:avLst/>
          </a:prstGeom>
          <a:noFill/>
        </p:spPr>
        <p:txBody>
          <a:bodyPr wrap="square" lIns="54864" tIns="54864" rIns="54864" bIns="54864" anchor="t">
            <a:spAutoFit/>
          </a:bodyPr>
          <a:lstStyle/>
          <a:p>
            <a:pPr algn="ctr"/>
            <a:r>
              <a:rPr sz="1600" b="0">
                <a:solidFill>
                  <a:srgbClr val="2A3742"/>
                </a:solidFill>
                <a:latin typeface="Aptos"/>
              </a:rPr>
              <a:t>0.577</a:t>
            </a:r>
          </a:p>
        </p:txBody>
      </p:sp>
      <p:sp>
        <p:nvSpPr>
          <p:cNvPr id="25" name="Rectangle 24"/>
          <p:cNvSpPr/>
          <p:nvPr/>
        </p:nvSpPr>
        <p:spPr>
          <a:xfrm>
            <a:off x="10680192" y="2450592"/>
            <a:ext cx="1005840" cy="6217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p:cNvSpPr txBox="1"/>
          <p:nvPr/>
        </p:nvSpPr>
        <p:spPr>
          <a:xfrm>
            <a:off x="10716767" y="2542032"/>
            <a:ext cx="932688" cy="357021"/>
          </a:xfrm>
          <a:prstGeom prst="rect">
            <a:avLst/>
          </a:prstGeom>
          <a:noFill/>
        </p:spPr>
        <p:txBody>
          <a:bodyPr wrap="square" lIns="54864" tIns="54864" rIns="54864" bIns="54864" anchor="t">
            <a:spAutoFit/>
          </a:bodyPr>
          <a:lstStyle/>
          <a:p>
            <a:pPr algn="ctr"/>
            <a:r>
              <a:rPr sz="1600" b="0">
                <a:solidFill>
                  <a:srgbClr val="2A3742"/>
                </a:solidFill>
                <a:latin typeface="Aptos"/>
              </a:rPr>
              <a:t>3,285</a:t>
            </a:r>
          </a:p>
        </p:txBody>
      </p:sp>
      <p:sp>
        <p:nvSpPr>
          <p:cNvPr id="27" name="Rectangle 26"/>
          <p:cNvSpPr/>
          <p:nvPr/>
        </p:nvSpPr>
        <p:spPr>
          <a:xfrm>
            <a:off x="7388352" y="3072384"/>
            <a:ext cx="822960" cy="62179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24927" y="3163824"/>
            <a:ext cx="749808" cy="357021"/>
          </a:xfrm>
          <a:prstGeom prst="rect">
            <a:avLst/>
          </a:prstGeom>
          <a:noFill/>
        </p:spPr>
        <p:txBody>
          <a:bodyPr wrap="square" lIns="54864" tIns="54864" rIns="54864" bIns="54864" anchor="t">
            <a:spAutoFit/>
          </a:bodyPr>
          <a:lstStyle/>
          <a:p>
            <a:pPr algn="ctr"/>
            <a:r>
              <a:rPr sz="1600" b="1">
                <a:solidFill>
                  <a:srgbClr val="2A3742"/>
                </a:solidFill>
                <a:latin typeface="Aptos"/>
              </a:rPr>
              <a:t>0.50</a:t>
            </a:r>
          </a:p>
        </p:txBody>
      </p:sp>
      <p:sp>
        <p:nvSpPr>
          <p:cNvPr id="29" name="Rectangle 28"/>
          <p:cNvSpPr/>
          <p:nvPr/>
        </p:nvSpPr>
        <p:spPr>
          <a:xfrm>
            <a:off x="8211312" y="3072384"/>
            <a:ext cx="868680" cy="62179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p:cNvSpPr txBox="1"/>
          <p:nvPr/>
        </p:nvSpPr>
        <p:spPr>
          <a:xfrm>
            <a:off x="8247888" y="3163824"/>
            <a:ext cx="795528" cy="357021"/>
          </a:xfrm>
          <a:prstGeom prst="rect">
            <a:avLst/>
          </a:prstGeom>
          <a:noFill/>
        </p:spPr>
        <p:txBody>
          <a:bodyPr wrap="square" lIns="54864" tIns="54864" rIns="54864" bIns="54864" anchor="t">
            <a:spAutoFit/>
          </a:bodyPr>
          <a:lstStyle/>
          <a:p>
            <a:pPr algn="ctr"/>
            <a:r>
              <a:rPr sz="1600" b="0">
                <a:solidFill>
                  <a:srgbClr val="2A3742"/>
                </a:solidFill>
                <a:latin typeface="Aptos"/>
              </a:rPr>
              <a:t>0.744</a:t>
            </a:r>
          </a:p>
        </p:txBody>
      </p:sp>
      <p:sp>
        <p:nvSpPr>
          <p:cNvPr id="31" name="Rectangle 30"/>
          <p:cNvSpPr/>
          <p:nvPr/>
        </p:nvSpPr>
        <p:spPr>
          <a:xfrm>
            <a:off x="9079992" y="3072384"/>
            <a:ext cx="868680" cy="62179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TextBox 31"/>
          <p:cNvSpPr txBox="1"/>
          <p:nvPr/>
        </p:nvSpPr>
        <p:spPr>
          <a:xfrm>
            <a:off x="9116567" y="3163824"/>
            <a:ext cx="795528" cy="357021"/>
          </a:xfrm>
          <a:prstGeom prst="rect">
            <a:avLst/>
          </a:prstGeom>
          <a:noFill/>
        </p:spPr>
        <p:txBody>
          <a:bodyPr wrap="square" lIns="54864" tIns="54864" rIns="54864" bIns="54864" anchor="t">
            <a:spAutoFit/>
          </a:bodyPr>
          <a:lstStyle/>
          <a:p>
            <a:pPr algn="ctr"/>
            <a:r>
              <a:rPr sz="1600" b="0">
                <a:solidFill>
                  <a:srgbClr val="2A3742"/>
                </a:solidFill>
                <a:latin typeface="Aptos"/>
              </a:rPr>
              <a:t>0.736</a:t>
            </a:r>
          </a:p>
        </p:txBody>
      </p:sp>
      <p:sp>
        <p:nvSpPr>
          <p:cNvPr id="33" name="Rectangle 32"/>
          <p:cNvSpPr/>
          <p:nvPr/>
        </p:nvSpPr>
        <p:spPr>
          <a:xfrm>
            <a:off x="9948672" y="3072384"/>
            <a:ext cx="731520" cy="62179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TextBox 33"/>
          <p:cNvSpPr txBox="1"/>
          <p:nvPr/>
        </p:nvSpPr>
        <p:spPr>
          <a:xfrm>
            <a:off x="9985247" y="3163824"/>
            <a:ext cx="658368" cy="357021"/>
          </a:xfrm>
          <a:prstGeom prst="rect">
            <a:avLst/>
          </a:prstGeom>
          <a:noFill/>
        </p:spPr>
        <p:txBody>
          <a:bodyPr wrap="square" lIns="54864" tIns="54864" rIns="54864" bIns="54864" anchor="t">
            <a:spAutoFit/>
          </a:bodyPr>
          <a:lstStyle/>
          <a:p>
            <a:pPr algn="ctr"/>
            <a:r>
              <a:rPr sz="1600" b="0">
                <a:solidFill>
                  <a:srgbClr val="2A3742"/>
                </a:solidFill>
                <a:latin typeface="Aptos"/>
              </a:rPr>
              <a:t>0.716</a:t>
            </a:r>
          </a:p>
        </p:txBody>
      </p:sp>
      <p:sp>
        <p:nvSpPr>
          <p:cNvPr id="35" name="Rectangle 34"/>
          <p:cNvSpPr/>
          <p:nvPr/>
        </p:nvSpPr>
        <p:spPr>
          <a:xfrm>
            <a:off x="10680192" y="3072384"/>
            <a:ext cx="1005840" cy="62179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35"/>
          <p:cNvSpPr txBox="1"/>
          <p:nvPr/>
        </p:nvSpPr>
        <p:spPr>
          <a:xfrm>
            <a:off x="10716767" y="3163824"/>
            <a:ext cx="932688" cy="357021"/>
          </a:xfrm>
          <a:prstGeom prst="rect">
            <a:avLst/>
          </a:prstGeom>
          <a:noFill/>
        </p:spPr>
        <p:txBody>
          <a:bodyPr wrap="square" lIns="54864" tIns="54864" rIns="54864" bIns="54864" anchor="t">
            <a:spAutoFit/>
          </a:bodyPr>
          <a:lstStyle/>
          <a:p>
            <a:pPr algn="ctr"/>
            <a:r>
              <a:rPr sz="1600" b="0">
                <a:solidFill>
                  <a:srgbClr val="2A3742"/>
                </a:solidFill>
                <a:latin typeface="Aptos"/>
              </a:rPr>
              <a:t>1,385</a:t>
            </a:r>
          </a:p>
        </p:txBody>
      </p:sp>
      <p:sp>
        <p:nvSpPr>
          <p:cNvPr id="37" name="Rectangle 36"/>
          <p:cNvSpPr/>
          <p:nvPr/>
        </p:nvSpPr>
        <p:spPr>
          <a:xfrm>
            <a:off x="7388352" y="3694176"/>
            <a:ext cx="822960" cy="6217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424927" y="3785615"/>
            <a:ext cx="749808" cy="357021"/>
          </a:xfrm>
          <a:prstGeom prst="rect">
            <a:avLst/>
          </a:prstGeom>
          <a:noFill/>
        </p:spPr>
        <p:txBody>
          <a:bodyPr wrap="square" lIns="54864" tIns="54864" rIns="54864" bIns="54864" anchor="t">
            <a:spAutoFit/>
          </a:bodyPr>
          <a:lstStyle/>
          <a:p>
            <a:pPr algn="ctr"/>
            <a:r>
              <a:rPr sz="1600" b="1">
                <a:solidFill>
                  <a:srgbClr val="2A3742"/>
                </a:solidFill>
                <a:latin typeface="Aptos"/>
              </a:rPr>
              <a:t>0.75</a:t>
            </a:r>
          </a:p>
        </p:txBody>
      </p:sp>
      <p:sp>
        <p:nvSpPr>
          <p:cNvPr id="39" name="Rectangle 38"/>
          <p:cNvSpPr/>
          <p:nvPr/>
        </p:nvSpPr>
        <p:spPr>
          <a:xfrm>
            <a:off x="8211312" y="3694176"/>
            <a:ext cx="868680" cy="6217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TextBox 39"/>
          <p:cNvSpPr txBox="1"/>
          <p:nvPr/>
        </p:nvSpPr>
        <p:spPr>
          <a:xfrm>
            <a:off x="8247888" y="3785615"/>
            <a:ext cx="795528" cy="357021"/>
          </a:xfrm>
          <a:prstGeom prst="rect">
            <a:avLst/>
          </a:prstGeom>
          <a:noFill/>
        </p:spPr>
        <p:txBody>
          <a:bodyPr wrap="square" lIns="54864" tIns="54864" rIns="54864" bIns="54864" anchor="t">
            <a:spAutoFit/>
          </a:bodyPr>
          <a:lstStyle/>
          <a:p>
            <a:pPr algn="ctr"/>
            <a:r>
              <a:rPr sz="1600" b="0">
                <a:solidFill>
                  <a:srgbClr val="2A3742"/>
                </a:solidFill>
                <a:latin typeface="Aptos"/>
              </a:rPr>
              <a:t>0.299</a:t>
            </a:r>
          </a:p>
        </p:txBody>
      </p:sp>
      <p:sp>
        <p:nvSpPr>
          <p:cNvPr id="41" name="Rectangle 40"/>
          <p:cNvSpPr/>
          <p:nvPr/>
        </p:nvSpPr>
        <p:spPr>
          <a:xfrm>
            <a:off x="9079992" y="3694176"/>
            <a:ext cx="868680" cy="6217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2" name="TextBox 41"/>
          <p:cNvSpPr txBox="1"/>
          <p:nvPr/>
        </p:nvSpPr>
        <p:spPr>
          <a:xfrm>
            <a:off x="9116567" y="3785615"/>
            <a:ext cx="795528" cy="357021"/>
          </a:xfrm>
          <a:prstGeom prst="rect">
            <a:avLst/>
          </a:prstGeom>
          <a:noFill/>
        </p:spPr>
        <p:txBody>
          <a:bodyPr wrap="square" lIns="54864" tIns="54864" rIns="54864" bIns="54864" anchor="t">
            <a:spAutoFit/>
          </a:bodyPr>
          <a:lstStyle/>
          <a:p>
            <a:pPr algn="ctr"/>
            <a:r>
              <a:rPr sz="1600" b="0">
                <a:solidFill>
                  <a:srgbClr val="2A3742"/>
                </a:solidFill>
                <a:latin typeface="Aptos"/>
              </a:rPr>
              <a:t>0.955</a:t>
            </a:r>
          </a:p>
        </p:txBody>
      </p:sp>
      <p:sp>
        <p:nvSpPr>
          <p:cNvPr id="43" name="Rectangle 42"/>
          <p:cNvSpPr/>
          <p:nvPr/>
        </p:nvSpPr>
        <p:spPr>
          <a:xfrm>
            <a:off x="9948672" y="3694176"/>
            <a:ext cx="731520" cy="6217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9985247" y="3785615"/>
            <a:ext cx="658368" cy="357021"/>
          </a:xfrm>
          <a:prstGeom prst="rect">
            <a:avLst/>
          </a:prstGeom>
          <a:noFill/>
        </p:spPr>
        <p:txBody>
          <a:bodyPr wrap="square" lIns="54864" tIns="54864" rIns="54864" bIns="54864" anchor="t">
            <a:spAutoFit/>
          </a:bodyPr>
          <a:lstStyle/>
          <a:p>
            <a:pPr algn="ctr"/>
            <a:r>
              <a:rPr sz="1600" b="0">
                <a:solidFill>
                  <a:srgbClr val="2A3742"/>
                </a:solidFill>
                <a:latin typeface="Aptos"/>
              </a:rPr>
              <a:t>0.856</a:t>
            </a:r>
          </a:p>
        </p:txBody>
      </p:sp>
      <p:sp>
        <p:nvSpPr>
          <p:cNvPr id="45" name="Rectangle 44"/>
          <p:cNvSpPr/>
          <p:nvPr/>
        </p:nvSpPr>
        <p:spPr>
          <a:xfrm>
            <a:off x="10680192" y="3694176"/>
            <a:ext cx="1005840" cy="6217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10716767" y="3785615"/>
            <a:ext cx="932688" cy="357021"/>
          </a:xfrm>
          <a:prstGeom prst="rect">
            <a:avLst/>
          </a:prstGeom>
          <a:noFill/>
        </p:spPr>
        <p:txBody>
          <a:bodyPr wrap="square" lIns="54864" tIns="54864" rIns="54864" bIns="54864" anchor="t">
            <a:spAutoFit/>
          </a:bodyPr>
          <a:lstStyle/>
          <a:p>
            <a:pPr algn="ctr"/>
            <a:r>
              <a:rPr sz="1600" b="0">
                <a:solidFill>
                  <a:srgbClr val="2A3742"/>
                </a:solidFill>
                <a:latin typeface="Aptos"/>
              </a:rPr>
              <a:t>235</a:t>
            </a:r>
          </a:p>
        </p:txBody>
      </p:sp>
      <p:sp>
        <p:nvSpPr>
          <p:cNvPr id="47" name="Rounded Rectangle 46"/>
          <p:cNvSpPr/>
          <p:nvPr/>
        </p:nvSpPr>
        <p:spPr>
          <a:xfrm>
            <a:off x="7333488" y="4736592"/>
            <a:ext cx="3840480" cy="841248"/>
          </a:xfrm>
          <a:prstGeom prst="roundRect">
            <a:avLst>
              <a:gd name="adj" fmla="val 8000"/>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562088" y="4800600"/>
            <a:ext cx="3383280" cy="411480"/>
          </a:xfrm>
          <a:prstGeom prst="rect">
            <a:avLst/>
          </a:prstGeom>
          <a:noFill/>
        </p:spPr>
        <p:txBody>
          <a:bodyPr wrap="square" lIns="54864" tIns="54864" rIns="54864" bIns="54864" anchor="t">
            <a:spAutoFit/>
          </a:bodyPr>
          <a:lstStyle/>
          <a:p>
            <a:pPr algn="ctr"/>
            <a:r>
              <a:rPr sz="1700" b="1" dirty="0">
                <a:solidFill>
                  <a:srgbClr val="1F2933"/>
                </a:solidFill>
                <a:latin typeface="Aptos"/>
              </a:rPr>
              <a:t>Lower cutoff: catch more
Higher cutoff: alert less</a:t>
            </a:r>
          </a:p>
        </p:txBody>
      </p:sp>
      <p:sp>
        <p:nvSpPr>
          <p:cNvPr id="49" name="Rectangle 48"/>
          <p:cNvSpPr/>
          <p:nvPr/>
        </p:nvSpPr>
        <p:spPr>
          <a:xfrm>
            <a:off x="566928" y="6519672"/>
            <a:ext cx="11064240" cy="109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6"/>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1D4ED8"/>
                </a:solidFill>
                <a:latin typeface="Aptos"/>
              </a:rPr>
              <a:t>05  /  THRESHOLD</a:t>
            </a:r>
          </a:p>
        </p:txBody>
      </p:sp>
      <p:sp>
        <p:nvSpPr>
          <p:cNvPr id="3" name="TextBox 2"/>
          <p:cNvSpPr txBox="1"/>
          <p:nvPr/>
        </p:nvSpPr>
        <p:spPr>
          <a:xfrm>
            <a:off x="566928" y="530352"/>
            <a:ext cx="10287000" cy="594360"/>
          </a:xfrm>
          <a:prstGeom prst="rect">
            <a:avLst/>
          </a:prstGeom>
          <a:noFill/>
        </p:spPr>
        <p:txBody>
          <a:bodyPr wrap="square" lIns="54864" tIns="54864" rIns="54864" bIns="54864" anchor="t">
            <a:spAutoFit/>
          </a:bodyPr>
          <a:lstStyle/>
          <a:p>
            <a:pPr algn="l"/>
            <a:r>
              <a:rPr sz="3000" b="1">
                <a:solidFill>
                  <a:srgbClr val="1F2933"/>
                </a:solidFill>
                <a:latin typeface="Aptos Display"/>
              </a:rPr>
              <a:t>The confusion matrix counts the work created by a cutoff</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64748B"/>
                </a:solidFill>
                <a:latin typeface="Aptos"/>
              </a:rPr>
              <a:t>M4  /  12</a:t>
            </a:r>
          </a:p>
        </p:txBody>
      </p:sp>
      <p:sp>
        <p:nvSpPr>
          <p:cNvPr id="5" name="Rectangle 4"/>
          <p:cNvSpPr/>
          <p:nvPr/>
        </p:nvSpPr>
        <p:spPr>
          <a:xfrm>
            <a:off x="566928" y="1243584"/>
            <a:ext cx="11064240" cy="32004"/>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14400" y="1737360"/>
            <a:ext cx="1965960" cy="749808"/>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965960"/>
            <a:ext cx="1874519" cy="228600"/>
          </a:xfrm>
          <a:prstGeom prst="rect">
            <a:avLst/>
          </a:prstGeom>
          <a:noFill/>
        </p:spPr>
        <p:txBody>
          <a:bodyPr wrap="square" lIns="54864" tIns="54864" rIns="54864" bIns="54864" anchor="t">
            <a:spAutoFit/>
          </a:bodyPr>
          <a:lstStyle/>
          <a:p>
            <a:pPr algn="ctr"/>
            <a:endParaRPr/>
          </a:p>
        </p:txBody>
      </p:sp>
      <p:sp>
        <p:nvSpPr>
          <p:cNvPr id="8" name="Rectangle 7"/>
          <p:cNvSpPr/>
          <p:nvPr/>
        </p:nvSpPr>
        <p:spPr>
          <a:xfrm>
            <a:off x="2880360" y="1737360"/>
            <a:ext cx="2148840" cy="749808"/>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26079" y="1965960"/>
            <a:ext cx="2057400" cy="228600"/>
          </a:xfrm>
          <a:prstGeom prst="rect">
            <a:avLst/>
          </a:prstGeom>
          <a:noFill/>
        </p:spPr>
        <p:txBody>
          <a:bodyPr wrap="square" lIns="54864" tIns="54864" rIns="54864" bIns="54864" anchor="t">
            <a:spAutoFit/>
          </a:bodyPr>
          <a:lstStyle/>
          <a:p>
            <a:pPr algn="ctr"/>
            <a:r>
              <a:rPr sz="1500" b="1">
                <a:solidFill>
                  <a:srgbClr val="FFFFFF"/>
                </a:solidFill>
                <a:latin typeface="Aptos"/>
              </a:rPr>
              <a:t>Predicted no</a:t>
            </a:r>
          </a:p>
        </p:txBody>
      </p:sp>
      <p:sp>
        <p:nvSpPr>
          <p:cNvPr id="10" name="Rectangle 9"/>
          <p:cNvSpPr/>
          <p:nvPr/>
        </p:nvSpPr>
        <p:spPr>
          <a:xfrm>
            <a:off x="5029200" y="1737360"/>
            <a:ext cx="2148840" cy="749808"/>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74920" y="1965960"/>
            <a:ext cx="2057400" cy="228600"/>
          </a:xfrm>
          <a:prstGeom prst="rect">
            <a:avLst/>
          </a:prstGeom>
          <a:noFill/>
        </p:spPr>
        <p:txBody>
          <a:bodyPr wrap="square" lIns="54864" tIns="54864" rIns="54864" bIns="54864" anchor="t">
            <a:spAutoFit/>
          </a:bodyPr>
          <a:lstStyle/>
          <a:p>
            <a:pPr algn="ctr"/>
            <a:r>
              <a:rPr sz="1500" b="1">
                <a:solidFill>
                  <a:srgbClr val="FFFFFF"/>
                </a:solidFill>
                <a:latin typeface="Aptos"/>
              </a:rPr>
              <a:t>Predicted yes</a:t>
            </a:r>
          </a:p>
        </p:txBody>
      </p:sp>
      <p:sp>
        <p:nvSpPr>
          <p:cNvPr id="12" name="Rectangle 11"/>
          <p:cNvSpPr/>
          <p:nvPr/>
        </p:nvSpPr>
        <p:spPr>
          <a:xfrm>
            <a:off x="914400" y="2651760"/>
            <a:ext cx="1965960" cy="749808"/>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2880360"/>
            <a:ext cx="1874519" cy="228600"/>
          </a:xfrm>
          <a:prstGeom prst="rect">
            <a:avLst/>
          </a:prstGeom>
          <a:noFill/>
        </p:spPr>
        <p:txBody>
          <a:bodyPr wrap="square" lIns="54864" tIns="54864" rIns="54864" bIns="54864" anchor="t">
            <a:spAutoFit/>
          </a:bodyPr>
          <a:lstStyle/>
          <a:p>
            <a:pPr algn="ctr"/>
            <a:r>
              <a:rPr sz="2000" b="1">
                <a:solidFill>
                  <a:srgbClr val="FFFFFF"/>
                </a:solidFill>
                <a:latin typeface="Aptos"/>
              </a:rPr>
              <a:t>Observed no</a:t>
            </a:r>
          </a:p>
        </p:txBody>
      </p:sp>
      <p:sp>
        <p:nvSpPr>
          <p:cNvPr id="14" name="Rectangle 13"/>
          <p:cNvSpPr/>
          <p:nvPr/>
        </p:nvSpPr>
        <p:spPr>
          <a:xfrm>
            <a:off x="2880360" y="2651760"/>
            <a:ext cx="2148840"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26079" y="2880360"/>
            <a:ext cx="2057400" cy="228600"/>
          </a:xfrm>
          <a:prstGeom prst="rect">
            <a:avLst/>
          </a:prstGeom>
          <a:noFill/>
        </p:spPr>
        <p:txBody>
          <a:bodyPr wrap="square" lIns="54864" tIns="54864" rIns="54864" bIns="54864" anchor="t">
            <a:spAutoFit/>
          </a:bodyPr>
          <a:lstStyle/>
          <a:p>
            <a:pPr algn="ctr"/>
            <a:r>
              <a:rPr sz="2000" b="1">
                <a:solidFill>
                  <a:srgbClr val="FFFFFF"/>
                </a:solidFill>
                <a:latin typeface="Aptos"/>
              </a:rPr>
              <a:t>3,855</a:t>
            </a:r>
          </a:p>
        </p:txBody>
      </p:sp>
      <p:sp>
        <p:nvSpPr>
          <p:cNvPr id="16" name="Rectangle 15"/>
          <p:cNvSpPr/>
          <p:nvPr/>
        </p:nvSpPr>
        <p:spPr>
          <a:xfrm>
            <a:off x="5029200" y="2651760"/>
            <a:ext cx="2148840" cy="749808"/>
          </a:xfrm>
          <a:prstGeom prst="rect">
            <a:avLst/>
          </a:prstGeom>
          <a:solidFill>
            <a:srgbClr val="E11D48"/>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74920" y="2880360"/>
            <a:ext cx="2057400" cy="228600"/>
          </a:xfrm>
          <a:prstGeom prst="rect">
            <a:avLst/>
          </a:prstGeom>
          <a:noFill/>
        </p:spPr>
        <p:txBody>
          <a:bodyPr wrap="square" lIns="54864" tIns="54864" rIns="54864" bIns="54864" anchor="t">
            <a:spAutoFit/>
          </a:bodyPr>
          <a:lstStyle/>
          <a:p>
            <a:pPr algn="ctr"/>
            <a:r>
              <a:rPr sz="2000" b="1">
                <a:solidFill>
                  <a:srgbClr val="FFFFFF"/>
                </a:solidFill>
                <a:latin typeface="Aptos"/>
              </a:rPr>
              <a:t>1,385</a:t>
            </a:r>
          </a:p>
        </p:txBody>
      </p:sp>
      <p:sp>
        <p:nvSpPr>
          <p:cNvPr id="18" name="Rectangle 17"/>
          <p:cNvSpPr/>
          <p:nvPr/>
        </p:nvSpPr>
        <p:spPr>
          <a:xfrm>
            <a:off x="914400" y="3566160"/>
            <a:ext cx="1965960" cy="749808"/>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3794760"/>
            <a:ext cx="1874519" cy="228600"/>
          </a:xfrm>
          <a:prstGeom prst="rect">
            <a:avLst/>
          </a:prstGeom>
          <a:noFill/>
        </p:spPr>
        <p:txBody>
          <a:bodyPr wrap="square" lIns="54864" tIns="54864" rIns="54864" bIns="54864" anchor="t">
            <a:spAutoFit/>
          </a:bodyPr>
          <a:lstStyle/>
          <a:p>
            <a:pPr algn="ctr"/>
            <a:r>
              <a:rPr sz="2000" b="1">
                <a:solidFill>
                  <a:srgbClr val="FFFFFF"/>
                </a:solidFill>
                <a:latin typeface="Aptos"/>
              </a:rPr>
              <a:t>Observed yes</a:t>
            </a:r>
          </a:p>
        </p:txBody>
      </p:sp>
      <p:sp>
        <p:nvSpPr>
          <p:cNvPr id="20" name="Rectangle 19"/>
          <p:cNvSpPr/>
          <p:nvPr/>
        </p:nvSpPr>
        <p:spPr>
          <a:xfrm>
            <a:off x="2880360" y="3566160"/>
            <a:ext cx="2148840" cy="749808"/>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926079" y="3794760"/>
            <a:ext cx="2057400" cy="228600"/>
          </a:xfrm>
          <a:prstGeom prst="rect">
            <a:avLst/>
          </a:prstGeom>
          <a:noFill/>
        </p:spPr>
        <p:txBody>
          <a:bodyPr wrap="square" lIns="54864" tIns="54864" rIns="54864" bIns="54864" anchor="t">
            <a:spAutoFit/>
          </a:bodyPr>
          <a:lstStyle/>
          <a:p>
            <a:pPr algn="ctr"/>
            <a:r>
              <a:rPr sz="2000" b="1">
                <a:solidFill>
                  <a:srgbClr val="1F2933"/>
                </a:solidFill>
                <a:latin typeface="Aptos"/>
              </a:rPr>
              <a:t>1,199</a:t>
            </a:r>
          </a:p>
        </p:txBody>
      </p:sp>
      <p:sp>
        <p:nvSpPr>
          <p:cNvPr id="22" name="Rectangle 21"/>
          <p:cNvSpPr/>
          <p:nvPr/>
        </p:nvSpPr>
        <p:spPr>
          <a:xfrm>
            <a:off x="5029200" y="3566160"/>
            <a:ext cx="2148840"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74920" y="3794760"/>
            <a:ext cx="2057400" cy="228600"/>
          </a:xfrm>
          <a:prstGeom prst="rect">
            <a:avLst/>
          </a:prstGeom>
          <a:noFill/>
        </p:spPr>
        <p:txBody>
          <a:bodyPr wrap="square" lIns="54864" tIns="54864" rIns="54864" bIns="54864" anchor="t">
            <a:spAutoFit/>
          </a:bodyPr>
          <a:lstStyle/>
          <a:p>
            <a:pPr algn="ctr"/>
            <a:r>
              <a:rPr sz="2000" b="1">
                <a:solidFill>
                  <a:srgbClr val="FFFFFF"/>
                </a:solidFill>
                <a:latin typeface="Aptos"/>
              </a:rPr>
              <a:t>3,487</a:t>
            </a:r>
          </a:p>
        </p:txBody>
      </p:sp>
      <p:sp>
        <p:nvSpPr>
          <p:cNvPr id="24" name="TextBox 23"/>
          <p:cNvSpPr txBox="1"/>
          <p:nvPr/>
        </p:nvSpPr>
        <p:spPr>
          <a:xfrm>
            <a:off x="1097280" y="4617720"/>
            <a:ext cx="1645920" cy="228600"/>
          </a:xfrm>
          <a:prstGeom prst="rect">
            <a:avLst/>
          </a:prstGeom>
          <a:noFill/>
        </p:spPr>
        <p:txBody>
          <a:bodyPr wrap="square" lIns="54864" tIns="54864" rIns="54864" bIns="54864" anchor="t">
            <a:spAutoFit/>
          </a:bodyPr>
          <a:lstStyle/>
          <a:p>
            <a:pPr algn="ctr"/>
            <a:r>
              <a:rPr sz="1500" b="1">
                <a:solidFill>
                  <a:srgbClr val="10B981"/>
                </a:solidFill>
                <a:latin typeface="Aptos"/>
              </a:rPr>
              <a:t>True negative</a:t>
            </a:r>
          </a:p>
        </p:txBody>
      </p:sp>
      <p:sp>
        <p:nvSpPr>
          <p:cNvPr id="25" name="TextBox 24"/>
          <p:cNvSpPr txBox="1"/>
          <p:nvPr/>
        </p:nvSpPr>
        <p:spPr>
          <a:xfrm>
            <a:off x="3246120" y="4617720"/>
            <a:ext cx="1645920" cy="228600"/>
          </a:xfrm>
          <a:prstGeom prst="rect">
            <a:avLst/>
          </a:prstGeom>
          <a:noFill/>
        </p:spPr>
        <p:txBody>
          <a:bodyPr wrap="square" lIns="54864" tIns="54864" rIns="54864" bIns="54864" anchor="t">
            <a:spAutoFit/>
          </a:bodyPr>
          <a:lstStyle/>
          <a:p>
            <a:pPr algn="ctr"/>
            <a:r>
              <a:rPr sz="1500" b="1">
                <a:solidFill>
                  <a:srgbClr val="E11D48"/>
                </a:solidFill>
                <a:latin typeface="Aptos"/>
              </a:rPr>
              <a:t>False positive</a:t>
            </a:r>
          </a:p>
        </p:txBody>
      </p:sp>
      <p:sp>
        <p:nvSpPr>
          <p:cNvPr id="26" name="TextBox 25"/>
          <p:cNvSpPr txBox="1"/>
          <p:nvPr/>
        </p:nvSpPr>
        <p:spPr>
          <a:xfrm>
            <a:off x="5394960" y="4617720"/>
            <a:ext cx="1645920" cy="228600"/>
          </a:xfrm>
          <a:prstGeom prst="rect">
            <a:avLst/>
          </a:prstGeom>
          <a:noFill/>
        </p:spPr>
        <p:txBody>
          <a:bodyPr wrap="square" lIns="54864" tIns="54864" rIns="54864" bIns="54864" anchor="t">
            <a:spAutoFit/>
          </a:bodyPr>
          <a:lstStyle/>
          <a:p>
            <a:pPr algn="ctr"/>
            <a:r>
              <a:rPr sz="1500" b="1">
                <a:solidFill>
                  <a:srgbClr val="F59E0B"/>
                </a:solidFill>
                <a:latin typeface="Aptos"/>
              </a:rPr>
              <a:t>False negative</a:t>
            </a:r>
          </a:p>
        </p:txBody>
      </p:sp>
      <p:sp>
        <p:nvSpPr>
          <p:cNvPr id="27" name="Rounded Rectangle 26"/>
          <p:cNvSpPr/>
          <p:nvPr/>
        </p:nvSpPr>
        <p:spPr>
          <a:xfrm>
            <a:off x="7498079" y="1874519"/>
            <a:ext cx="3703320" cy="3218688"/>
          </a:xfrm>
          <a:prstGeom prst="roundRect">
            <a:avLst>
              <a:gd name="adj" fmla="val 8000"/>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818120" y="2212848"/>
            <a:ext cx="3063240" cy="274320"/>
          </a:xfrm>
          <a:prstGeom prst="rect">
            <a:avLst/>
          </a:prstGeom>
          <a:noFill/>
        </p:spPr>
        <p:txBody>
          <a:bodyPr wrap="square" lIns="54864" tIns="54864" rIns="54864" bIns="54864" anchor="t">
            <a:spAutoFit/>
          </a:bodyPr>
          <a:lstStyle/>
          <a:p>
            <a:pPr algn="ctr"/>
            <a:r>
              <a:rPr sz="2200" b="1">
                <a:solidFill>
                  <a:srgbClr val="1F2933"/>
                </a:solidFill>
                <a:latin typeface="Aptos Display"/>
              </a:rPr>
              <a:t>At threshold 0.50</a:t>
            </a:r>
          </a:p>
        </p:txBody>
      </p:sp>
      <p:sp>
        <p:nvSpPr>
          <p:cNvPr id="29" name="Oval 28"/>
          <p:cNvSpPr/>
          <p:nvPr/>
        </p:nvSpPr>
        <p:spPr>
          <a:xfrm>
            <a:off x="7818120" y="2907792"/>
            <a:ext cx="91440" cy="9144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01000" y="2816352"/>
            <a:ext cx="2880360" cy="603242"/>
          </a:xfrm>
          <a:prstGeom prst="rect">
            <a:avLst/>
          </a:prstGeom>
          <a:noFill/>
        </p:spPr>
        <p:txBody>
          <a:bodyPr wrap="square" lIns="54864" tIns="54864" rIns="54864" bIns="54864" anchor="t">
            <a:spAutoFit/>
          </a:bodyPr>
          <a:lstStyle/>
          <a:p>
            <a:pPr algn="l"/>
            <a:r>
              <a:rPr sz="1600" b="0">
                <a:solidFill>
                  <a:srgbClr val="2A3742"/>
                </a:solidFill>
                <a:latin typeface="Aptos"/>
              </a:rPr>
              <a:t>3,487 hospitalized stays flagged</a:t>
            </a:r>
          </a:p>
        </p:txBody>
      </p:sp>
      <p:sp>
        <p:nvSpPr>
          <p:cNvPr id="31" name="Oval 30"/>
          <p:cNvSpPr/>
          <p:nvPr/>
        </p:nvSpPr>
        <p:spPr>
          <a:xfrm>
            <a:off x="7818120" y="3383280"/>
            <a:ext cx="91440" cy="9144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001000" y="3291840"/>
            <a:ext cx="2880360" cy="603242"/>
          </a:xfrm>
          <a:prstGeom prst="rect">
            <a:avLst/>
          </a:prstGeom>
          <a:noFill/>
        </p:spPr>
        <p:txBody>
          <a:bodyPr wrap="square" lIns="54864" tIns="54864" rIns="54864" bIns="54864" anchor="t">
            <a:spAutoFit/>
          </a:bodyPr>
          <a:lstStyle/>
          <a:p>
            <a:pPr algn="l"/>
            <a:r>
              <a:rPr sz="1600" b="0">
                <a:solidFill>
                  <a:srgbClr val="2A3742"/>
                </a:solidFill>
                <a:latin typeface="Aptos"/>
              </a:rPr>
              <a:t>1,199 hospitalized stays missed</a:t>
            </a:r>
          </a:p>
        </p:txBody>
      </p:sp>
      <p:sp>
        <p:nvSpPr>
          <p:cNvPr id="33" name="Oval 32"/>
          <p:cNvSpPr/>
          <p:nvPr/>
        </p:nvSpPr>
        <p:spPr>
          <a:xfrm>
            <a:off x="7818120" y="3858768"/>
            <a:ext cx="91440" cy="9144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01000" y="3767328"/>
            <a:ext cx="2880360" cy="603242"/>
          </a:xfrm>
          <a:prstGeom prst="rect">
            <a:avLst/>
          </a:prstGeom>
          <a:noFill/>
        </p:spPr>
        <p:txBody>
          <a:bodyPr wrap="square" lIns="54864" tIns="54864" rIns="54864" bIns="54864" anchor="t">
            <a:spAutoFit/>
          </a:bodyPr>
          <a:lstStyle/>
          <a:p>
            <a:pPr algn="l"/>
            <a:r>
              <a:rPr sz="1600" b="0">
                <a:solidFill>
                  <a:srgbClr val="2A3742"/>
                </a:solidFill>
                <a:latin typeface="Aptos"/>
              </a:rPr>
              <a:t>1,385 non-hospitalized stays flagged</a:t>
            </a:r>
          </a:p>
        </p:txBody>
      </p:sp>
      <p:sp>
        <p:nvSpPr>
          <p:cNvPr id="35" name="Oval 34"/>
          <p:cNvSpPr/>
          <p:nvPr/>
        </p:nvSpPr>
        <p:spPr>
          <a:xfrm>
            <a:off x="7818120" y="4334256"/>
            <a:ext cx="91440" cy="9144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01000" y="4242816"/>
            <a:ext cx="2880360" cy="603242"/>
          </a:xfrm>
          <a:prstGeom prst="rect">
            <a:avLst/>
          </a:prstGeom>
          <a:noFill/>
        </p:spPr>
        <p:txBody>
          <a:bodyPr wrap="square" lIns="54864" tIns="54864" rIns="54864" bIns="54864" anchor="t">
            <a:spAutoFit/>
          </a:bodyPr>
          <a:lstStyle/>
          <a:p>
            <a:pPr algn="l"/>
            <a:r>
              <a:rPr sz="1600" b="0">
                <a:solidFill>
                  <a:srgbClr val="2A3742"/>
                </a:solidFill>
                <a:latin typeface="Aptos"/>
              </a:rPr>
              <a:t>3,855 non-hospitalized stays left negative</a:t>
            </a:r>
          </a:p>
        </p:txBody>
      </p:sp>
      <p:sp>
        <p:nvSpPr>
          <p:cNvPr id="37" name="Rectangle 36"/>
          <p:cNvSpPr/>
          <p:nvPr/>
        </p:nvSpPr>
        <p:spPr>
          <a:xfrm>
            <a:off x="566928" y="6519672"/>
            <a:ext cx="11064240" cy="109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66928" y="6565392"/>
            <a:ext cx="10515600" cy="164592"/>
          </a:xfrm>
          <a:prstGeom prst="rect">
            <a:avLst/>
          </a:prstGeom>
          <a:noFill/>
        </p:spPr>
        <p:txBody>
          <a:bodyPr wrap="square" lIns="54864" tIns="54864" rIns="54864" bIns="54864" anchor="t">
            <a:spAutoFit/>
          </a:bodyPr>
          <a:lstStyle/>
          <a:p>
            <a:pPr algn="l"/>
            <a:r>
              <a:rPr sz="1000" b="0">
                <a:solidFill>
                  <a:srgbClr val="64748B"/>
                </a:solidFill>
                <a:latin typeface="Aptos"/>
              </a:rPr>
              <a:t>M4  |  hospitalization at ED triage  |  current exported evidence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6"/>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1D4ED8"/>
                </a:solidFill>
                <a:latin typeface="Aptos"/>
              </a:rPr>
              <a:t>06  /  CALIBRATION</a:t>
            </a:r>
          </a:p>
        </p:txBody>
      </p:sp>
      <p:sp>
        <p:nvSpPr>
          <p:cNvPr id="3" name="TextBox 2"/>
          <p:cNvSpPr txBox="1"/>
          <p:nvPr/>
        </p:nvSpPr>
        <p:spPr>
          <a:xfrm>
            <a:off x="566928" y="530352"/>
            <a:ext cx="10287000" cy="594360"/>
          </a:xfrm>
          <a:prstGeom prst="rect">
            <a:avLst/>
          </a:prstGeom>
          <a:noFill/>
        </p:spPr>
        <p:txBody>
          <a:bodyPr wrap="square" lIns="54864" tIns="54864" rIns="54864" bIns="54864" anchor="t">
            <a:spAutoFit/>
          </a:bodyPr>
          <a:lstStyle/>
          <a:p>
            <a:pPr algn="l"/>
            <a:r>
              <a:rPr sz="3000" b="1">
                <a:solidFill>
                  <a:srgbClr val="1F2933"/>
                </a:solidFill>
                <a:latin typeface="Aptos Display"/>
              </a:rPr>
              <a:t>Discrimination is not the same as probability quality</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64748B"/>
                </a:solidFill>
                <a:latin typeface="Aptos"/>
              </a:rPr>
              <a:t>M4  /  13</a:t>
            </a:r>
          </a:p>
        </p:txBody>
      </p:sp>
      <p:sp>
        <p:nvSpPr>
          <p:cNvPr id="5" name="Rectangle 4"/>
          <p:cNvSpPr/>
          <p:nvPr/>
        </p:nvSpPr>
        <p:spPr>
          <a:xfrm>
            <a:off x="566928" y="1243584"/>
            <a:ext cx="11064240" cy="32004"/>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58368" y="1536192"/>
            <a:ext cx="6309360" cy="4297680"/>
          </a:xfrm>
          <a:prstGeom prst="rect">
            <a:avLst/>
          </a:prstGeom>
        </p:spPr>
      </p:pic>
      <p:sp>
        <p:nvSpPr>
          <p:cNvPr id="7" name="Rounded Rectangle 6"/>
          <p:cNvSpPr/>
          <p:nvPr/>
        </p:nvSpPr>
        <p:spPr>
          <a:xfrm>
            <a:off x="7269480" y="1737360"/>
            <a:ext cx="3977639" cy="4558284"/>
          </a:xfrm>
          <a:prstGeom prst="roundRect">
            <a:avLst>
              <a:gd name="adj" fmla="val 8000"/>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07808" y="2075688"/>
            <a:ext cx="3246120" cy="480131"/>
          </a:xfrm>
          <a:prstGeom prst="rect">
            <a:avLst/>
          </a:prstGeom>
          <a:noFill/>
        </p:spPr>
        <p:txBody>
          <a:bodyPr wrap="square" lIns="54864" tIns="54864" rIns="54864" bIns="54864" anchor="t">
            <a:spAutoFit/>
          </a:bodyPr>
          <a:lstStyle/>
          <a:p>
            <a:pPr algn="l"/>
            <a:r>
              <a:rPr sz="2400" b="1">
                <a:solidFill>
                  <a:srgbClr val="1F2933"/>
                </a:solidFill>
                <a:latin typeface="Aptos Display"/>
              </a:rPr>
              <a:t>How to read it</a:t>
            </a:r>
          </a:p>
        </p:txBody>
      </p:sp>
      <p:sp>
        <p:nvSpPr>
          <p:cNvPr id="9" name="Oval 8"/>
          <p:cNvSpPr/>
          <p:nvPr/>
        </p:nvSpPr>
        <p:spPr>
          <a:xfrm>
            <a:off x="7607808" y="2788920"/>
            <a:ext cx="91440" cy="9144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 name="TextBox 9"/>
          <p:cNvSpPr txBox="1"/>
          <p:nvPr/>
        </p:nvSpPr>
        <p:spPr>
          <a:xfrm>
            <a:off x="7790688" y="2578764"/>
            <a:ext cx="2971800" cy="849463"/>
          </a:xfrm>
          <a:prstGeom prst="rect">
            <a:avLst/>
          </a:prstGeom>
          <a:noFill/>
        </p:spPr>
        <p:txBody>
          <a:bodyPr wrap="square" lIns="54864" tIns="54864" rIns="54864" bIns="54864" anchor="t">
            <a:spAutoFit/>
          </a:bodyPr>
          <a:lstStyle/>
          <a:p>
            <a:pPr algn="l"/>
            <a:r>
              <a:rPr sz="1600" b="0" dirty="0">
                <a:solidFill>
                  <a:srgbClr val="2A3742"/>
                </a:solidFill>
                <a:latin typeface="Aptos"/>
              </a:rPr>
              <a:t>A calibrated 0.70 means about 70% hospitalized among similar scored cases.</a:t>
            </a:r>
          </a:p>
        </p:txBody>
      </p:sp>
      <p:sp>
        <p:nvSpPr>
          <p:cNvPr id="11" name="Oval 10"/>
          <p:cNvSpPr/>
          <p:nvPr/>
        </p:nvSpPr>
        <p:spPr>
          <a:xfrm>
            <a:off x="7607808" y="3355848"/>
            <a:ext cx="91440" cy="9144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7790688" y="3264408"/>
            <a:ext cx="2971800" cy="849463"/>
          </a:xfrm>
          <a:prstGeom prst="rect">
            <a:avLst/>
          </a:prstGeom>
          <a:noFill/>
        </p:spPr>
        <p:txBody>
          <a:bodyPr wrap="square" lIns="54864" tIns="54864" rIns="54864" bIns="54864" anchor="t">
            <a:spAutoFit/>
          </a:bodyPr>
          <a:lstStyle/>
          <a:p>
            <a:pPr algn="l"/>
            <a:r>
              <a:rPr sz="1600" b="0">
                <a:solidFill>
                  <a:srgbClr val="2A3742"/>
                </a:solidFill>
                <a:latin typeface="Aptos"/>
              </a:rPr>
              <a:t>Below the diagonal means predicted probability is higher than observed frequency.</a:t>
            </a:r>
          </a:p>
        </p:txBody>
      </p:sp>
      <p:sp>
        <p:nvSpPr>
          <p:cNvPr id="13" name="Oval 12"/>
          <p:cNvSpPr/>
          <p:nvPr/>
        </p:nvSpPr>
        <p:spPr>
          <a:xfrm>
            <a:off x="7645885" y="4454040"/>
            <a:ext cx="91440" cy="9144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TextBox 13"/>
          <p:cNvSpPr txBox="1"/>
          <p:nvPr/>
        </p:nvSpPr>
        <p:spPr>
          <a:xfrm>
            <a:off x="7790688" y="4008715"/>
            <a:ext cx="2971800" cy="1095685"/>
          </a:xfrm>
          <a:prstGeom prst="rect">
            <a:avLst/>
          </a:prstGeom>
          <a:noFill/>
        </p:spPr>
        <p:txBody>
          <a:bodyPr wrap="square" lIns="54864" tIns="54864" rIns="54864" bIns="54864" anchor="t">
            <a:spAutoFit/>
          </a:bodyPr>
          <a:lstStyle/>
          <a:p>
            <a:pPr algn="l"/>
            <a:r>
              <a:rPr sz="1600" b="0" dirty="0">
                <a:solidFill>
                  <a:srgbClr val="2A3742"/>
                </a:solidFill>
                <a:latin typeface="Aptos"/>
              </a:rPr>
              <a:t>The curve is below the diagonal at lower scores, then approaches and exceeds it at higher scores.</a:t>
            </a:r>
          </a:p>
        </p:txBody>
      </p:sp>
      <p:sp>
        <p:nvSpPr>
          <p:cNvPr id="15" name="Oval 14"/>
          <p:cNvSpPr/>
          <p:nvPr/>
        </p:nvSpPr>
        <p:spPr>
          <a:xfrm>
            <a:off x="7607808" y="5351982"/>
            <a:ext cx="91440" cy="9144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7790688" y="5018691"/>
            <a:ext cx="2971800" cy="849463"/>
          </a:xfrm>
          <a:prstGeom prst="rect">
            <a:avLst/>
          </a:prstGeom>
          <a:noFill/>
        </p:spPr>
        <p:txBody>
          <a:bodyPr wrap="square" lIns="54864" tIns="54864" rIns="54864" bIns="54864" anchor="t">
            <a:spAutoFit/>
          </a:bodyPr>
          <a:lstStyle/>
          <a:p>
            <a:pPr algn="l"/>
            <a:r>
              <a:rPr sz="1600" b="0" dirty="0">
                <a:solidFill>
                  <a:srgbClr val="2A3742"/>
                </a:solidFill>
                <a:latin typeface="Aptos"/>
              </a:rPr>
              <a:t>Calibration can shift with prevalence, hospital, time, and workflow.</a:t>
            </a:r>
          </a:p>
        </p:txBody>
      </p:sp>
      <p:sp>
        <p:nvSpPr>
          <p:cNvPr id="17" name="Rectangle 16"/>
          <p:cNvSpPr/>
          <p:nvPr/>
        </p:nvSpPr>
        <p:spPr>
          <a:xfrm>
            <a:off x="566928" y="6519672"/>
            <a:ext cx="11064240" cy="109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6565392"/>
            <a:ext cx="10515600" cy="164592"/>
          </a:xfrm>
          <a:prstGeom prst="rect">
            <a:avLst/>
          </a:prstGeom>
          <a:noFill/>
        </p:spPr>
        <p:txBody>
          <a:bodyPr wrap="square" lIns="54864" tIns="54864" rIns="54864" bIns="54864" anchor="t">
            <a:spAutoFit/>
          </a:bodyPr>
          <a:lstStyle/>
          <a:p>
            <a:pPr algn="l"/>
            <a:r>
              <a:rPr sz="1000" b="0">
                <a:solidFill>
                  <a:srgbClr val="64748B"/>
                </a:solidFill>
                <a:latin typeface="Aptos"/>
              </a:rPr>
              <a:t>M4  |  hospitalization at ED triage  |  current exported evidence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6"/>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1D4ED8"/>
                </a:solidFill>
                <a:latin typeface="Aptos"/>
              </a:rPr>
              <a:t>07  /  STABILITY</a:t>
            </a:r>
          </a:p>
        </p:txBody>
      </p:sp>
      <p:sp>
        <p:nvSpPr>
          <p:cNvPr id="3" name="TextBox 2"/>
          <p:cNvSpPr txBox="1"/>
          <p:nvPr/>
        </p:nvSpPr>
        <p:spPr>
          <a:xfrm>
            <a:off x="566928" y="530352"/>
            <a:ext cx="10287000" cy="594360"/>
          </a:xfrm>
          <a:prstGeom prst="rect">
            <a:avLst/>
          </a:prstGeom>
          <a:noFill/>
        </p:spPr>
        <p:txBody>
          <a:bodyPr wrap="square" lIns="54864" tIns="54864" rIns="54864" bIns="54864" anchor="t">
            <a:spAutoFit/>
          </a:bodyPr>
          <a:lstStyle/>
          <a:p>
            <a:pPr algn="l"/>
            <a:r>
              <a:rPr sz="3000" b="1">
                <a:solidFill>
                  <a:srgbClr val="1F2933"/>
                </a:solidFill>
                <a:latin typeface="Aptos Display"/>
              </a:rPr>
              <a:t>Grouped cross-validation checks variation inside training</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64748B"/>
                </a:solidFill>
                <a:latin typeface="Aptos"/>
              </a:rPr>
              <a:t>M4  /  14</a:t>
            </a:r>
          </a:p>
        </p:txBody>
      </p:sp>
      <p:sp>
        <p:nvSpPr>
          <p:cNvPr id="5" name="Rectangle 4"/>
          <p:cNvSpPr/>
          <p:nvPr/>
        </p:nvSpPr>
        <p:spPr>
          <a:xfrm>
            <a:off x="566928" y="1243584"/>
            <a:ext cx="11064240" cy="32004"/>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737360"/>
            <a:ext cx="2560320" cy="484632"/>
          </a:xfrm>
          <a:prstGeom prst="rect">
            <a:avLst/>
          </a:prstGeom>
          <a:noFill/>
        </p:spPr>
        <p:txBody>
          <a:bodyPr wrap="square" lIns="54864" tIns="54864" rIns="54864" bIns="54864" anchor="t">
            <a:spAutoFit/>
          </a:bodyPr>
          <a:lstStyle/>
          <a:p>
            <a:pPr algn="l"/>
            <a:r>
              <a:rPr sz="3200" b="1">
                <a:solidFill>
                  <a:srgbClr val="1D4ED8"/>
                </a:solidFill>
                <a:latin typeface="Aptos Display"/>
              </a:rPr>
              <a:t>0.823</a:t>
            </a:r>
          </a:p>
        </p:txBody>
      </p:sp>
      <p:sp>
        <p:nvSpPr>
          <p:cNvPr id="7" name="TextBox 6"/>
          <p:cNvSpPr txBox="1"/>
          <p:nvPr/>
        </p:nvSpPr>
        <p:spPr>
          <a:xfrm>
            <a:off x="841248" y="2240280"/>
            <a:ext cx="2560320" cy="365760"/>
          </a:xfrm>
          <a:prstGeom prst="rect">
            <a:avLst/>
          </a:prstGeom>
          <a:noFill/>
        </p:spPr>
        <p:txBody>
          <a:bodyPr wrap="square" lIns="54864" tIns="54864" rIns="54864" bIns="54864" anchor="t">
            <a:spAutoFit/>
          </a:bodyPr>
          <a:lstStyle/>
          <a:p>
            <a:pPr algn="l"/>
            <a:r>
              <a:rPr sz="1300" b="0">
                <a:solidFill>
                  <a:srgbClr val="64748B"/>
                </a:solidFill>
                <a:latin typeface="Aptos"/>
              </a:rPr>
              <a:t>mean grouped-CV AUROC</a:t>
            </a:r>
          </a:p>
        </p:txBody>
      </p:sp>
      <p:sp>
        <p:nvSpPr>
          <p:cNvPr id="8" name="TextBox 7"/>
          <p:cNvSpPr txBox="1"/>
          <p:nvPr/>
        </p:nvSpPr>
        <p:spPr>
          <a:xfrm>
            <a:off x="3611880" y="1737360"/>
            <a:ext cx="2560320" cy="484632"/>
          </a:xfrm>
          <a:prstGeom prst="rect">
            <a:avLst/>
          </a:prstGeom>
          <a:noFill/>
        </p:spPr>
        <p:txBody>
          <a:bodyPr wrap="square" lIns="54864" tIns="54864" rIns="54864" bIns="54864" anchor="t">
            <a:spAutoFit/>
          </a:bodyPr>
          <a:lstStyle/>
          <a:p>
            <a:pPr algn="l"/>
            <a:r>
              <a:rPr sz="3200" b="1">
                <a:solidFill>
                  <a:srgbClr val="F59E0B"/>
                </a:solidFill>
                <a:latin typeface="Aptos Display"/>
              </a:rPr>
              <a:t>+/- 0.002</a:t>
            </a:r>
          </a:p>
        </p:txBody>
      </p:sp>
      <p:sp>
        <p:nvSpPr>
          <p:cNvPr id="9" name="TextBox 8"/>
          <p:cNvSpPr txBox="1"/>
          <p:nvPr/>
        </p:nvSpPr>
        <p:spPr>
          <a:xfrm>
            <a:off x="3611880" y="2240280"/>
            <a:ext cx="2560320" cy="365760"/>
          </a:xfrm>
          <a:prstGeom prst="rect">
            <a:avLst/>
          </a:prstGeom>
          <a:noFill/>
        </p:spPr>
        <p:txBody>
          <a:bodyPr wrap="square" lIns="54864" tIns="54864" rIns="54864" bIns="54864" anchor="t">
            <a:spAutoFit/>
          </a:bodyPr>
          <a:lstStyle/>
          <a:p>
            <a:pPr algn="l"/>
            <a:r>
              <a:rPr sz="1300" b="0">
                <a:solidFill>
                  <a:srgbClr val="64748B"/>
                </a:solidFill>
                <a:latin typeface="Aptos"/>
              </a:rPr>
              <a:t>fold-to-fold SD</a:t>
            </a:r>
          </a:p>
        </p:txBody>
      </p:sp>
      <p:sp>
        <p:nvSpPr>
          <p:cNvPr id="10" name="Rectangle 9"/>
          <p:cNvSpPr/>
          <p:nvPr/>
        </p:nvSpPr>
        <p:spPr>
          <a:xfrm>
            <a:off x="6583680" y="1783080"/>
            <a:ext cx="1097280" cy="621792"/>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20256" y="1874519"/>
            <a:ext cx="1024127" cy="182880"/>
          </a:xfrm>
          <a:prstGeom prst="rect">
            <a:avLst/>
          </a:prstGeom>
          <a:noFill/>
        </p:spPr>
        <p:txBody>
          <a:bodyPr wrap="square" lIns="54864" tIns="54864" rIns="54864" bIns="54864" anchor="t">
            <a:spAutoFit/>
          </a:bodyPr>
          <a:lstStyle/>
          <a:p>
            <a:pPr algn="ctr"/>
            <a:r>
              <a:rPr sz="1400" b="1">
                <a:solidFill>
                  <a:srgbClr val="FFFFFF"/>
                </a:solidFill>
                <a:latin typeface="Aptos"/>
              </a:rPr>
              <a:t>Fold</a:t>
            </a:r>
          </a:p>
        </p:txBody>
      </p:sp>
      <p:sp>
        <p:nvSpPr>
          <p:cNvPr id="12" name="Rectangle 11"/>
          <p:cNvSpPr/>
          <p:nvPr/>
        </p:nvSpPr>
        <p:spPr>
          <a:xfrm>
            <a:off x="7680960" y="1783080"/>
            <a:ext cx="1417320" cy="621792"/>
          </a:xfrm>
          <a:prstGeom prst="rect">
            <a:avLst/>
          </a:prstGeom>
          <a:solidFill>
            <a:srgbClr val="1F2933"/>
          </a:solidFill>
          <a:ln>
            <a:solidFill>
              <a:srgbClr val="1F2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17536" y="1874519"/>
            <a:ext cx="1344168" cy="182880"/>
          </a:xfrm>
          <a:prstGeom prst="rect">
            <a:avLst/>
          </a:prstGeom>
          <a:noFill/>
        </p:spPr>
        <p:txBody>
          <a:bodyPr wrap="square" lIns="54864" tIns="54864" rIns="54864" bIns="54864" anchor="t">
            <a:spAutoFit/>
          </a:bodyPr>
          <a:lstStyle/>
          <a:p>
            <a:pPr algn="ctr"/>
            <a:r>
              <a:rPr sz="1400" b="1">
                <a:solidFill>
                  <a:srgbClr val="FFFFFF"/>
                </a:solidFill>
                <a:latin typeface="Aptos"/>
              </a:rPr>
              <a:t>AUROC</a:t>
            </a:r>
          </a:p>
        </p:txBody>
      </p:sp>
      <p:sp>
        <p:nvSpPr>
          <p:cNvPr id="14" name="Rectangle 13"/>
          <p:cNvSpPr/>
          <p:nvPr/>
        </p:nvSpPr>
        <p:spPr>
          <a:xfrm>
            <a:off x="6583680" y="2404872"/>
            <a:ext cx="1097280" cy="6217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20256" y="2496312"/>
            <a:ext cx="1024127" cy="201168"/>
          </a:xfrm>
          <a:prstGeom prst="rect">
            <a:avLst/>
          </a:prstGeom>
          <a:noFill/>
        </p:spPr>
        <p:txBody>
          <a:bodyPr wrap="square" lIns="54864" tIns="54864" rIns="54864" bIns="54864" anchor="t">
            <a:spAutoFit/>
          </a:bodyPr>
          <a:lstStyle/>
          <a:p>
            <a:pPr algn="ctr"/>
            <a:r>
              <a:rPr sz="1400" b="1">
                <a:solidFill>
                  <a:srgbClr val="2A3742"/>
                </a:solidFill>
                <a:latin typeface="Aptos"/>
              </a:rPr>
              <a:t>1</a:t>
            </a:r>
          </a:p>
        </p:txBody>
      </p:sp>
      <p:sp>
        <p:nvSpPr>
          <p:cNvPr id="16" name="Rectangle 15"/>
          <p:cNvSpPr/>
          <p:nvPr/>
        </p:nvSpPr>
        <p:spPr>
          <a:xfrm>
            <a:off x="7680960" y="2404872"/>
            <a:ext cx="1417320" cy="6217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17536" y="2496312"/>
            <a:ext cx="1344168" cy="201168"/>
          </a:xfrm>
          <a:prstGeom prst="rect">
            <a:avLst/>
          </a:prstGeom>
          <a:noFill/>
        </p:spPr>
        <p:txBody>
          <a:bodyPr wrap="square" lIns="54864" tIns="54864" rIns="54864" bIns="54864" anchor="t">
            <a:spAutoFit/>
          </a:bodyPr>
          <a:lstStyle/>
          <a:p>
            <a:pPr algn="ctr"/>
            <a:r>
              <a:rPr sz="1400" b="0">
                <a:solidFill>
                  <a:srgbClr val="2A3742"/>
                </a:solidFill>
                <a:latin typeface="Aptos"/>
              </a:rPr>
              <a:t>0.822</a:t>
            </a:r>
          </a:p>
        </p:txBody>
      </p:sp>
      <p:sp>
        <p:nvSpPr>
          <p:cNvPr id="18" name="Rectangle 17"/>
          <p:cNvSpPr/>
          <p:nvPr/>
        </p:nvSpPr>
        <p:spPr>
          <a:xfrm>
            <a:off x="6583680" y="3026664"/>
            <a:ext cx="1097280" cy="62179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20256" y="3118104"/>
            <a:ext cx="1024127" cy="201168"/>
          </a:xfrm>
          <a:prstGeom prst="rect">
            <a:avLst/>
          </a:prstGeom>
          <a:noFill/>
        </p:spPr>
        <p:txBody>
          <a:bodyPr wrap="square" lIns="54864" tIns="54864" rIns="54864" bIns="54864" anchor="t">
            <a:spAutoFit/>
          </a:bodyPr>
          <a:lstStyle/>
          <a:p>
            <a:pPr algn="ctr"/>
            <a:r>
              <a:rPr sz="1400" b="1">
                <a:solidFill>
                  <a:srgbClr val="2A3742"/>
                </a:solidFill>
                <a:latin typeface="Aptos"/>
              </a:rPr>
              <a:t>2</a:t>
            </a:r>
          </a:p>
        </p:txBody>
      </p:sp>
      <p:sp>
        <p:nvSpPr>
          <p:cNvPr id="20" name="Rectangle 19"/>
          <p:cNvSpPr/>
          <p:nvPr/>
        </p:nvSpPr>
        <p:spPr>
          <a:xfrm>
            <a:off x="7680960" y="3026664"/>
            <a:ext cx="1417320" cy="62179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17536" y="3118104"/>
            <a:ext cx="1344168" cy="201168"/>
          </a:xfrm>
          <a:prstGeom prst="rect">
            <a:avLst/>
          </a:prstGeom>
          <a:noFill/>
        </p:spPr>
        <p:txBody>
          <a:bodyPr wrap="square" lIns="54864" tIns="54864" rIns="54864" bIns="54864" anchor="t">
            <a:spAutoFit/>
          </a:bodyPr>
          <a:lstStyle/>
          <a:p>
            <a:pPr algn="ctr"/>
            <a:r>
              <a:rPr sz="1400" b="0">
                <a:solidFill>
                  <a:srgbClr val="2A3742"/>
                </a:solidFill>
                <a:latin typeface="Aptos"/>
              </a:rPr>
              <a:t>0.822</a:t>
            </a:r>
          </a:p>
        </p:txBody>
      </p:sp>
      <p:sp>
        <p:nvSpPr>
          <p:cNvPr id="22" name="Rectangle 21"/>
          <p:cNvSpPr/>
          <p:nvPr/>
        </p:nvSpPr>
        <p:spPr>
          <a:xfrm>
            <a:off x="6583680" y="3648456"/>
            <a:ext cx="1097280" cy="6217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20256" y="3739896"/>
            <a:ext cx="1024127" cy="201168"/>
          </a:xfrm>
          <a:prstGeom prst="rect">
            <a:avLst/>
          </a:prstGeom>
          <a:noFill/>
        </p:spPr>
        <p:txBody>
          <a:bodyPr wrap="square" lIns="54864" tIns="54864" rIns="54864" bIns="54864" anchor="t">
            <a:spAutoFit/>
          </a:bodyPr>
          <a:lstStyle/>
          <a:p>
            <a:pPr algn="ctr"/>
            <a:r>
              <a:rPr sz="1400" b="1">
                <a:solidFill>
                  <a:srgbClr val="2A3742"/>
                </a:solidFill>
                <a:latin typeface="Aptos"/>
              </a:rPr>
              <a:t>3</a:t>
            </a:r>
          </a:p>
        </p:txBody>
      </p:sp>
      <p:sp>
        <p:nvSpPr>
          <p:cNvPr id="24" name="Rectangle 23"/>
          <p:cNvSpPr/>
          <p:nvPr/>
        </p:nvSpPr>
        <p:spPr>
          <a:xfrm>
            <a:off x="7680960" y="3648456"/>
            <a:ext cx="1417320" cy="6217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17536" y="3739896"/>
            <a:ext cx="1344168" cy="201168"/>
          </a:xfrm>
          <a:prstGeom prst="rect">
            <a:avLst/>
          </a:prstGeom>
          <a:noFill/>
        </p:spPr>
        <p:txBody>
          <a:bodyPr wrap="square" lIns="54864" tIns="54864" rIns="54864" bIns="54864" anchor="t">
            <a:spAutoFit/>
          </a:bodyPr>
          <a:lstStyle/>
          <a:p>
            <a:pPr algn="ctr"/>
            <a:r>
              <a:rPr sz="1400" b="0">
                <a:solidFill>
                  <a:srgbClr val="2A3742"/>
                </a:solidFill>
                <a:latin typeface="Aptos"/>
              </a:rPr>
              <a:t>0.826</a:t>
            </a:r>
          </a:p>
        </p:txBody>
      </p:sp>
      <p:sp>
        <p:nvSpPr>
          <p:cNvPr id="26" name="Rounded Rectangle 25"/>
          <p:cNvSpPr/>
          <p:nvPr/>
        </p:nvSpPr>
        <p:spPr>
          <a:xfrm>
            <a:off x="841248" y="3246119"/>
            <a:ext cx="5166360" cy="2649713"/>
          </a:xfrm>
          <a:prstGeom prst="roundRect">
            <a:avLst>
              <a:gd name="adj" fmla="val 8000"/>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70432" y="3566160"/>
            <a:ext cx="4114800" cy="274320"/>
          </a:xfrm>
          <a:prstGeom prst="rect">
            <a:avLst/>
          </a:prstGeom>
          <a:noFill/>
        </p:spPr>
        <p:txBody>
          <a:bodyPr wrap="square" lIns="54864" tIns="54864" rIns="54864" bIns="54864" anchor="t">
            <a:spAutoFit/>
          </a:bodyPr>
          <a:lstStyle/>
          <a:p>
            <a:pPr algn="l"/>
            <a:r>
              <a:rPr sz="2200" b="1">
                <a:solidFill>
                  <a:srgbClr val="1F2933"/>
                </a:solidFill>
                <a:latin typeface="Aptos Display"/>
              </a:rPr>
              <a:t>What this supports</a:t>
            </a:r>
          </a:p>
        </p:txBody>
      </p:sp>
      <p:sp>
        <p:nvSpPr>
          <p:cNvPr id="28" name="Oval 27"/>
          <p:cNvSpPr/>
          <p:nvPr/>
        </p:nvSpPr>
        <p:spPr>
          <a:xfrm>
            <a:off x="1170432" y="4206240"/>
            <a:ext cx="91440" cy="91440"/>
          </a:xfrm>
          <a:prstGeom prst="ellipse">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353312" y="4114800"/>
            <a:ext cx="4114800" cy="393192"/>
          </a:xfrm>
          <a:prstGeom prst="rect">
            <a:avLst/>
          </a:prstGeom>
          <a:noFill/>
        </p:spPr>
        <p:txBody>
          <a:bodyPr wrap="square" lIns="54864" tIns="54864" rIns="54864" bIns="54864" anchor="t">
            <a:spAutoFit/>
          </a:bodyPr>
          <a:lstStyle/>
          <a:p>
            <a:pPr algn="l"/>
            <a:r>
              <a:rPr sz="1500" b="0">
                <a:solidFill>
                  <a:srgbClr val="2A3742"/>
                </a:solidFill>
                <a:latin typeface="Aptos"/>
              </a:rPr>
              <a:t>Patients remain grouped within each fold.</a:t>
            </a:r>
          </a:p>
        </p:txBody>
      </p:sp>
      <p:sp>
        <p:nvSpPr>
          <p:cNvPr id="30" name="Oval 29"/>
          <p:cNvSpPr/>
          <p:nvPr/>
        </p:nvSpPr>
        <p:spPr>
          <a:xfrm>
            <a:off x="1170432" y="4645152"/>
            <a:ext cx="91440" cy="91440"/>
          </a:xfrm>
          <a:prstGeom prst="ellipse">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53312" y="4553712"/>
            <a:ext cx="4114800" cy="393192"/>
          </a:xfrm>
          <a:prstGeom prst="rect">
            <a:avLst/>
          </a:prstGeom>
          <a:noFill/>
        </p:spPr>
        <p:txBody>
          <a:bodyPr wrap="square" lIns="54864" tIns="54864" rIns="54864" bIns="54864" anchor="t">
            <a:spAutoFit/>
          </a:bodyPr>
          <a:lstStyle/>
          <a:p>
            <a:pPr algn="l"/>
            <a:r>
              <a:rPr sz="1500" b="0" dirty="0">
                <a:solidFill>
                  <a:srgbClr val="2A3742"/>
                </a:solidFill>
                <a:latin typeface="Aptos"/>
              </a:rPr>
              <a:t>The folds show similar AUROC in this training partition.</a:t>
            </a:r>
          </a:p>
        </p:txBody>
      </p:sp>
      <p:sp>
        <p:nvSpPr>
          <p:cNvPr id="32" name="Oval 31"/>
          <p:cNvSpPr/>
          <p:nvPr/>
        </p:nvSpPr>
        <p:spPr>
          <a:xfrm>
            <a:off x="1170432" y="5084064"/>
            <a:ext cx="91440" cy="91440"/>
          </a:xfrm>
          <a:prstGeom prst="ellipse">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353312" y="4992624"/>
            <a:ext cx="4114800" cy="393192"/>
          </a:xfrm>
          <a:prstGeom prst="rect">
            <a:avLst/>
          </a:prstGeom>
          <a:noFill/>
        </p:spPr>
        <p:txBody>
          <a:bodyPr wrap="square" lIns="54864" tIns="54864" rIns="54864" bIns="54864" anchor="t">
            <a:spAutoFit/>
          </a:bodyPr>
          <a:lstStyle/>
          <a:p>
            <a:pPr algn="l"/>
            <a:r>
              <a:rPr sz="1500" b="0">
                <a:solidFill>
                  <a:srgbClr val="2A3742"/>
                </a:solidFill>
                <a:latin typeface="Aptos"/>
              </a:rPr>
              <a:t>The test partition remains reserved for the final reported comparison.</a:t>
            </a:r>
          </a:p>
        </p:txBody>
      </p:sp>
      <p:sp>
        <p:nvSpPr>
          <p:cNvPr id="34" name="Rounded Rectangle 33"/>
          <p:cNvSpPr/>
          <p:nvPr/>
        </p:nvSpPr>
        <p:spPr>
          <a:xfrm>
            <a:off x="9189720" y="1760220"/>
            <a:ext cx="2377440" cy="4620464"/>
          </a:xfrm>
          <a:prstGeom prst="roundRect">
            <a:avLst>
              <a:gd name="adj" fmla="val 8000"/>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116568" y="1863090"/>
            <a:ext cx="2450592" cy="787908"/>
          </a:xfrm>
          <a:prstGeom prst="rect">
            <a:avLst/>
          </a:prstGeom>
          <a:noFill/>
        </p:spPr>
        <p:txBody>
          <a:bodyPr wrap="square" lIns="54864" tIns="54864" rIns="54864" bIns="54864" anchor="t">
            <a:spAutoFit/>
          </a:bodyPr>
          <a:lstStyle/>
          <a:p>
            <a:pPr algn="l"/>
            <a:r>
              <a:rPr sz="2200" b="1" dirty="0">
                <a:solidFill>
                  <a:srgbClr val="1F2933"/>
                </a:solidFill>
                <a:latin typeface="Aptos Display"/>
              </a:rPr>
              <a:t>What this does not support</a:t>
            </a:r>
          </a:p>
        </p:txBody>
      </p:sp>
      <p:sp>
        <p:nvSpPr>
          <p:cNvPr id="37" name="TextBox 36"/>
          <p:cNvSpPr txBox="1"/>
          <p:nvPr/>
        </p:nvSpPr>
        <p:spPr>
          <a:xfrm>
            <a:off x="9208009" y="2785110"/>
            <a:ext cx="2267712" cy="572464"/>
          </a:xfrm>
          <a:prstGeom prst="rect">
            <a:avLst/>
          </a:prstGeom>
          <a:noFill/>
        </p:spPr>
        <p:txBody>
          <a:bodyPr wrap="square" lIns="54864" tIns="54864" rIns="54864" bIns="54864" anchor="t">
            <a:spAutoFit/>
          </a:bodyPr>
          <a:lstStyle/>
          <a:p>
            <a:pPr algn="l"/>
            <a:r>
              <a:rPr sz="1500" b="0" dirty="0">
                <a:solidFill>
                  <a:srgbClr val="2A3742"/>
                </a:solidFill>
                <a:latin typeface="Aptos"/>
              </a:rPr>
              <a:t>External validity or temporal transport.</a:t>
            </a:r>
          </a:p>
        </p:txBody>
      </p:sp>
      <p:sp>
        <p:nvSpPr>
          <p:cNvPr id="39" name="TextBox 38"/>
          <p:cNvSpPr txBox="1"/>
          <p:nvPr/>
        </p:nvSpPr>
        <p:spPr>
          <a:xfrm>
            <a:off x="9208009" y="3601974"/>
            <a:ext cx="1874519" cy="803297"/>
          </a:xfrm>
          <a:prstGeom prst="rect">
            <a:avLst/>
          </a:prstGeom>
          <a:noFill/>
        </p:spPr>
        <p:txBody>
          <a:bodyPr wrap="square" lIns="54864" tIns="54864" rIns="54864" bIns="54864" anchor="t">
            <a:spAutoFit/>
          </a:bodyPr>
          <a:lstStyle/>
          <a:p>
            <a:pPr algn="l"/>
            <a:r>
              <a:rPr sz="1500" b="0" dirty="0">
                <a:solidFill>
                  <a:srgbClr val="2A3742"/>
                </a:solidFill>
                <a:latin typeface="Aptos"/>
              </a:rPr>
              <a:t>Clinical utility, fairness, or a safe alert policy.</a:t>
            </a:r>
          </a:p>
        </p:txBody>
      </p:sp>
      <p:sp>
        <p:nvSpPr>
          <p:cNvPr id="41" name="TextBox 40"/>
          <p:cNvSpPr txBox="1"/>
          <p:nvPr/>
        </p:nvSpPr>
        <p:spPr>
          <a:xfrm>
            <a:off x="9208009" y="4642694"/>
            <a:ext cx="1645919" cy="1034129"/>
          </a:xfrm>
          <a:prstGeom prst="rect">
            <a:avLst/>
          </a:prstGeom>
          <a:noFill/>
        </p:spPr>
        <p:txBody>
          <a:bodyPr wrap="square" lIns="54864" tIns="54864" rIns="54864" bIns="54864" anchor="t">
            <a:spAutoFit/>
          </a:bodyPr>
          <a:lstStyle/>
          <a:p>
            <a:pPr algn="l"/>
            <a:r>
              <a:rPr sz="1500" b="0" dirty="0">
                <a:solidFill>
                  <a:srgbClr val="2A3742"/>
                </a:solidFill>
                <a:latin typeface="Aptos"/>
              </a:rPr>
              <a:t>Confidence intervals for every subgroup or threshold.</a:t>
            </a:r>
          </a:p>
        </p:txBody>
      </p:sp>
      <p:sp>
        <p:nvSpPr>
          <p:cNvPr id="42" name="Rectangle 41"/>
          <p:cNvSpPr/>
          <p:nvPr/>
        </p:nvSpPr>
        <p:spPr>
          <a:xfrm>
            <a:off x="566928" y="6519672"/>
            <a:ext cx="11064240" cy="109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6"/>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1D4ED8"/>
                </a:solidFill>
                <a:latin typeface="Aptos"/>
              </a:rPr>
              <a:t>08  /  GLOBAL INFLUENCE</a:t>
            </a:r>
          </a:p>
        </p:txBody>
      </p:sp>
      <p:sp>
        <p:nvSpPr>
          <p:cNvPr id="3" name="TextBox 2"/>
          <p:cNvSpPr txBox="1"/>
          <p:nvPr/>
        </p:nvSpPr>
        <p:spPr>
          <a:xfrm>
            <a:off x="566928" y="530352"/>
            <a:ext cx="11064240" cy="480131"/>
          </a:xfrm>
          <a:prstGeom prst="rect">
            <a:avLst/>
          </a:prstGeom>
          <a:noFill/>
        </p:spPr>
        <p:txBody>
          <a:bodyPr wrap="square" lIns="54864" tIns="54864" rIns="54864" bIns="54864" anchor="t">
            <a:spAutoFit/>
          </a:bodyPr>
          <a:lstStyle/>
          <a:p>
            <a:pPr algn="l"/>
            <a:r>
              <a:rPr sz="2400" b="1" dirty="0">
                <a:solidFill>
                  <a:srgbClr val="1F2933"/>
                </a:solidFill>
                <a:latin typeface="Aptos Display"/>
              </a:rPr>
              <a:t>Permutation importance asks: what happens when information is disrupted?</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64748B"/>
                </a:solidFill>
                <a:latin typeface="Aptos"/>
              </a:rPr>
              <a:t>M4  /  15</a:t>
            </a:r>
          </a:p>
        </p:txBody>
      </p:sp>
      <p:sp>
        <p:nvSpPr>
          <p:cNvPr id="5" name="Rectangle 4"/>
          <p:cNvSpPr/>
          <p:nvPr/>
        </p:nvSpPr>
        <p:spPr>
          <a:xfrm>
            <a:off x="566928" y="1243584"/>
            <a:ext cx="11064240" cy="32004"/>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21792" y="1481328"/>
            <a:ext cx="6537960" cy="4343400"/>
          </a:xfrm>
          <a:prstGeom prst="rect">
            <a:avLst/>
          </a:prstGeom>
        </p:spPr>
      </p:pic>
      <p:sp>
        <p:nvSpPr>
          <p:cNvPr id="7" name="Rounded Rectangle 6"/>
          <p:cNvSpPr/>
          <p:nvPr/>
        </p:nvSpPr>
        <p:spPr>
          <a:xfrm>
            <a:off x="7333488" y="1700784"/>
            <a:ext cx="3931920" cy="3703320"/>
          </a:xfrm>
          <a:prstGeom prst="roundRect">
            <a:avLst>
              <a:gd name="adj" fmla="val 8000"/>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62672" y="2011680"/>
            <a:ext cx="3200400" cy="274320"/>
          </a:xfrm>
          <a:prstGeom prst="rect">
            <a:avLst/>
          </a:prstGeom>
          <a:noFill/>
        </p:spPr>
        <p:txBody>
          <a:bodyPr wrap="square" lIns="54864" tIns="54864" rIns="54864" bIns="54864" anchor="t">
            <a:spAutoFit/>
          </a:bodyPr>
          <a:lstStyle/>
          <a:p>
            <a:pPr algn="l"/>
            <a:r>
              <a:rPr sz="2200" b="1">
                <a:solidFill>
                  <a:srgbClr val="1D4ED8"/>
                </a:solidFill>
                <a:latin typeface="Aptos Display"/>
              </a:rPr>
              <a:t>Permutation logic</a:t>
            </a:r>
          </a:p>
        </p:txBody>
      </p:sp>
      <p:sp>
        <p:nvSpPr>
          <p:cNvPr id="9" name="Oval 8"/>
          <p:cNvSpPr/>
          <p:nvPr/>
        </p:nvSpPr>
        <p:spPr>
          <a:xfrm>
            <a:off x="7662672" y="2761488"/>
            <a:ext cx="91440" cy="9144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45552" y="2670048"/>
            <a:ext cx="2834639" cy="393192"/>
          </a:xfrm>
          <a:prstGeom prst="rect">
            <a:avLst/>
          </a:prstGeom>
          <a:noFill/>
        </p:spPr>
        <p:txBody>
          <a:bodyPr wrap="square" lIns="54864" tIns="54864" rIns="54864" bIns="54864" anchor="t">
            <a:spAutoFit/>
          </a:bodyPr>
          <a:lstStyle/>
          <a:p>
            <a:pPr algn="l"/>
            <a:r>
              <a:rPr sz="1500" b="0">
                <a:solidFill>
                  <a:srgbClr val="2A3742"/>
                </a:solidFill>
                <a:latin typeface="Aptos"/>
              </a:rPr>
              <a:t>Shuffle one raw input in held-out rows.</a:t>
            </a:r>
          </a:p>
        </p:txBody>
      </p:sp>
      <p:sp>
        <p:nvSpPr>
          <p:cNvPr id="11" name="Oval 10"/>
          <p:cNvSpPr/>
          <p:nvPr/>
        </p:nvSpPr>
        <p:spPr>
          <a:xfrm>
            <a:off x="7662672" y="3255264"/>
            <a:ext cx="91440" cy="9144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45552" y="3163824"/>
            <a:ext cx="2834639" cy="393192"/>
          </a:xfrm>
          <a:prstGeom prst="rect">
            <a:avLst/>
          </a:prstGeom>
          <a:noFill/>
        </p:spPr>
        <p:txBody>
          <a:bodyPr wrap="square" lIns="54864" tIns="54864" rIns="54864" bIns="54864" anchor="t">
            <a:spAutoFit/>
          </a:bodyPr>
          <a:lstStyle/>
          <a:p>
            <a:pPr algn="l"/>
            <a:r>
              <a:rPr sz="1500" b="0" dirty="0">
                <a:solidFill>
                  <a:srgbClr val="2A3742"/>
                </a:solidFill>
                <a:latin typeface="Aptos"/>
              </a:rPr>
              <a:t>Re-score the complete fitted pipeline.</a:t>
            </a:r>
          </a:p>
        </p:txBody>
      </p:sp>
      <p:sp>
        <p:nvSpPr>
          <p:cNvPr id="13" name="Oval 12"/>
          <p:cNvSpPr/>
          <p:nvPr/>
        </p:nvSpPr>
        <p:spPr>
          <a:xfrm>
            <a:off x="7662672" y="3749039"/>
            <a:ext cx="91440" cy="9144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45552" y="3657600"/>
            <a:ext cx="2834639" cy="393192"/>
          </a:xfrm>
          <a:prstGeom prst="rect">
            <a:avLst/>
          </a:prstGeom>
          <a:noFill/>
        </p:spPr>
        <p:txBody>
          <a:bodyPr wrap="square" lIns="54864" tIns="54864" rIns="54864" bIns="54864" anchor="t">
            <a:spAutoFit/>
          </a:bodyPr>
          <a:lstStyle/>
          <a:p>
            <a:pPr algn="l"/>
            <a:r>
              <a:rPr sz="1500" b="0">
                <a:solidFill>
                  <a:srgbClr val="2A3742"/>
                </a:solidFill>
                <a:latin typeface="Aptos"/>
              </a:rPr>
              <a:t>Measure the AUROC drop.</a:t>
            </a:r>
          </a:p>
        </p:txBody>
      </p:sp>
      <p:sp>
        <p:nvSpPr>
          <p:cNvPr id="15" name="Oval 14"/>
          <p:cNvSpPr/>
          <p:nvPr/>
        </p:nvSpPr>
        <p:spPr>
          <a:xfrm>
            <a:off x="7662672" y="4242816"/>
            <a:ext cx="91440" cy="9144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45552" y="4151376"/>
            <a:ext cx="2834639" cy="393192"/>
          </a:xfrm>
          <a:prstGeom prst="rect">
            <a:avLst/>
          </a:prstGeom>
          <a:noFill/>
        </p:spPr>
        <p:txBody>
          <a:bodyPr wrap="square" lIns="54864" tIns="54864" rIns="54864" bIns="54864" anchor="t">
            <a:spAutoFit/>
          </a:bodyPr>
          <a:lstStyle/>
          <a:p>
            <a:pPr algn="l"/>
            <a:r>
              <a:rPr sz="1500" b="0" dirty="0">
                <a:solidFill>
                  <a:srgbClr val="2A3742"/>
                </a:solidFill>
                <a:latin typeface="Aptos"/>
              </a:rPr>
              <a:t>A larger drop means the model used that input's information on these rows.</a:t>
            </a:r>
          </a:p>
        </p:txBody>
      </p:sp>
      <p:sp>
        <p:nvSpPr>
          <p:cNvPr id="17" name="Oval 16"/>
          <p:cNvSpPr/>
          <p:nvPr/>
        </p:nvSpPr>
        <p:spPr>
          <a:xfrm>
            <a:off x="7662672" y="4736592"/>
            <a:ext cx="91440" cy="9144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45552" y="4645152"/>
            <a:ext cx="2834639" cy="393192"/>
          </a:xfrm>
          <a:prstGeom prst="rect">
            <a:avLst/>
          </a:prstGeom>
          <a:noFill/>
        </p:spPr>
        <p:txBody>
          <a:bodyPr wrap="square" lIns="54864" tIns="54864" rIns="54864" bIns="54864" anchor="t">
            <a:spAutoFit/>
          </a:bodyPr>
          <a:lstStyle/>
          <a:p>
            <a:pPr algn="l"/>
            <a:r>
              <a:rPr sz="1500" b="0">
                <a:solidFill>
                  <a:srgbClr val="2A3742"/>
                </a:solidFill>
                <a:latin typeface="Aptos"/>
              </a:rPr>
              <a:t>Correlated inputs can share or mask influence.</a:t>
            </a:r>
          </a:p>
        </p:txBody>
      </p:sp>
      <p:sp>
        <p:nvSpPr>
          <p:cNvPr id="19" name="Rectangle 18"/>
          <p:cNvSpPr/>
          <p:nvPr/>
        </p:nvSpPr>
        <p:spPr>
          <a:xfrm>
            <a:off x="566928" y="6519672"/>
            <a:ext cx="11064240" cy="109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6"/>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1D4ED8"/>
                </a:solidFill>
                <a:latin typeface="Aptos"/>
              </a:rPr>
              <a:t>09  /  EXPLAINABILITY</a:t>
            </a:r>
          </a:p>
        </p:txBody>
      </p:sp>
      <p:sp>
        <p:nvSpPr>
          <p:cNvPr id="3" name="TextBox 2"/>
          <p:cNvSpPr txBox="1"/>
          <p:nvPr/>
        </p:nvSpPr>
        <p:spPr>
          <a:xfrm>
            <a:off x="566928" y="530352"/>
            <a:ext cx="10287000" cy="594360"/>
          </a:xfrm>
          <a:prstGeom prst="rect">
            <a:avLst/>
          </a:prstGeom>
          <a:noFill/>
        </p:spPr>
        <p:txBody>
          <a:bodyPr wrap="square" lIns="54864" tIns="54864" rIns="54864" bIns="54864" anchor="t">
            <a:spAutoFit/>
          </a:bodyPr>
          <a:lstStyle/>
          <a:p>
            <a:pPr algn="l"/>
            <a:r>
              <a:rPr sz="3000" b="1">
                <a:solidFill>
                  <a:srgbClr val="1F2933"/>
                </a:solidFill>
                <a:latin typeface="Aptos Display"/>
              </a:rPr>
              <a:t>Three lenses, three different questions</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64748B"/>
                </a:solidFill>
                <a:latin typeface="Aptos"/>
              </a:rPr>
              <a:t>M4  /  16</a:t>
            </a:r>
          </a:p>
        </p:txBody>
      </p:sp>
      <p:sp>
        <p:nvSpPr>
          <p:cNvPr id="5" name="Rectangle 4"/>
          <p:cNvSpPr/>
          <p:nvPr/>
        </p:nvSpPr>
        <p:spPr>
          <a:xfrm>
            <a:off x="566928" y="1243584"/>
            <a:ext cx="11064240" cy="32004"/>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68680" y="1664208"/>
            <a:ext cx="128016" cy="89611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 name="TextBox 6"/>
          <p:cNvSpPr txBox="1"/>
          <p:nvPr/>
        </p:nvSpPr>
        <p:spPr>
          <a:xfrm>
            <a:off x="1207008" y="1700784"/>
            <a:ext cx="2743200" cy="849463"/>
          </a:xfrm>
          <a:prstGeom prst="rect">
            <a:avLst/>
          </a:prstGeom>
          <a:noFill/>
        </p:spPr>
        <p:txBody>
          <a:bodyPr wrap="square" lIns="54864" tIns="54864" rIns="54864" bIns="54864" anchor="t">
            <a:spAutoFit/>
          </a:bodyPr>
          <a:lstStyle/>
          <a:p>
            <a:pPr algn="l"/>
            <a:r>
              <a:rPr sz="2400" b="1">
                <a:solidFill>
                  <a:srgbClr val="1F2933"/>
                </a:solidFill>
                <a:latin typeface="Aptos Display"/>
              </a:rPr>
              <a:t>Permutation importance</a:t>
            </a:r>
          </a:p>
        </p:txBody>
      </p:sp>
      <p:sp>
        <p:nvSpPr>
          <p:cNvPr id="8" name="TextBox 7"/>
          <p:cNvSpPr txBox="1"/>
          <p:nvPr/>
        </p:nvSpPr>
        <p:spPr>
          <a:xfrm>
            <a:off x="4160520" y="1709928"/>
            <a:ext cx="2148840" cy="357021"/>
          </a:xfrm>
          <a:prstGeom prst="rect">
            <a:avLst/>
          </a:prstGeom>
          <a:noFill/>
        </p:spPr>
        <p:txBody>
          <a:bodyPr wrap="square" lIns="54864" tIns="54864" rIns="54864" bIns="54864" anchor="t">
            <a:spAutoFit/>
          </a:bodyPr>
          <a:lstStyle/>
          <a:p>
            <a:pPr algn="l"/>
            <a:r>
              <a:rPr sz="1600" b="1">
                <a:solidFill>
                  <a:srgbClr val="1D4ED8"/>
                </a:solidFill>
                <a:latin typeface="Aptos"/>
              </a:rPr>
              <a:t>held-out AUROC drop</a:t>
            </a:r>
          </a:p>
        </p:txBody>
      </p:sp>
      <p:sp>
        <p:nvSpPr>
          <p:cNvPr id="9" name="TextBox 8"/>
          <p:cNvSpPr txBox="1"/>
          <p:nvPr/>
        </p:nvSpPr>
        <p:spPr>
          <a:xfrm>
            <a:off x="6537960" y="1682496"/>
            <a:ext cx="4572000" cy="603242"/>
          </a:xfrm>
          <a:prstGeom prst="rect">
            <a:avLst/>
          </a:prstGeom>
          <a:noFill/>
        </p:spPr>
        <p:txBody>
          <a:bodyPr wrap="square" lIns="54864" tIns="54864" rIns="54864" bIns="54864" anchor="t">
            <a:spAutoFit/>
          </a:bodyPr>
          <a:lstStyle/>
          <a:p>
            <a:pPr algn="l"/>
            <a:r>
              <a:rPr sz="1600" b="0" dirty="0">
                <a:solidFill>
                  <a:srgbClr val="2A3742"/>
                </a:solidFill>
                <a:latin typeface="Aptos"/>
              </a:rPr>
              <a:t>Does the full pipeline lose ranking information when this raw input is shuffled?</a:t>
            </a:r>
          </a:p>
        </p:txBody>
      </p:sp>
      <p:sp>
        <p:nvSpPr>
          <p:cNvPr id="10" name="Rectangle 9"/>
          <p:cNvSpPr/>
          <p:nvPr/>
        </p:nvSpPr>
        <p:spPr>
          <a:xfrm>
            <a:off x="868680" y="2990088"/>
            <a:ext cx="128016" cy="89611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TextBox 10"/>
          <p:cNvSpPr txBox="1"/>
          <p:nvPr/>
        </p:nvSpPr>
        <p:spPr>
          <a:xfrm>
            <a:off x="1207008" y="3026664"/>
            <a:ext cx="2743200" cy="849463"/>
          </a:xfrm>
          <a:prstGeom prst="rect">
            <a:avLst/>
          </a:prstGeom>
          <a:noFill/>
        </p:spPr>
        <p:txBody>
          <a:bodyPr wrap="square" lIns="54864" tIns="54864" rIns="54864" bIns="54864" anchor="t">
            <a:spAutoFit/>
          </a:bodyPr>
          <a:lstStyle/>
          <a:p>
            <a:pPr algn="l"/>
            <a:r>
              <a:rPr sz="2400" b="1">
                <a:solidFill>
                  <a:srgbClr val="1F2933"/>
                </a:solidFill>
                <a:latin typeface="Aptos Display"/>
              </a:rPr>
              <a:t>Native GB importance</a:t>
            </a:r>
          </a:p>
        </p:txBody>
      </p:sp>
      <p:sp>
        <p:nvSpPr>
          <p:cNvPr id="12" name="TextBox 11"/>
          <p:cNvSpPr txBox="1"/>
          <p:nvPr/>
        </p:nvSpPr>
        <p:spPr>
          <a:xfrm>
            <a:off x="4160520" y="3035808"/>
            <a:ext cx="2148840" cy="357021"/>
          </a:xfrm>
          <a:prstGeom prst="rect">
            <a:avLst/>
          </a:prstGeom>
          <a:noFill/>
        </p:spPr>
        <p:txBody>
          <a:bodyPr wrap="square" lIns="54864" tIns="54864" rIns="54864" bIns="54864" anchor="t">
            <a:spAutoFit/>
          </a:bodyPr>
          <a:lstStyle/>
          <a:p>
            <a:pPr algn="l"/>
            <a:r>
              <a:rPr sz="1600" b="1">
                <a:solidFill>
                  <a:srgbClr val="F59E0B"/>
                </a:solidFill>
                <a:latin typeface="Aptos"/>
              </a:rPr>
              <a:t>tree split contribution</a:t>
            </a:r>
          </a:p>
        </p:txBody>
      </p:sp>
      <p:sp>
        <p:nvSpPr>
          <p:cNvPr id="13" name="TextBox 12"/>
          <p:cNvSpPr txBox="1"/>
          <p:nvPr/>
        </p:nvSpPr>
        <p:spPr>
          <a:xfrm>
            <a:off x="6537960" y="3008376"/>
            <a:ext cx="4572000" cy="603242"/>
          </a:xfrm>
          <a:prstGeom prst="rect">
            <a:avLst/>
          </a:prstGeom>
          <a:noFill/>
        </p:spPr>
        <p:txBody>
          <a:bodyPr wrap="square" lIns="54864" tIns="54864" rIns="54864" bIns="54864" anchor="t">
            <a:spAutoFit/>
          </a:bodyPr>
          <a:lstStyle/>
          <a:p>
            <a:pPr algn="l"/>
            <a:r>
              <a:rPr sz="1600" b="0">
                <a:solidFill>
                  <a:srgbClr val="2A3742"/>
                </a:solidFill>
                <a:latin typeface="Aptos"/>
              </a:rPr>
              <a:t>How much did this transformed feature contribute to the fitted tree partitions?</a:t>
            </a:r>
          </a:p>
        </p:txBody>
      </p:sp>
      <p:sp>
        <p:nvSpPr>
          <p:cNvPr id="14" name="Rectangle 13"/>
          <p:cNvSpPr/>
          <p:nvPr/>
        </p:nvSpPr>
        <p:spPr>
          <a:xfrm>
            <a:off x="868680" y="4315968"/>
            <a:ext cx="128016" cy="896112"/>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TextBox 14"/>
          <p:cNvSpPr txBox="1"/>
          <p:nvPr/>
        </p:nvSpPr>
        <p:spPr>
          <a:xfrm>
            <a:off x="1207008" y="4352544"/>
            <a:ext cx="2743200" cy="480131"/>
          </a:xfrm>
          <a:prstGeom prst="rect">
            <a:avLst/>
          </a:prstGeom>
          <a:noFill/>
        </p:spPr>
        <p:txBody>
          <a:bodyPr wrap="square" lIns="54864" tIns="54864" rIns="54864" bIns="54864" anchor="t">
            <a:spAutoFit/>
          </a:bodyPr>
          <a:lstStyle/>
          <a:p>
            <a:pPr algn="l"/>
            <a:r>
              <a:rPr sz="2400" b="1">
                <a:solidFill>
                  <a:srgbClr val="1F2933"/>
                </a:solidFill>
                <a:latin typeface="Aptos Display"/>
              </a:rPr>
              <a:t>SHAP value</a:t>
            </a:r>
          </a:p>
        </p:txBody>
      </p:sp>
      <p:sp>
        <p:nvSpPr>
          <p:cNvPr id="16" name="TextBox 15"/>
          <p:cNvSpPr txBox="1"/>
          <p:nvPr/>
        </p:nvSpPr>
        <p:spPr>
          <a:xfrm>
            <a:off x="4160520" y="4361688"/>
            <a:ext cx="2148840" cy="357021"/>
          </a:xfrm>
          <a:prstGeom prst="rect">
            <a:avLst/>
          </a:prstGeom>
          <a:noFill/>
        </p:spPr>
        <p:txBody>
          <a:bodyPr wrap="square" lIns="54864" tIns="54864" rIns="54864" bIns="54864" anchor="t">
            <a:spAutoFit/>
          </a:bodyPr>
          <a:lstStyle/>
          <a:p>
            <a:pPr algn="l"/>
            <a:r>
              <a:rPr sz="1600" b="1">
                <a:solidFill>
                  <a:srgbClr val="10B981"/>
                </a:solidFill>
                <a:latin typeface="Aptos"/>
              </a:rPr>
              <a:t>per-row contribution</a:t>
            </a:r>
          </a:p>
        </p:txBody>
      </p:sp>
      <p:sp>
        <p:nvSpPr>
          <p:cNvPr id="17" name="TextBox 16"/>
          <p:cNvSpPr txBox="1"/>
          <p:nvPr/>
        </p:nvSpPr>
        <p:spPr>
          <a:xfrm>
            <a:off x="6537960" y="4334255"/>
            <a:ext cx="4572000" cy="603242"/>
          </a:xfrm>
          <a:prstGeom prst="rect">
            <a:avLst/>
          </a:prstGeom>
          <a:noFill/>
        </p:spPr>
        <p:txBody>
          <a:bodyPr wrap="square" lIns="54864" tIns="54864" rIns="54864" bIns="54864" anchor="t">
            <a:spAutoFit/>
          </a:bodyPr>
          <a:lstStyle/>
          <a:p>
            <a:pPr algn="l"/>
            <a:r>
              <a:rPr sz="1600" b="0">
                <a:solidFill>
                  <a:srgbClr val="2A3742"/>
                </a:solidFill>
                <a:latin typeface="Aptos"/>
              </a:rPr>
              <a:t>For this row, how does this feature move the model output relative to its baseline?</a:t>
            </a:r>
          </a:p>
        </p:txBody>
      </p:sp>
      <p:sp>
        <p:nvSpPr>
          <p:cNvPr id="18" name="Rounded Rectangle 17"/>
          <p:cNvSpPr/>
          <p:nvPr/>
        </p:nvSpPr>
        <p:spPr>
          <a:xfrm>
            <a:off x="877824" y="5577840"/>
            <a:ext cx="10378440" cy="502920"/>
          </a:xfrm>
          <a:prstGeom prst="roundRect">
            <a:avLst>
              <a:gd name="adj" fmla="val 8000"/>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15568" y="5733288"/>
            <a:ext cx="9921240" cy="201168"/>
          </a:xfrm>
          <a:prstGeom prst="rect">
            <a:avLst/>
          </a:prstGeom>
          <a:noFill/>
        </p:spPr>
        <p:txBody>
          <a:bodyPr wrap="square" lIns="54864" tIns="54864" rIns="54864" bIns="54864" anchor="t">
            <a:spAutoFit/>
          </a:bodyPr>
          <a:lstStyle/>
          <a:p>
            <a:pPr algn="ctr"/>
            <a:r>
              <a:rPr sz="1800" b="1">
                <a:solidFill>
                  <a:srgbClr val="1F2933"/>
                </a:solidFill>
                <a:latin typeface="Aptos"/>
              </a:rPr>
              <a:t>All three are model explanations. None is a causal effect estimate.</a:t>
            </a:r>
          </a:p>
        </p:txBody>
      </p:sp>
      <p:sp>
        <p:nvSpPr>
          <p:cNvPr id="20" name="Rectangle 19"/>
          <p:cNvSpPr/>
          <p:nvPr/>
        </p:nvSpPr>
        <p:spPr>
          <a:xfrm>
            <a:off x="566928" y="6519672"/>
            <a:ext cx="11064240" cy="109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F2933"/>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F59E0B"/>
                </a:solidFill>
                <a:latin typeface="Aptos"/>
              </a:rPr>
              <a:t>09  /  EXPLAINABILITY</a:t>
            </a:r>
          </a:p>
        </p:txBody>
      </p:sp>
      <p:sp>
        <p:nvSpPr>
          <p:cNvPr id="3" name="TextBox 2"/>
          <p:cNvSpPr txBox="1"/>
          <p:nvPr/>
        </p:nvSpPr>
        <p:spPr>
          <a:xfrm>
            <a:off x="566928" y="530352"/>
            <a:ext cx="10287000" cy="594360"/>
          </a:xfrm>
          <a:prstGeom prst="rect">
            <a:avLst/>
          </a:prstGeom>
          <a:noFill/>
        </p:spPr>
        <p:txBody>
          <a:bodyPr wrap="square" lIns="54864" tIns="54864" rIns="54864" bIns="54864" anchor="t">
            <a:spAutoFit/>
          </a:bodyPr>
          <a:lstStyle/>
          <a:p>
            <a:pPr algn="l"/>
            <a:r>
              <a:rPr sz="3000" b="1">
                <a:solidFill>
                  <a:srgbClr val="FFFFFF"/>
                </a:solidFill>
                <a:latin typeface="Aptos Display"/>
              </a:rPr>
              <a:t>Gradient Boosting: native splits and SHAP agree on the leaders</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E2E8F0"/>
                </a:solidFill>
                <a:latin typeface="Aptos"/>
              </a:rPr>
              <a:t>M4  /  17</a:t>
            </a:r>
          </a:p>
        </p:txBody>
      </p:sp>
      <p:sp>
        <p:nvSpPr>
          <p:cNvPr id="5" name="Rectangle 4"/>
          <p:cNvSpPr/>
          <p:nvPr/>
        </p:nvSpPr>
        <p:spPr>
          <a:xfrm>
            <a:off x="566928" y="1243584"/>
            <a:ext cx="11064240" cy="3200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566928" y="1444752"/>
            <a:ext cx="11064240" cy="4343400"/>
          </a:xfrm>
          <a:prstGeom prst="rect">
            <a:avLst/>
          </a:prstGeom>
        </p:spPr>
      </p:pic>
      <p:sp>
        <p:nvSpPr>
          <p:cNvPr id="7" name="TextBox 6"/>
          <p:cNvSpPr txBox="1"/>
          <p:nvPr/>
        </p:nvSpPr>
        <p:spPr>
          <a:xfrm>
            <a:off x="822960" y="5961888"/>
            <a:ext cx="10515600" cy="237744"/>
          </a:xfrm>
          <a:prstGeom prst="rect">
            <a:avLst/>
          </a:prstGeom>
          <a:noFill/>
        </p:spPr>
        <p:txBody>
          <a:bodyPr wrap="square" lIns="54864" tIns="54864" rIns="54864" bIns="54864" anchor="t">
            <a:spAutoFit/>
          </a:bodyPr>
          <a:lstStyle/>
          <a:p>
            <a:pPr algn="ctr"/>
            <a:r>
              <a:rPr sz="1700" b="1">
                <a:solidFill>
                  <a:srgbClr val="F59E0B"/>
                </a:solidFill>
                <a:latin typeface="Aptos"/>
              </a:rPr>
              <a:t>Triage acuity, age, arrival transport, and prior hospitalization history dominate both views.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6"/>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1D4ED8"/>
                </a:solidFill>
                <a:latin typeface="Aptos"/>
              </a:rPr>
              <a:t>09  /  EXPLAINABILITY</a:t>
            </a:r>
          </a:p>
        </p:txBody>
      </p:sp>
      <p:sp>
        <p:nvSpPr>
          <p:cNvPr id="3" name="TextBox 2"/>
          <p:cNvSpPr txBox="1"/>
          <p:nvPr/>
        </p:nvSpPr>
        <p:spPr>
          <a:xfrm>
            <a:off x="566928" y="530352"/>
            <a:ext cx="10287000" cy="594360"/>
          </a:xfrm>
          <a:prstGeom prst="rect">
            <a:avLst/>
          </a:prstGeom>
          <a:noFill/>
        </p:spPr>
        <p:txBody>
          <a:bodyPr wrap="square" lIns="54864" tIns="54864" rIns="54864" bIns="54864" anchor="t">
            <a:spAutoFit/>
          </a:bodyPr>
          <a:lstStyle/>
          <a:p>
            <a:pPr algn="l"/>
            <a:r>
              <a:rPr sz="3000" b="1">
                <a:solidFill>
                  <a:srgbClr val="1F2933"/>
                </a:solidFill>
                <a:latin typeface="Aptos Display"/>
              </a:rPr>
              <a:t>SHAP direction: positive pushes toward hospitalization</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64748B"/>
                </a:solidFill>
                <a:latin typeface="Aptos"/>
              </a:rPr>
              <a:t>M4  /  18</a:t>
            </a:r>
          </a:p>
        </p:txBody>
      </p:sp>
      <p:sp>
        <p:nvSpPr>
          <p:cNvPr id="5" name="Rectangle 4"/>
          <p:cNvSpPr/>
          <p:nvPr/>
        </p:nvSpPr>
        <p:spPr>
          <a:xfrm>
            <a:off x="566928" y="1243584"/>
            <a:ext cx="11064240" cy="32004"/>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21792" y="1490472"/>
            <a:ext cx="6492240" cy="4343400"/>
          </a:xfrm>
          <a:prstGeom prst="rect">
            <a:avLst/>
          </a:prstGeom>
        </p:spPr>
      </p:pic>
      <p:sp>
        <p:nvSpPr>
          <p:cNvPr id="7" name="Rounded Rectangle 6"/>
          <p:cNvSpPr/>
          <p:nvPr/>
        </p:nvSpPr>
        <p:spPr>
          <a:xfrm>
            <a:off x="7315200" y="1719072"/>
            <a:ext cx="3931920" cy="4765852"/>
          </a:xfrm>
          <a:prstGeom prst="roundRect">
            <a:avLst>
              <a:gd name="adj" fmla="val 8000"/>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7680960" y="1854077"/>
            <a:ext cx="3246120" cy="849463"/>
          </a:xfrm>
          <a:prstGeom prst="rect">
            <a:avLst/>
          </a:prstGeom>
          <a:noFill/>
        </p:spPr>
        <p:txBody>
          <a:bodyPr wrap="square" lIns="54864" tIns="54864" rIns="54864" bIns="54864" anchor="t">
            <a:spAutoFit/>
          </a:bodyPr>
          <a:lstStyle/>
          <a:p>
            <a:pPr algn="l"/>
            <a:r>
              <a:rPr sz="2400" b="1" dirty="0">
                <a:solidFill>
                  <a:srgbClr val="1F2933"/>
                </a:solidFill>
                <a:latin typeface="Aptos Display"/>
              </a:rPr>
              <a:t>How to read a SHAP value</a:t>
            </a:r>
          </a:p>
        </p:txBody>
      </p:sp>
      <p:sp>
        <p:nvSpPr>
          <p:cNvPr id="9" name="Oval 8"/>
          <p:cNvSpPr/>
          <p:nvPr/>
        </p:nvSpPr>
        <p:spPr>
          <a:xfrm>
            <a:off x="7646294" y="2952916"/>
            <a:ext cx="91440" cy="91440"/>
          </a:xfrm>
          <a:prstGeom prst="ellipse">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 name="TextBox 9"/>
          <p:cNvSpPr txBox="1"/>
          <p:nvPr/>
        </p:nvSpPr>
        <p:spPr>
          <a:xfrm>
            <a:off x="7818119" y="2697480"/>
            <a:ext cx="2880360" cy="603242"/>
          </a:xfrm>
          <a:prstGeom prst="rect">
            <a:avLst/>
          </a:prstGeom>
          <a:noFill/>
        </p:spPr>
        <p:txBody>
          <a:bodyPr wrap="square" lIns="54864" tIns="54864" rIns="54864" bIns="54864" anchor="t">
            <a:spAutoFit/>
          </a:bodyPr>
          <a:lstStyle/>
          <a:p>
            <a:pPr algn="l"/>
            <a:r>
              <a:rPr sz="1600" b="0">
                <a:solidFill>
                  <a:srgbClr val="2A3742"/>
                </a:solidFill>
                <a:latin typeface="Aptos"/>
              </a:rPr>
              <a:t>Positive: moves the model output toward hospitalization.</a:t>
            </a:r>
          </a:p>
        </p:txBody>
      </p:sp>
      <p:sp>
        <p:nvSpPr>
          <p:cNvPr id="11" name="Oval 10"/>
          <p:cNvSpPr/>
          <p:nvPr/>
        </p:nvSpPr>
        <p:spPr>
          <a:xfrm>
            <a:off x="7635240" y="3579412"/>
            <a:ext cx="91440" cy="91440"/>
          </a:xfrm>
          <a:prstGeom prst="ellipse">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7818119" y="3280949"/>
            <a:ext cx="2880360" cy="849463"/>
          </a:xfrm>
          <a:prstGeom prst="rect">
            <a:avLst/>
          </a:prstGeom>
          <a:noFill/>
        </p:spPr>
        <p:txBody>
          <a:bodyPr wrap="square" lIns="54864" tIns="54864" rIns="54864" bIns="54864" anchor="t">
            <a:spAutoFit/>
          </a:bodyPr>
          <a:lstStyle/>
          <a:p>
            <a:pPr algn="l"/>
            <a:r>
              <a:rPr sz="1600" b="0">
                <a:solidFill>
                  <a:srgbClr val="2A3742"/>
                </a:solidFill>
                <a:latin typeface="Aptos"/>
              </a:rPr>
              <a:t>Negative: moves the model output away from hospitalization.</a:t>
            </a:r>
          </a:p>
        </p:txBody>
      </p:sp>
      <p:sp>
        <p:nvSpPr>
          <p:cNvPr id="13" name="Oval 12"/>
          <p:cNvSpPr/>
          <p:nvPr/>
        </p:nvSpPr>
        <p:spPr>
          <a:xfrm>
            <a:off x="7625140" y="4219492"/>
            <a:ext cx="91440" cy="91440"/>
          </a:xfrm>
          <a:prstGeom prst="ellipse">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TextBox 13"/>
          <p:cNvSpPr txBox="1"/>
          <p:nvPr/>
        </p:nvSpPr>
        <p:spPr>
          <a:xfrm>
            <a:off x="7818119" y="4073765"/>
            <a:ext cx="2880360" cy="603242"/>
          </a:xfrm>
          <a:prstGeom prst="rect">
            <a:avLst/>
          </a:prstGeom>
          <a:noFill/>
        </p:spPr>
        <p:txBody>
          <a:bodyPr wrap="square" lIns="54864" tIns="54864" rIns="54864" bIns="54864" anchor="t">
            <a:spAutoFit/>
          </a:bodyPr>
          <a:lstStyle/>
          <a:p>
            <a:pPr algn="l"/>
            <a:r>
              <a:rPr sz="1600" b="0" dirty="0">
                <a:solidFill>
                  <a:srgbClr val="2A3742"/>
                </a:solidFill>
                <a:latin typeface="Aptos"/>
              </a:rPr>
              <a:t>Mean absolute SHAP: typical contribution magnitude.</a:t>
            </a:r>
          </a:p>
        </p:txBody>
      </p:sp>
      <p:sp>
        <p:nvSpPr>
          <p:cNvPr id="15" name="Oval 14"/>
          <p:cNvSpPr/>
          <p:nvPr/>
        </p:nvSpPr>
        <p:spPr>
          <a:xfrm>
            <a:off x="7646294" y="4954899"/>
            <a:ext cx="91440" cy="91440"/>
          </a:xfrm>
          <a:prstGeom prst="ellipse">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7818119" y="4621608"/>
            <a:ext cx="2880360" cy="849463"/>
          </a:xfrm>
          <a:prstGeom prst="rect">
            <a:avLst/>
          </a:prstGeom>
          <a:noFill/>
        </p:spPr>
        <p:txBody>
          <a:bodyPr wrap="square" lIns="54864" tIns="54864" rIns="54864" bIns="54864" anchor="t">
            <a:spAutoFit/>
          </a:bodyPr>
          <a:lstStyle/>
          <a:p>
            <a:pPr algn="l"/>
            <a:r>
              <a:rPr sz="1600" b="0" dirty="0">
                <a:solidFill>
                  <a:srgbClr val="2A3742"/>
                </a:solidFill>
                <a:latin typeface="Aptos"/>
              </a:rPr>
              <a:t>The gray range: observed contribution spread in the held-out sample.</a:t>
            </a:r>
          </a:p>
        </p:txBody>
      </p:sp>
      <p:sp>
        <p:nvSpPr>
          <p:cNvPr id="17" name="Oval 16"/>
          <p:cNvSpPr/>
          <p:nvPr/>
        </p:nvSpPr>
        <p:spPr>
          <a:xfrm>
            <a:off x="7600574" y="5742432"/>
            <a:ext cx="91440" cy="91440"/>
          </a:xfrm>
          <a:prstGeom prst="ellipse">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 name="TextBox 17"/>
          <p:cNvSpPr txBox="1"/>
          <p:nvPr/>
        </p:nvSpPr>
        <p:spPr>
          <a:xfrm>
            <a:off x="7818119" y="5389239"/>
            <a:ext cx="2880360" cy="1095685"/>
          </a:xfrm>
          <a:prstGeom prst="rect">
            <a:avLst/>
          </a:prstGeom>
          <a:noFill/>
        </p:spPr>
        <p:txBody>
          <a:bodyPr wrap="square" lIns="54864" tIns="54864" rIns="54864" bIns="54864" anchor="t">
            <a:spAutoFit/>
          </a:bodyPr>
          <a:lstStyle/>
          <a:p>
            <a:pPr algn="l"/>
            <a:r>
              <a:rPr sz="1600" b="0" dirty="0">
                <a:solidFill>
                  <a:srgbClr val="2A3742"/>
                </a:solidFill>
                <a:latin typeface="Aptos"/>
              </a:rPr>
              <a:t>These values are on the estimator's raw output scale, not percentage-point probability changes.</a:t>
            </a:r>
          </a:p>
        </p:txBody>
      </p:sp>
      <p:sp>
        <p:nvSpPr>
          <p:cNvPr id="19" name="Rectangle 18"/>
          <p:cNvSpPr/>
          <p:nvPr/>
        </p:nvSpPr>
        <p:spPr>
          <a:xfrm>
            <a:off x="566928" y="6519672"/>
            <a:ext cx="11064240" cy="109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F2933"/>
        </a:solidFill>
        <a:effectLst/>
      </p:bgPr>
    </p:bg>
    <p:spTree>
      <p:nvGrpSpPr>
        <p:cNvPr id="1" name=""/>
        <p:cNvGrpSpPr/>
        <p:nvPr/>
      </p:nvGrpSpPr>
      <p:grpSpPr>
        <a:xfrm>
          <a:off x="0" y="0"/>
          <a:ext cx="0" cy="0"/>
          <a:chOff x="0" y="0"/>
          <a:chExt cx="0" cy="0"/>
        </a:xfrm>
      </p:grpSpPr>
      <p:sp>
        <p:nvSpPr>
          <p:cNvPr id="2" name="TextBox 1"/>
          <p:cNvSpPr txBox="1"/>
          <p:nvPr/>
        </p:nvSpPr>
        <p:spPr>
          <a:xfrm>
            <a:off x="566928" y="219456"/>
            <a:ext cx="6126480" cy="219456"/>
          </a:xfrm>
          <a:prstGeom prst="rect">
            <a:avLst/>
          </a:prstGeom>
          <a:noFill/>
        </p:spPr>
        <p:txBody>
          <a:bodyPr wrap="square" lIns="54864" tIns="54864" rIns="54864" bIns="54864" anchor="t">
            <a:spAutoFit/>
          </a:bodyPr>
          <a:lstStyle/>
          <a:p>
            <a:pPr algn="l"/>
            <a:r>
              <a:rPr sz="1100" b="1">
                <a:solidFill>
                  <a:srgbClr val="F59E0B"/>
                </a:solidFill>
                <a:latin typeface="Aptos"/>
              </a:rPr>
              <a:t>09  /  EXPLAINABILITY</a:t>
            </a:r>
          </a:p>
        </p:txBody>
      </p:sp>
      <p:sp>
        <p:nvSpPr>
          <p:cNvPr id="3" name="TextBox 2"/>
          <p:cNvSpPr txBox="1"/>
          <p:nvPr/>
        </p:nvSpPr>
        <p:spPr>
          <a:xfrm>
            <a:off x="566928" y="530352"/>
            <a:ext cx="10287000" cy="594360"/>
          </a:xfrm>
          <a:prstGeom prst="rect">
            <a:avLst/>
          </a:prstGeom>
          <a:noFill/>
        </p:spPr>
        <p:txBody>
          <a:bodyPr wrap="square" lIns="54864" tIns="54864" rIns="54864" bIns="54864" anchor="t">
            <a:spAutoFit/>
          </a:bodyPr>
          <a:lstStyle/>
          <a:p>
            <a:pPr algn="l"/>
            <a:r>
              <a:rPr sz="3000" b="1">
                <a:solidFill>
                  <a:srgbClr val="FFFFFF"/>
                </a:solidFill>
                <a:latin typeface="Aptos Display"/>
              </a:rPr>
              <a:t>Local explanations show why one row received its score</a:t>
            </a:r>
          </a:p>
        </p:txBody>
      </p:sp>
      <p:sp>
        <p:nvSpPr>
          <p:cNvPr id="4" name="TextBox 3"/>
          <p:cNvSpPr txBox="1"/>
          <p:nvPr/>
        </p:nvSpPr>
        <p:spPr>
          <a:xfrm>
            <a:off x="10561320" y="265176"/>
            <a:ext cx="1005840" cy="201168"/>
          </a:xfrm>
          <a:prstGeom prst="rect">
            <a:avLst/>
          </a:prstGeom>
          <a:noFill/>
        </p:spPr>
        <p:txBody>
          <a:bodyPr wrap="square" lIns="54864" tIns="54864" rIns="54864" bIns="54864" anchor="t">
            <a:spAutoFit/>
          </a:bodyPr>
          <a:lstStyle/>
          <a:p>
            <a:pPr algn="r"/>
            <a:r>
              <a:rPr sz="1100" b="1">
                <a:solidFill>
                  <a:srgbClr val="E2E8F0"/>
                </a:solidFill>
                <a:latin typeface="Aptos"/>
              </a:rPr>
              <a:t>M4  /  19</a:t>
            </a:r>
          </a:p>
        </p:txBody>
      </p:sp>
      <p:sp>
        <p:nvSpPr>
          <p:cNvPr id="5" name="Rectangle 4"/>
          <p:cNvSpPr/>
          <p:nvPr/>
        </p:nvSpPr>
        <p:spPr>
          <a:xfrm>
            <a:off x="566928" y="1243584"/>
            <a:ext cx="11064240" cy="3200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1572768"/>
            <a:ext cx="777240" cy="80467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3504" y="1664208"/>
            <a:ext cx="704088" cy="182880"/>
          </a:xfrm>
          <a:prstGeom prst="rect">
            <a:avLst/>
          </a:prstGeom>
          <a:noFill/>
        </p:spPr>
        <p:txBody>
          <a:bodyPr wrap="square" lIns="54864" tIns="54864" rIns="54864" bIns="54864" anchor="t">
            <a:spAutoFit/>
          </a:bodyPr>
          <a:lstStyle/>
          <a:p>
            <a:pPr algn="ctr"/>
            <a:r>
              <a:rPr sz="1100" b="1">
                <a:solidFill>
                  <a:srgbClr val="FFFFFF"/>
                </a:solidFill>
                <a:latin typeface="Aptos"/>
              </a:rPr>
              <a:t>Row</a:t>
            </a:r>
          </a:p>
        </p:txBody>
      </p:sp>
      <p:sp>
        <p:nvSpPr>
          <p:cNvPr id="8" name="Rectangle 7"/>
          <p:cNvSpPr/>
          <p:nvPr/>
        </p:nvSpPr>
        <p:spPr>
          <a:xfrm>
            <a:off x="1344168" y="1572768"/>
            <a:ext cx="914400" cy="80467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80744" y="1664208"/>
            <a:ext cx="841248" cy="182880"/>
          </a:xfrm>
          <a:prstGeom prst="rect">
            <a:avLst/>
          </a:prstGeom>
          <a:noFill/>
        </p:spPr>
        <p:txBody>
          <a:bodyPr wrap="square" lIns="54864" tIns="54864" rIns="54864" bIns="54864" anchor="t">
            <a:spAutoFit/>
          </a:bodyPr>
          <a:lstStyle/>
          <a:p>
            <a:pPr algn="ctr"/>
            <a:r>
              <a:rPr sz="1100" b="1">
                <a:solidFill>
                  <a:srgbClr val="FFFFFF"/>
                </a:solidFill>
                <a:latin typeface="Aptos"/>
              </a:rPr>
              <a:t>Observed</a:t>
            </a:r>
          </a:p>
        </p:txBody>
      </p:sp>
      <p:sp>
        <p:nvSpPr>
          <p:cNvPr id="10" name="Rectangle 9"/>
          <p:cNvSpPr/>
          <p:nvPr/>
        </p:nvSpPr>
        <p:spPr>
          <a:xfrm>
            <a:off x="2258568" y="1572768"/>
            <a:ext cx="1005840" cy="80467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95144" y="1664208"/>
            <a:ext cx="932688" cy="182880"/>
          </a:xfrm>
          <a:prstGeom prst="rect">
            <a:avLst/>
          </a:prstGeom>
          <a:noFill/>
        </p:spPr>
        <p:txBody>
          <a:bodyPr wrap="square" lIns="54864" tIns="54864" rIns="54864" bIns="54864" anchor="t">
            <a:spAutoFit/>
          </a:bodyPr>
          <a:lstStyle/>
          <a:p>
            <a:pPr algn="ctr"/>
            <a:r>
              <a:rPr sz="1100" b="1">
                <a:solidFill>
                  <a:srgbClr val="FFFFFF"/>
                </a:solidFill>
                <a:latin typeface="Aptos"/>
              </a:rPr>
              <a:t>P(hosp.)</a:t>
            </a:r>
          </a:p>
        </p:txBody>
      </p:sp>
      <p:sp>
        <p:nvSpPr>
          <p:cNvPr id="12" name="Rectangle 11"/>
          <p:cNvSpPr/>
          <p:nvPr/>
        </p:nvSpPr>
        <p:spPr>
          <a:xfrm>
            <a:off x="3264408" y="1572768"/>
            <a:ext cx="4160520" cy="80467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00984" y="1664208"/>
            <a:ext cx="4087368" cy="182880"/>
          </a:xfrm>
          <a:prstGeom prst="rect">
            <a:avLst/>
          </a:prstGeom>
          <a:noFill/>
        </p:spPr>
        <p:txBody>
          <a:bodyPr wrap="square" lIns="54864" tIns="54864" rIns="54864" bIns="54864" anchor="t">
            <a:spAutoFit/>
          </a:bodyPr>
          <a:lstStyle/>
          <a:p>
            <a:pPr algn="ctr"/>
            <a:r>
              <a:rPr sz="1100" b="1">
                <a:solidFill>
                  <a:srgbClr val="FFFFFF"/>
                </a:solidFill>
                <a:latin typeface="Aptos"/>
              </a:rPr>
              <a:t>Largest positive contributions</a:t>
            </a:r>
          </a:p>
        </p:txBody>
      </p:sp>
      <p:sp>
        <p:nvSpPr>
          <p:cNvPr id="14" name="Rectangle 13"/>
          <p:cNvSpPr/>
          <p:nvPr/>
        </p:nvSpPr>
        <p:spPr>
          <a:xfrm>
            <a:off x="7424927" y="1572768"/>
            <a:ext cx="4160520" cy="80467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61503" y="1664208"/>
            <a:ext cx="4087368" cy="182880"/>
          </a:xfrm>
          <a:prstGeom prst="rect">
            <a:avLst/>
          </a:prstGeom>
          <a:noFill/>
        </p:spPr>
        <p:txBody>
          <a:bodyPr wrap="square" lIns="54864" tIns="54864" rIns="54864" bIns="54864" anchor="t">
            <a:spAutoFit/>
          </a:bodyPr>
          <a:lstStyle/>
          <a:p>
            <a:pPr algn="ctr"/>
            <a:r>
              <a:rPr sz="1100" b="1">
                <a:solidFill>
                  <a:srgbClr val="FFFFFF"/>
                </a:solidFill>
                <a:latin typeface="Aptos"/>
              </a:rPr>
              <a:t>Largest negative contributions</a:t>
            </a:r>
          </a:p>
        </p:txBody>
      </p:sp>
      <p:sp>
        <p:nvSpPr>
          <p:cNvPr id="16" name="Rectangle 15"/>
          <p:cNvSpPr/>
          <p:nvPr/>
        </p:nvSpPr>
        <p:spPr>
          <a:xfrm>
            <a:off x="566928" y="2377440"/>
            <a:ext cx="777240" cy="8046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3504" y="2468880"/>
            <a:ext cx="704088" cy="201168"/>
          </a:xfrm>
          <a:prstGeom prst="rect">
            <a:avLst/>
          </a:prstGeom>
          <a:noFill/>
        </p:spPr>
        <p:txBody>
          <a:bodyPr wrap="square" lIns="54864" tIns="54864" rIns="54864" bIns="54864" anchor="t">
            <a:spAutoFit/>
          </a:bodyPr>
          <a:lstStyle/>
          <a:p>
            <a:pPr algn="ctr"/>
            <a:r>
              <a:rPr sz="1100" b="1">
                <a:solidFill>
                  <a:srgbClr val="2A3742"/>
                </a:solidFill>
                <a:latin typeface="Aptos"/>
              </a:rPr>
              <a:t>21851</a:t>
            </a:r>
          </a:p>
        </p:txBody>
      </p:sp>
      <p:sp>
        <p:nvSpPr>
          <p:cNvPr id="18" name="Rectangle 17"/>
          <p:cNvSpPr/>
          <p:nvPr/>
        </p:nvSpPr>
        <p:spPr>
          <a:xfrm>
            <a:off x="1344168" y="2377440"/>
            <a:ext cx="914400" cy="8046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380744" y="2468880"/>
            <a:ext cx="841248" cy="201168"/>
          </a:xfrm>
          <a:prstGeom prst="rect">
            <a:avLst/>
          </a:prstGeom>
          <a:noFill/>
        </p:spPr>
        <p:txBody>
          <a:bodyPr wrap="square" lIns="54864" tIns="54864" rIns="54864" bIns="54864" anchor="t">
            <a:spAutoFit/>
          </a:bodyPr>
          <a:lstStyle/>
          <a:p>
            <a:pPr algn="ctr"/>
            <a:r>
              <a:rPr sz="1100" b="0">
                <a:solidFill>
                  <a:srgbClr val="2A3742"/>
                </a:solidFill>
                <a:latin typeface="Aptos"/>
              </a:rPr>
              <a:t>Yes</a:t>
            </a:r>
          </a:p>
        </p:txBody>
      </p:sp>
      <p:sp>
        <p:nvSpPr>
          <p:cNvPr id="20" name="Rectangle 19"/>
          <p:cNvSpPr/>
          <p:nvPr/>
        </p:nvSpPr>
        <p:spPr>
          <a:xfrm>
            <a:off x="2258568" y="2377440"/>
            <a:ext cx="1005840" cy="8046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95144" y="2468880"/>
            <a:ext cx="932688" cy="201168"/>
          </a:xfrm>
          <a:prstGeom prst="rect">
            <a:avLst/>
          </a:prstGeom>
          <a:noFill/>
        </p:spPr>
        <p:txBody>
          <a:bodyPr wrap="square" lIns="54864" tIns="54864" rIns="54864" bIns="54864" anchor="t">
            <a:spAutoFit/>
          </a:bodyPr>
          <a:lstStyle/>
          <a:p>
            <a:pPr algn="ctr"/>
            <a:r>
              <a:rPr sz="1100" b="0">
                <a:solidFill>
                  <a:srgbClr val="2A3742"/>
                </a:solidFill>
                <a:latin typeface="Aptos"/>
              </a:rPr>
              <a:t>0.551</a:t>
            </a:r>
          </a:p>
        </p:txBody>
      </p:sp>
      <p:sp>
        <p:nvSpPr>
          <p:cNvPr id="22" name="Rectangle 21"/>
          <p:cNvSpPr/>
          <p:nvPr/>
        </p:nvSpPr>
        <p:spPr>
          <a:xfrm>
            <a:off x="3264408" y="2377440"/>
            <a:ext cx="4160520" cy="8046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300984" y="2468880"/>
            <a:ext cx="4087368" cy="201168"/>
          </a:xfrm>
          <a:prstGeom prst="rect">
            <a:avLst/>
          </a:prstGeom>
          <a:noFill/>
        </p:spPr>
        <p:txBody>
          <a:bodyPr wrap="square" lIns="54864" tIns="54864" rIns="54864" bIns="54864" anchor="t">
            <a:spAutoFit/>
          </a:bodyPr>
          <a:lstStyle/>
          <a:p>
            <a:pPr algn="ctr"/>
            <a:r>
              <a:rPr sz="1100" b="0">
                <a:solidFill>
                  <a:srgbClr val="2A3742"/>
                </a:solidFill>
                <a:latin typeface="Aptos"/>
              </a:rPr>
              <a:t>triage_acuity (+0.645); arrival_transport (+0.369); race (+0.055)</a:t>
            </a:r>
          </a:p>
        </p:txBody>
      </p:sp>
      <p:sp>
        <p:nvSpPr>
          <p:cNvPr id="24" name="Rectangle 23"/>
          <p:cNvSpPr/>
          <p:nvPr/>
        </p:nvSpPr>
        <p:spPr>
          <a:xfrm>
            <a:off x="7424927" y="2377440"/>
            <a:ext cx="4160520" cy="8046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61503" y="2468880"/>
            <a:ext cx="4087368" cy="201168"/>
          </a:xfrm>
          <a:prstGeom prst="rect">
            <a:avLst/>
          </a:prstGeom>
          <a:noFill/>
        </p:spPr>
        <p:txBody>
          <a:bodyPr wrap="square" lIns="54864" tIns="54864" rIns="54864" bIns="54864" anchor="t">
            <a:spAutoFit/>
          </a:bodyPr>
          <a:lstStyle/>
          <a:p>
            <a:pPr algn="ctr"/>
            <a:r>
              <a:rPr sz="1100" b="0">
                <a:solidFill>
                  <a:srgbClr val="2A3742"/>
                </a:solidFill>
                <a:latin typeface="Aptos"/>
              </a:rPr>
              <a:t>age (-0.575); n_hosp_365d (-0.067); triage_heartrate (-0.063)</a:t>
            </a:r>
          </a:p>
        </p:txBody>
      </p:sp>
      <p:sp>
        <p:nvSpPr>
          <p:cNvPr id="26" name="Rectangle 25"/>
          <p:cNvSpPr/>
          <p:nvPr/>
        </p:nvSpPr>
        <p:spPr>
          <a:xfrm>
            <a:off x="566928" y="3182112"/>
            <a:ext cx="777240" cy="8046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03504" y="3273552"/>
            <a:ext cx="704088" cy="201168"/>
          </a:xfrm>
          <a:prstGeom prst="rect">
            <a:avLst/>
          </a:prstGeom>
          <a:noFill/>
        </p:spPr>
        <p:txBody>
          <a:bodyPr wrap="square" lIns="54864" tIns="54864" rIns="54864" bIns="54864" anchor="t">
            <a:spAutoFit/>
          </a:bodyPr>
          <a:lstStyle/>
          <a:p>
            <a:pPr algn="ctr"/>
            <a:r>
              <a:rPr sz="1100" b="1">
                <a:solidFill>
                  <a:srgbClr val="2A3742"/>
                </a:solidFill>
                <a:latin typeface="Aptos"/>
              </a:rPr>
              <a:t>13732</a:t>
            </a:r>
          </a:p>
        </p:txBody>
      </p:sp>
      <p:sp>
        <p:nvSpPr>
          <p:cNvPr id="28" name="Rectangle 27"/>
          <p:cNvSpPr/>
          <p:nvPr/>
        </p:nvSpPr>
        <p:spPr>
          <a:xfrm>
            <a:off x="1344168" y="3182112"/>
            <a:ext cx="914400" cy="8046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380744" y="3273552"/>
            <a:ext cx="841248" cy="201168"/>
          </a:xfrm>
          <a:prstGeom prst="rect">
            <a:avLst/>
          </a:prstGeom>
          <a:noFill/>
        </p:spPr>
        <p:txBody>
          <a:bodyPr wrap="square" lIns="54864" tIns="54864" rIns="54864" bIns="54864" anchor="t">
            <a:spAutoFit/>
          </a:bodyPr>
          <a:lstStyle/>
          <a:p>
            <a:pPr algn="ctr"/>
            <a:r>
              <a:rPr sz="1100" b="0">
                <a:solidFill>
                  <a:srgbClr val="2A3742"/>
                </a:solidFill>
                <a:latin typeface="Aptos"/>
              </a:rPr>
              <a:t>No</a:t>
            </a:r>
          </a:p>
        </p:txBody>
      </p:sp>
      <p:sp>
        <p:nvSpPr>
          <p:cNvPr id="30" name="Rectangle 29"/>
          <p:cNvSpPr/>
          <p:nvPr/>
        </p:nvSpPr>
        <p:spPr>
          <a:xfrm>
            <a:off x="2258568" y="3182112"/>
            <a:ext cx="1005840" cy="8046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295144" y="3273552"/>
            <a:ext cx="932688" cy="201168"/>
          </a:xfrm>
          <a:prstGeom prst="rect">
            <a:avLst/>
          </a:prstGeom>
          <a:noFill/>
        </p:spPr>
        <p:txBody>
          <a:bodyPr wrap="square" lIns="54864" tIns="54864" rIns="54864" bIns="54864" anchor="t">
            <a:spAutoFit/>
          </a:bodyPr>
          <a:lstStyle/>
          <a:p>
            <a:pPr algn="ctr"/>
            <a:r>
              <a:rPr sz="1100" b="0">
                <a:solidFill>
                  <a:srgbClr val="2A3742"/>
                </a:solidFill>
                <a:latin typeface="Aptos"/>
              </a:rPr>
              <a:t>0.223</a:t>
            </a:r>
          </a:p>
        </p:txBody>
      </p:sp>
      <p:sp>
        <p:nvSpPr>
          <p:cNvPr id="32" name="Rectangle 31"/>
          <p:cNvSpPr/>
          <p:nvPr/>
        </p:nvSpPr>
        <p:spPr>
          <a:xfrm>
            <a:off x="3264408" y="3182112"/>
            <a:ext cx="4160520" cy="8046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300984" y="3273552"/>
            <a:ext cx="4087368" cy="201168"/>
          </a:xfrm>
          <a:prstGeom prst="rect">
            <a:avLst/>
          </a:prstGeom>
          <a:noFill/>
        </p:spPr>
        <p:txBody>
          <a:bodyPr wrap="square" lIns="54864" tIns="54864" rIns="54864" bIns="54864" anchor="t">
            <a:spAutoFit/>
          </a:bodyPr>
          <a:lstStyle/>
          <a:p>
            <a:pPr algn="ctr"/>
            <a:r>
              <a:rPr sz="1100" b="0">
                <a:solidFill>
                  <a:srgbClr val="2A3742"/>
                </a:solidFill>
                <a:latin typeface="Aptos"/>
              </a:rPr>
              <a:t>triage_heartrate (+0.019); chiefcom_headache (+0.005); n_ed_365d (+0.002)</a:t>
            </a:r>
          </a:p>
        </p:txBody>
      </p:sp>
      <p:sp>
        <p:nvSpPr>
          <p:cNvPr id="34" name="Rectangle 33"/>
          <p:cNvSpPr/>
          <p:nvPr/>
        </p:nvSpPr>
        <p:spPr>
          <a:xfrm>
            <a:off x="7424927" y="3182112"/>
            <a:ext cx="4160520" cy="8046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461503" y="3273552"/>
            <a:ext cx="4087368" cy="201168"/>
          </a:xfrm>
          <a:prstGeom prst="rect">
            <a:avLst/>
          </a:prstGeom>
          <a:noFill/>
        </p:spPr>
        <p:txBody>
          <a:bodyPr wrap="square" lIns="54864" tIns="54864" rIns="54864" bIns="54864" anchor="t">
            <a:spAutoFit/>
          </a:bodyPr>
          <a:lstStyle/>
          <a:p>
            <a:pPr algn="ctr"/>
            <a:r>
              <a:rPr sz="1100" b="0">
                <a:solidFill>
                  <a:srgbClr val="2A3742"/>
                </a:solidFill>
                <a:latin typeface="Aptos"/>
              </a:rPr>
              <a:t>triage_acuity (-0.363); arrival_transport (-0.267); age (-0.127)</a:t>
            </a:r>
          </a:p>
        </p:txBody>
      </p:sp>
      <p:sp>
        <p:nvSpPr>
          <p:cNvPr id="36" name="Rectangle 35"/>
          <p:cNvSpPr/>
          <p:nvPr/>
        </p:nvSpPr>
        <p:spPr>
          <a:xfrm>
            <a:off x="566928" y="3986784"/>
            <a:ext cx="777240" cy="8046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03504" y="4078224"/>
            <a:ext cx="704088" cy="201168"/>
          </a:xfrm>
          <a:prstGeom prst="rect">
            <a:avLst/>
          </a:prstGeom>
          <a:noFill/>
        </p:spPr>
        <p:txBody>
          <a:bodyPr wrap="square" lIns="54864" tIns="54864" rIns="54864" bIns="54864" anchor="t">
            <a:spAutoFit/>
          </a:bodyPr>
          <a:lstStyle/>
          <a:p>
            <a:pPr algn="ctr"/>
            <a:r>
              <a:rPr sz="1100" b="1">
                <a:solidFill>
                  <a:srgbClr val="2A3742"/>
                </a:solidFill>
                <a:latin typeface="Aptos"/>
              </a:rPr>
              <a:t>1752</a:t>
            </a:r>
          </a:p>
        </p:txBody>
      </p:sp>
      <p:sp>
        <p:nvSpPr>
          <p:cNvPr id="38" name="Rectangle 37"/>
          <p:cNvSpPr/>
          <p:nvPr/>
        </p:nvSpPr>
        <p:spPr>
          <a:xfrm>
            <a:off x="1344168" y="3986784"/>
            <a:ext cx="914400" cy="8046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380744" y="4078224"/>
            <a:ext cx="841248" cy="201168"/>
          </a:xfrm>
          <a:prstGeom prst="rect">
            <a:avLst/>
          </a:prstGeom>
          <a:noFill/>
        </p:spPr>
        <p:txBody>
          <a:bodyPr wrap="square" lIns="54864" tIns="54864" rIns="54864" bIns="54864" anchor="t">
            <a:spAutoFit/>
          </a:bodyPr>
          <a:lstStyle/>
          <a:p>
            <a:pPr algn="ctr"/>
            <a:r>
              <a:rPr sz="1100" b="0">
                <a:solidFill>
                  <a:srgbClr val="2A3742"/>
                </a:solidFill>
                <a:latin typeface="Aptos"/>
              </a:rPr>
              <a:t>No</a:t>
            </a:r>
          </a:p>
        </p:txBody>
      </p:sp>
      <p:sp>
        <p:nvSpPr>
          <p:cNvPr id="40" name="Rectangle 39"/>
          <p:cNvSpPr/>
          <p:nvPr/>
        </p:nvSpPr>
        <p:spPr>
          <a:xfrm>
            <a:off x="2258568" y="3986784"/>
            <a:ext cx="1005840" cy="8046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295144" y="4078224"/>
            <a:ext cx="932688" cy="201168"/>
          </a:xfrm>
          <a:prstGeom prst="rect">
            <a:avLst/>
          </a:prstGeom>
          <a:noFill/>
        </p:spPr>
        <p:txBody>
          <a:bodyPr wrap="square" lIns="54864" tIns="54864" rIns="54864" bIns="54864" anchor="t">
            <a:spAutoFit/>
          </a:bodyPr>
          <a:lstStyle/>
          <a:p>
            <a:pPr algn="ctr"/>
            <a:r>
              <a:rPr sz="1100" b="0">
                <a:solidFill>
                  <a:srgbClr val="2A3742"/>
                </a:solidFill>
                <a:latin typeface="Aptos"/>
              </a:rPr>
              <a:t>0.193</a:t>
            </a:r>
          </a:p>
        </p:txBody>
      </p:sp>
      <p:sp>
        <p:nvSpPr>
          <p:cNvPr id="42" name="Rectangle 41"/>
          <p:cNvSpPr/>
          <p:nvPr/>
        </p:nvSpPr>
        <p:spPr>
          <a:xfrm>
            <a:off x="3264408" y="3986784"/>
            <a:ext cx="4160520" cy="8046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300984" y="4078224"/>
            <a:ext cx="4087368" cy="201168"/>
          </a:xfrm>
          <a:prstGeom prst="rect">
            <a:avLst/>
          </a:prstGeom>
          <a:noFill/>
        </p:spPr>
        <p:txBody>
          <a:bodyPr wrap="square" lIns="54864" tIns="54864" rIns="54864" bIns="54864" anchor="t">
            <a:spAutoFit/>
          </a:bodyPr>
          <a:lstStyle/>
          <a:p>
            <a:pPr algn="ctr"/>
            <a:r>
              <a:rPr sz="1100" b="0">
                <a:solidFill>
                  <a:srgbClr val="2A3742"/>
                </a:solidFill>
                <a:latin typeface="Aptos"/>
              </a:rPr>
              <a:t>race (+0.055); triage_dbp (+0.014); chiefcom_headache (+0.005)</a:t>
            </a:r>
          </a:p>
        </p:txBody>
      </p:sp>
      <p:sp>
        <p:nvSpPr>
          <p:cNvPr id="44" name="Rectangle 43"/>
          <p:cNvSpPr/>
          <p:nvPr/>
        </p:nvSpPr>
        <p:spPr>
          <a:xfrm>
            <a:off x="7424927" y="3986784"/>
            <a:ext cx="4160520" cy="8046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461503" y="4078224"/>
            <a:ext cx="4087368" cy="201168"/>
          </a:xfrm>
          <a:prstGeom prst="rect">
            <a:avLst/>
          </a:prstGeom>
          <a:noFill/>
        </p:spPr>
        <p:txBody>
          <a:bodyPr wrap="square" lIns="54864" tIns="54864" rIns="54864" bIns="54864" anchor="t">
            <a:spAutoFit/>
          </a:bodyPr>
          <a:lstStyle/>
          <a:p>
            <a:pPr algn="ctr"/>
            <a:r>
              <a:rPr sz="1100" b="0">
                <a:solidFill>
                  <a:srgbClr val="2A3742"/>
                </a:solidFill>
                <a:latin typeface="Aptos"/>
              </a:rPr>
              <a:t>age (-0.485); triage_acuity (-0.350); arrival_transport (-0.259)</a:t>
            </a:r>
          </a:p>
        </p:txBody>
      </p:sp>
      <p:sp>
        <p:nvSpPr>
          <p:cNvPr id="46" name="Rectangle 45"/>
          <p:cNvSpPr/>
          <p:nvPr/>
        </p:nvSpPr>
        <p:spPr>
          <a:xfrm>
            <a:off x="566928" y="4791456"/>
            <a:ext cx="777240" cy="8046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03504" y="4882896"/>
            <a:ext cx="704088" cy="201168"/>
          </a:xfrm>
          <a:prstGeom prst="rect">
            <a:avLst/>
          </a:prstGeom>
          <a:noFill/>
        </p:spPr>
        <p:txBody>
          <a:bodyPr wrap="square" lIns="54864" tIns="54864" rIns="54864" bIns="54864" anchor="t">
            <a:spAutoFit/>
          </a:bodyPr>
          <a:lstStyle/>
          <a:p>
            <a:pPr algn="ctr"/>
            <a:r>
              <a:rPr sz="1100" b="1">
                <a:solidFill>
                  <a:srgbClr val="2A3742"/>
                </a:solidFill>
                <a:latin typeface="Aptos"/>
              </a:rPr>
              <a:t>32802</a:t>
            </a:r>
          </a:p>
        </p:txBody>
      </p:sp>
      <p:sp>
        <p:nvSpPr>
          <p:cNvPr id="48" name="Rectangle 47"/>
          <p:cNvSpPr/>
          <p:nvPr/>
        </p:nvSpPr>
        <p:spPr>
          <a:xfrm>
            <a:off x="1344168" y="4791456"/>
            <a:ext cx="914400" cy="8046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380744" y="4882896"/>
            <a:ext cx="841248" cy="201168"/>
          </a:xfrm>
          <a:prstGeom prst="rect">
            <a:avLst/>
          </a:prstGeom>
          <a:noFill/>
        </p:spPr>
        <p:txBody>
          <a:bodyPr wrap="square" lIns="54864" tIns="54864" rIns="54864" bIns="54864" anchor="t">
            <a:spAutoFit/>
          </a:bodyPr>
          <a:lstStyle/>
          <a:p>
            <a:pPr algn="ctr"/>
            <a:r>
              <a:rPr sz="1100" b="0">
                <a:solidFill>
                  <a:srgbClr val="2A3742"/>
                </a:solidFill>
                <a:latin typeface="Aptos"/>
              </a:rPr>
              <a:t>No</a:t>
            </a:r>
          </a:p>
        </p:txBody>
      </p:sp>
      <p:sp>
        <p:nvSpPr>
          <p:cNvPr id="50" name="Rectangle 49"/>
          <p:cNvSpPr/>
          <p:nvPr/>
        </p:nvSpPr>
        <p:spPr>
          <a:xfrm>
            <a:off x="2258568" y="4791456"/>
            <a:ext cx="1005840" cy="8046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295144" y="4882896"/>
            <a:ext cx="932688" cy="201168"/>
          </a:xfrm>
          <a:prstGeom prst="rect">
            <a:avLst/>
          </a:prstGeom>
          <a:noFill/>
        </p:spPr>
        <p:txBody>
          <a:bodyPr wrap="square" lIns="54864" tIns="54864" rIns="54864" bIns="54864" anchor="t">
            <a:spAutoFit/>
          </a:bodyPr>
          <a:lstStyle/>
          <a:p>
            <a:pPr algn="ctr"/>
            <a:r>
              <a:rPr sz="1100" b="0">
                <a:solidFill>
                  <a:srgbClr val="2A3742"/>
                </a:solidFill>
                <a:latin typeface="Aptos"/>
              </a:rPr>
              <a:t>0.576</a:t>
            </a:r>
          </a:p>
        </p:txBody>
      </p:sp>
      <p:sp>
        <p:nvSpPr>
          <p:cNvPr id="52" name="Rectangle 51"/>
          <p:cNvSpPr/>
          <p:nvPr/>
        </p:nvSpPr>
        <p:spPr>
          <a:xfrm>
            <a:off x="3264408" y="4791456"/>
            <a:ext cx="4160520" cy="8046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300984" y="4882896"/>
            <a:ext cx="4087368" cy="201168"/>
          </a:xfrm>
          <a:prstGeom prst="rect">
            <a:avLst/>
          </a:prstGeom>
          <a:noFill/>
        </p:spPr>
        <p:txBody>
          <a:bodyPr wrap="square" lIns="54864" tIns="54864" rIns="54864" bIns="54864" anchor="t">
            <a:spAutoFit/>
          </a:bodyPr>
          <a:lstStyle/>
          <a:p>
            <a:pPr algn="ctr"/>
            <a:r>
              <a:rPr sz="1100" b="0">
                <a:solidFill>
                  <a:srgbClr val="2A3742"/>
                </a:solidFill>
                <a:latin typeface="Aptos"/>
              </a:rPr>
              <a:t>arrival_transport (+0.538); age (+0.506); triage_dbp (+0.014)</a:t>
            </a:r>
          </a:p>
        </p:txBody>
      </p:sp>
      <p:sp>
        <p:nvSpPr>
          <p:cNvPr id="54" name="Rectangle 53"/>
          <p:cNvSpPr/>
          <p:nvPr/>
        </p:nvSpPr>
        <p:spPr>
          <a:xfrm>
            <a:off x="7424927" y="4791456"/>
            <a:ext cx="4160520" cy="80467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461503" y="4882896"/>
            <a:ext cx="4087368" cy="201168"/>
          </a:xfrm>
          <a:prstGeom prst="rect">
            <a:avLst/>
          </a:prstGeom>
          <a:noFill/>
        </p:spPr>
        <p:txBody>
          <a:bodyPr wrap="square" lIns="54864" tIns="54864" rIns="54864" bIns="54864" anchor="t">
            <a:spAutoFit/>
          </a:bodyPr>
          <a:lstStyle/>
          <a:p>
            <a:pPr algn="ctr"/>
            <a:r>
              <a:rPr sz="1100" b="0">
                <a:solidFill>
                  <a:srgbClr val="2A3742"/>
                </a:solidFill>
                <a:latin typeface="Aptos"/>
              </a:rPr>
              <a:t>triage_acuity (-0.320); race (-0.081); triage_heartrate (-0.075)</a:t>
            </a:r>
          </a:p>
        </p:txBody>
      </p:sp>
      <p:sp>
        <p:nvSpPr>
          <p:cNvPr id="56" name="Rounded Rectangle 55"/>
          <p:cNvSpPr/>
          <p:nvPr/>
        </p:nvSpPr>
        <p:spPr>
          <a:xfrm>
            <a:off x="868680" y="5997645"/>
            <a:ext cx="10424160" cy="530352"/>
          </a:xfrm>
          <a:prstGeom prst="roundRect">
            <a:avLst>
              <a:gd name="adj" fmla="val 8000"/>
            </a:avLst>
          </a:prstGeom>
          <a:solidFill>
            <a:srgbClr val="303D49"/>
          </a:solidFill>
          <a:ln>
            <a:solidFill>
              <a:srgbClr val="303D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092503" y="6079805"/>
            <a:ext cx="10012680" cy="210312"/>
          </a:xfrm>
          <a:prstGeom prst="rect">
            <a:avLst/>
          </a:prstGeom>
          <a:noFill/>
        </p:spPr>
        <p:txBody>
          <a:bodyPr wrap="square" lIns="54864" tIns="54864" rIns="54864" bIns="54864" anchor="t">
            <a:spAutoFit/>
          </a:bodyPr>
          <a:lstStyle/>
          <a:p>
            <a:pPr algn="ctr"/>
            <a:r>
              <a:rPr sz="1600" b="1" dirty="0">
                <a:solidFill>
                  <a:srgbClr val="F59E0B"/>
                </a:solidFill>
                <a:latin typeface="Aptos"/>
              </a:rPr>
              <a:t>A local explanation is a model audit trail for one row, not a clinical justification or a causal narrative.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3738</Words>
  <Application>Microsoft Office PowerPoint</Application>
  <PresentationFormat>Widescreen</PresentationFormat>
  <Paragraphs>317</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Waqar Aziz</cp:lastModifiedBy>
  <cp:revision>2</cp:revision>
  <dcterms:created xsi:type="dcterms:W3CDTF">2013-01-27T09:14:16Z</dcterms:created>
  <dcterms:modified xsi:type="dcterms:W3CDTF">2026-09-01T13:53:51Z</dcterms:modified>
  <cp:category/>
</cp:coreProperties>
</file>
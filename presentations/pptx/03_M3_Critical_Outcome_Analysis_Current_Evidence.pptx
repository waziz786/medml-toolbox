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510" autoAdjust="0"/>
  </p:normalViewPr>
  <p:slideViewPr>
    <p:cSldViewPr snapToGrid="0" snapToObjects="1">
      <p:cViewPr>
        <p:scale>
          <a:sx n="50" d="100"/>
          <a:sy n="50" d="100"/>
        </p:scale>
        <p:origin x="126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7426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defining the task as a retrospective benchmark, not a bedside tool. The model sees a declared triage-time feature family and is evaluated on patients held out from training. The outcome is uncommon, so accuracy alone will be especially easy to misread. This deck follows the full chain: what the composite means, why patient-disjoint evaluation matters, how training distributions can be altered, how models compare, and how a probability becomes an action. The current figures are read from the exported M3 CSVs rather than from active notebook state. Keep returning to the same sentence: a score is interpretable only when the target, time boundary, patient split, sampling strategy, threshold, and limitations are visible.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M1 established the object being modeled: one row per ED stay, not one row per patient and not one row per measurement. It also established that availability is part of meaning. A triage vital and a later ED measurement are not interchangeable, even if both are in the CSV. M1 kept raw values and imputed analysis columns distinguishable, and it treated identifiers and downstream outcomes as audit fields rather than predictors. M3 relies on those choices. The new work is not a license to put every available column into a model. It is an opportunity to see how target rarity, sampling, and evaluation interact with the earlier data contract.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M2 supplied the reusable modeling rhythm. Start with a clinical question. Define the target. Declare which fields could be available at the intended prediction time. Keep repeated patients together when splitting. Fit preprocessing inside the training pipeline. Compare a dummy and candidate models on the same held-out test set. M3 keeps that rhythm but adds a more demanding evaluation problem: only about 6.6 percent of stays are positive. That makes the prior probability, average precision, threshold behavior, calibration, and error counts central parts of the story rather than optional extras.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target combines in-hospital mortality and ICU transfer within 12 hours. The current exported summary gives approximately 1.11 percent mortality, 6.25 percent early ICU transfer, and 6.62 percent for the composite. The composite is useful for a teaching benchmark because it captures severe outcomes that could motivate early risk stratification. But it also collapses two different clinical events. A model can rank the composite well while behaving differently for mortality and ICU transfer. Students should therefore avoid language that treats outcome_critical as a single biological phenomenon. The chart makes the construction auditable and keeps the component labels in view.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label is retrospective. The model's intended inputs are available around triage, while mortality and ICU transfer are observed later. That temporal direction is the reason outcome fields, ICU timing, disposition, later measurements, and identifiers used to construct or link labels are excluded from the feature matrix. A field can be highly predictive and still be invalid for this question if it becomes available after triage. Ask students to classify an example such as a later heart rate, disposition, or time to ICU transfer. The point is not to weaken the model artificially. It is to make the prediction question honest.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positive class is uncommon, so a prior dummy can achieve roughly 93 percent accuracy while finding no critical cases. This is why accuracy is not the headline metric here. Sensitivity asks how many critical stays were found; PPV asks how many flagged stays were truly critical; average precision summarizes the precision-recall behavior across thresholds; and the confusion counts show the operational volume. The test population is deliberately not rebalanced. If we evaluated on an artificially balanced test set, PPV and other rates would describe a different population. Sampling belongs inside training, while final evaluation stays on the original held-out patient-disjoint population.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Sampling is a training intervention. Original training preserves the observed class ratio. Random under-sampling discards some negative rows. Random over-sampling repeats positive rows. SMOTE creates synthetic minority examples based on neighboring observations, and SMOTE-Tomek adds a boundary-cleaning step. Each strategy changes the distribution presented to the learner, which can alter the threshold behavior and sometimes the ranking. None of these strategies changes the real prevalence in the held-out test population. It is also important to distinguish duplicated rows from synthetic rows and to keep preprocessing and sampling inside a training-only workflow. Sampling does not repair label ambiguity, poor timing, or missing external validation.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exported sampling summary shows exactly what happened. Original training has 22,408 non-critical rows and 1,628 critical rows, or about 93 to 7 percent. Random under-sampling reduces the negative class to 1,628 rows. Random over-sampling and SMOTE create balanced training distributions with 22,408 rows per class. SMOTE-Tomek has 22,385 per class after its cleaning step. These counts describe training data only. They should not be reported as the prevalence of critical outcomes in the source population. The deck uses this slide to prevent a common interpretive mistake: a balanced training table is not evidence that the clinical problem itself is balanced.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candidate models form a useful ladder. The prior dummy is a reference that uses no patient information. Logistic regression provides a transparent linear baseline after numeric imputation, missingness indicators, scaling, and categorical encoding. A decision tree represents recursive rules and interactions. A random forest averages many trees. Gradient boosting builds trees sequentially, focusing later trees on earlier errors. The model family does not change the target or the information boundary. A fair comparison requires the same feature definitions, preprocessing contract, patient-disjoint split, and held-out test rows. Sampling experiments then vary the training distribution while preserving that evaluation contract.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AUROC summarizes ranking across all thresholds. Average precision summarizes precision-recall behavior and is especially useful when the positive class is uncommon. At the default 0.50 threshold, sensitivity and PPV describe a particular operating point rather than the entire ranking. In the current baseline table, random forest has the highest AUROC at about 0.897, while gradient boosting has very high specificity and PPV at the default cutoff but lower sensitivity. Logistic regression finds more positives at that cutoff but produces more false positives. The prior dummy is an important reference because its AUROC is 0.5 and its average precision follows prevalence. No single row is universally best without a named action.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heatmap compares AUROC across the five training distributions and four classifier families. The current best sampled value is random forest with random over-sampling at approximately 0.897, only slightly above the strongest original-training values. That suggests the sampling choice does not radically transform ranking quality on this test set. It can still change the operating behavior substantially. Balanced training often makes the classifier more willing to call a case positive, which can raise sensitivity while increasing false positives and changing PPV. This is why the next analysis cannot stop at a heatmap. Students should inspect threshold trade-offs, calibration, and the actual alert volume on the original test population.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logistic regression ranking does not change when the probability cutoff changes; the action does. At 0.10, sensitivity is about 0.983 but specificity is only about 0.372 and there are 3,492 false positives. At 0.75, specificity is about 0.926, PPV is about 0.356, and sensitivity falls to about 0.571. The default 0.50 cutoff is a convention, not a clinical truth. A threshold should be chosen with a real action, capacity constraint, and error cost in mind. Also note that even a relatively high PPV in this table may mean many non-critical alerts because the test population contains thousands of non-critical stays. Counts belong beside rates.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Calibration is different from ranking. A model can order cases well and still produce probabilities that are too large or too small. The diagonal is perfect calibration: among cases assigned a predicted probability, the observed positive fraction matches it. The current logistic calibration points sit below the diagonal across much of the range. For example, bins with mean predicted probabilities around 0.48 and 0.66 have observed positive fractions around 0.07 and 0.15, respectively. That is overprediction in these bins. The bins are empirical summaries, not proof of a stable deployment relationship. Calibration depends on population, sampling, prevalence, and model fitting. It should be checked before treating a probability as a risk estimate.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Cross-validation is used inside the training boundary to estimate how much performance varies across grouped validation folds. The current three folds have AUROCs of approximately 0.871, 0.882, and 0.883, for a mean near 0.879 and a standard deviation near 0.006. Because subject_id is used for grouping, a patient's stays do not cross a fold boundary. This is a stability check, not a replacement for the held-out test set. Repeatedly selecting a model or threshold based on the test set would turn that test set into a tuning resource. Cross-validation also does not establish temporal transportability, external validity, clinical utility, or fairness.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Permutation importance asks a narrow question: how much does the model's held-out AUROC change when one input column is randomly shuffled? The current top feature is triage acuity, followed by ECI peripheral vascular disease, arrival transport, age, and CCI peripheral vascular disease. Those are global associations with this pipeline and these rows. They are not causal effects. Correlated variables can divide signal, and a feature can be influential because it is a proxy for severity, workflow, documentation, or access. Importance can also be unstable in small subgroups. Students should use the chart to generate questions and audit the feature boundary, not to write that a feature causes the outcome.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Subgroup analysis checks whether errors and ranking differ across slices of the test population. In the current results, gender groups have similar sensitivity but different specificity, while arrival transport groups show larger differences in prevalence and operating behavior. The race table contains several very small groups, so point estimates can be volatile. This is not a complete fairness analysis. It does not include confidence intervals, intersectional groups, missingness mechanisms, calibration by subgroup, decision consequences, or a pre-specified fairness criterion. It is an audit prompt. Students should report subgroup size and prevalence alongside metrics, avoid ranking tiny groups as if they were equally precise, and name what additional evidence would be needed.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confusion matrix becomes meaningful only when translated into workflow. At the 0.50 cutoff, the logistic model has 71 false negatives and 1,079 false positives on the held-out test set. A false negative is a critical stay that the model does not flag; a false positive is a non-critical stay that receives attention. Which error matters more depends on the intended use, the available safety net, and the cost of alert burden. The exported error examples are for inspection, not anecdotes that prove a general mechanism. Students should examine them to ask whether errors cluster by subgroup, missingness, acuity, or data availability, then state what further validation is required.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limitations are part of the result. The outcome is retrospective and composite. The data comes from one source and one extraction, so performance may not transport to another hospital, period, population, or workflow. The baseline is tabular and intentionally excludes raw text and many dynamic process signals. The reported metrics are point estimates without confidence intervals. Several race subgroups are small. Calibration and subgroup behavior can change with prevalence and sampling. No prospective silent trial, external validation, impact study, or clinical utility analysis was performed. Therefore the correct conclusion is educational and comparative: the workflow demonstrates how to build and interrogate a patient-disjoint benchmark. It does not justify deploying a triage intervention.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sequence rather than a winning algorithm. Define the composite and inspect its components. Protect the triage-time boundary and keep patients disjoint across train and test. Balance only the training distribution, leaving the held-out test population real. Compare ranking metrics with threshold behavior and calibration. Interrogate global feature influence, subgroup performance, and actual errors. Then state the limitations before making a claim. The reusable lesson is not that one sampling method or one model is best. It is that medical ML evaluation is a chain of explicit choices, and each choice changes what the final number means.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Rectangle 1"/>
          <p:cNvSpPr/>
          <p:nvPr/>
        </p:nvSpPr>
        <p:spPr>
          <a:xfrm>
            <a:off x="0" y="0"/>
            <a:ext cx="246888" cy="685800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46888" y="0"/>
            <a:ext cx="109728" cy="685800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749808"/>
            <a:ext cx="5486400" cy="228600"/>
          </a:xfrm>
          <a:prstGeom prst="rect">
            <a:avLst/>
          </a:prstGeom>
          <a:noFill/>
        </p:spPr>
        <p:txBody>
          <a:bodyPr wrap="square" lIns="54864" tIns="54864" rIns="54864" bIns="54864" anchor="t">
            <a:spAutoFit/>
          </a:bodyPr>
          <a:lstStyle/>
          <a:p>
            <a:pPr algn="l"/>
            <a:r>
              <a:rPr sz="1100" b="1">
                <a:solidFill>
                  <a:srgbClr val="E9C46A"/>
                </a:solidFill>
                <a:latin typeface="Aptos"/>
              </a:rPr>
              <a:t>M3  /  CRITICAL OUTCOME ANALYSIS</a:t>
            </a:r>
          </a:p>
        </p:txBody>
      </p:sp>
      <p:sp>
        <p:nvSpPr>
          <p:cNvPr id="5" name="TextBox 4"/>
          <p:cNvSpPr txBox="1"/>
          <p:nvPr/>
        </p:nvSpPr>
        <p:spPr>
          <a:xfrm>
            <a:off x="731520" y="1353312"/>
            <a:ext cx="9326880" cy="658368"/>
          </a:xfrm>
          <a:prstGeom prst="rect">
            <a:avLst/>
          </a:prstGeom>
          <a:noFill/>
        </p:spPr>
        <p:txBody>
          <a:bodyPr wrap="square" lIns="54864" tIns="54864" rIns="54864" bIns="54864" anchor="t">
            <a:spAutoFit/>
          </a:bodyPr>
          <a:lstStyle/>
          <a:p>
            <a:pPr algn="l"/>
            <a:r>
              <a:rPr sz="3900" b="1">
                <a:solidFill>
                  <a:srgbClr val="FFFFFF"/>
                </a:solidFill>
                <a:latin typeface="Aptos Display"/>
              </a:rPr>
              <a:t>When the rare outcome matters</a:t>
            </a:r>
          </a:p>
        </p:txBody>
      </p:sp>
      <p:sp>
        <p:nvSpPr>
          <p:cNvPr id="6" name="TextBox 5"/>
          <p:cNvSpPr txBox="1"/>
          <p:nvPr/>
        </p:nvSpPr>
        <p:spPr>
          <a:xfrm>
            <a:off x="768096" y="2240280"/>
            <a:ext cx="9692640" cy="566928"/>
          </a:xfrm>
          <a:prstGeom prst="rect">
            <a:avLst/>
          </a:prstGeom>
          <a:noFill/>
        </p:spPr>
        <p:txBody>
          <a:bodyPr wrap="square" lIns="54864" tIns="54864" rIns="54864" bIns="54864" anchor="t">
            <a:spAutoFit/>
          </a:bodyPr>
          <a:lstStyle/>
          <a:p>
            <a:pPr algn="l"/>
            <a:r>
              <a:rPr sz="2000" b="0">
                <a:solidFill>
                  <a:srgbClr val="E4EBEA"/>
                </a:solidFill>
                <a:latin typeface="Aptos"/>
              </a:rPr>
              <a:t>Sampling, model comparison, thresholds, calibration, and subgroup checks at the ED triage boundary</a:t>
            </a:r>
          </a:p>
        </p:txBody>
      </p:sp>
      <p:sp>
        <p:nvSpPr>
          <p:cNvPr id="7" name="Rectangle 6"/>
          <p:cNvSpPr/>
          <p:nvPr/>
        </p:nvSpPr>
        <p:spPr>
          <a:xfrm>
            <a:off x="768096" y="3246120"/>
            <a:ext cx="1051560" cy="54864"/>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3822191"/>
            <a:ext cx="3200400" cy="274320"/>
          </a:xfrm>
          <a:prstGeom prst="rect">
            <a:avLst/>
          </a:prstGeom>
          <a:noFill/>
        </p:spPr>
        <p:txBody>
          <a:bodyPr wrap="square" lIns="54864" tIns="54864" rIns="54864" bIns="54864" anchor="t">
            <a:spAutoFit/>
          </a:bodyPr>
          <a:lstStyle/>
          <a:p>
            <a:pPr algn="l"/>
            <a:r>
              <a:rPr sz="1400" b="1">
                <a:solidFill>
                  <a:srgbClr val="E9C46A"/>
                </a:solidFill>
                <a:latin typeface="Aptos"/>
              </a:rPr>
              <a:t>The central question</a:t>
            </a:r>
          </a:p>
        </p:txBody>
      </p:sp>
      <p:sp>
        <p:nvSpPr>
          <p:cNvPr id="9" name="TextBox 8"/>
          <p:cNvSpPr txBox="1"/>
          <p:nvPr/>
        </p:nvSpPr>
        <p:spPr>
          <a:xfrm>
            <a:off x="768096" y="4224528"/>
            <a:ext cx="8046720" cy="640080"/>
          </a:xfrm>
          <a:prstGeom prst="rect">
            <a:avLst/>
          </a:prstGeom>
          <a:noFill/>
        </p:spPr>
        <p:txBody>
          <a:bodyPr wrap="square" lIns="54864" tIns="54864" rIns="54864" bIns="54864" anchor="t">
            <a:spAutoFit/>
          </a:bodyPr>
          <a:lstStyle/>
          <a:p>
            <a:pPr algn="l"/>
            <a:r>
              <a:rPr sz="1900" b="1">
                <a:solidFill>
                  <a:srgbClr val="FFFFFF"/>
                </a:solidFill>
                <a:latin typeface="Aptos"/>
              </a:rPr>
              <a:t>Can triage-era information rank ED stays by the likelihood of a critical outcome?</a:t>
            </a:r>
          </a:p>
        </p:txBody>
      </p:sp>
      <p:sp>
        <p:nvSpPr>
          <p:cNvPr id="10" name="TextBox 9"/>
          <p:cNvSpPr txBox="1"/>
          <p:nvPr/>
        </p:nvSpPr>
        <p:spPr>
          <a:xfrm>
            <a:off x="768096" y="6236208"/>
            <a:ext cx="7498079" cy="264688"/>
          </a:xfrm>
          <a:prstGeom prst="rect">
            <a:avLst/>
          </a:prstGeom>
          <a:noFill/>
        </p:spPr>
        <p:txBody>
          <a:bodyPr wrap="square" lIns="54864" tIns="54864" rIns="54864" bIns="54864" anchor="t">
            <a:spAutoFit/>
          </a:bodyPr>
          <a:lstStyle/>
          <a:p>
            <a:pPr algn="l"/>
            <a:r>
              <a:rPr sz="1000" b="0" dirty="0">
                <a:solidFill>
                  <a:srgbClr val="E4EBEA"/>
                </a:solidFill>
                <a:latin typeface="Aptos"/>
              </a:rPr>
              <a:t>5,964 held-out test stays  |  6.72% positive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M1 RECAP</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Carry the data contract into modeling</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02</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664208"/>
            <a:ext cx="91440" cy="941832"/>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719072"/>
            <a:ext cx="2194560" cy="274320"/>
          </a:xfrm>
          <a:prstGeom prst="rect">
            <a:avLst/>
          </a:prstGeom>
          <a:noFill/>
        </p:spPr>
        <p:txBody>
          <a:bodyPr wrap="square" lIns="54864" tIns="54864" rIns="54864" bIns="54864" anchor="t">
            <a:spAutoFit/>
          </a:bodyPr>
          <a:lstStyle/>
          <a:p>
            <a:pPr algn="l"/>
            <a:r>
              <a:rPr sz="2000" b="1">
                <a:solidFill>
                  <a:srgbClr val="0B1F33"/>
                </a:solidFill>
                <a:latin typeface="Aptos Display"/>
              </a:rPr>
              <a:t>Row grain</a:t>
            </a:r>
          </a:p>
        </p:txBody>
      </p:sp>
      <p:sp>
        <p:nvSpPr>
          <p:cNvPr id="8" name="TextBox 7"/>
          <p:cNvSpPr txBox="1"/>
          <p:nvPr/>
        </p:nvSpPr>
        <p:spPr>
          <a:xfrm>
            <a:off x="1051560" y="2148840"/>
            <a:ext cx="4709160" cy="274320"/>
          </a:xfrm>
          <a:prstGeom prst="rect">
            <a:avLst/>
          </a:prstGeom>
          <a:noFill/>
        </p:spPr>
        <p:txBody>
          <a:bodyPr wrap="square" lIns="54864" tIns="54864" rIns="54864" bIns="54864" anchor="t">
            <a:spAutoFit/>
          </a:bodyPr>
          <a:lstStyle/>
          <a:p>
            <a:pPr algn="l"/>
            <a:r>
              <a:rPr sz="1400" b="0">
                <a:solidFill>
                  <a:srgbClr val="23303A"/>
                </a:solidFill>
                <a:latin typeface="Aptos"/>
              </a:rPr>
              <a:t>one row represents one ED stay</a:t>
            </a:r>
          </a:p>
        </p:txBody>
      </p:sp>
      <p:sp>
        <p:nvSpPr>
          <p:cNvPr id="9" name="Rectangle 8"/>
          <p:cNvSpPr/>
          <p:nvPr/>
        </p:nvSpPr>
        <p:spPr>
          <a:xfrm>
            <a:off x="6263640" y="1664208"/>
            <a:ext cx="91440" cy="941832"/>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59" y="1719072"/>
            <a:ext cx="2194560" cy="274320"/>
          </a:xfrm>
          <a:prstGeom prst="rect">
            <a:avLst/>
          </a:prstGeom>
          <a:noFill/>
        </p:spPr>
        <p:txBody>
          <a:bodyPr wrap="square" lIns="54864" tIns="54864" rIns="54864" bIns="54864" anchor="t">
            <a:spAutoFit/>
          </a:bodyPr>
          <a:lstStyle/>
          <a:p>
            <a:pPr algn="l"/>
            <a:r>
              <a:rPr sz="2000" b="1">
                <a:solidFill>
                  <a:srgbClr val="0B1F33"/>
                </a:solidFill>
                <a:latin typeface="Aptos Display"/>
              </a:rPr>
              <a:t>Timing</a:t>
            </a:r>
          </a:p>
        </p:txBody>
      </p:sp>
      <p:sp>
        <p:nvSpPr>
          <p:cNvPr id="11" name="TextBox 10"/>
          <p:cNvSpPr txBox="1"/>
          <p:nvPr/>
        </p:nvSpPr>
        <p:spPr>
          <a:xfrm>
            <a:off x="6537959" y="2148840"/>
            <a:ext cx="4709160" cy="274320"/>
          </a:xfrm>
          <a:prstGeom prst="rect">
            <a:avLst/>
          </a:prstGeom>
          <a:noFill/>
        </p:spPr>
        <p:txBody>
          <a:bodyPr wrap="square" lIns="54864" tIns="54864" rIns="54864" bIns="54864" anchor="t">
            <a:spAutoFit/>
          </a:bodyPr>
          <a:lstStyle/>
          <a:p>
            <a:pPr algn="l"/>
            <a:r>
              <a:rPr sz="1400" b="0">
                <a:solidFill>
                  <a:srgbClr val="23303A"/>
                </a:solidFill>
                <a:latin typeface="Aptos"/>
              </a:rPr>
              <a:t>triage fields are separated from later events</a:t>
            </a:r>
          </a:p>
        </p:txBody>
      </p:sp>
      <p:sp>
        <p:nvSpPr>
          <p:cNvPr id="12" name="Rectangle 11"/>
          <p:cNvSpPr/>
          <p:nvPr/>
        </p:nvSpPr>
        <p:spPr>
          <a:xfrm>
            <a:off x="777240" y="3172968"/>
            <a:ext cx="91440" cy="941832"/>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227832"/>
            <a:ext cx="2194560" cy="274320"/>
          </a:xfrm>
          <a:prstGeom prst="rect">
            <a:avLst/>
          </a:prstGeom>
          <a:noFill/>
        </p:spPr>
        <p:txBody>
          <a:bodyPr wrap="square" lIns="54864" tIns="54864" rIns="54864" bIns="54864" anchor="t">
            <a:spAutoFit/>
          </a:bodyPr>
          <a:lstStyle/>
          <a:p>
            <a:pPr algn="l"/>
            <a:r>
              <a:rPr sz="2000" b="1">
                <a:solidFill>
                  <a:srgbClr val="0B1F33"/>
                </a:solidFill>
                <a:latin typeface="Aptos Display"/>
              </a:rPr>
              <a:t>Data quality</a:t>
            </a:r>
          </a:p>
        </p:txBody>
      </p:sp>
      <p:sp>
        <p:nvSpPr>
          <p:cNvPr id="14" name="TextBox 13"/>
          <p:cNvSpPr txBox="1"/>
          <p:nvPr/>
        </p:nvSpPr>
        <p:spPr>
          <a:xfrm>
            <a:off x="1051560" y="3657600"/>
            <a:ext cx="4709160" cy="274320"/>
          </a:xfrm>
          <a:prstGeom prst="rect">
            <a:avLst/>
          </a:prstGeom>
          <a:noFill/>
        </p:spPr>
        <p:txBody>
          <a:bodyPr wrap="square" lIns="54864" tIns="54864" rIns="54864" bIns="54864" anchor="t">
            <a:spAutoFit/>
          </a:bodyPr>
          <a:lstStyle/>
          <a:p>
            <a:pPr algn="l"/>
            <a:r>
              <a:rPr sz="1400" b="0">
                <a:solidFill>
                  <a:srgbClr val="23303A"/>
                </a:solidFill>
                <a:latin typeface="Aptos"/>
              </a:rPr>
              <a:t>raw and derived imputed fields remain distinguishable</a:t>
            </a:r>
          </a:p>
        </p:txBody>
      </p:sp>
      <p:sp>
        <p:nvSpPr>
          <p:cNvPr id="15" name="Rectangle 14"/>
          <p:cNvSpPr/>
          <p:nvPr/>
        </p:nvSpPr>
        <p:spPr>
          <a:xfrm>
            <a:off x="6263640" y="3172968"/>
            <a:ext cx="91440" cy="941832"/>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59" y="3227832"/>
            <a:ext cx="2194560" cy="274320"/>
          </a:xfrm>
          <a:prstGeom prst="rect">
            <a:avLst/>
          </a:prstGeom>
          <a:noFill/>
        </p:spPr>
        <p:txBody>
          <a:bodyPr wrap="square" lIns="54864" tIns="54864" rIns="54864" bIns="54864" anchor="t">
            <a:spAutoFit/>
          </a:bodyPr>
          <a:lstStyle/>
          <a:p>
            <a:pPr algn="l"/>
            <a:r>
              <a:rPr sz="2000" b="1">
                <a:solidFill>
                  <a:srgbClr val="0B1F33"/>
                </a:solidFill>
                <a:latin typeface="Aptos Display"/>
              </a:rPr>
              <a:t>Leakage</a:t>
            </a:r>
          </a:p>
        </p:txBody>
      </p:sp>
      <p:sp>
        <p:nvSpPr>
          <p:cNvPr id="17" name="TextBox 16"/>
          <p:cNvSpPr txBox="1"/>
          <p:nvPr/>
        </p:nvSpPr>
        <p:spPr>
          <a:xfrm>
            <a:off x="6537959" y="3657600"/>
            <a:ext cx="4709160" cy="274320"/>
          </a:xfrm>
          <a:prstGeom prst="rect">
            <a:avLst/>
          </a:prstGeom>
          <a:noFill/>
        </p:spPr>
        <p:txBody>
          <a:bodyPr wrap="square" lIns="54864" tIns="54864" rIns="54864" bIns="54864" anchor="t">
            <a:spAutoFit/>
          </a:bodyPr>
          <a:lstStyle/>
          <a:p>
            <a:pPr algn="l"/>
            <a:r>
              <a:rPr sz="1400" b="0">
                <a:solidFill>
                  <a:srgbClr val="23303A"/>
                </a:solidFill>
                <a:latin typeface="Aptos"/>
              </a:rPr>
              <a:t>identifiers, labels, and downstream fields stay out of X</a:t>
            </a:r>
          </a:p>
        </p:txBody>
      </p:sp>
      <p:sp>
        <p:nvSpPr>
          <p:cNvPr id="18" name="Rounded Rectangle 17"/>
          <p:cNvSpPr/>
          <p:nvPr/>
        </p:nvSpPr>
        <p:spPr>
          <a:xfrm>
            <a:off x="777240" y="4919472"/>
            <a:ext cx="10607040" cy="941832"/>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5184648"/>
            <a:ext cx="10149840" cy="274320"/>
          </a:xfrm>
          <a:prstGeom prst="rect">
            <a:avLst/>
          </a:prstGeom>
          <a:noFill/>
        </p:spPr>
        <p:txBody>
          <a:bodyPr wrap="square" lIns="54864" tIns="54864" rIns="54864" bIns="54864" anchor="t">
            <a:spAutoFit/>
          </a:bodyPr>
          <a:lstStyle/>
          <a:p>
            <a:pPr algn="ctr"/>
            <a:r>
              <a:rPr sz="1900" b="1" dirty="0">
                <a:solidFill>
                  <a:srgbClr val="0B1F33"/>
                </a:solidFill>
                <a:latin typeface="Aptos"/>
              </a:rPr>
              <a:t>M3 inherits the row, timing, quality, and leakage decisions from M1; it changes the clinical question.</a:t>
            </a:r>
          </a:p>
        </p:txBody>
      </p:sp>
      <p:sp>
        <p:nvSpPr>
          <p:cNvPr id="20" name="Rectangle 19"/>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6583680"/>
            <a:ext cx="9875520" cy="146304"/>
          </a:xfrm>
          <a:prstGeom prst="rect">
            <a:avLst/>
          </a:prstGeom>
          <a:noFill/>
        </p:spPr>
        <p:txBody>
          <a:bodyPr wrap="square" lIns="54864" tIns="54864" rIns="54864" bIns="54864" anchor="t">
            <a:spAutoFit/>
          </a:bodyPr>
          <a:lstStyle/>
          <a:p>
            <a:pPr algn="l"/>
            <a:r>
              <a:rPr sz="800" b="0">
                <a:solidFill>
                  <a:srgbClr val="5B6971"/>
                </a:solidFill>
                <a:latin typeface="Aptos"/>
              </a:rPr>
              <a:t>M3  |  critical outcome  |  current exported evidence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M2 RECAP</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The modeling workflow already has a rhythm</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03</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874519"/>
            <a:ext cx="640080" cy="640080"/>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2075688"/>
            <a:ext cx="640080" cy="146304"/>
          </a:xfrm>
          <a:prstGeom prst="rect">
            <a:avLst/>
          </a:prstGeom>
          <a:noFill/>
        </p:spPr>
        <p:txBody>
          <a:bodyPr wrap="square" lIns="54864" tIns="54864" rIns="54864" bIns="54864" anchor="t">
            <a:spAutoFit/>
          </a:bodyPr>
          <a:lstStyle/>
          <a:p>
            <a:pPr algn="ctr"/>
            <a:r>
              <a:rPr sz="1300" b="1">
                <a:solidFill>
                  <a:srgbClr val="FFFFFF"/>
                </a:solidFill>
                <a:latin typeface="Aptos"/>
              </a:rPr>
              <a:t>01</a:t>
            </a:r>
          </a:p>
        </p:txBody>
      </p:sp>
      <p:sp>
        <p:nvSpPr>
          <p:cNvPr id="8" name="TextBox 7"/>
          <p:cNvSpPr txBox="1"/>
          <p:nvPr/>
        </p:nvSpPr>
        <p:spPr>
          <a:xfrm>
            <a:off x="694944" y="2788920"/>
            <a:ext cx="1097280" cy="256032"/>
          </a:xfrm>
          <a:prstGeom prst="rect">
            <a:avLst/>
          </a:prstGeom>
          <a:noFill/>
        </p:spPr>
        <p:txBody>
          <a:bodyPr wrap="square" lIns="54864" tIns="54864" rIns="54864" bIns="54864" anchor="t">
            <a:spAutoFit/>
          </a:bodyPr>
          <a:lstStyle/>
          <a:p>
            <a:pPr algn="ctr"/>
            <a:r>
              <a:rPr sz="1800" b="1">
                <a:solidFill>
                  <a:srgbClr val="0B1F33"/>
                </a:solidFill>
                <a:latin typeface="Aptos Display"/>
              </a:rPr>
              <a:t>Question</a:t>
            </a:r>
          </a:p>
        </p:txBody>
      </p:sp>
      <p:sp>
        <p:nvSpPr>
          <p:cNvPr id="9" name="TextBox 8"/>
          <p:cNvSpPr txBox="1"/>
          <p:nvPr/>
        </p:nvSpPr>
        <p:spPr>
          <a:xfrm>
            <a:off x="347472" y="3200400"/>
            <a:ext cx="1783080" cy="457200"/>
          </a:xfrm>
          <a:prstGeom prst="rect">
            <a:avLst/>
          </a:prstGeom>
          <a:noFill/>
        </p:spPr>
        <p:txBody>
          <a:bodyPr wrap="square" lIns="54864" tIns="54864" rIns="54864" bIns="54864" anchor="t">
            <a:spAutoFit/>
          </a:bodyPr>
          <a:lstStyle/>
          <a:p>
            <a:pPr algn="ctr"/>
            <a:r>
              <a:rPr sz="1200" b="0">
                <a:solidFill>
                  <a:srgbClr val="23303A"/>
                </a:solidFill>
                <a:latin typeface="Aptos"/>
              </a:rPr>
              <a:t>name the decision and outcome</a:t>
            </a:r>
          </a:p>
        </p:txBody>
      </p:sp>
      <p:cxnSp>
        <p:nvCxnSpPr>
          <p:cNvPr id="10" name="Connector 9"/>
          <p:cNvCxnSpPr/>
          <p:nvPr/>
        </p:nvCxnSpPr>
        <p:spPr>
          <a:xfrm>
            <a:off x="1581912" y="2194560"/>
            <a:ext cx="1691640"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593591" y="1874519"/>
            <a:ext cx="640080" cy="64008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93591" y="2075688"/>
            <a:ext cx="640080" cy="146304"/>
          </a:xfrm>
          <a:prstGeom prst="rect">
            <a:avLst/>
          </a:prstGeom>
          <a:noFill/>
        </p:spPr>
        <p:txBody>
          <a:bodyPr wrap="square" lIns="54864" tIns="54864" rIns="54864" bIns="54864" anchor="t">
            <a:spAutoFit/>
          </a:bodyPr>
          <a:lstStyle/>
          <a:p>
            <a:pPr algn="ctr"/>
            <a:r>
              <a:rPr sz="1300" b="1">
                <a:solidFill>
                  <a:srgbClr val="FFFFFF"/>
                </a:solidFill>
                <a:latin typeface="Aptos"/>
              </a:rPr>
              <a:t>02</a:t>
            </a:r>
          </a:p>
        </p:txBody>
      </p:sp>
      <p:sp>
        <p:nvSpPr>
          <p:cNvPr id="13" name="TextBox 12"/>
          <p:cNvSpPr txBox="1"/>
          <p:nvPr/>
        </p:nvSpPr>
        <p:spPr>
          <a:xfrm>
            <a:off x="3483863" y="2788920"/>
            <a:ext cx="1097280" cy="256032"/>
          </a:xfrm>
          <a:prstGeom prst="rect">
            <a:avLst/>
          </a:prstGeom>
          <a:noFill/>
        </p:spPr>
        <p:txBody>
          <a:bodyPr wrap="square" lIns="54864" tIns="54864" rIns="54864" bIns="54864" anchor="t">
            <a:spAutoFit/>
          </a:bodyPr>
          <a:lstStyle/>
          <a:p>
            <a:pPr algn="ctr"/>
            <a:r>
              <a:rPr sz="1800" b="1">
                <a:solidFill>
                  <a:srgbClr val="0B1F33"/>
                </a:solidFill>
                <a:latin typeface="Aptos Display"/>
              </a:rPr>
              <a:t>Boundary</a:t>
            </a:r>
          </a:p>
        </p:txBody>
      </p:sp>
      <p:sp>
        <p:nvSpPr>
          <p:cNvPr id="14" name="TextBox 13"/>
          <p:cNvSpPr txBox="1"/>
          <p:nvPr/>
        </p:nvSpPr>
        <p:spPr>
          <a:xfrm>
            <a:off x="3136391" y="3200400"/>
            <a:ext cx="1783080" cy="457200"/>
          </a:xfrm>
          <a:prstGeom prst="rect">
            <a:avLst/>
          </a:prstGeom>
          <a:noFill/>
        </p:spPr>
        <p:txBody>
          <a:bodyPr wrap="square" lIns="54864" tIns="54864" rIns="54864" bIns="54864" anchor="t">
            <a:spAutoFit/>
          </a:bodyPr>
          <a:lstStyle/>
          <a:p>
            <a:pPr algn="ctr"/>
            <a:r>
              <a:rPr sz="1200" b="0">
                <a:solidFill>
                  <a:srgbClr val="23303A"/>
                </a:solidFill>
                <a:latin typeface="Aptos"/>
              </a:rPr>
              <a:t>use information available at the index time</a:t>
            </a:r>
          </a:p>
        </p:txBody>
      </p:sp>
      <p:cxnSp>
        <p:nvCxnSpPr>
          <p:cNvPr id="15" name="Connector 14"/>
          <p:cNvCxnSpPr/>
          <p:nvPr/>
        </p:nvCxnSpPr>
        <p:spPr>
          <a:xfrm>
            <a:off x="4370831" y="2194560"/>
            <a:ext cx="1691641"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382512" y="1874519"/>
            <a:ext cx="640080" cy="640080"/>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82512" y="2075688"/>
            <a:ext cx="640080" cy="146304"/>
          </a:xfrm>
          <a:prstGeom prst="rect">
            <a:avLst/>
          </a:prstGeom>
          <a:noFill/>
        </p:spPr>
        <p:txBody>
          <a:bodyPr wrap="square" lIns="54864" tIns="54864" rIns="54864" bIns="54864" anchor="t">
            <a:spAutoFit/>
          </a:bodyPr>
          <a:lstStyle/>
          <a:p>
            <a:pPr algn="ctr"/>
            <a:r>
              <a:rPr sz="1300" b="1">
                <a:solidFill>
                  <a:srgbClr val="FFFFFF"/>
                </a:solidFill>
                <a:latin typeface="Aptos"/>
              </a:rPr>
              <a:t>03</a:t>
            </a:r>
          </a:p>
        </p:txBody>
      </p:sp>
      <p:sp>
        <p:nvSpPr>
          <p:cNvPr id="18" name="TextBox 17"/>
          <p:cNvSpPr txBox="1"/>
          <p:nvPr/>
        </p:nvSpPr>
        <p:spPr>
          <a:xfrm>
            <a:off x="6272783" y="2788920"/>
            <a:ext cx="1097280" cy="256032"/>
          </a:xfrm>
          <a:prstGeom prst="rect">
            <a:avLst/>
          </a:prstGeom>
          <a:noFill/>
        </p:spPr>
        <p:txBody>
          <a:bodyPr wrap="square" lIns="54864" tIns="54864" rIns="54864" bIns="54864" anchor="t">
            <a:spAutoFit/>
          </a:bodyPr>
          <a:lstStyle/>
          <a:p>
            <a:pPr algn="ctr"/>
            <a:r>
              <a:rPr sz="1800" b="1">
                <a:solidFill>
                  <a:srgbClr val="0B1F33"/>
                </a:solidFill>
                <a:latin typeface="Aptos Display"/>
              </a:rPr>
              <a:t>Split</a:t>
            </a:r>
          </a:p>
        </p:txBody>
      </p:sp>
      <p:sp>
        <p:nvSpPr>
          <p:cNvPr id="19" name="TextBox 18"/>
          <p:cNvSpPr txBox="1"/>
          <p:nvPr/>
        </p:nvSpPr>
        <p:spPr>
          <a:xfrm>
            <a:off x="5925312" y="3200400"/>
            <a:ext cx="1783080" cy="457200"/>
          </a:xfrm>
          <a:prstGeom prst="rect">
            <a:avLst/>
          </a:prstGeom>
          <a:noFill/>
        </p:spPr>
        <p:txBody>
          <a:bodyPr wrap="square" lIns="54864" tIns="54864" rIns="54864" bIns="54864" anchor="t">
            <a:spAutoFit/>
          </a:bodyPr>
          <a:lstStyle/>
          <a:p>
            <a:pPr algn="ctr"/>
            <a:r>
              <a:rPr sz="1200" b="0">
                <a:solidFill>
                  <a:srgbClr val="23303A"/>
                </a:solidFill>
                <a:latin typeface="Aptos"/>
              </a:rPr>
              <a:t>keep repeated patients together</a:t>
            </a:r>
          </a:p>
        </p:txBody>
      </p:sp>
      <p:cxnSp>
        <p:nvCxnSpPr>
          <p:cNvPr id="20" name="Connector 19"/>
          <p:cNvCxnSpPr/>
          <p:nvPr/>
        </p:nvCxnSpPr>
        <p:spPr>
          <a:xfrm>
            <a:off x="7159751" y="2194560"/>
            <a:ext cx="1691641" cy="0"/>
          </a:xfrm>
          <a:prstGeom prst="line">
            <a:avLst/>
          </a:prstGeom>
          <a:ln w="19050">
            <a:solidFill>
              <a:srgbClr val="5B6971"/>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9171432" y="1874519"/>
            <a:ext cx="640080" cy="640080"/>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71432" y="2075688"/>
            <a:ext cx="640080" cy="146304"/>
          </a:xfrm>
          <a:prstGeom prst="rect">
            <a:avLst/>
          </a:prstGeom>
          <a:noFill/>
        </p:spPr>
        <p:txBody>
          <a:bodyPr wrap="square" lIns="54864" tIns="54864" rIns="54864" bIns="54864" anchor="t">
            <a:spAutoFit/>
          </a:bodyPr>
          <a:lstStyle/>
          <a:p>
            <a:pPr algn="ctr"/>
            <a:r>
              <a:rPr sz="1300" b="1">
                <a:solidFill>
                  <a:srgbClr val="0B1F33"/>
                </a:solidFill>
                <a:latin typeface="Aptos"/>
              </a:rPr>
              <a:t>04</a:t>
            </a:r>
          </a:p>
        </p:txBody>
      </p:sp>
      <p:sp>
        <p:nvSpPr>
          <p:cNvPr id="23" name="TextBox 22"/>
          <p:cNvSpPr txBox="1"/>
          <p:nvPr/>
        </p:nvSpPr>
        <p:spPr>
          <a:xfrm>
            <a:off x="9061704" y="2788920"/>
            <a:ext cx="1097280" cy="256032"/>
          </a:xfrm>
          <a:prstGeom prst="rect">
            <a:avLst/>
          </a:prstGeom>
          <a:noFill/>
        </p:spPr>
        <p:txBody>
          <a:bodyPr wrap="square" lIns="54864" tIns="54864" rIns="54864" bIns="54864" anchor="t">
            <a:spAutoFit/>
          </a:bodyPr>
          <a:lstStyle/>
          <a:p>
            <a:pPr algn="ctr"/>
            <a:r>
              <a:rPr sz="1800" b="1">
                <a:solidFill>
                  <a:srgbClr val="0B1F33"/>
                </a:solidFill>
                <a:latin typeface="Aptos Display"/>
              </a:rPr>
              <a:t>Baseline</a:t>
            </a:r>
          </a:p>
        </p:txBody>
      </p:sp>
      <p:sp>
        <p:nvSpPr>
          <p:cNvPr id="24" name="TextBox 23"/>
          <p:cNvSpPr txBox="1"/>
          <p:nvPr/>
        </p:nvSpPr>
        <p:spPr>
          <a:xfrm>
            <a:off x="8714232" y="3200400"/>
            <a:ext cx="1783080" cy="457200"/>
          </a:xfrm>
          <a:prstGeom prst="rect">
            <a:avLst/>
          </a:prstGeom>
          <a:noFill/>
        </p:spPr>
        <p:txBody>
          <a:bodyPr wrap="square" lIns="54864" tIns="54864" rIns="54864" bIns="54864" anchor="t">
            <a:spAutoFit/>
          </a:bodyPr>
          <a:lstStyle/>
          <a:p>
            <a:pPr algn="ctr"/>
            <a:r>
              <a:rPr sz="1200" b="0">
                <a:solidFill>
                  <a:srgbClr val="23303A"/>
                </a:solidFill>
                <a:latin typeface="Aptos"/>
              </a:rPr>
              <a:t>compare transparent models on held-out rows</a:t>
            </a:r>
          </a:p>
        </p:txBody>
      </p:sp>
      <p:sp>
        <p:nvSpPr>
          <p:cNvPr id="25" name="Rounded Rectangle 24"/>
          <p:cNvSpPr/>
          <p:nvPr/>
        </p:nvSpPr>
        <p:spPr>
          <a:xfrm>
            <a:off x="822960" y="4892039"/>
            <a:ext cx="10515600" cy="979319"/>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1560" y="5148072"/>
            <a:ext cx="10058400" cy="274320"/>
          </a:xfrm>
          <a:prstGeom prst="rect">
            <a:avLst/>
          </a:prstGeom>
          <a:noFill/>
        </p:spPr>
        <p:txBody>
          <a:bodyPr wrap="square" lIns="54864" tIns="54864" rIns="54864" bIns="54864" anchor="t">
            <a:spAutoFit/>
          </a:bodyPr>
          <a:lstStyle/>
          <a:p>
            <a:pPr algn="ctr"/>
            <a:r>
              <a:rPr sz="1900" b="1" dirty="0">
                <a:solidFill>
                  <a:srgbClr val="0B1F33"/>
                </a:solidFill>
                <a:latin typeface="Aptos"/>
              </a:rPr>
              <a:t>M2 made the decision boundary explicit. M3 asks what changes when the positive class is rare.</a:t>
            </a:r>
          </a:p>
        </p:txBody>
      </p:sp>
      <p:sp>
        <p:nvSpPr>
          <p:cNvPr id="27" name="Rectangle 26"/>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6583680"/>
            <a:ext cx="9875520" cy="146304"/>
          </a:xfrm>
          <a:prstGeom prst="rect">
            <a:avLst/>
          </a:prstGeom>
          <a:noFill/>
        </p:spPr>
        <p:txBody>
          <a:bodyPr wrap="square" lIns="54864" tIns="54864" rIns="54864" bIns="54864" anchor="t">
            <a:spAutoFit/>
          </a:bodyPr>
          <a:lstStyle/>
          <a:p>
            <a:pPr algn="l"/>
            <a:r>
              <a:rPr sz="800" b="0">
                <a:solidFill>
                  <a:srgbClr val="5B6971"/>
                </a:solidFill>
                <a:latin typeface="Aptos"/>
              </a:rPr>
              <a:t>M3  |  critical outcome  |  current exported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01  /  CLINICAL QUESTION</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Why this outcome matters</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04</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58368" y="1572768"/>
            <a:ext cx="6080760" cy="3977639"/>
          </a:xfrm>
          <a:prstGeom prst="rect">
            <a:avLst/>
          </a:prstGeom>
        </p:spPr>
      </p:pic>
      <p:sp>
        <p:nvSpPr>
          <p:cNvPr id="7" name="Rounded Rectangle 6"/>
          <p:cNvSpPr/>
          <p:nvPr/>
        </p:nvSpPr>
        <p:spPr>
          <a:xfrm>
            <a:off x="7086600" y="1627632"/>
            <a:ext cx="4160520" cy="38404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52360" y="1965960"/>
            <a:ext cx="3291840" cy="292608"/>
          </a:xfrm>
          <a:prstGeom prst="rect">
            <a:avLst/>
          </a:prstGeom>
          <a:noFill/>
        </p:spPr>
        <p:txBody>
          <a:bodyPr wrap="square" lIns="54864" tIns="54864" rIns="54864" bIns="54864" anchor="t">
            <a:spAutoFit/>
          </a:bodyPr>
          <a:lstStyle/>
          <a:p>
            <a:pPr algn="l"/>
            <a:r>
              <a:rPr sz="2000" b="1">
                <a:solidFill>
                  <a:srgbClr val="0F766E"/>
                </a:solidFill>
                <a:latin typeface="Aptos Display"/>
              </a:rPr>
              <a:t>Severe events, one label</a:t>
            </a:r>
          </a:p>
        </p:txBody>
      </p:sp>
      <p:sp>
        <p:nvSpPr>
          <p:cNvPr id="9" name="Oval 8"/>
          <p:cNvSpPr/>
          <p:nvPr/>
        </p:nvSpPr>
        <p:spPr>
          <a:xfrm>
            <a:off x="7452360" y="2697479"/>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16952" y="2615184"/>
            <a:ext cx="3172968" cy="310896"/>
          </a:xfrm>
          <a:prstGeom prst="rect">
            <a:avLst/>
          </a:prstGeom>
          <a:noFill/>
        </p:spPr>
        <p:txBody>
          <a:bodyPr wrap="square" lIns="54864" tIns="54864" rIns="54864" bIns="54864" anchor="t">
            <a:spAutoFit/>
          </a:bodyPr>
          <a:lstStyle/>
          <a:p>
            <a:pPr algn="l"/>
            <a:r>
              <a:rPr sz="1300" b="0">
                <a:solidFill>
                  <a:srgbClr val="23303A"/>
                </a:solidFill>
                <a:latin typeface="Aptos"/>
              </a:rPr>
              <a:t>Mortality and early ICU transfer both represent high-consequence outcomes.</a:t>
            </a:r>
          </a:p>
        </p:txBody>
      </p:sp>
      <p:sp>
        <p:nvSpPr>
          <p:cNvPr id="11" name="Oval 10"/>
          <p:cNvSpPr/>
          <p:nvPr/>
        </p:nvSpPr>
        <p:spPr>
          <a:xfrm>
            <a:off x="7452360" y="3337559"/>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16952" y="3255263"/>
            <a:ext cx="3172968" cy="310896"/>
          </a:xfrm>
          <a:prstGeom prst="rect">
            <a:avLst/>
          </a:prstGeom>
          <a:noFill/>
        </p:spPr>
        <p:txBody>
          <a:bodyPr wrap="square" lIns="54864" tIns="54864" rIns="54864" bIns="54864" anchor="t">
            <a:spAutoFit/>
          </a:bodyPr>
          <a:lstStyle/>
          <a:p>
            <a:pPr algn="l"/>
            <a:r>
              <a:rPr sz="1300" b="0">
                <a:solidFill>
                  <a:srgbClr val="23303A"/>
                </a:solidFill>
                <a:latin typeface="Aptos"/>
              </a:rPr>
              <a:t>The composite can focus a triage-risk question on severe events.</a:t>
            </a:r>
          </a:p>
        </p:txBody>
      </p:sp>
      <p:sp>
        <p:nvSpPr>
          <p:cNvPr id="13" name="Oval 12"/>
          <p:cNvSpPr/>
          <p:nvPr/>
        </p:nvSpPr>
        <p:spPr>
          <a:xfrm>
            <a:off x="7452360" y="3977639"/>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16952" y="3895344"/>
            <a:ext cx="3172968" cy="310896"/>
          </a:xfrm>
          <a:prstGeom prst="rect">
            <a:avLst/>
          </a:prstGeom>
          <a:noFill/>
        </p:spPr>
        <p:txBody>
          <a:bodyPr wrap="square" lIns="54864" tIns="54864" rIns="54864" bIns="54864" anchor="t">
            <a:spAutoFit/>
          </a:bodyPr>
          <a:lstStyle/>
          <a:p>
            <a:pPr algn="l"/>
            <a:r>
              <a:rPr sz="1300" b="0">
                <a:solidFill>
                  <a:srgbClr val="23303A"/>
                </a:solidFill>
                <a:latin typeface="Aptos"/>
              </a:rPr>
              <a:t>It also combines clinically different pathways, so components must remain visible.</a:t>
            </a:r>
          </a:p>
        </p:txBody>
      </p:sp>
      <p:sp>
        <p:nvSpPr>
          <p:cNvPr id="15" name="Oval 14"/>
          <p:cNvSpPr/>
          <p:nvPr/>
        </p:nvSpPr>
        <p:spPr>
          <a:xfrm>
            <a:off x="7452360" y="4617720"/>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16952" y="4535424"/>
            <a:ext cx="3172968" cy="310896"/>
          </a:xfrm>
          <a:prstGeom prst="rect">
            <a:avLst/>
          </a:prstGeom>
          <a:noFill/>
        </p:spPr>
        <p:txBody>
          <a:bodyPr wrap="square" lIns="54864" tIns="54864" rIns="54864" bIns="54864" anchor="t">
            <a:spAutoFit/>
          </a:bodyPr>
          <a:lstStyle/>
          <a:p>
            <a:pPr algn="l"/>
            <a:r>
              <a:rPr sz="1300" b="0">
                <a:solidFill>
                  <a:srgbClr val="23303A"/>
                </a:solidFill>
                <a:latin typeface="Aptos"/>
              </a:rPr>
              <a:t>This is a retrospective benchmark, not a diagnosis or treatment recommendation.</a:t>
            </a:r>
          </a:p>
        </p:txBody>
      </p:sp>
      <p:sp>
        <p:nvSpPr>
          <p:cNvPr id="17" name="Rectangle 16"/>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6583680"/>
            <a:ext cx="9875520" cy="146304"/>
          </a:xfrm>
          <a:prstGeom prst="rect">
            <a:avLst/>
          </a:prstGeom>
          <a:noFill/>
        </p:spPr>
        <p:txBody>
          <a:bodyPr wrap="square" lIns="54864" tIns="54864" rIns="54864" bIns="54864" anchor="t">
            <a:spAutoFit/>
          </a:bodyPr>
          <a:lstStyle/>
          <a:p>
            <a:pPr algn="l"/>
            <a:r>
              <a:rPr sz="800" b="0">
                <a:solidFill>
                  <a:srgbClr val="5B6971"/>
                </a:solidFill>
                <a:latin typeface="Aptos"/>
              </a:rPr>
              <a:t>M3  |  critical outcome  |  current exported evidence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931920" cy="182880"/>
          </a:xfrm>
          <a:prstGeom prst="rect">
            <a:avLst/>
          </a:prstGeom>
          <a:noFill/>
        </p:spPr>
        <p:txBody>
          <a:bodyPr wrap="square" lIns="54864" tIns="54864" rIns="54864" bIns="54864" anchor="t">
            <a:spAutoFit/>
          </a:bodyPr>
          <a:lstStyle/>
          <a:p>
            <a:pPr algn="l"/>
            <a:r>
              <a:rPr sz="1000" b="1">
                <a:solidFill>
                  <a:srgbClr val="E9C46A"/>
                </a:solidFill>
                <a:latin typeface="Aptos"/>
              </a:rPr>
              <a:t>01  /  clinical question</a:t>
            </a:r>
          </a:p>
        </p:txBody>
      </p:sp>
      <p:sp>
        <p:nvSpPr>
          <p:cNvPr id="3" name="TextBox 2"/>
          <p:cNvSpPr txBox="1"/>
          <p:nvPr/>
        </p:nvSpPr>
        <p:spPr>
          <a:xfrm>
            <a:off x="548640" y="658368"/>
            <a:ext cx="8412480" cy="530352"/>
          </a:xfrm>
          <a:prstGeom prst="rect">
            <a:avLst/>
          </a:prstGeom>
          <a:noFill/>
        </p:spPr>
        <p:txBody>
          <a:bodyPr wrap="square" lIns="54864" tIns="54864" rIns="54864" bIns="54864" anchor="t">
            <a:spAutoFit/>
          </a:bodyPr>
          <a:lstStyle/>
          <a:p>
            <a:pPr algn="l"/>
            <a:r>
              <a:rPr sz="3000" b="1">
                <a:solidFill>
                  <a:srgbClr val="FFFFFF"/>
                </a:solidFill>
                <a:latin typeface="Aptos Display"/>
              </a:rPr>
              <a:t>The target is defined after the stay</a:t>
            </a:r>
          </a:p>
        </p:txBody>
      </p:sp>
      <p:sp>
        <p:nvSpPr>
          <p:cNvPr id="4" name="Rectangle 3"/>
          <p:cNvSpPr/>
          <p:nvPr/>
        </p:nvSpPr>
        <p:spPr>
          <a:xfrm>
            <a:off x="914400" y="2788920"/>
            <a:ext cx="10149840" cy="54864"/>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2459736"/>
            <a:ext cx="658368" cy="65836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3529584"/>
            <a:ext cx="1143000" cy="228600"/>
          </a:xfrm>
          <a:prstGeom prst="rect">
            <a:avLst/>
          </a:prstGeom>
          <a:noFill/>
        </p:spPr>
        <p:txBody>
          <a:bodyPr wrap="square" lIns="54864" tIns="54864" rIns="54864" bIns="54864" anchor="t">
            <a:spAutoFit/>
          </a:bodyPr>
          <a:lstStyle/>
          <a:p>
            <a:pPr algn="ctr"/>
            <a:r>
              <a:rPr sz="1600" b="1">
                <a:solidFill>
                  <a:srgbClr val="FFFFFF"/>
                </a:solidFill>
                <a:latin typeface="Aptos"/>
              </a:rPr>
              <a:t>Arrival</a:t>
            </a:r>
          </a:p>
        </p:txBody>
      </p:sp>
      <p:sp>
        <p:nvSpPr>
          <p:cNvPr id="7" name="TextBox 6"/>
          <p:cNvSpPr txBox="1"/>
          <p:nvPr/>
        </p:nvSpPr>
        <p:spPr>
          <a:xfrm>
            <a:off x="411479" y="3886200"/>
            <a:ext cx="1645920" cy="274320"/>
          </a:xfrm>
          <a:prstGeom prst="rect">
            <a:avLst/>
          </a:prstGeom>
          <a:noFill/>
        </p:spPr>
        <p:txBody>
          <a:bodyPr wrap="square" lIns="54864" tIns="54864" rIns="54864" bIns="54864" anchor="t">
            <a:spAutoFit/>
          </a:bodyPr>
          <a:lstStyle/>
          <a:p>
            <a:pPr algn="ctr"/>
            <a:r>
              <a:rPr sz="1200" b="0">
                <a:solidFill>
                  <a:srgbClr val="E4EBEA"/>
                </a:solidFill>
                <a:latin typeface="Aptos"/>
              </a:rPr>
              <a:t>index begins</a:t>
            </a:r>
          </a:p>
        </p:txBody>
      </p:sp>
      <p:sp>
        <p:nvSpPr>
          <p:cNvPr id="8" name="Oval 7"/>
          <p:cNvSpPr/>
          <p:nvPr/>
        </p:nvSpPr>
        <p:spPr>
          <a:xfrm>
            <a:off x="3246120" y="2459736"/>
            <a:ext cx="658368" cy="65836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7520" y="3529584"/>
            <a:ext cx="1143000" cy="228600"/>
          </a:xfrm>
          <a:prstGeom prst="rect">
            <a:avLst/>
          </a:prstGeom>
          <a:noFill/>
        </p:spPr>
        <p:txBody>
          <a:bodyPr wrap="square" lIns="54864" tIns="54864" rIns="54864" bIns="54864" anchor="t">
            <a:spAutoFit/>
          </a:bodyPr>
          <a:lstStyle/>
          <a:p>
            <a:pPr algn="ctr"/>
            <a:r>
              <a:rPr sz="1600" b="1">
                <a:solidFill>
                  <a:srgbClr val="FFFFFF"/>
                </a:solidFill>
                <a:latin typeface="Aptos"/>
              </a:rPr>
              <a:t>Triage</a:t>
            </a:r>
          </a:p>
        </p:txBody>
      </p:sp>
      <p:sp>
        <p:nvSpPr>
          <p:cNvPr id="10" name="TextBox 9"/>
          <p:cNvSpPr txBox="1"/>
          <p:nvPr/>
        </p:nvSpPr>
        <p:spPr>
          <a:xfrm>
            <a:off x="2743200" y="3886200"/>
            <a:ext cx="1645920" cy="274320"/>
          </a:xfrm>
          <a:prstGeom prst="rect">
            <a:avLst/>
          </a:prstGeom>
          <a:noFill/>
        </p:spPr>
        <p:txBody>
          <a:bodyPr wrap="square" lIns="54864" tIns="54864" rIns="54864" bIns="54864" anchor="t">
            <a:spAutoFit/>
          </a:bodyPr>
          <a:lstStyle/>
          <a:p>
            <a:pPr algn="ctr"/>
            <a:r>
              <a:rPr sz="1200" b="0">
                <a:solidFill>
                  <a:srgbClr val="E4EBEA"/>
                </a:solidFill>
                <a:latin typeface="Aptos"/>
              </a:rPr>
              <a:t>predictor window</a:t>
            </a:r>
          </a:p>
        </p:txBody>
      </p:sp>
      <p:sp>
        <p:nvSpPr>
          <p:cNvPr id="11" name="Oval 10"/>
          <p:cNvSpPr/>
          <p:nvPr/>
        </p:nvSpPr>
        <p:spPr>
          <a:xfrm>
            <a:off x="5577840" y="2459736"/>
            <a:ext cx="658368" cy="658368"/>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49240" y="3529584"/>
            <a:ext cx="1143000" cy="228600"/>
          </a:xfrm>
          <a:prstGeom prst="rect">
            <a:avLst/>
          </a:prstGeom>
          <a:noFill/>
        </p:spPr>
        <p:txBody>
          <a:bodyPr wrap="square" lIns="54864" tIns="54864" rIns="54864" bIns="54864" anchor="t">
            <a:spAutoFit/>
          </a:bodyPr>
          <a:lstStyle/>
          <a:p>
            <a:pPr algn="ctr"/>
            <a:r>
              <a:rPr sz="1600" b="1">
                <a:solidFill>
                  <a:srgbClr val="FFFFFF"/>
                </a:solidFill>
                <a:latin typeface="Aptos"/>
              </a:rPr>
              <a:t>ED course</a:t>
            </a:r>
          </a:p>
        </p:txBody>
      </p:sp>
      <p:sp>
        <p:nvSpPr>
          <p:cNvPr id="13" name="TextBox 12"/>
          <p:cNvSpPr txBox="1"/>
          <p:nvPr/>
        </p:nvSpPr>
        <p:spPr>
          <a:xfrm>
            <a:off x="5074920" y="3886200"/>
            <a:ext cx="1645920" cy="274320"/>
          </a:xfrm>
          <a:prstGeom prst="rect">
            <a:avLst/>
          </a:prstGeom>
          <a:noFill/>
        </p:spPr>
        <p:txBody>
          <a:bodyPr wrap="square" lIns="54864" tIns="54864" rIns="54864" bIns="54864" anchor="t">
            <a:spAutoFit/>
          </a:bodyPr>
          <a:lstStyle/>
          <a:p>
            <a:pPr algn="ctr"/>
            <a:r>
              <a:rPr sz="1200" b="0">
                <a:solidFill>
                  <a:srgbClr val="E4EBEA"/>
                </a:solidFill>
                <a:latin typeface="Aptos"/>
              </a:rPr>
              <a:t>information accrues</a:t>
            </a:r>
          </a:p>
        </p:txBody>
      </p:sp>
      <p:sp>
        <p:nvSpPr>
          <p:cNvPr id="14" name="Oval 13"/>
          <p:cNvSpPr/>
          <p:nvPr/>
        </p:nvSpPr>
        <p:spPr>
          <a:xfrm>
            <a:off x="7909560" y="2459736"/>
            <a:ext cx="658368" cy="658368"/>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80960" y="3529584"/>
            <a:ext cx="1143000" cy="228600"/>
          </a:xfrm>
          <a:prstGeom prst="rect">
            <a:avLst/>
          </a:prstGeom>
          <a:noFill/>
        </p:spPr>
        <p:txBody>
          <a:bodyPr wrap="square" lIns="54864" tIns="54864" rIns="54864" bIns="54864" anchor="t">
            <a:spAutoFit/>
          </a:bodyPr>
          <a:lstStyle/>
          <a:p>
            <a:pPr algn="ctr"/>
            <a:r>
              <a:rPr sz="1600" b="1">
                <a:solidFill>
                  <a:srgbClr val="FFFFFF"/>
                </a:solidFill>
                <a:latin typeface="Aptos"/>
              </a:rPr>
              <a:t>Outcome</a:t>
            </a:r>
          </a:p>
        </p:txBody>
      </p:sp>
      <p:sp>
        <p:nvSpPr>
          <p:cNvPr id="16" name="TextBox 15"/>
          <p:cNvSpPr txBox="1"/>
          <p:nvPr/>
        </p:nvSpPr>
        <p:spPr>
          <a:xfrm>
            <a:off x="7406640" y="3886200"/>
            <a:ext cx="1645920" cy="274320"/>
          </a:xfrm>
          <a:prstGeom prst="rect">
            <a:avLst/>
          </a:prstGeom>
          <a:noFill/>
        </p:spPr>
        <p:txBody>
          <a:bodyPr wrap="square" lIns="54864" tIns="54864" rIns="54864" bIns="54864" anchor="t">
            <a:spAutoFit/>
          </a:bodyPr>
          <a:lstStyle/>
          <a:p>
            <a:pPr algn="ctr"/>
            <a:r>
              <a:rPr sz="1200" b="0">
                <a:solidFill>
                  <a:srgbClr val="E4EBEA"/>
                </a:solidFill>
                <a:latin typeface="Aptos"/>
              </a:rPr>
              <a:t>label becomes known</a:t>
            </a:r>
          </a:p>
        </p:txBody>
      </p:sp>
      <p:cxnSp>
        <p:nvCxnSpPr>
          <p:cNvPr id="17" name="Connector 16"/>
          <p:cNvCxnSpPr/>
          <p:nvPr/>
        </p:nvCxnSpPr>
        <p:spPr>
          <a:xfrm>
            <a:off x="1664207" y="2816352"/>
            <a:ext cx="1426465"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995928" y="2816352"/>
            <a:ext cx="1426464"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327648" y="2816352"/>
            <a:ext cx="1426464"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68680" y="4892040"/>
            <a:ext cx="10469880" cy="923544"/>
          </a:xfrm>
          <a:prstGeom prst="roundRect">
            <a:avLst>
              <a:gd name="adj" fmla="val 8000"/>
            </a:avLst>
          </a:prstGeom>
          <a:solidFill>
            <a:srgbClr val="183143"/>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97280" y="5138928"/>
            <a:ext cx="10012680" cy="274320"/>
          </a:xfrm>
          <a:prstGeom prst="rect">
            <a:avLst/>
          </a:prstGeom>
          <a:noFill/>
        </p:spPr>
        <p:txBody>
          <a:bodyPr wrap="square" lIns="54864" tIns="54864" rIns="54864" bIns="54864" anchor="t">
            <a:spAutoFit/>
          </a:bodyPr>
          <a:lstStyle/>
          <a:p>
            <a:pPr algn="ctr"/>
            <a:r>
              <a:rPr sz="1900" b="1">
                <a:solidFill>
                  <a:srgbClr val="E9C46A"/>
                </a:solidFill>
                <a:latin typeface="Aptos"/>
              </a:rPr>
              <a:t>Use triage-era inputs to estimate a later label. Never let the later label leak backward into 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02  /  EVALUATION DESIGN</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Rare positives change how metrics should be read</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06</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27632"/>
            <a:ext cx="2971800" cy="438912"/>
          </a:xfrm>
          <a:prstGeom prst="rect">
            <a:avLst/>
          </a:prstGeom>
          <a:noFill/>
        </p:spPr>
        <p:txBody>
          <a:bodyPr wrap="square" lIns="54864" tIns="54864" rIns="54864" bIns="54864" anchor="t">
            <a:spAutoFit/>
          </a:bodyPr>
          <a:lstStyle/>
          <a:p>
            <a:pPr algn="l"/>
            <a:r>
              <a:rPr sz="2900" b="1">
                <a:solidFill>
                  <a:srgbClr val="E76F51"/>
                </a:solidFill>
                <a:latin typeface="Aptos Display"/>
              </a:rPr>
              <a:t>6.72%</a:t>
            </a:r>
          </a:p>
        </p:txBody>
      </p:sp>
      <p:sp>
        <p:nvSpPr>
          <p:cNvPr id="7" name="TextBox 6"/>
          <p:cNvSpPr txBox="1"/>
          <p:nvPr/>
        </p:nvSpPr>
        <p:spPr>
          <a:xfrm>
            <a:off x="777240" y="2112264"/>
            <a:ext cx="2971800" cy="347472"/>
          </a:xfrm>
          <a:prstGeom prst="rect">
            <a:avLst/>
          </a:prstGeom>
          <a:noFill/>
        </p:spPr>
        <p:txBody>
          <a:bodyPr wrap="square" lIns="54864" tIns="54864" rIns="54864" bIns="54864" anchor="t">
            <a:spAutoFit/>
          </a:bodyPr>
          <a:lstStyle/>
          <a:p>
            <a:pPr algn="l"/>
            <a:r>
              <a:rPr sz="1200" b="0">
                <a:solidFill>
                  <a:srgbClr val="5B6971"/>
                </a:solidFill>
                <a:latin typeface="Aptos"/>
              </a:rPr>
              <a:t>positive prevalence in the held-out test set</a:t>
            </a:r>
          </a:p>
        </p:txBody>
      </p:sp>
      <p:sp>
        <p:nvSpPr>
          <p:cNvPr id="8" name="TextBox 7"/>
          <p:cNvSpPr txBox="1"/>
          <p:nvPr/>
        </p:nvSpPr>
        <p:spPr>
          <a:xfrm>
            <a:off x="3931920" y="1627632"/>
            <a:ext cx="2468880" cy="438912"/>
          </a:xfrm>
          <a:prstGeom prst="rect">
            <a:avLst/>
          </a:prstGeom>
          <a:noFill/>
        </p:spPr>
        <p:txBody>
          <a:bodyPr wrap="square" lIns="54864" tIns="54864" rIns="54864" bIns="54864" anchor="t">
            <a:spAutoFit/>
          </a:bodyPr>
          <a:lstStyle/>
          <a:p>
            <a:pPr algn="l"/>
            <a:r>
              <a:rPr sz="2900" b="1">
                <a:solidFill>
                  <a:srgbClr val="0F766E"/>
                </a:solidFill>
                <a:latin typeface="Aptos Display"/>
              </a:rPr>
              <a:t>401</a:t>
            </a:r>
          </a:p>
        </p:txBody>
      </p:sp>
      <p:sp>
        <p:nvSpPr>
          <p:cNvPr id="9" name="TextBox 8"/>
          <p:cNvSpPr txBox="1"/>
          <p:nvPr/>
        </p:nvSpPr>
        <p:spPr>
          <a:xfrm>
            <a:off x="3931920" y="2112264"/>
            <a:ext cx="2468880" cy="347472"/>
          </a:xfrm>
          <a:prstGeom prst="rect">
            <a:avLst/>
          </a:prstGeom>
          <a:noFill/>
        </p:spPr>
        <p:txBody>
          <a:bodyPr wrap="square" lIns="54864" tIns="54864" rIns="54864" bIns="54864" anchor="t">
            <a:spAutoFit/>
          </a:bodyPr>
          <a:lstStyle/>
          <a:p>
            <a:pPr algn="l"/>
            <a:r>
              <a:rPr sz="1200" b="0">
                <a:solidFill>
                  <a:srgbClr val="5B6971"/>
                </a:solidFill>
                <a:latin typeface="Aptos"/>
              </a:rPr>
              <a:t>positive test stays</a:t>
            </a:r>
          </a:p>
        </p:txBody>
      </p:sp>
      <p:sp>
        <p:nvSpPr>
          <p:cNvPr id="10" name="TextBox 9"/>
          <p:cNvSpPr txBox="1"/>
          <p:nvPr/>
        </p:nvSpPr>
        <p:spPr>
          <a:xfrm>
            <a:off x="6629400" y="1627632"/>
            <a:ext cx="2560320" cy="438912"/>
          </a:xfrm>
          <a:prstGeom prst="rect">
            <a:avLst/>
          </a:prstGeom>
          <a:noFill/>
        </p:spPr>
        <p:txBody>
          <a:bodyPr wrap="square" lIns="54864" tIns="54864" rIns="54864" bIns="54864" anchor="t">
            <a:spAutoFit/>
          </a:bodyPr>
          <a:lstStyle/>
          <a:p>
            <a:pPr algn="l"/>
            <a:r>
              <a:rPr sz="2900" b="1">
                <a:solidFill>
                  <a:srgbClr val="599DB5"/>
                </a:solidFill>
                <a:latin typeface="Aptos Display"/>
              </a:rPr>
              <a:t>5,563</a:t>
            </a:r>
          </a:p>
        </p:txBody>
      </p:sp>
      <p:sp>
        <p:nvSpPr>
          <p:cNvPr id="11" name="TextBox 10"/>
          <p:cNvSpPr txBox="1"/>
          <p:nvPr/>
        </p:nvSpPr>
        <p:spPr>
          <a:xfrm>
            <a:off x="6629400" y="2112264"/>
            <a:ext cx="2560320" cy="347472"/>
          </a:xfrm>
          <a:prstGeom prst="rect">
            <a:avLst/>
          </a:prstGeom>
          <a:noFill/>
        </p:spPr>
        <p:txBody>
          <a:bodyPr wrap="square" lIns="54864" tIns="54864" rIns="54864" bIns="54864" anchor="t">
            <a:spAutoFit/>
          </a:bodyPr>
          <a:lstStyle/>
          <a:p>
            <a:pPr algn="l"/>
            <a:r>
              <a:rPr sz="1200" b="0">
                <a:solidFill>
                  <a:srgbClr val="5B6971"/>
                </a:solidFill>
                <a:latin typeface="Aptos"/>
              </a:rPr>
              <a:t>negative test stays</a:t>
            </a:r>
          </a:p>
        </p:txBody>
      </p:sp>
      <p:sp>
        <p:nvSpPr>
          <p:cNvPr id="12" name="TextBox 11"/>
          <p:cNvSpPr txBox="1"/>
          <p:nvPr/>
        </p:nvSpPr>
        <p:spPr>
          <a:xfrm>
            <a:off x="9281160" y="1627632"/>
            <a:ext cx="2057400" cy="438912"/>
          </a:xfrm>
          <a:prstGeom prst="rect">
            <a:avLst/>
          </a:prstGeom>
          <a:noFill/>
        </p:spPr>
        <p:txBody>
          <a:bodyPr wrap="square" lIns="54864" tIns="54864" rIns="54864" bIns="54864" anchor="t">
            <a:spAutoFit/>
          </a:bodyPr>
          <a:lstStyle/>
          <a:p>
            <a:pPr algn="l"/>
            <a:r>
              <a:rPr sz="2900" b="1">
                <a:solidFill>
                  <a:srgbClr val="E9C46A"/>
                </a:solidFill>
                <a:latin typeface="Aptos Display"/>
              </a:rPr>
              <a:t>0</a:t>
            </a:r>
          </a:p>
        </p:txBody>
      </p:sp>
      <p:sp>
        <p:nvSpPr>
          <p:cNvPr id="13" name="TextBox 12"/>
          <p:cNvSpPr txBox="1"/>
          <p:nvPr/>
        </p:nvSpPr>
        <p:spPr>
          <a:xfrm>
            <a:off x="9281160" y="2112264"/>
            <a:ext cx="2057400" cy="347472"/>
          </a:xfrm>
          <a:prstGeom prst="rect">
            <a:avLst/>
          </a:prstGeom>
          <a:noFill/>
        </p:spPr>
        <p:txBody>
          <a:bodyPr wrap="square" lIns="54864" tIns="54864" rIns="54864" bIns="54864" anchor="t">
            <a:spAutoFit/>
          </a:bodyPr>
          <a:lstStyle/>
          <a:p>
            <a:pPr algn="l"/>
            <a:r>
              <a:rPr sz="1200" b="0">
                <a:solidFill>
                  <a:srgbClr val="5B6971"/>
                </a:solidFill>
                <a:latin typeface="Aptos"/>
              </a:rPr>
              <a:t>patient overlap across train and test</a:t>
            </a:r>
          </a:p>
        </p:txBody>
      </p:sp>
      <p:sp>
        <p:nvSpPr>
          <p:cNvPr id="14" name="Rounded Rectangle 13"/>
          <p:cNvSpPr/>
          <p:nvPr/>
        </p:nvSpPr>
        <p:spPr>
          <a:xfrm>
            <a:off x="822960" y="3154679"/>
            <a:ext cx="4892040" cy="2810691"/>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3493008"/>
            <a:ext cx="4206240" cy="292608"/>
          </a:xfrm>
          <a:prstGeom prst="rect">
            <a:avLst/>
          </a:prstGeom>
          <a:noFill/>
        </p:spPr>
        <p:txBody>
          <a:bodyPr wrap="square" lIns="54864" tIns="54864" rIns="54864" bIns="54864" anchor="t">
            <a:spAutoFit/>
          </a:bodyPr>
          <a:lstStyle/>
          <a:p>
            <a:pPr algn="l"/>
            <a:r>
              <a:rPr sz="2100" b="1">
                <a:solidFill>
                  <a:srgbClr val="0B1F33"/>
                </a:solidFill>
                <a:latin typeface="Aptos Display"/>
              </a:rPr>
              <a:t>Why accuracy can mislead</a:t>
            </a:r>
          </a:p>
        </p:txBody>
      </p:sp>
      <p:sp>
        <p:nvSpPr>
          <p:cNvPr id="16" name="Oval 15"/>
          <p:cNvSpPr/>
          <p:nvPr/>
        </p:nvSpPr>
        <p:spPr>
          <a:xfrm>
            <a:off x="1143000" y="419709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07592" y="4114800"/>
            <a:ext cx="3904488" cy="310896"/>
          </a:xfrm>
          <a:prstGeom prst="rect">
            <a:avLst/>
          </a:prstGeom>
          <a:noFill/>
        </p:spPr>
        <p:txBody>
          <a:bodyPr wrap="square" lIns="54864" tIns="54864" rIns="54864" bIns="54864" anchor="t">
            <a:spAutoFit/>
          </a:bodyPr>
          <a:lstStyle/>
          <a:p>
            <a:pPr algn="l"/>
            <a:r>
              <a:rPr sz="1400" b="0">
                <a:solidFill>
                  <a:srgbClr val="23303A"/>
                </a:solidFill>
                <a:latin typeface="Aptos"/>
              </a:rPr>
              <a:t>A majority-class dummy is accurate about 93% of the time.</a:t>
            </a:r>
          </a:p>
        </p:txBody>
      </p:sp>
      <p:sp>
        <p:nvSpPr>
          <p:cNvPr id="18" name="Oval 17"/>
          <p:cNvSpPr/>
          <p:nvPr/>
        </p:nvSpPr>
        <p:spPr>
          <a:xfrm>
            <a:off x="1143000" y="4727448"/>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07592" y="4645152"/>
            <a:ext cx="3904488" cy="310896"/>
          </a:xfrm>
          <a:prstGeom prst="rect">
            <a:avLst/>
          </a:prstGeom>
          <a:noFill/>
        </p:spPr>
        <p:txBody>
          <a:bodyPr wrap="square" lIns="54864" tIns="54864" rIns="54864" bIns="54864" anchor="t">
            <a:spAutoFit/>
          </a:bodyPr>
          <a:lstStyle/>
          <a:p>
            <a:pPr algn="l"/>
            <a:r>
              <a:rPr sz="1400" b="0">
                <a:solidFill>
                  <a:srgbClr val="23303A"/>
                </a:solidFill>
                <a:latin typeface="Aptos"/>
              </a:rPr>
              <a:t>It finds zero critical cases.</a:t>
            </a:r>
          </a:p>
        </p:txBody>
      </p:sp>
      <p:sp>
        <p:nvSpPr>
          <p:cNvPr id="20" name="Oval 19"/>
          <p:cNvSpPr/>
          <p:nvPr/>
        </p:nvSpPr>
        <p:spPr>
          <a:xfrm>
            <a:off x="1143000" y="5257800"/>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07592" y="5175504"/>
            <a:ext cx="3904488" cy="310896"/>
          </a:xfrm>
          <a:prstGeom prst="rect">
            <a:avLst/>
          </a:prstGeom>
          <a:noFill/>
        </p:spPr>
        <p:txBody>
          <a:bodyPr wrap="square" lIns="54864" tIns="54864" rIns="54864" bIns="54864" anchor="t">
            <a:spAutoFit/>
          </a:bodyPr>
          <a:lstStyle/>
          <a:p>
            <a:pPr algn="l"/>
            <a:r>
              <a:rPr sz="1400" b="0">
                <a:solidFill>
                  <a:srgbClr val="23303A"/>
                </a:solidFill>
                <a:latin typeface="Aptos"/>
              </a:rPr>
              <a:t>Sensitivity, PPV, average precision, and confusion counts make the trade-off visible.</a:t>
            </a:r>
          </a:p>
        </p:txBody>
      </p:sp>
      <p:sp>
        <p:nvSpPr>
          <p:cNvPr id="22" name="Rounded Rectangle 21"/>
          <p:cNvSpPr/>
          <p:nvPr/>
        </p:nvSpPr>
        <p:spPr>
          <a:xfrm>
            <a:off x="6217920" y="3154680"/>
            <a:ext cx="5074920" cy="281069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37960" y="3493008"/>
            <a:ext cx="4389120" cy="292608"/>
          </a:xfrm>
          <a:prstGeom prst="rect">
            <a:avLst/>
          </a:prstGeom>
          <a:noFill/>
        </p:spPr>
        <p:txBody>
          <a:bodyPr wrap="square" lIns="54864" tIns="54864" rIns="54864" bIns="54864" anchor="t">
            <a:spAutoFit/>
          </a:bodyPr>
          <a:lstStyle/>
          <a:p>
            <a:pPr algn="l"/>
            <a:r>
              <a:rPr sz="2100" b="1">
                <a:solidFill>
                  <a:srgbClr val="0B1F33"/>
                </a:solidFill>
                <a:latin typeface="Aptos Display"/>
              </a:rPr>
              <a:t>The test population stays real</a:t>
            </a:r>
          </a:p>
        </p:txBody>
      </p:sp>
      <p:sp>
        <p:nvSpPr>
          <p:cNvPr id="24" name="Oval 23"/>
          <p:cNvSpPr/>
          <p:nvPr/>
        </p:nvSpPr>
        <p:spPr>
          <a:xfrm>
            <a:off x="6537960" y="4197096"/>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02552" y="4114800"/>
            <a:ext cx="4087368" cy="310896"/>
          </a:xfrm>
          <a:prstGeom prst="rect">
            <a:avLst/>
          </a:prstGeom>
          <a:noFill/>
        </p:spPr>
        <p:txBody>
          <a:bodyPr wrap="square" lIns="54864" tIns="54864" rIns="54864" bIns="54864" anchor="t">
            <a:spAutoFit/>
          </a:bodyPr>
          <a:lstStyle/>
          <a:p>
            <a:pPr algn="l"/>
            <a:r>
              <a:rPr sz="1400" b="0">
                <a:solidFill>
                  <a:srgbClr val="23303A"/>
                </a:solidFill>
                <a:latin typeface="Aptos"/>
              </a:rPr>
              <a:t>Sampling changes training rows, not the held-out test population.</a:t>
            </a:r>
          </a:p>
        </p:txBody>
      </p:sp>
      <p:sp>
        <p:nvSpPr>
          <p:cNvPr id="26" name="Oval 25"/>
          <p:cNvSpPr/>
          <p:nvPr/>
        </p:nvSpPr>
        <p:spPr>
          <a:xfrm>
            <a:off x="6537960" y="4727448"/>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02552" y="4645152"/>
            <a:ext cx="4087368" cy="310896"/>
          </a:xfrm>
          <a:prstGeom prst="rect">
            <a:avLst/>
          </a:prstGeom>
          <a:noFill/>
        </p:spPr>
        <p:txBody>
          <a:bodyPr wrap="square" lIns="54864" tIns="54864" rIns="54864" bIns="54864" anchor="t">
            <a:spAutoFit/>
          </a:bodyPr>
          <a:lstStyle/>
          <a:p>
            <a:pPr algn="l"/>
            <a:r>
              <a:rPr sz="1400" b="0" dirty="0">
                <a:solidFill>
                  <a:srgbClr val="23303A"/>
                </a:solidFill>
                <a:latin typeface="Aptos"/>
              </a:rPr>
              <a:t>PPV remains tied to the prevalence seen at evaluation.</a:t>
            </a:r>
          </a:p>
        </p:txBody>
      </p:sp>
      <p:sp>
        <p:nvSpPr>
          <p:cNvPr id="28" name="Oval 27"/>
          <p:cNvSpPr/>
          <p:nvPr/>
        </p:nvSpPr>
        <p:spPr>
          <a:xfrm>
            <a:off x="6537960" y="5257800"/>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02552" y="5175504"/>
            <a:ext cx="4087368" cy="310896"/>
          </a:xfrm>
          <a:prstGeom prst="rect">
            <a:avLst/>
          </a:prstGeom>
          <a:noFill/>
        </p:spPr>
        <p:txBody>
          <a:bodyPr wrap="square" lIns="54864" tIns="54864" rIns="54864" bIns="54864" anchor="t">
            <a:spAutoFit/>
          </a:bodyPr>
          <a:lstStyle/>
          <a:p>
            <a:pPr algn="l"/>
            <a:r>
              <a:rPr sz="1400" b="0">
                <a:solidFill>
                  <a:srgbClr val="23303A"/>
                </a:solidFill>
                <a:latin typeface="Aptos"/>
              </a:rPr>
              <a:t>Patient-disjoint splitting tests generalization to unseen patients from this source.</a:t>
            </a:r>
          </a:p>
        </p:txBody>
      </p:sp>
      <p:sp>
        <p:nvSpPr>
          <p:cNvPr id="30" name="Rectangle 29"/>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6583680"/>
            <a:ext cx="9875520" cy="146304"/>
          </a:xfrm>
          <a:prstGeom prst="rect">
            <a:avLst/>
          </a:prstGeom>
          <a:noFill/>
        </p:spPr>
        <p:txBody>
          <a:bodyPr wrap="square" lIns="54864" tIns="54864" rIns="54864" bIns="54864" anchor="t">
            <a:spAutoFit/>
          </a:bodyPr>
          <a:lstStyle/>
          <a:p>
            <a:pPr algn="l"/>
            <a:r>
              <a:rPr sz="800" b="0">
                <a:solidFill>
                  <a:srgbClr val="5B6971"/>
                </a:solidFill>
                <a:latin typeface="Aptos"/>
              </a:rPr>
              <a:t>M3  |  critical outcome  |  current exported evidence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03  /  SAMPLING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Sampling changes what the learner sees</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07</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9875520" cy="320040"/>
          </a:xfrm>
          <a:prstGeom prst="rect">
            <a:avLst/>
          </a:prstGeom>
          <a:noFill/>
        </p:spPr>
        <p:txBody>
          <a:bodyPr wrap="square" lIns="54864" tIns="54864" rIns="54864" bIns="54864" anchor="t">
            <a:spAutoFit/>
          </a:bodyPr>
          <a:lstStyle/>
          <a:p>
            <a:pPr algn="l"/>
            <a:r>
              <a:rPr sz="2100" b="1">
                <a:solidFill>
                  <a:srgbClr val="0B1F33"/>
                </a:solidFill>
                <a:latin typeface="Aptos Display"/>
              </a:rPr>
              <a:t>All five strategies use the same target, but they create different training distributions.</a:t>
            </a:r>
          </a:p>
        </p:txBody>
      </p:sp>
      <p:sp>
        <p:nvSpPr>
          <p:cNvPr id="7" name="Rectangle 6"/>
          <p:cNvSpPr/>
          <p:nvPr/>
        </p:nvSpPr>
        <p:spPr>
          <a:xfrm>
            <a:off x="731520" y="2240280"/>
            <a:ext cx="91440" cy="91440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95144"/>
            <a:ext cx="2697480" cy="256032"/>
          </a:xfrm>
          <a:prstGeom prst="rect">
            <a:avLst/>
          </a:prstGeom>
          <a:noFill/>
        </p:spPr>
        <p:txBody>
          <a:bodyPr wrap="square" lIns="54864" tIns="54864" rIns="54864" bIns="54864" anchor="t">
            <a:spAutoFit/>
          </a:bodyPr>
          <a:lstStyle/>
          <a:p>
            <a:pPr algn="l"/>
            <a:r>
              <a:rPr sz="1800" b="1">
                <a:solidFill>
                  <a:srgbClr val="0B1F33"/>
                </a:solidFill>
                <a:latin typeface="Aptos Display"/>
              </a:rPr>
              <a:t>Original</a:t>
            </a:r>
          </a:p>
        </p:txBody>
      </p:sp>
      <p:sp>
        <p:nvSpPr>
          <p:cNvPr id="9" name="TextBox 8"/>
          <p:cNvSpPr txBox="1"/>
          <p:nvPr/>
        </p:nvSpPr>
        <p:spPr>
          <a:xfrm>
            <a:off x="1005840" y="2679192"/>
            <a:ext cx="2971800" cy="457200"/>
          </a:xfrm>
          <a:prstGeom prst="rect">
            <a:avLst/>
          </a:prstGeom>
          <a:noFill/>
        </p:spPr>
        <p:txBody>
          <a:bodyPr wrap="square" lIns="54864" tIns="54864" rIns="54864" bIns="54864" anchor="t">
            <a:spAutoFit/>
          </a:bodyPr>
          <a:lstStyle/>
          <a:p>
            <a:pPr algn="l"/>
            <a:r>
              <a:rPr sz="1300" b="0">
                <a:solidFill>
                  <a:srgbClr val="23303A"/>
                </a:solidFill>
                <a:latin typeface="Aptos"/>
              </a:rPr>
              <a:t>keep the observed 93:7 class ratio</a:t>
            </a:r>
          </a:p>
        </p:txBody>
      </p:sp>
      <p:sp>
        <p:nvSpPr>
          <p:cNvPr id="10" name="Rectangle 9"/>
          <p:cNvSpPr/>
          <p:nvPr/>
        </p:nvSpPr>
        <p:spPr>
          <a:xfrm>
            <a:off x="4480559" y="2240280"/>
            <a:ext cx="91440" cy="91440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79" y="2295144"/>
            <a:ext cx="2697480" cy="256032"/>
          </a:xfrm>
          <a:prstGeom prst="rect">
            <a:avLst/>
          </a:prstGeom>
          <a:noFill/>
        </p:spPr>
        <p:txBody>
          <a:bodyPr wrap="square" lIns="54864" tIns="54864" rIns="54864" bIns="54864" anchor="t">
            <a:spAutoFit/>
          </a:bodyPr>
          <a:lstStyle/>
          <a:p>
            <a:pPr algn="l"/>
            <a:r>
              <a:rPr sz="1800" b="1">
                <a:solidFill>
                  <a:srgbClr val="0B1F33"/>
                </a:solidFill>
                <a:latin typeface="Aptos Display"/>
              </a:rPr>
              <a:t>Under-sampling</a:t>
            </a:r>
          </a:p>
        </p:txBody>
      </p:sp>
      <p:sp>
        <p:nvSpPr>
          <p:cNvPr id="12" name="TextBox 11"/>
          <p:cNvSpPr txBox="1"/>
          <p:nvPr/>
        </p:nvSpPr>
        <p:spPr>
          <a:xfrm>
            <a:off x="4754879" y="2679192"/>
            <a:ext cx="2971800" cy="457200"/>
          </a:xfrm>
          <a:prstGeom prst="rect">
            <a:avLst/>
          </a:prstGeom>
          <a:noFill/>
        </p:spPr>
        <p:txBody>
          <a:bodyPr wrap="square" lIns="54864" tIns="54864" rIns="54864" bIns="54864" anchor="t">
            <a:spAutoFit/>
          </a:bodyPr>
          <a:lstStyle/>
          <a:p>
            <a:pPr algn="l"/>
            <a:r>
              <a:rPr sz="1300" b="0">
                <a:solidFill>
                  <a:srgbClr val="23303A"/>
                </a:solidFill>
                <a:latin typeface="Aptos"/>
              </a:rPr>
              <a:t>remove some negatives to balance classes</a:t>
            </a:r>
          </a:p>
        </p:txBody>
      </p:sp>
      <p:sp>
        <p:nvSpPr>
          <p:cNvPr id="13" name="Rectangle 12"/>
          <p:cNvSpPr/>
          <p:nvPr/>
        </p:nvSpPr>
        <p:spPr>
          <a:xfrm>
            <a:off x="8229600" y="2240280"/>
            <a:ext cx="91440" cy="914400"/>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0" y="2295144"/>
            <a:ext cx="2697480" cy="256032"/>
          </a:xfrm>
          <a:prstGeom prst="rect">
            <a:avLst/>
          </a:prstGeom>
          <a:noFill/>
        </p:spPr>
        <p:txBody>
          <a:bodyPr wrap="square" lIns="54864" tIns="54864" rIns="54864" bIns="54864" anchor="t">
            <a:spAutoFit/>
          </a:bodyPr>
          <a:lstStyle/>
          <a:p>
            <a:pPr algn="l"/>
            <a:r>
              <a:rPr sz="1800" b="1">
                <a:solidFill>
                  <a:srgbClr val="0B1F33"/>
                </a:solidFill>
                <a:latin typeface="Aptos Display"/>
              </a:rPr>
              <a:t>Over-sampling</a:t>
            </a:r>
          </a:p>
        </p:txBody>
      </p:sp>
      <p:sp>
        <p:nvSpPr>
          <p:cNvPr id="15" name="TextBox 14"/>
          <p:cNvSpPr txBox="1"/>
          <p:nvPr/>
        </p:nvSpPr>
        <p:spPr>
          <a:xfrm>
            <a:off x="8503920" y="2679192"/>
            <a:ext cx="2971800" cy="457200"/>
          </a:xfrm>
          <a:prstGeom prst="rect">
            <a:avLst/>
          </a:prstGeom>
          <a:noFill/>
        </p:spPr>
        <p:txBody>
          <a:bodyPr wrap="square" lIns="54864" tIns="54864" rIns="54864" bIns="54864" anchor="t">
            <a:spAutoFit/>
          </a:bodyPr>
          <a:lstStyle/>
          <a:p>
            <a:pPr algn="l"/>
            <a:r>
              <a:rPr sz="1300" b="0">
                <a:solidFill>
                  <a:srgbClr val="23303A"/>
                </a:solidFill>
                <a:latin typeface="Aptos"/>
              </a:rPr>
              <a:t>duplicate positive rows</a:t>
            </a:r>
          </a:p>
        </p:txBody>
      </p:sp>
      <p:sp>
        <p:nvSpPr>
          <p:cNvPr id="16" name="Rectangle 15"/>
          <p:cNvSpPr/>
          <p:nvPr/>
        </p:nvSpPr>
        <p:spPr>
          <a:xfrm>
            <a:off x="731520" y="3794760"/>
            <a:ext cx="91440" cy="91440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849624"/>
            <a:ext cx="2697480" cy="256032"/>
          </a:xfrm>
          <a:prstGeom prst="rect">
            <a:avLst/>
          </a:prstGeom>
          <a:noFill/>
        </p:spPr>
        <p:txBody>
          <a:bodyPr wrap="square" lIns="54864" tIns="54864" rIns="54864" bIns="54864" anchor="t">
            <a:spAutoFit/>
          </a:bodyPr>
          <a:lstStyle/>
          <a:p>
            <a:pPr algn="l"/>
            <a:r>
              <a:rPr sz="1800" b="1">
                <a:solidFill>
                  <a:srgbClr val="0B1F33"/>
                </a:solidFill>
                <a:latin typeface="Aptos Display"/>
              </a:rPr>
              <a:t>SMOTE</a:t>
            </a:r>
          </a:p>
        </p:txBody>
      </p:sp>
      <p:sp>
        <p:nvSpPr>
          <p:cNvPr id="18" name="TextBox 17"/>
          <p:cNvSpPr txBox="1"/>
          <p:nvPr/>
        </p:nvSpPr>
        <p:spPr>
          <a:xfrm>
            <a:off x="1005840" y="4233672"/>
            <a:ext cx="2971800" cy="457200"/>
          </a:xfrm>
          <a:prstGeom prst="rect">
            <a:avLst/>
          </a:prstGeom>
          <a:noFill/>
        </p:spPr>
        <p:txBody>
          <a:bodyPr wrap="square" lIns="54864" tIns="54864" rIns="54864" bIns="54864" anchor="t">
            <a:spAutoFit/>
          </a:bodyPr>
          <a:lstStyle/>
          <a:p>
            <a:pPr algn="l"/>
            <a:r>
              <a:rPr sz="1300" b="0">
                <a:solidFill>
                  <a:srgbClr val="23303A"/>
                </a:solidFill>
                <a:latin typeface="Aptos"/>
              </a:rPr>
              <a:t>create synthetic positive examples between neighbors</a:t>
            </a:r>
          </a:p>
        </p:txBody>
      </p:sp>
      <p:sp>
        <p:nvSpPr>
          <p:cNvPr id="19" name="Rectangle 18"/>
          <p:cNvSpPr/>
          <p:nvPr/>
        </p:nvSpPr>
        <p:spPr>
          <a:xfrm>
            <a:off x="4480559" y="3794760"/>
            <a:ext cx="91440" cy="914400"/>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54879" y="3849624"/>
            <a:ext cx="2697480" cy="256032"/>
          </a:xfrm>
          <a:prstGeom prst="rect">
            <a:avLst/>
          </a:prstGeom>
          <a:noFill/>
        </p:spPr>
        <p:txBody>
          <a:bodyPr wrap="square" lIns="54864" tIns="54864" rIns="54864" bIns="54864" anchor="t">
            <a:spAutoFit/>
          </a:bodyPr>
          <a:lstStyle/>
          <a:p>
            <a:pPr algn="l"/>
            <a:r>
              <a:rPr sz="1800" b="1">
                <a:solidFill>
                  <a:srgbClr val="0B1F33"/>
                </a:solidFill>
                <a:latin typeface="Aptos Display"/>
              </a:rPr>
              <a:t>SMOTE-Tomek</a:t>
            </a:r>
          </a:p>
        </p:txBody>
      </p:sp>
      <p:sp>
        <p:nvSpPr>
          <p:cNvPr id="21" name="TextBox 20"/>
          <p:cNvSpPr txBox="1"/>
          <p:nvPr/>
        </p:nvSpPr>
        <p:spPr>
          <a:xfrm>
            <a:off x="4754879" y="4233672"/>
            <a:ext cx="2971800" cy="457200"/>
          </a:xfrm>
          <a:prstGeom prst="rect">
            <a:avLst/>
          </a:prstGeom>
          <a:noFill/>
        </p:spPr>
        <p:txBody>
          <a:bodyPr wrap="square" lIns="54864" tIns="54864" rIns="54864" bIns="54864" anchor="t">
            <a:spAutoFit/>
          </a:bodyPr>
          <a:lstStyle/>
          <a:p>
            <a:pPr algn="l"/>
            <a:r>
              <a:rPr sz="1300" b="0">
                <a:solidFill>
                  <a:srgbClr val="23303A"/>
                </a:solidFill>
                <a:latin typeface="Aptos"/>
              </a:rPr>
              <a:t>SMOTE plus removal of ambiguous boundary pairs</a:t>
            </a:r>
          </a:p>
        </p:txBody>
      </p:sp>
      <p:sp>
        <p:nvSpPr>
          <p:cNvPr id="22" name="Rounded Rectangle 21"/>
          <p:cNvSpPr/>
          <p:nvPr/>
        </p:nvSpPr>
        <p:spPr>
          <a:xfrm>
            <a:off x="777240" y="5623560"/>
            <a:ext cx="10561320" cy="530352"/>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5779008"/>
            <a:ext cx="10104120" cy="201168"/>
          </a:xfrm>
          <a:prstGeom prst="rect">
            <a:avLst/>
          </a:prstGeom>
          <a:noFill/>
        </p:spPr>
        <p:txBody>
          <a:bodyPr wrap="square" lIns="54864" tIns="54864" rIns="54864" bIns="54864" anchor="t">
            <a:spAutoFit/>
          </a:bodyPr>
          <a:lstStyle/>
          <a:p>
            <a:pPr algn="ctr"/>
            <a:r>
              <a:rPr sz="1600" b="1">
                <a:solidFill>
                  <a:srgbClr val="0B1F33"/>
                </a:solidFill>
                <a:latin typeface="Aptos"/>
              </a:rPr>
              <a:t>Training balance is a learning aid, not a claim that the real ED population is balanced.</a:t>
            </a:r>
          </a:p>
        </p:txBody>
      </p:sp>
      <p:sp>
        <p:nvSpPr>
          <p:cNvPr id="24" name="Rectangle 23"/>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6583680"/>
            <a:ext cx="9875520" cy="146304"/>
          </a:xfrm>
          <a:prstGeom prst="rect">
            <a:avLst/>
          </a:prstGeom>
          <a:noFill/>
        </p:spPr>
        <p:txBody>
          <a:bodyPr wrap="square" lIns="54864" tIns="54864" rIns="54864" bIns="54864" anchor="t">
            <a:spAutoFit/>
          </a:bodyPr>
          <a:lstStyle/>
          <a:p>
            <a:pPr algn="l"/>
            <a:r>
              <a:rPr sz="800" b="0">
                <a:solidFill>
                  <a:srgbClr val="5B6971"/>
                </a:solidFill>
                <a:latin typeface="Aptos"/>
              </a:rPr>
              <a:t>M3  |  critical outcome  |  current exported evidence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03  /  SAMPLING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What the sampling experiment actually produced</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08</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40080" y="1481328"/>
            <a:ext cx="6537960" cy="4114800"/>
          </a:xfrm>
          <a:prstGeom prst="rect">
            <a:avLst/>
          </a:prstGeom>
        </p:spPr>
      </p:pic>
      <p:sp>
        <p:nvSpPr>
          <p:cNvPr id="7" name="Rounded Rectangle 6"/>
          <p:cNvSpPr/>
          <p:nvPr/>
        </p:nvSpPr>
        <p:spPr>
          <a:xfrm>
            <a:off x="7452360" y="1664208"/>
            <a:ext cx="3794760" cy="370332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90688" y="1993392"/>
            <a:ext cx="2971800" cy="274320"/>
          </a:xfrm>
          <a:prstGeom prst="rect">
            <a:avLst/>
          </a:prstGeom>
          <a:noFill/>
        </p:spPr>
        <p:txBody>
          <a:bodyPr wrap="square" lIns="54864" tIns="54864" rIns="54864" bIns="54864" anchor="t">
            <a:spAutoFit/>
          </a:bodyPr>
          <a:lstStyle/>
          <a:p>
            <a:pPr algn="l"/>
            <a:r>
              <a:rPr sz="2100" b="1">
                <a:solidFill>
                  <a:srgbClr val="0F766E"/>
                </a:solidFill>
                <a:latin typeface="Aptos Display"/>
              </a:rPr>
              <a:t>Read the bars</a:t>
            </a:r>
          </a:p>
        </p:txBody>
      </p:sp>
      <p:sp>
        <p:nvSpPr>
          <p:cNvPr id="9" name="Oval 8"/>
          <p:cNvSpPr/>
          <p:nvPr/>
        </p:nvSpPr>
        <p:spPr>
          <a:xfrm>
            <a:off x="7790688" y="2715768"/>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79" y="2633472"/>
            <a:ext cx="2761488" cy="310896"/>
          </a:xfrm>
          <a:prstGeom prst="rect">
            <a:avLst/>
          </a:prstGeom>
          <a:noFill/>
        </p:spPr>
        <p:txBody>
          <a:bodyPr wrap="square" lIns="54864" tIns="54864" rIns="54864" bIns="54864" anchor="t">
            <a:spAutoFit/>
          </a:bodyPr>
          <a:lstStyle/>
          <a:p>
            <a:pPr algn="l"/>
            <a:r>
              <a:rPr sz="1300" b="0">
                <a:solidFill>
                  <a:srgbClr val="23303A"/>
                </a:solidFill>
                <a:latin typeface="Aptos"/>
              </a:rPr>
              <a:t>Original training retains 22,408 negatives and 1,628 positives.</a:t>
            </a:r>
          </a:p>
        </p:txBody>
      </p:sp>
      <p:sp>
        <p:nvSpPr>
          <p:cNvPr id="11" name="Oval 10"/>
          <p:cNvSpPr/>
          <p:nvPr/>
        </p:nvSpPr>
        <p:spPr>
          <a:xfrm>
            <a:off x="7790688" y="3319272"/>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79" y="3236976"/>
            <a:ext cx="2761488" cy="310896"/>
          </a:xfrm>
          <a:prstGeom prst="rect">
            <a:avLst/>
          </a:prstGeom>
          <a:noFill/>
        </p:spPr>
        <p:txBody>
          <a:bodyPr wrap="square" lIns="54864" tIns="54864" rIns="54864" bIns="54864" anchor="t">
            <a:spAutoFit/>
          </a:bodyPr>
          <a:lstStyle/>
          <a:p>
            <a:pPr algn="l"/>
            <a:r>
              <a:rPr sz="1300" b="0">
                <a:solidFill>
                  <a:srgbClr val="23303A"/>
                </a:solidFill>
                <a:latin typeface="Aptos"/>
              </a:rPr>
              <a:t>Under-sampling keeps 1,628 rows per class.</a:t>
            </a:r>
          </a:p>
        </p:txBody>
      </p:sp>
      <p:sp>
        <p:nvSpPr>
          <p:cNvPr id="13" name="Oval 12"/>
          <p:cNvSpPr/>
          <p:nvPr/>
        </p:nvSpPr>
        <p:spPr>
          <a:xfrm>
            <a:off x="7790688" y="392277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79" y="3840480"/>
            <a:ext cx="2761488" cy="310896"/>
          </a:xfrm>
          <a:prstGeom prst="rect">
            <a:avLst/>
          </a:prstGeom>
          <a:noFill/>
        </p:spPr>
        <p:txBody>
          <a:bodyPr wrap="square" lIns="54864" tIns="54864" rIns="54864" bIns="54864" anchor="t">
            <a:spAutoFit/>
          </a:bodyPr>
          <a:lstStyle/>
          <a:p>
            <a:pPr algn="l"/>
            <a:r>
              <a:rPr sz="1300" b="0">
                <a:solidFill>
                  <a:srgbClr val="23303A"/>
                </a:solidFill>
                <a:latin typeface="Aptos"/>
              </a:rPr>
              <a:t>The other balanced methods create 50:50 training sets, with SMOTE-Tomek slightly trimming rows.</a:t>
            </a:r>
          </a:p>
        </p:txBody>
      </p:sp>
      <p:sp>
        <p:nvSpPr>
          <p:cNvPr id="15" name="Oval 14"/>
          <p:cNvSpPr/>
          <p:nvPr/>
        </p:nvSpPr>
        <p:spPr>
          <a:xfrm>
            <a:off x="7790688" y="4526280"/>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79" y="4443984"/>
            <a:ext cx="2761488" cy="310896"/>
          </a:xfrm>
          <a:prstGeom prst="rect">
            <a:avLst/>
          </a:prstGeom>
          <a:noFill/>
        </p:spPr>
        <p:txBody>
          <a:bodyPr wrap="square" lIns="54864" tIns="54864" rIns="54864" bIns="54864" anchor="t">
            <a:spAutoFit/>
          </a:bodyPr>
          <a:lstStyle/>
          <a:p>
            <a:pPr algn="l"/>
            <a:r>
              <a:rPr sz="1300" b="0">
                <a:solidFill>
                  <a:srgbClr val="23303A"/>
                </a:solidFill>
                <a:latin typeface="Aptos"/>
              </a:rPr>
              <a:t>The test set remains unbalanced and untouched.</a:t>
            </a:r>
          </a:p>
        </p:txBody>
      </p:sp>
      <p:sp>
        <p:nvSpPr>
          <p:cNvPr id="17" name="Rectangle 16"/>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6583680"/>
            <a:ext cx="9875520" cy="146304"/>
          </a:xfrm>
          <a:prstGeom prst="rect">
            <a:avLst/>
          </a:prstGeom>
          <a:noFill/>
        </p:spPr>
        <p:txBody>
          <a:bodyPr wrap="square" lIns="54864" tIns="54864" rIns="54864" bIns="54864" anchor="t">
            <a:spAutoFit/>
          </a:bodyPr>
          <a:lstStyle/>
          <a:p>
            <a:pPr algn="l"/>
            <a:r>
              <a:rPr sz="800" b="0">
                <a:solidFill>
                  <a:srgbClr val="5B6971"/>
                </a:solidFill>
                <a:latin typeface="Aptos"/>
              </a:rPr>
              <a:t>M3  |  critical outcome  |  current exported evidence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931920" cy="182880"/>
          </a:xfrm>
          <a:prstGeom prst="rect">
            <a:avLst/>
          </a:prstGeom>
          <a:noFill/>
        </p:spPr>
        <p:txBody>
          <a:bodyPr wrap="square" lIns="54864" tIns="54864" rIns="54864" bIns="54864" anchor="t">
            <a:spAutoFit/>
          </a:bodyPr>
          <a:lstStyle/>
          <a:p>
            <a:pPr algn="l"/>
            <a:r>
              <a:rPr sz="1000" b="1">
                <a:solidFill>
                  <a:srgbClr val="E9C46A"/>
                </a:solidFill>
                <a:latin typeface="Aptos"/>
              </a:rPr>
              <a:t>04  /  modeling</a:t>
            </a:r>
          </a:p>
        </p:txBody>
      </p:sp>
      <p:sp>
        <p:nvSpPr>
          <p:cNvPr id="3" name="TextBox 2"/>
          <p:cNvSpPr txBox="1"/>
          <p:nvPr/>
        </p:nvSpPr>
        <p:spPr>
          <a:xfrm>
            <a:off x="548640" y="658368"/>
            <a:ext cx="9509760" cy="530352"/>
          </a:xfrm>
          <a:prstGeom prst="rect">
            <a:avLst/>
          </a:prstGeom>
          <a:noFill/>
        </p:spPr>
        <p:txBody>
          <a:bodyPr wrap="square" lIns="54864" tIns="54864" rIns="54864" bIns="54864" anchor="t">
            <a:spAutoFit/>
          </a:bodyPr>
          <a:lstStyle/>
          <a:p>
            <a:pPr algn="l"/>
            <a:r>
              <a:rPr sz="3000" b="1">
                <a:solidFill>
                  <a:srgbClr val="FFFFFF"/>
                </a:solidFill>
                <a:latin typeface="Aptos Display"/>
              </a:rPr>
              <a:t>Model families: same boundary, different assumptions</a:t>
            </a:r>
          </a:p>
        </p:txBody>
      </p:sp>
      <p:sp>
        <p:nvSpPr>
          <p:cNvPr id="4" name="Rectangle 3"/>
          <p:cNvSpPr/>
          <p:nvPr/>
        </p:nvSpPr>
        <p:spPr>
          <a:xfrm>
            <a:off x="777240" y="1481328"/>
            <a:ext cx="100584" cy="612648"/>
          </a:xfrm>
          <a:prstGeom prst="rect">
            <a:avLst/>
          </a:prstGeom>
          <a:solidFill>
            <a:srgbClr val="5B6971"/>
          </a:solidFill>
          <a:ln>
            <a:solidFill>
              <a:srgbClr val="5B69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527048"/>
            <a:ext cx="2286000" cy="228600"/>
          </a:xfrm>
          <a:prstGeom prst="rect">
            <a:avLst/>
          </a:prstGeom>
          <a:noFill/>
        </p:spPr>
        <p:txBody>
          <a:bodyPr wrap="square" lIns="54864" tIns="54864" rIns="54864" bIns="54864" anchor="t">
            <a:spAutoFit/>
          </a:bodyPr>
          <a:lstStyle/>
          <a:p>
            <a:pPr algn="l"/>
            <a:r>
              <a:rPr sz="1700" b="1">
                <a:solidFill>
                  <a:srgbClr val="FFFFFF"/>
                </a:solidFill>
                <a:latin typeface="Aptos Display"/>
              </a:rPr>
              <a:t>Prior dummy</a:t>
            </a:r>
          </a:p>
        </p:txBody>
      </p:sp>
      <p:sp>
        <p:nvSpPr>
          <p:cNvPr id="6" name="TextBox 5"/>
          <p:cNvSpPr txBox="1"/>
          <p:nvPr/>
        </p:nvSpPr>
        <p:spPr>
          <a:xfrm>
            <a:off x="3566160" y="1527048"/>
            <a:ext cx="3931920" cy="228600"/>
          </a:xfrm>
          <a:prstGeom prst="rect">
            <a:avLst/>
          </a:prstGeom>
          <a:noFill/>
        </p:spPr>
        <p:txBody>
          <a:bodyPr wrap="square" lIns="54864" tIns="54864" rIns="54864" bIns="54864" anchor="t">
            <a:spAutoFit/>
          </a:bodyPr>
          <a:lstStyle/>
          <a:p>
            <a:pPr algn="l"/>
            <a:r>
              <a:rPr sz="1300" b="0">
                <a:solidFill>
                  <a:srgbClr val="E4EBEA"/>
                </a:solidFill>
                <a:latin typeface="Aptos"/>
              </a:rPr>
              <a:t>uses prevalence only</a:t>
            </a:r>
          </a:p>
        </p:txBody>
      </p:sp>
      <p:sp>
        <p:nvSpPr>
          <p:cNvPr id="7" name="TextBox 6"/>
          <p:cNvSpPr txBox="1"/>
          <p:nvPr/>
        </p:nvSpPr>
        <p:spPr>
          <a:xfrm>
            <a:off x="8229600" y="1527048"/>
            <a:ext cx="2468880" cy="228600"/>
          </a:xfrm>
          <a:prstGeom prst="rect">
            <a:avLst/>
          </a:prstGeom>
          <a:noFill/>
        </p:spPr>
        <p:txBody>
          <a:bodyPr wrap="square" lIns="54864" tIns="54864" rIns="54864" bIns="54864" anchor="t">
            <a:spAutoFit/>
          </a:bodyPr>
          <a:lstStyle/>
          <a:p>
            <a:pPr algn="l"/>
            <a:r>
              <a:rPr sz="1300" b="1">
                <a:solidFill>
                  <a:srgbClr val="5B6971"/>
                </a:solidFill>
                <a:latin typeface="Aptos"/>
              </a:rPr>
              <a:t>reference floor</a:t>
            </a:r>
          </a:p>
        </p:txBody>
      </p:sp>
      <p:sp>
        <p:nvSpPr>
          <p:cNvPr id="8" name="Rectangle 7"/>
          <p:cNvSpPr/>
          <p:nvPr/>
        </p:nvSpPr>
        <p:spPr>
          <a:xfrm>
            <a:off x="777240" y="2322576"/>
            <a:ext cx="100584" cy="612648"/>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2368296"/>
            <a:ext cx="2286000" cy="228600"/>
          </a:xfrm>
          <a:prstGeom prst="rect">
            <a:avLst/>
          </a:prstGeom>
          <a:noFill/>
        </p:spPr>
        <p:txBody>
          <a:bodyPr wrap="square" lIns="54864" tIns="54864" rIns="54864" bIns="54864" anchor="t">
            <a:spAutoFit/>
          </a:bodyPr>
          <a:lstStyle/>
          <a:p>
            <a:pPr algn="l"/>
            <a:r>
              <a:rPr sz="1700" b="1">
                <a:solidFill>
                  <a:srgbClr val="FFFFFF"/>
                </a:solidFill>
                <a:latin typeface="Aptos Display"/>
              </a:rPr>
              <a:t>Logistic regression</a:t>
            </a:r>
          </a:p>
        </p:txBody>
      </p:sp>
      <p:sp>
        <p:nvSpPr>
          <p:cNvPr id="10" name="TextBox 9"/>
          <p:cNvSpPr txBox="1"/>
          <p:nvPr/>
        </p:nvSpPr>
        <p:spPr>
          <a:xfrm>
            <a:off x="3566160" y="2368296"/>
            <a:ext cx="3931920" cy="228600"/>
          </a:xfrm>
          <a:prstGeom prst="rect">
            <a:avLst/>
          </a:prstGeom>
          <a:noFill/>
        </p:spPr>
        <p:txBody>
          <a:bodyPr wrap="square" lIns="54864" tIns="54864" rIns="54864" bIns="54864" anchor="t">
            <a:spAutoFit/>
          </a:bodyPr>
          <a:lstStyle/>
          <a:p>
            <a:pPr algn="l"/>
            <a:r>
              <a:rPr sz="1300" b="0">
                <a:solidFill>
                  <a:srgbClr val="E4EBEA"/>
                </a:solidFill>
                <a:latin typeface="Aptos"/>
              </a:rPr>
              <a:t>linear signal after preprocessing</a:t>
            </a:r>
          </a:p>
        </p:txBody>
      </p:sp>
      <p:sp>
        <p:nvSpPr>
          <p:cNvPr id="11" name="TextBox 10"/>
          <p:cNvSpPr txBox="1"/>
          <p:nvPr/>
        </p:nvSpPr>
        <p:spPr>
          <a:xfrm>
            <a:off x="8229600" y="2368296"/>
            <a:ext cx="2468880" cy="228600"/>
          </a:xfrm>
          <a:prstGeom prst="rect">
            <a:avLst/>
          </a:prstGeom>
          <a:noFill/>
        </p:spPr>
        <p:txBody>
          <a:bodyPr wrap="square" lIns="54864" tIns="54864" rIns="54864" bIns="54864" anchor="t">
            <a:spAutoFit/>
          </a:bodyPr>
          <a:lstStyle/>
          <a:p>
            <a:pPr algn="l"/>
            <a:r>
              <a:rPr sz="1300" b="1">
                <a:solidFill>
                  <a:srgbClr val="599DB5"/>
                </a:solidFill>
                <a:latin typeface="Aptos"/>
              </a:rPr>
              <a:t>transparent baseline</a:t>
            </a:r>
          </a:p>
        </p:txBody>
      </p:sp>
      <p:sp>
        <p:nvSpPr>
          <p:cNvPr id="12" name="Rectangle 11"/>
          <p:cNvSpPr/>
          <p:nvPr/>
        </p:nvSpPr>
        <p:spPr>
          <a:xfrm>
            <a:off x="777240" y="3163824"/>
            <a:ext cx="100584" cy="612648"/>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3209544"/>
            <a:ext cx="2286000" cy="228600"/>
          </a:xfrm>
          <a:prstGeom prst="rect">
            <a:avLst/>
          </a:prstGeom>
          <a:noFill/>
        </p:spPr>
        <p:txBody>
          <a:bodyPr wrap="square" lIns="54864" tIns="54864" rIns="54864" bIns="54864" anchor="t">
            <a:spAutoFit/>
          </a:bodyPr>
          <a:lstStyle/>
          <a:p>
            <a:pPr algn="l"/>
            <a:r>
              <a:rPr sz="1700" b="1">
                <a:solidFill>
                  <a:srgbClr val="FFFFFF"/>
                </a:solidFill>
                <a:latin typeface="Aptos Display"/>
              </a:rPr>
              <a:t>Decision tree</a:t>
            </a:r>
          </a:p>
        </p:txBody>
      </p:sp>
      <p:sp>
        <p:nvSpPr>
          <p:cNvPr id="14" name="TextBox 13"/>
          <p:cNvSpPr txBox="1"/>
          <p:nvPr/>
        </p:nvSpPr>
        <p:spPr>
          <a:xfrm>
            <a:off x="3566160" y="3209544"/>
            <a:ext cx="3931920" cy="228600"/>
          </a:xfrm>
          <a:prstGeom prst="rect">
            <a:avLst/>
          </a:prstGeom>
          <a:noFill/>
        </p:spPr>
        <p:txBody>
          <a:bodyPr wrap="square" lIns="54864" tIns="54864" rIns="54864" bIns="54864" anchor="t">
            <a:spAutoFit/>
          </a:bodyPr>
          <a:lstStyle/>
          <a:p>
            <a:pPr algn="l"/>
            <a:r>
              <a:rPr sz="1300" b="0">
                <a:solidFill>
                  <a:srgbClr val="E4EBEA"/>
                </a:solidFill>
                <a:latin typeface="Aptos"/>
              </a:rPr>
              <a:t>rules and interactions</a:t>
            </a:r>
          </a:p>
        </p:txBody>
      </p:sp>
      <p:sp>
        <p:nvSpPr>
          <p:cNvPr id="15" name="TextBox 14"/>
          <p:cNvSpPr txBox="1"/>
          <p:nvPr/>
        </p:nvSpPr>
        <p:spPr>
          <a:xfrm>
            <a:off x="8229600" y="3209544"/>
            <a:ext cx="2468880" cy="228600"/>
          </a:xfrm>
          <a:prstGeom prst="rect">
            <a:avLst/>
          </a:prstGeom>
          <a:noFill/>
        </p:spPr>
        <p:txBody>
          <a:bodyPr wrap="square" lIns="54864" tIns="54864" rIns="54864" bIns="54864" anchor="t">
            <a:spAutoFit/>
          </a:bodyPr>
          <a:lstStyle/>
          <a:p>
            <a:pPr algn="l"/>
            <a:r>
              <a:rPr sz="1300" b="1">
                <a:solidFill>
                  <a:srgbClr val="E9C46A"/>
                </a:solidFill>
                <a:latin typeface="Aptos"/>
              </a:rPr>
              <a:t>single-tree structure</a:t>
            </a:r>
          </a:p>
        </p:txBody>
      </p:sp>
      <p:sp>
        <p:nvSpPr>
          <p:cNvPr id="16" name="Rectangle 15"/>
          <p:cNvSpPr/>
          <p:nvPr/>
        </p:nvSpPr>
        <p:spPr>
          <a:xfrm>
            <a:off x="777240" y="4005072"/>
            <a:ext cx="100584" cy="612648"/>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4050792"/>
            <a:ext cx="2286000" cy="228600"/>
          </a:xfrm>
          <a:prstGeom prst="rect">
            <a:avLst/>
          </a:prstGeom>
          <a:noFill/>
        </p:spPr>
        <p:txBody>
          <a:bodyPr wrap="square" lIns="54864" tIns="54864" rIns="54864" bIns="54864" anchor="t">
            <a:spAutoFit/>
          </a:bodyPr>
          <a:lstStyle/>
          <a:p>
            <a:pPr algn="l"/>
            <a:r>
              <a:rPr sz="1700" b="1">
                <a:solidFill>
                  <a:srgbClr val="FFFFFF"/>
                </a:solidFill>
                <a:latin typeface="Aptos Display"/>
              </a:rPr>
              <a:t>Random forest</a:t>
            </a:r>
          </a:p>
        </p:txBody>
      </p:sp>
      <p:sp>
        <p:nvSpPr>
          <p:cNvPr id="18" name="TextBox 17"/>
          <p:cNvSpPr txBox="1"/>
          <p:nvPr/>
        </p:nvSpPr>
        <p:spPr>
          <a:xfrm>
            <a:off x="3566160" y="4050792"/>
            <a:ext cx="3931920" cy="228600"/>
          </a:xfrm>
          <a:prstGeom prst="rect">
            <a:avLst/>
          </a:prstGeom>
          <a:noFill/>
        </p:spPr>
        <p:txBody>
          <a:bodyPr wrap="square" lIns="54864" tIns="54864" rIns="54864" bIns="54864" anchor="t">
            <a:spAutoFit/>
          </a:bodyPr>
          <a:lstStyle/>
          <a:p>
            <a:pPr algn="l"/>
            <a:r>
              <a:rPr sz="1300" b="0">
                <a:solidFill>
                  <a:srgbClr val="E4EBEA"/>
                </a:solidFill>
                <a:latin typeface="Aptos"/>
              </a:rPr>
              <a:t>many trees averaged</a:t>
            </a:r>
          </a:p>
        </p:txBody>
      </p:sp>
      <p:sp>
        <p:nvSpPr>
          <p:cNvPr id="19" name="TextBox 18"/>
          <p:cNvSpPr txBox="1"/>
          <p:nvPr/>
        </p:nvSpPr>
        <p:spPr>
          <a:xfrm>
            <a:off x="8229600" y="4050792"/>
            <a:ext cx="2468880" cy="228600"/>
          </a:xfrm>
          <a:prstGeom prst="rect">
            <a:avLst/>
          </a:prstGeom>
          <a:noFill/>
        </p:spPr>
        <p:txBody>
          <a:bodyPr wrap="square" lIns="54864" tIns="54864" rIns="54864" bIns="54864" anchor="t">
            <a:spAutoFit/>
          </a:bodyPr>
          <a:lstStyle/>
          <a:p>
            <a:pPr algn="l"/>
            <a:r>
              <a:rPr sz="1300" b="1">
                <a:solidFill>
                  <a:srgbClr val="E76F51"/>
                </a:solidFill>
                <a:latin typeface="Aptos"/>
              </a:rPr>
              <a:t>nonlinear ensemble</a:t>
            </a:r>
          </a:p>
        </p:txBody>
      </p:sp>
      <p:sp>
        <p:nvSpPr>
          <p:cNvPr id="20" name="Rectangle 19"/>
          <p:cNvSpPr/>
          <p:nvPr/>
        </p:nvSpPr>
        <p:spPr>
          <a:xfrm>
            <a:off x="777240" y="4846320"/>
            <a:ext cx="100584" cy="612648"/>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97280" y="4892040"/>
            <a:ext cx="2286000" cy="228600"/>
          </a:xfrm>
          <a:prstGeom prst="rect">
            <a:avLst/>
          </a:prstGeom>
          <a:noFill/>
        </p:spPr>
        <p:txBody>
          <a:bodyPr wrap="square" lIns="54864" tIns="54864" rIns="54864" bIns="54864" anchor="t">
            <a:spAutoFit/>
          </a:bodyPr>
          <a:lstStyle/>
          <a:p>
            <a:pPr algn="l"/>
            <a:r>
              <a:rPr sz="1700" b="1">
                <a:solidFill>
                  <a:srgbClr val="FFFFFF"/>
                </a:solidFill>
                <a:latin typeface="Aptos Display"/>
              </a:rPr>
              <a:t>Gradient boosting</a:t>
            </a:r>
          </a:p>
        </p:txBody>
      </p:sp>
      <p:sp>
        <p:nvSpPr>
          <p:cNvPr id="22" name="TextBox 21"/>
          <p:cNvSpPr txBox="1"/>
          <p:nvPr/>
        </p:nvSpPr>
        <p:spPr>
          <a:xfrm>
            <a:off x="3566160" y="4892040"/>
            <a:ext cx="3931920" cy="228600"/>
          </a:xfrm>
          <a:prstGeom prst="rect">
            <a:avLst/>
          </a:prstGeom>
          <a:noFill/>
        </p:spPr>
        <p:txBody>
          <a:bodyPr wrap="square" lIns="54864" tIns="54864" rIns="54864" bIns="54864" anchor="t">
            <a:spAutoFit/>
          </a:bodyPr>
          <a:lstStyle/>
          <a:p>
            <a:pPr algn="l"/>
            <a:r>
              <a:rPr sz="1300" b="0">
                <a:solidFill>
                  <a:srgbClr val="E4EBEA"/>
                </a:solidFill>
                <a:latin typeface="Aptos"/>
              </a:rPr>
              <a:t>trees correct earlier errors</a:t>
            </a:r>
          </a:p>
        </p:txBody>
      </p:sp>
      <p:sp>
        <p:nvSpPr>
          <p:cNvPr id="23" name="TextBox 22"/>
          <p:cNvSpPr txBox="1"/>
          <p:nvPr/>
        </p:nvSpPr>
        <p:spPr>
          <a:xfrm>
            <a:off x="8229600" y="4892040"/>
            <a:ext cx="2468880" cy="228600"/>
          </a:xfrm>
          <a:prstGeom prst="rect">
            <a:avLst/>
          </a:prstGeom>
          <a:noFill/>
        </p:spPr>
        <p:txBody>
          <a:bodyPr wrap="square" lIns="54864" tIns="54864" rIns="54864" bIns="54864" anchor="t">
            <a:spAutoFit/>
          </a:bodyPr>
          <a:lstStyle/>
          <a:p>
            <a:pPr algn="l"/>
            <a:r>
              <a:rPr sz="1300" b="1">
                <a:solidFill>
                  <a:srgbClr val="0F766E"/>
                </a:solidFill>
                <a:latin typeface="Aptos"/>
              </a:rPr>
              <a:t>sequential ensemble</a:t>
            </a:r>
          </a:p>
        </p:txBody>
      </p:sp>
      <p:sp>
        <p:nvSpPr>
          <p:cNvPr id="24" name="Rounded Rectangle 23"/>
          <p:cNvSpPr/>
          <p:nvPr/>
        </p:nvSpPr>
        <p:spPr>
          <a:xfrm>
            <a:off x="777240" y="5870448"/>
            <a:ext cx="10515600" cy="411480"/>
          </a:xfrm>
          <a:prstGeom prst="roundRect">
            <a:avLst>
              <a:gd name="adj" fmla="val 8000"/>
            </a:avLst>
          </a:prstGeom>
          <a:solidFill>
            <a:srgbClr val="183143"/>
          </a:solidFill>
          <a:ln>
            <a:solidFill>
              <a:srgbClr val="183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5840" y="5980176"/>
            <a:ext cx="10058400" cy="164592"/>
          </a:xfrm>
          <a:prstGeom prst="rect">
            <a:avLst/>
          </a:prstGeom>
          <a:noFill/>
        </p:spPr>
        <p:txBody>
          <a:bodyPr wrap="square" lIns="54864" tIns="54864" rIns="54864" bIns="54864" anchor="t">
            <a:spAutoFit/>
          </a:bodyPr>
          <a:lstStyle/>
          <a:p>
            <a:pPr algn="ctr"/>
            <a:r>
              <a:rPr sz="1400" b="1">
                <a:solidFill>
                  <a:srgbClr val="E9C46A"/>
                </a:solidFill>
                <a:latin typeface="Aptos"/>
              </a:rPr>
              <a:t>A fair comparison holds the features, preprocessing, patient split, and test set constant.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04  /  MODELING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Baseline models: ranking is not the same as alert usefulness</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10</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21792" y="1481328"/>
            <a:ext cx="6537960" cy="4251960"/>
          </a:xfrm>
          <a:prstGeom prst="rect">
            <a:avLst/>
          </a:prstGeom>
        </p:spPr>
      </p:pic>
      <p:sp>
        <p:nvSpPr>
          <p:cNvPr id="7" name="Rectangle 6"/>
          <p:cNvSpPr/>
          <p:nvPr/>
        </p:nvSpPr>
        <p:spPr>
          <a:xfrm>
            <a:off x="7223760" y="1700784"/>
            <a:ext cx="1371600" cy="50292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7260336" y="1792224"/>
            <a:ext cx="1298448" cy="272382"/>
          </a:xfrm>
          <a:prstGeom prst="rect">
            <a:avLst/>
          </a:prstGeom>
          <a:noFill/>
        </p:spPr>
        <p:txBody>
          <a:bodyPr wrap="square" lIns="54864" tIns="54864" rIns="54864" bIns="54864" anchor="t">
            <a:spAutoFit/>
          </a:bodyPr>
          <a:lstStyle/>
          <a:p>
            <a:pPr algn="ctr"/>
            <a:r>
              <a:rPr sz="1050" b="1">
                <a:solidFill>
                  <a:srgbClr val="FFFFFF"/>
                </a:solidFill>
                <a:latin typeface="Aptos"/>
              </a:rPr>
              <a:t>Model</a:t>
            </a:r>
          </a:p>
        </p:txBody>
      </p:sp>
      <p:sp>
        <p:nvSpPr>
          <p:cNvPr id="9" name="Rectangle 8"/>
          <p:cNvSpPr/>
          <p:nvPr/>
        </p:nvSpPr>
        <p:spPr>
          <a:xfrm>
            <a:off x="8595360" y="1700784"/>
            <a:ext cx="685800" cy="50292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8631936" y="1792224"/>
            <a:ext cx="612648" cy="272382"/>
          </a:xfrm>
          <a:prstGeom prst="rect">
            <a:avLst/>
          </a:prstGeom>
          <a:noFill/>
        </p:spPr>
        <p:txBody>
          <a:bodyPr wrap="square" lIns="54864" tIns="54864" rIns="54864" bIns="54864" anchor="t">
            <a:spAutoFit/>
          </a:bodyPr>
          <a:lstStyle/>
          <a:p>
            <a:pPr algn="ctr"/>
            <a:r>
              <a:rPr sz="1050" b="1">
                <a:solidFill>
                  <a:srgbClr val="FFFFFF"/>
                </a:solidFill>
                <a:latin typeface="Aptos"/>
              </a:rPr>
              <a:t>AUROC</a:t>
            </a:r>
          </a:p>
        </p:txBody>
      </p:sp>
      <p:sp>
        <p:nvSpPr>
          <p:cNvPr id="11" name="Rectangle 10"/>
          <p:cNvSpPr/>
          <p:nvPr/>
        </p:nvSpPr>
        <p:spPr>
          <a:xfrm>
            <a:off x="9281160" y="1700784"/>
            <a:ext cx="960120" cy="50292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9317736" y="1792224"/>
            <a:ext cx="886968" cy="433965"/>
          </a:xfrm>
          <a:prstGeom prst="rect">
            <a:avLst/>
          </a:prstGeom>
          <a:noFill/>
        </p:spPr>
        <p:txBody>
          <a:bodyPr wrap="square" lIns="54864" tIns="54864" rIns="54864" bIns="54864" anchor="t">
            <a:spAutoFit/>
          </a:bodyPr>
          <a:lstStyle/>
          <a:p>
            <a:pPr algn="ctr"/>
            <a:r>
              <a:rPr sz="1050" b="1">
                <a:solidFill>
                  <a:srgbClr val="FFFFFF"/>
                </a:solidFill>
                <a:latin typeface="Aptos"/>
              </a:rPr>
              <a:t>Avg precision</a:t>
            </a:r>
          </a:p>
        </p:txBody>
      </p:sp>
      <p:sp>
        <p:nvSpPr>
          <p:cNvPr id="13" name="Rectangle 12"/>
          <p:cNvSpPr/>
          <p:nvPr/>
        </p:nvSpPr>
        <p:spPr>
          <a:xfrm>
            <a:off x="10241280" y="1700784"/>
            <a:ext cx="960120" cy="50292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10277855" y="1792224"/>
            <a:ext cx="886968" cy="272382"/>
          </a:xfrm>
          <a:prstGeom prst="rect">
            <a:avLst/>
          </a:prstGeom>
          <a:noFill/>
        </p:spPr>
        <p:txBody>
          <a:bodyPr wrap="square" lIns="54864" tIns="54864" rIns="54864" bIns="54864" anchor="t">
            <a:spAutoFit/>
          </a:bodyPr>
          <a:lstStyle/>
          <a:p>
            <a:pPr algn="ctr"/>
            <a:r>
              <a:rPr sz="1050" b="1">
                <a:solidFill>
                  <a:srgbClr val="FFFFFF"/>
                </a:solidFill>
                <a:latin typeface="Aptos"/>
              </a:rPr>
              <a:t>Sensitivity</a:t>
            </a:r>
          </a:p>
        </p:txBody>
      </p:sp>
      <p:sp>
        <p:nvSpPr>
          <p:cNvPr id="15" name="Rectangle 14"/>
          <p:cNvSpPr/>
          <p:nvPr/>
        </p:nvSpPr>
        <p:spPr>
          <a:xfrm>
            <a:off x="11201400" y="1700784"/>
            <a:ext cx="685800" cy="50292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11237976" y="1792224"/>
            <a:ext cx="612648" cy="272382"/>
          </a:xfrm>
          <a:prstGeom prst="rect">
            <a:avLst/>
          </a:prstGeom>
          <a:noFill/>
        </p:spPr>
        <p:txBody>
          <a:bodyPr wrap="square" lIns="54864" tIns="54864" rIns="54864" bIns="54864" anchor="t">
            <a:spAutoFit/>
          </a:bodyPr>
          <a:lstStyle/>
          <a:p>
            <a:pPr algn="ctr"/>
            <a:r>
              <a:rPr sz="1050" b="1">
                <a:solidFill>
                  <a:srgbClr val="FFFFFF"/>
                </a:solidFill>
                <a:latin typeface="Aptos"/>
              </a:rPr>
              <a:t>PPV</a:t>
            </a:r>
          </a:p>
        </p:txBody>
      </p:sp>
      <p:sp>
        <p:nvSpPr>
          <p:cNvPr id="17" name="Rectangle 16"/>
          <p:cNvSpPr/>
          <p:nvPr/>
        </p:nvSpPr>
        <p:spPr>
          <a:xfrm>
            <a:off x="7223760" y="2203704"/>
            <a:ext cx="137160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7260336" y="2295144"/>
            <a:ext cx="1298448" cy="272382"/>
          </a:xfrm>
          <a:prstGeom prst="rect">
            <a:avLst/>
          </a:prstGeom>
          <a:noFill/>
        </p:spPr>
        <p:txBody>
          <a:bodyPr wrap="square" lIns="54864" tIns="54864" rIns="54864" bIns="54864" anchor="t">
            <a:spAutoFit/>
          </a:bodyPr>
          <a:lstStyle/>
          <a:p>
            <a:pPr algn="ctr"/>
            <a:r>
              <a:rPr sz="1050" b="1">
                <a:solidFill>
                  <a:srgbClr val="23303A"/>
                </a:solidFill>
                <a:latin typeface="Aptos"/>
              </a:rPr>
              <a:t>Random Forest</a:t>
            </a:r>
          </a:p>
        </p:txBody>
      </p:sp>
      <p:sp>
        <p:nvSpPr>
          <p:cNvPr id="19" name="Rectangle 18"/>
          <p:cNvSpPr/>
          <p:nvPr/>
        </p:nvSpPr>
        <p:spPr>
          <a:xfrm>
            <a:off x="8595360" y="2203704"/>
            <a:ext cx="68580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8631936" y="229514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0.897</a:t>
            </a:r>
          </a:p>
        </p:txBody>
      </p:sp>
      <p:sp>
        <p:nvSpPr>
          <p:cNvPr id="21" name="Rectangle 20"/>
          <p:cNvSpPr/>
          <p:nvPr/>
        </p:nvSpPr>
        <p:spPr>
          <a:xfrm>
            <a:off x="9281160" y="2203704"/>
            <a:ext cx="96012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9317736" y="229514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0.477</a:t>
            </a:r>
          </a:p>
        </p:txBody>
      </p:sp>
      <p:sp>
        <p:nvSpPr>
          <p:cNvPr id="23" name="Rectangle 22"/>
          <p:cNvSpPr/>
          <p:nvPr/>
        </p:nvSpPr>
        <p:spPr>
          <a:xfrm>
            <a:off x="10241280" y="2203704"/>
            <a:ext cx="96012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0277855" y="229514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0.479</a:t>
            </a:r>
          </a:p>
        </p:txBody>
      </p:sp>
      <p:sp>
        <p:nvSpPr>
          <p:cNvPr id="25" name="Rectangle 24"/>
          <p:cNvSpPr/>
          <p:nvPr/>
        </p:nvSpPr>
        <p:spPr>
          <a:xfrm>
            <a:off x="11201400" y="2203704"/>
            <a:ext cx="68580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11237976" y="229514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0.482</a:t>
            </a:r>
          </a:p>
        </p:txBody>
      </p:sp>
      <p:sp>
        <p:nvSpPr>
          <p:cNvPr id="27" name="Rectangle 26"/>
          <p:cNvSpPr/>
          <p:nvPr/>
        </p:nvSpPr>
        <p:spPr>
          <a:xfrm>
            <a:off x="7223760" y="2706624"/>
            <a:ext cx="137160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7260336" y="2798064"/>
            <a:ext cx="1298448" cy="272382"/>
          </a:xfrm>
          <a:prstGeom prst="rect">
            <a:avLst/>
          </a:prstGeom>
          <a:noFill/>
        </p:spPr>
        <p:txBody>
          <a:bodyPr wrap="square" lIns="54864" tIns="54864" rIns="54864" bIns="54864" anchor="t">
            <a:spAutoFit/>
          </a:bodyPr>
          <a:lstStyle/>
          <a:p>
            <a:pPr algn="ctr"/>
            <a:r>
              <a:rPr sz="1050" b="1">
                <a:solidFill>
                  <a:srgbClr val="23303A"/>
                </a:solidFill>
                <a:latin typeface="Aptos"/>
              </a:rPr>
              <a:t>Gradient Boosting</a:t>
            </a:r>
          </a:p>
        </p:txBody>
      </p:sp>
      <p:sp>
        <p:nvSpPr>
          <p:cNvPr id="29" name="Rectangle 28"/>
          <p:cNvSpPr/>
          <p:nvPr/>
        </p:nvSpPr>
        <p:spPr>
          <a:xfrm>
            <a:off x="8595360" y="2706624"/>
            <a:ext cx="68580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8631936" y="279806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0.894</a:t>
            </a:r>
          </a:p>
        </p:txBody>
      </p:sp>
      <p:sp>
        <p:nvSpPr>
          <p:cNvPr id="31" name="Rectangle 30"/>
          <p:cNvSpPr/>
          <p:nvPr/>
        </p:nvSpPr>
        <p:spPr>
          <a:xfrm>
            <a:off x="9281160" y="2706624"/>
            <a:ext cx="96012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9317736" y="279806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0.471</a:t>
            </a:r>
          </a:p>
        </p:txBody>
      </p:sp>
      <p:sp>
        <p:nvSpPr>
          <p:cNvPr id="33" name="Rectangle 32"/>
          <p:cNvSpPr/>
          <p:nvPr/>
        </p:nvSpPr>
        <p:spPr>
          <a:xfrm>
            <a:off x="10241280" y="2706624"/>
            <a:ext cx="96012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10277855" y="279806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0.172</a:t>
            </a:r>
          </a:p>
        </p:txBody>
      </p:sp>
      <p:sp>
        <p:nvSpPr>
          <p:cNvPr id="35" name="Rectangle 34"/>
          <p:cNvSpPr/>
          <p:nvPr/>
        </p:nvSpPr>
        <p:spPr>
          <a:xfrm>
            <a:off x="11201400" y="2706624"/>
            <a:ext cx="68580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11237976" y="279806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0.734</a:t>
            </a:r>
          </a:p>
        </p:txBody>
      </p:sp>
      <p:sp>
        <p:nvSpPr>
          <p:cNvPr id="37" name="Rectangle 36"/>
          <p:cNvSpPr/>
          <p:nvPr/>
        </p:nvSpPr>
        <p:spPr>
          <a:xfrm>
            <a:off x="7223760" y="3209544"/>
            <a:ext cx="137160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7260336" y="3300984"/>
            <a:ext cx="1298448" cy="272382"/>
          </a:xfrm>
          <a:prstGeom prst="rect">
            <a:avLst/>
          </a:prstGeom>
          <a:noFill/>
        </p:spPr>
        <p:txBody>
          <a:bodyPr wrap="square" lIns="54864" tIns="54864" rIns="54864" bIns="54864" anchor="t">
            <a:spAutoFit/>
          </a:bodyPr>
          <a:lstStyle/>
          <a:p>
            <a:pPr algn="ctr"/>
            <a:r>
              <a:rPr sz="1050" b="1">
                <a:solidFill>
                  <a:srgbClr val="23303A"/>
                </a:solidFill>
                <a:latin typeface="Aptos"/>
              </a:rPr>
              <a:t>Logistic Regression</a:t>
            </a:r>
          </a:p>
        </p:txBody>
      </p:sp>
      <p:sp>
        <p:nvSpPr>
          <p:cNvPr id="39" name="Rectangle 38"/>
          <p:cNvSpPr/>
          <p:nvPr/>
        </p:nvSpPr>
        <p:spPr>
          <a:xfrm>
            <a:off x="8595360" y="3209544"/>
            <a:ext cx="68580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8631936" y="330098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0.885</a:t>
            </a:r>
          </a:p>
        </p:txBody>
      </p:sp>
      <p:sp>
        <p:nvSpPr>
          <p:cNvPr id="41" name="Rectangle 40"/>
          <p:cNvSpPr/>
          <p:nvPr/>
        </p:nvSpPr>
        <p:spPr>
          <a:xfrm>
            <a:off x="9281160" y="3209544"/>
            <a:ext cx="96012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9317736" y="330098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0.426</a:t>
            </a:r>
          </a:p>
        </p:txBody>
      </p:sp>
      <p:sp>
        <p:nvSpPr>
          <p:cNvPr id="43" name="Rectangle 42"/>
          <p:cNvSpPr/>
          <p:nvPr/>
        </p:nvSpPr>
        <p:spPr>
          <a:xfrm>
            <a:off x="10241280" y="3209544"/>
            <a:ext cx="96012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10277855" y="330098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0.823</a:t>
            </a:r>
          </a:p>
        </p:txBody>
      </p:sp>
      <p:sp>
        <p:nvSpPr>
          <p:cNvPr id="45" name="Rectangle 44"/>
          <p:cNvSpPr/>
          <p:nvPr/>
        </p:nvSpPr>
        <p:spPr>
          <a:xfrm>
            <a:off x="11201400" y="3209544"/>
            <a:ext cx="68580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11237976" y="330098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0.234</a:t>
            </a:r>
          </a:p>
        </p:txBody>
      </p:sp>
      <p:sp>
        <p:nvSpPr>
          <p:cNvPr id="47" name="Rectangle 46"/>
          <p:cNvSpPr/>
          <p:nvPr/>
        </p:nvSpPr>
        <p:spPr>
          <a:xfrm>
            <a:off x="7223760" y="3712464"/>
            <a:ext cx="137160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TextBox 47"/>
          <p:cNvSpPr txBox="1"/>
          <p:nvPr/>
        </p:nvSpPr>
        <p:spPr>
          <a:xfrm>
            <a:off x="7260336" y="3803904"/>
            <a:ext cx="1298448" cy="272382"/>
          </a:xfrm>
          <a:prstGeom prst="rect">
            <a:avLst/>
          </a:prstGeom>
          <a:noFill/>
        </p:spPr>
        <p:txBody>
          <a:bodyPr wrap="square" lIns="54864" tIns="54864" rIns="54864" bIns="54864" anchor="t">
            <a:spAutoFit/>
          </a:bodyPr>
          <a:lstStyle/>
          <a:p>
            <a:pPr algn="ctr"/>
            <a:r>
              <a:rPr sz="1050" b="1">
                <a:solidFill>
                  <a:srgbClr val="23303A"/>
                </a:solidFill>
                <a:latin typeface="Aptos"/>
              </a:rPr>
              <a:t>Decision Tree</a:t>
            </a:r>
          </a:p>
        </p:txBody>
      </p:sp>
      <p:sp>
        <p:nvSpPr>
          <p:cNvPr id="49" name="Rectangle 48"/>
          <p:cNvSpPr/>
          <p:nvPr/>
        </p:nvSpPr>
        <p:spPr>
          <a:xfrm>
            <a:off x="8595360" y="3712464"/>
            <a:ext cx="68580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8631936" y="380390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0.868</a:t>
            </a:r>
          </a:p>
        </p:txBody>
      </p:sp>
      <p:sp>
        <p:nvSpPr>
          <p:cNvPr id="51" name="Rectangle 50"/>
          <p:cNvSpPr/>
          <p:nvPr/>
        </p:nvSpPr>
        <p:spPr>
          <a:xfrm>
            <a:off x="9281160" y="3712464"/>
            <a:ext cx="96012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9317736" y="380390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0.433</a:t>
            </a:r>
          </a:p>
        </p:txBody>
      </p:sp>
      <p:sp>
        <p:nvSpPr>
          <p:cNvPr id="53" name="Rectangle 52"/>
          <p:cNvSpPr/>
          <p:nvPr/>
        </p:nvSpPr>
        <p:spPr>
          <a:xfrm>
            <a:off x="10241280" y="3712464"/>
            <a:ext cx="96012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10277855" y="380390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0.813</a:t>
            </a:r>
          </a:p>
        </p:txBody>
      </p:sp>
      <p:sp>
        <p:nvSpPr>
          <p:cNvPr id="55" name="Rectangle 54"/>
          <p:cNvSpPr/>
          <p:nvPr/>
        </p:nvSpPr>
        <p:spPr>
          <a:xfrm>
            <a:off x="11201400" y="3712464"/>
            <a:ext cx="685800" cy="50292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6" name="TextBox 55"/>
          <p:cNvSpPr txBox="1"/>
          <p:nvPr/>
        </p:nvSpPr>
        <p:spPr>
          <a:xfrm>
            <a:off x="11237976" y="380390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0.223</a:t>
            </a:r>
          </a:p>
        </p:txBody>
      </p:sp>
      <p:sp>
        <p:nvSpPr>
          <p:cNvPr id="57" name="Rectangle 56"/>
          <p:cNvSpPr/>
          <p:nvPr/>
        </p:nvSpPr>
        <p:spPr>
          <a:xfrm>
            <a:off x="7223760" y="4215384"/>
            <a:ext cx="137160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7260336" y="4306824"/>
            <a:ext cx="1298448" cy="272382"/>
          </a:xfrm>
          <a:prstGeom prst="rect">
            <a:avLst/>
          </a:prstGeom>
          <a:noFill/>
        </p:spPr>
        <p:txBody>
          <a:bodyPr wrap="square" lIns="54864" tIns="54864" rIns="54864" bIns="54864" anchor="t">
            <a:spAutoFit/>
          </a:bodyPr>
          <a:lstStyle/>
          <a:p>
            <a:pPr algn="ctr"/>
            <a:r>
              <a:rPr sz="1050" b="1">
                <a:solidFill>
                  <a:srgbClr val="23303A"/>
                </a:solidFill>
                <a:latin typeface="Aptos"/>
              </a:rPr>
              <a:t>Prior Dummy</a:t>
            </a:r>
          </a:p>
        </p:txBody>
      </p:sp>
      <p:sp>
        <p:nvSpPr>
          <p:cNvPr id="59" name="Rectangle 58"/>
          <p:cNvSpPr/>
          <p:nvPr/>
        </p:nvSpPr>
        <p:spPr>
          <a:xfrm>
            <a:off x="8595360" y="4215384"/>
            <a:ext cx="68580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0" name="TextBox 59"/>
          <p:cNvSpPr txBox="1"/>
          <p:nvPr/>
        </p:nvSpPr>
        <p:spPr>
          <a:xfrm>
            <a:off x="8631936" y="430682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0.500</a:t>
            </a:r>
          </a:p>
        </p:txBody>
      </p:sp>
      <p:sp>
        <p:nvSpPr>
          <p:cNvPr id="61" name="Rectangle 60"/>
          <p:cNvSpPr/>
          <p:nvPr/>
        </p:nvSpPr>
        <p:spPr>
          <a:xfrm>
            <a:off x="9281160" y="4215384"/>
            <a:ext cx="96012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2" name="TextBox 61"/>
          <p:cNvSpPr txBox="1"/>
          <p:nvPr/>
        </p:nvSpPr>
        <p:spPr>
          <a:xfrm>
            <a:off x="9317736" y="430682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0.067</a:t>
            </a:r>
          </a:p>
        </p:txBody>
      </p:sp>
      <p:sp>
        <p:nvSpPr>
          <p:cNvPr id="63" name="Rectangle 62"/>
          <p:cNvSpPr/>
          <p:nvPr/>
        </p:nvSpPr>
        <p:spPr>
          <a:xfrm>
            <a:off x="10241280" y="4215384"/>
            <a:ext cx="96012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p:cNvSpPr txBox="1"/>
          <p:nvPr/>
        </p:nvSpPr>
        <p:spPr>
          <a:xfrm>
            <a:off x="10277855" y="4306824"/>
            <a:ext cx="886968" cy="272382"/>
          </a:xfrm>
          <a:prstGeom prst="rect">
            <a:avLst/>
          </a:prstGeom>
          <a:noFill/>
        </p:spPr>
        <p:txBody>
          <a:bodyPr wrap="square" lIns="54864" tIns="54864" rIns="54864" bIns="54864" anchor="t">
            <a:spAutoFit/>
          </a:bodyPr>
          <a:lstStyle/>
          <a:p>
            <a:pPr algn="ctr"/>
            <a:r>
              <a:rPr sz="1050" b="0">
                <a:solidFill>
                  <a:srgbClr val="23303A"/>
                </a:solidFill>
                <a:latin typeface="Aptos"/>
              </a:rPr>
              <a:t>0.000</a:t>
            </a:r>
          </a:p>
        </p:txBody>
      </p:sp>
      <p:sp>
        <p:nvSpPr>
          <p:cNvPr id="65" name="Rectangle 64"/>
          <p:cNvSpPr/>
          <p:nvPr/>
        </p:nvSpPr>
        <p:spPr>
          <a:xfrm>
            <a:off x="11201400" y="4215384"/>
            <a:ext cx="685800" cy="5029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6" name="TextBox 65"/>
          <p:cNvSpPr txBox="1"/>
          <p:nvPr/>
        </p:nvSpPr>
        <p:spPr>
          <a:xfrm>
            <a:off x="11237976" y="4306824"/>
            <a:ext cx="612648" cy="272382"/>
          </a:xfrm>
          <a:prstGeom prst="rect">
            <a:avLst/>
          </a:prstGeom>
          <a:noFill/>
        </p:spPr>
        <p:txBody>
          <a:bodyPr wrap="square" lIns="54864" tIns="54864" rIns="54864" bIns="54864" anchor="t">
            <a:spAutoFit/>
          </a:bodyPr>
          <a:lstStyle/>
          <a:p>
            <a:pPr algn="ctr"/>
            <a:r>
              <a:rPr sz="1050" b="0">
                <a:solidFill>
                  <a:srgbClr val="23303A"/>
                </a:solidFill>
                <a:latin typeface="Aptos"/>
              </a:rPr>
              <a:t>0.000</a:t>
            </a:r>
          </a:p>
        </p:txBody>
      </p:sp>
      <p:sp>
        <p:nvSpPr>
          <p:cNvPr id="67" name="Rounded Rectangle 66"/>
          <p:cNvSpPr/>
          <p:nvPr/>
        </p:nvSpPr>
        <p:spPr>
          <a:xfrm>
            <a:off x="7315200" y="4892040"/>
            <a:ext cx="4114800" cy="658368"/>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 name="TextBox 67"/>
          <p:cNvSpPr txBox="1"/>
          <p:nvPr/>
        </p:nvSpPr>
        <p:spPr>
          <a:xfrm>
            <a:off x="7479792" y="5084064"/>
            <a:ext cx="3794760" cy="603242"/>
          </a:xfrm>
          <a:prstGeom prst="rect">
            <a:avLst/>
          </a:prstGeom>
          <a:noFill/>
        </p:spPr>
        <p:txBody>
          <a:bodyPr wrap="square" lIns="54864" tIns="54864" rIns="54864" bIns="54864" anchor="t">
            <a:spAutoFit/>
          </a:bodyPr>
          <a:lstStyle/>
          <a:p>
            <a:pPr algn="ctr"/>
            <a:r>
              <a:rPr sz="1600" b="1">
                <a:solidFill>
                  <a:srgbClr val="0B1F33"/>
                </a:solidFill>
                <a:latin typeface="Aptos"/>
              </a:rPr>
              <a:t>Best baseline AUROC: Random Forest at 0.897</a:t>
            </a:r>
          </a:p>
        </p:txBody>
      </p:sp>
      <p:sp>
        <p:nvSpPr>
          <p:cNvPr id="69" name="Rectangle 68"/>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04  /  MODELING</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Sampling changes operating behavior more than ranking</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11</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58368" y="1508760"/>
            <a:ext cx="6583680" cy="4160520"/>
          </a:xfrm>
          <a:prstGeom prst="rect">
            <a:avLst/>
          </a:prstGeom>
        </p:spPr>
      </p:pic>
      <p:sp>
        <p:nvSpPr>
          <p:cNvPr id="7" name="Rounded Rectangle 6"/>
          <p:cNvSpPr/>
          <p:nvPr/>
        </p:nvSpPr>
        <p:spPr>
          <a:xfrm>
            <a:off x="7498079" y="1664208"/>
            <a:ext cx="3794760" cy="37947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18120" y="1993392"/>
            <a:ext cx="3017520" cy="274320"/>
          </a:xfrm>
          <a:prstGeom prst="rect">
            <a:avLst/>
          </a:prstGeom>
          <a:noFill/>
        </p:spPr>
        <p:txBody>
          <a:bodyPr wrap="square" lIns="54864" tIns="54864" rIns="54864" bIns="54864" anchor="t">
            <a:spAutoFit/>
          </a:bodyPr>
          <a:lstStyle/>
          <a:p>
            <a:pPr algn="l"/>
            <a:r>
              <a:rPr sz="2100" b="1">
                <a:solidFill>
                  <a:srgbClr val="0F766E"/>
                </a:solidFill>
                <a:latin typeface="Aptos Display"/>
              </a:rPr>
              <a:t>Current reading</a:t>
            </a:r>
          </a:p>
        </p:txBody>
      </p:sp>
      <p:sp>
        <p:nvSpPr>
          <p:cNvPr id="9" name="Oval 8"/>
          <p:cNvSpPr/>
          <p:nvPr/>
        </p:nvSpPr>
        <p:spPr>
          <a:xfrm>
            <a:off x="7818120" y="273405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82712" y="2651760"/>
            <a:ext cx="2761488" cy="310896"/>
          </a:xfrm>
          <a:prstGeom prst="rect">
            <a:avLst/>
          </a:prstGeom>
          <a:noFill/>
        </p:spPr>
        <p:txBody>
          <a:bodyPr wrap="square" lIns="54864" tIns="54864" rIns="54864" bIns="54864" anchor="t">
            <a:spAutoFit/>
          </a:bodyPr>
          <a:lstStyle/>
          <a:p>
            <a:pPr algn="l"/>
            <a:r>
              <a:rPr sz="1300" b="0">
                <a:solidFill>
                  <a:srgbClr val="23303A"/>
                </a:solidFill>
                <a:latin typeface="Aptos"/>
              </a:rPr>
              <a:t>Best sampled AUROC: Random Forest with random over-sampling (0.897).</a:t>
            </a:r>
          </a:p>
        </p:txBody>
      </p:sp>
      <p:sp>
        <p:nvSpPr>
          <p:cNvPr id="11" name="Oval 10"/>
          <p:cNvSpPr/>
          <p:nvPr/>
        </p:nvSpPr>
        <p:spPr>
          <a:xfrm>
            <a:off x="7818120" y="3355848"/>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82712" y="3273552"/>
            <a:ext cx="2761488" cy="310896"/>
          </a:xfrm>
          <a:prstGeom prst="rect">
            <a:avLst/>
          </a:prstGeom>
          <a:noFill/>
        </p:spPr>
        <p:txBody>
          <a:bodyPr wrap="square" lIns="54864" tIns="54864" rIns="54864" bIns="54864" anchor="t">
            <a:spAutoFit/>
          </a:bodyPr>
          <a:lstStyle/>
          <a:p>
            <a:pPr algn="l"/>
            <a:r>
              <a:rPr sz="1300" b="0">
                <a:solidFill>
                  <a:srgbClr val="23303A"/>
                </a:solidFill>
                <a:latin typeface="Aptos"/>
              </a:rPr>
              <a:t>The ranking values remain in a fairly narrow band across sampling choices.</a:t>
            </a:r>
          </a:p>
        </p:txBody>
      </p:sp>
      <p:sp>
        <p:nvSpPr>
          <p:cNvPr id="13" name="Oval 12"/>
          <p:cNvSpPr/>
          <p:nvPr/>
        </p:nvSpPr>
        <p:spPr>
          <a:xfrm>
            <a:off x="7818120" y="3977639"/>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82712" y="3895344"/>
            <a:ext cx="2761488" cy="310896"/>
          </a:xfrm>
          <a:prstGeom prst="rect">
            <a:avLst/>
          </a:prstGeom>
          <a:noFill/>
        </p:spPr>
        <p:txBody>
          <a:bodyPr wrap="square" lIns="54864" tIns="54864" rIns="54864" bIns="54864" anchor="t">
            <a:spAutoFit/>
          </a:bodyPr>
          <a:lstStyle/>
          <a:p>
            <a:pPr algn="l"/>
            <a:r>
              <a:rPr sz="1300" b="0">
                <a:solidFill>
                  <a:srgbClr val="23303A"/>
                </a:solidFill>
                <a:latin typeface="Aptos"/>
              </a:rPr>
              <a:t>Threshold metrics move more visibly: balancing can raise sensitivity while lowering specificity or PPV.</a:t>
            </a:r>
          </a:p>
        </p:txBody>
      </p:sp>
      <p:sp>
        <p:nvSpPr>
          <p:cNvPr id="15" name="Oval 14"/>
          <p:cNvSpPr/>
          <p:nvPr/>
        </p:nvSpPr>
        <p:spPr>
          <a:xfrm>
            <a:off x="7818120" y="4599431"/>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82712" y="4517136"/>
            <a:ext cx="2761488" cy="310896"/>
          </a:xfrm>
          <a:prstGeom prst="rect">
            <a:avLst/>
          </a:prstGeom>
          <a:noFill/>
        </p:spPr>
        <p:txBody>
          <a:bodyPr wrap="square" lIns="54864" tIns="54864" rIns="54864" bIns="54864" anchor="t">
            <a:spAutoFit/>
          </a:bodyPr>
          <a:lstStyle/>
          <a:p>
            <a:pPr algn="l"/>
            <a:r>
              <a:rPr sz="1300" b="0">
                <a:solidFill>
                  <a:srgbClr val="23303A"/>
                </a:solidFill>
                <a:latin typeface="Aptos"/>
              </a:rPr>
              <a:t>Sampling should be selected with the intended action and calibration in mind, not AUROC alone.</a:t>
            </a:r>
          </a:p>
        </p:txBody>
      </p:sp>
      <p:sp>
        <p:nvSpPr>
          <p:cNvPr id="17" name="Rectangle 16"/>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05  /  THRESHOLD</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A probability becomes a decision at a threshold</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12</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21792" y="1481328"/>
            <a:ext cx="6537960" cy="4160520"/>
          </a:xfrm>
          <a:prstGeom prst="rect">
            <a:avLst/>
          </a:prstGeom>
        </p:spPr>
      </p:pic>
      <p:sp>
        <p:nvSpPr>
          <p:cNvPr id="7" name="Rectangle 6"/>
          <p:cNvSpPr/>
          <p:nvPr/>
        </p:nvSpPr>
        <p:spPr>
          <a:xfrm>
            <a:off x="7315200" y="1783080"/>
            <a:ext cx="777240" cy="53035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51775" y="1874519"/>
            <a:ext cx="704088" cy="164592"/>
          </a:xfrm>
          <a:prstGeom prst="rect">
            <a:avLst/>
          </a:prstGeom>
          <a:noFill/>
        </p:spPr>
        <p:txBody>
          <a:bodyPr wrap="square" lIns="54864" tIns="54864" rIns="54864" bIns="54864" anchor="t">
            <a:spAutoFit/>
          </a:bodyPr>
          <a:lstStyle/>
          <a:p>
            <a:pPr algn="ctr"/>
            <a:r>
              <a:rPr sz="900" b="1">
                <a:solidFill>
                  <a:srgbClr val="FFFFFF"/>
                </a:solidFill>
                <a:latin typeface="Aptos"/>
              </a:rPr>
              <a:t>Cutoff</a:t>
            </a:r>
          </a:p>
        </p:txBody>
      </p:sp>
      <p:sp>
        <p:nvSpPr>
          <p:cNvPr id="9" name="Rectangle 8"/>
          <p:cNvSpPr/>
          <p:nvPr/>
        </p:nvSpPr>
        <p:spPr>
          <a:xfrm>
            <a:off x="8092440" y="1783080"/>
            <a:ext cx="1051560" cy="53035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8129015" y="1874519"/>
            <a:ext cx="978407" cy="264688"/>
          </a:xfrm>
          <a:prstGeom prst="rect">
            <a:avLst/>
          </a:prstGeom>
          <a:noFill/>
        </p:spPr>
        <p:txBody>
          <a:bodyPr wrap="square" lIns="54864" tIns="54864" rIns="54864" bIns="54864" anchor="t">
            <a:spAutoFit/>
          </a:bodyPr>
          <a:lstStyle/>
          <a:p>
            <a:pPr algn="ctr"/>
            <a:r>
              <a:rPr sz="1000" b="1">
                <a:solidFill>
                  <a:srgbClr val="FFFFFF"/>
                </a:solidFill>
                <a:latin typeface="Aptos"/>
              </a:rPr>
              <a:t>Sensitivity</a:t>
            </a:r>
          </a:p>
        </p:txBody>
      </p:sp>
      <p:sp>
        <p:nvSpPr>
          <p:cNvPr id="11" name="Rectangle 10"/>
          <p:cNvSpPr/>
          <p:nvPr/>
        </p:nvSpPr>
        <p:spPr>
          <a:xfrm>
            <a:off x="9144000" y="1783080"/>
            <a:ext cx="1005840" cy="53035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9180576" y="1874519"/>
            <a:ext cx="932688" cy="264688"/>
          </a:xfrm>
          <a:prstGeom prst="rect">
            <a:avLst/>
          </a:prstGeom>
          <a:noFill/>
        </p:spPr>
        <p:txBody>
          <a:bodyPr wrap="square" lIns="54864" tIns="54864" rIns="54864" bIns="54864" anchor="t">
            <a:spAutoFit/>
          </a:bodyPr>
          <a:lstStyle/>
          <a:p>
            <a:pPr algn="ctr"/>
            <a:r>
              <a:rPr sz="1000" b="1">
                <a:solidFill>
                  <a:srgbClr val="FFFFFF"/>
                </a:solidFill>
                <a:latin typeface="Aptos"/>
              </a:rPr>
              <a:t>Specificity</a:t>
            </a:r>
          </a:p>
        </p:txBody>
      </p:sp>
      <p:sp>
        <p:nvSpPr>
          <p:cNvPr id="13" name="Rectangle 12"/>
          <p:cNvSpPr/>
          <p:nvPr/>
        </p:nvSpPr>
        <p:spPr>
          <a:xfrm>
            <a:off x="10149840" y="1783080"/>
            <a:ext cx="685800" cy="53035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10186415" y="1874519"/>
            <a:ext cx="612648" cy="264688"/>
          </a:xfrm>
          <a:prstGeom prst="rect">
            <a:avLst/>
          </a:prstGeom>
          <a:noFill/>
        </p:spPr>
        <p:txBody>
          <a:bodyPr wrap="square" lIns="54864" tIns="54864" rIns="54864" bIns="54864" anchor="t">
            <a:spAutoFit/>
          </a:bodyPr>
          <a:lstStyle/>
          <a:p>
            <a:pPr algn="ctr"/>
            <a:r>
              <a:rPr sz="1000" b="1">
                <a:solidFill>
                  <a:srgbClr val="FFFFFF"/>
                </a:solidFill>
                <a:latin typeface="Aptos"/>
              </a:rPr>
              <a:t>PPV</a:t>
            </a:r>
          </a:p>
        </p:txBody>
      </p:sp>
      <p:sp>
        <p:nvSpPr>
          <p:cNvPr id="15" name="Rectangle 14"/>
          <p:cNvSpPr/>
          <p:nvPr/>
        </p:nvSpPr>
        <p:spPr>
          <a:xfrm>
            <a:off x="10835640" y="1783080"/>
            <a:ext cx="1234440" cy="530352"/>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10872215" y="1874519"/>
            <a:ext cx="1161288" cy="264688"/>
          </a:xfrm>
          <a:prstGeom prst="rect">
            <a:avLst/>
          </a:prstGeom>
          <a:noFill/>
        </p:spPr>
        <p:txBody>
          <a:bodyPr wrap="square" lIns="54864" tIns="54864" rIns="54864" bIns="54864" anchor="t">
            <a:spAutoFit/>
          </a:bodyPr>
          <a:lstStyle/>
          <a:p>
            <a:pPr algn="ctr"/>
            <a:r>
              <a:rPr sz="1000" b="1">
                <a:solidFill>
                  <a:srgbClr val="FFFFFF"/>
                </a:solidFill>
                <a:latin typeface="Aptos"/>
              </a:rPr>
              <a:t>False positives</a:t>
            </a:r>
          </a:p>
        </p:txBody>
      </p:sp>
      <p:sp>
        <p:nvSpPr>
          <p:cNvPr id="17" name="Rectangle 16"/>
          <p:cNvSpPr/>
          <p:nvPr/>
        </p:nvSpPr>
        <p:spPr>
          <a:xfrm>
            <a:off x="7315200" y="2313432"/>
            <a:ext cx="77724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51775" y="2404872"/>
            <a:ext cx="704088" cy="264688"/>
          </a:xfrm>
          <a:prstGeom prst="rect">
            <a:avLst/>
          </a:prstGeom>
          <a:noFill/>
        </p:spPr>
        <p:txBody>
          <a:bodyPr wrap="square" lIns="54864" tIns="54864" rIns="54864" bIns="54864" anchor="t">
            <a:spAutoFit/>
          </a:bodyPr>
          <a:lstStyle/>
          <a:p>
            <a:pPr algn="ctr"/>
            <a:r>
              <a:rPr sz="1000" b="1" dirty="0">
                <a:solidFill>
                  <a:srgbClr val="23303A"/>
                </a:solidFill>
                <a:latin typeface="Aptos"/>
              </a:rPr>
              <a:t>0.10</a:t>
            </a:r>
            <a:endParaRPr sz="900" b="1" dirty="0">
              <a:solidFill>
                <a:srgbClr val="23303A"/>
              </a:solidFill>
              <a:latin typeface="Aptos"/>
            </a:endParaRPr>
          </a:p>
        </p:txBody>
      </p:sp>
      <p:sp>
        <p:nvSpPr>
          <p:cNvPr id="19" name="Rectangle 18"/>
          <p:cNvSpPr/>
          <p:nvPr/>
        </p:nvSpPr>
        <p:spPr>
          <a:xfrm>
            <a:off x="8092440" y="2313432"/>
            <a:ext cx="105156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8129015" y="2404872"/>
            <a:ext cx="978407" cy="264688"/>
          </a:xfrm>
          <a:prstGeom prst="rect">
            <a:avLst/>
          </a:prstGeom>
          <a:noFill/>
        </p:spPr>
        <p:txBody>
          <a:bodyPr wrap="square" lIns="54864" tIns="54864" rIns="54864" bIns="54864" anchor="t">
            <a:spAutoFit/>
          </a:bodyPr>
          <a:lstStyle/>
          <a:p>
            <a:pPr algn="ctr"/>
            <a:r>
              <a:rPr sz="1000" b="0">
                <a:solidFill>
                  <a:srgbClr val="23303A"/>
                </a:solidFill>
                <a:latin typeface="Aptos"/>
              </a:rPr>
              <a:t>0.983</a:t>
            </a:r>
          </a:p>
        </p:txBody>
      </p:sp>
      <p:sp>
        <p:nvSpPr>
          <p:cNvPr id="21" name="Rectangle 20"/>
          <p:cNvSpPr/>
          <p:nvPr/>
        </p:nvSpPr>
        <p:spPr>
          <a:xfrm>
            <a:off x="9144000" y="2313432"/>
            <a:ext cx="100584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TextBox 21"/>
          <p:cNvSpPr txBox="1"/>
          <p:nvPr/>
        </p:nvSpPr>
        <p:spPr>
          <a:xfrm>
            <a:off x="9180576" y="2404872"/>
            <a:ext cx="932688" cy="264688"/>
          </a:xfrm>
          <a:prstGeom prst="rect">
            <a:avLst/>
          </a:prstGeom>
          <a:noFill/>
        </p:spPr>
        <p:txBody>
          <a:bodyPr wrap="square" lIns="54864" tIns="54864" rIns="54864" bIns="54864" anchor="t">
            <a:spAutoFit/>
          </a:bodyPr>
          <a:lstStyle/>
          <a:p>
            <a:pPr algn="ctr"/>
            <a:r>
              <a:rPr sz="1000" b="0">
                <a:solidFill>
                  <a:srgbClr val="23303A"/>
                </a:solidFill>
                <a:latin typeface="Aptos"/>
              </a:rPr>
              <a:t>0.372</a:t>
            </a:r>
          </a:p>
        </p:txBody>
      </p:sp>
      <p:sp>
        <p:nvSpPr>
          <p:cNvPr id="23" name="Rectangle 22"/>
          <p:cNvSpPr/>
          <p:nvPr/>
        </p:nvSpPr>
        <p:spPr>
          <a:xfrm>
            <a:off x="10149840" y="2313432"/>
            <a:ext cx="68580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10186415" y="240487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0.101</a:t>
            </a:r>
          </a:p>
        </p:txBody>
      </p:sp>
      <p:sp>
        <p:nvSpPr>
          <p:cNvPr id="25" name="Rectangle 24"/>
          <p:cNvSpPr/>
          <p:nvPr/>
        </p:nvSpPr>
        <p:spPr>
          <a:xfrm>
            <a:off x="10835640" y="2313432"/>
            <a:ext cx="123444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p:cNvSpPr txBox="1"/>
          <p:nvPr/>
        </p:nvSpPr>
        <p:spPr>
          <a:xfrm>
            <a:off x="10872215" y="2404872"/>
            <a:ext cx="1161288" cy="264688"/>
          </a:xfrm>
          <a:prstGeom prst="rect">
            <a:avLst/>
          </a:prstGeom>
          <a:noFill/>
        </p:spPr>
        <p:txBody>
          <a:bodyPr wrap="square" lIns="54864" tIns="54864" rIns="54864" bIns="54864" anchor="t">
            <a:spAutoFit/>
          </a:bodyPr>
          <a:lstStyle/>
          <a:p>
            <a:pPr algn="ctr"/>
            <a:r>
              <a:rPr sz="1000" b="0">
                <a:solidFill>
                  <a:srgbClr val="23303A"/>
                </a:solidFill>
                <a:latin typeface="Aptos"/>
              </a:rPr>
              <a:t>3,492</a:t>
            </a:r>
          </a:p>
        </p:txBody>
      </p:sp>
      <p:sp>
        <p:nvSpPr>
          <p:cNvPr id="27" name="Rectangle 26"/>
          <p:cNvSpPr/>
          <p:nvPr/>
        </p:nvSpPr>
        <p:spPr>
          <a:xfrm>
            <a:off x="7315200" y="2843784"/>
            <a:ext cx="77724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51775" y="2935224"/>
            <a:ext cx="704088" cy="264688"/>
          </a:xfrm>
          <a:prstGeom prst="rect">
            <a:avLst/>
          </a:prstGeom>
          <a:noFill/>
        </p:spPr>
        <p:txBody>
          <a:bodyPr wrap="square" lIns="54864" tIns="54864" rIns="54864" bIns="54864" anchor="t">
            <a:spAutoFit/>
          </a:bodyPr>
          <a:lstStyle/>
          <a:p>
            <a:pPr algn="ctr"/>
            <a:r>
              <a:rPr sz="1000" b="1">
                <a:solidFill>
                  <a:srgbClr val="23303A"/>
                </a:solidFill>
                <a:latin typeface="Aptos"/>
              </a:rPr>
              <a:t>0.25</a:t>
            </a:r>
          </a:p>
        </p:txBody>
      </p:sp>
      <p:sp>
        <p:nvSpPr>
          <p:cNvPr id="29" name="Rectangle 28"/>
          <p:cNvSpPr/>
          <p:nvPr/>
        </p:nvSpPr>
        <p:spPr>
          <a:xfrm>
            <a:off x="8092440" y="2843784"/>
            <a:ext cx="105156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0" name="TextBox 29"/>
          <p:cNvSpPr txBox="1"/>
          <p:nvPr/>
        </p:nvSpPr>
        <p:spPr>
          <a:xfrm>
            <a:off x="8129015" y="2935224"/>
            <a:ext cx="978407" cy="264688"/>
          </a:xfrm>
          <a:prstGeom prst="rect">
            <a:avLst/>
          </a:prstGeom>
          <a:noFill/>
        </p:spPr>
        <p:txBody>
          <a:bodyPr wrap="square" lIns="54864" tIns="54864" rIns="54864" bIns="54864" anchor="t">
            <a:spAutoFit/>
          </a:bodyPr>
          <a:lstStyle/>
          <a:p>
            <a:pPr algn="ctr"/>
            <a:r>
              <a:rPr sz="1000" b="0">
                <a:solidFill>
                  <a:srgbClr val="23303A"/>
                </a:solidFill>
                <a:latin typeface="Aptos"/>
              </a:rPr>
              <a:t>0.920</a:t>
            </a:r>
          </a:p>
        </p:txBody>
      </p:sp>
      <p:sp>
        <p:nvSpPr>
          <p:cNvPr id="31" name="Rectangle 30"/>
          <p:cNvSpPr/>
          <p:nvPr/>
        </p:nvSpPr>
        <p:spPr>
          <a:xfrm>
            <a:off x="9144000" y="2843784"/>
            <a:ext cx="100584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2" name="TextBox 31"/>
          <p:cNvSpPr txBox="1"/>
          <p:nvPr/>
        </p:nvSpPr>
        <p:spPr>
          <a:xfrm>
            <a:off x="9180576" y="2935224"/>
            <a:ext cx="932688" cy="264688"/>
          </a:xfrm>
          <a:prstGeom prst="rect">
            <a:avLst/>
          </a:prstGeom>
          <a:noFill/>
        </p:spPr>
        <p:txBody>
          <a:bodyPr wrap="square" lIns="54864" tIns="54864" rIns="54864" bIns="54864" anchor="t">
            <a:spAutoFit/>
          </a:bodyPr>
          <a:lstStyle/>
          <a:p>
            <a:pPr algn="ctr"/>
            <a:r>
              <a:rPr sz="1000" b="0">
                <a:solidFill>
                  <a:srgbClr val="23303A"/>
                </a:solidFill>
                <a:latin typeface="Aptos"/>
              </a:rPr>
              <a:t>0.610</a:t>
            </a:r>
          </a:p>
        </p:txBody>
      </p:sp>
      <p:sp>
        <p:nvSpPr>
          <p:cNvPr id="33" name="Rectangle 32"/>
          <p:cNvSpPr/>
          <p:nvPr/>
        </p:nvSpPr>
        <p:spPr>
          <a:xfrm>
            <a:off x="10149840" y="2843784"/>
            <a:ext cx="68580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TextBox 33"/>
          <p:cNvSpPr txBox="1"/>
          <p:nvPr/>
        </p:nvSpPr>
        <p:spPr>
          <a:xfrm>
            <a:off x="10186415" y="2935224"/>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0.145</a:t>
            </a:r>
          </a:p>
        </p:txBody>
      </p:sp>
      <p:sp>
        <p:nvSpPr>
          <p:cNvPr id="35" name="Rectangle 34"/>
          <p:cNvSpPr/>
          <p:nvPr/>
        </p:nvSpPr>
        <p:spPr>
          <a:xfrm>
            <a:off x="10835640" y="2843784"/>
            <a:ext cx="123444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TextBox 35"/>
          <p:cNvSpPr txBox="1"/>
          <p:nvPr/>
        </p:nvSpPr>
        <p:spPr>
          <a:xfrm>
            <a:off x="10872215" y="2935224"/>
            <a:ext cx="1161288" cy="264688"/>
          </a:xfrm>
          <a:prstGeom prst="rect">
            <a:avLst/>
          </a:prstGeom>
          <a:noFill/>
        </p:spPr>
        <p:txBody>
          <a:bodyPr wrap="square" lIns="54864" tIns="54864" rIns="54864" bIns="54864" anchor="t">
            <a:spAutoFit/>
          </a:bodyPr>
          <a:lstStyle/>
          <a:p>
            <a:pPr algn="ctr"/>
            <a:r>
              <a:rPr sz="1000" b="0">
                <a:solidFill>
                  <a:srgbClr val="23303A"/>
                </a:solidFill>
                <a:latin typeface="Aptos"/>
              </a:rPr>
              <a:t>2,170</a:t>
            </a:r>
          </a:p>
        </p:txBody>
      </p:sp>
      <p:sp>
        <p:nvSpPr>
          <p:cNvPr id="37" name="Rectangle 36"/>
          <p:cNvSpPr/>
          <p:nvPr/>
        </p:nvSpPr>
        <p:spPr>
          <a:xfrm>
            <a:off x="7315200" y="3374135"/>
            <a:ext cx="77724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51775" y="3465575"/>
            <a:ext cx="704088" cy="264688"/>
          </a:xfrm>
          <a:prstGeom prst="rect">
            <a:avLst/>
          </a:prstGeom>
          <a:noFill/>
        </p:spPr>
        <p:txBody>
          <a:bodyPr wrap="square" lIns="54864" tIns="54864" rIns="54864" bIns="54864" anchor="t">
            <a:spAutoFit/>
          </a:bodyPr>
          <a:lstStyle/>
          <a:p>
            <a:pPr algn="ctr"/>
            <a:r>
              <a:rPr sz="1000" b="1">
                <a:solidFill>
                  <a:srgbClr val="23303A"/>
                </a:solidFill>
                <a:latin typeface="Aptos"/>
              </a:rPr>
              <a:t>0.50</a:t>
            </a:r>
          </a:p>
        </p:txBody>
      </p:sp>
      <p:sp>
        <p:nvSpPr>
          <p:cNvPr id="39" name="Rectangle 38"/>
          <p:cNvSpPr/>
          <p:nvPr/>
        </p:nvSpPr>
        <p:spPr>
          <a:xfrm>
            <a:off x="8092440" y="3374135"/>
            <a:ext cx="105156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0" name="TextBox 39"/>
          <p:cNvSpPr txBox="1"/>
          <p:nvPr/>
        </p:nvSpPr>
        <p:spPr>
          <a:xfrm>
            <a:off x="8129015" y="3465575"/>
            <a:ext cx="978407" cy="264688"/>
          </a:xfrm>
          <a:prstGeom prst="rect">
            <a:avLst/>
          </a:prstGeom>
          <a:noFill/>
        </p:spPr>
        <p:txBody>
          <a:bodyPr wrap="square" lIns="54864" tIns="54864" rIns="54864" bIns="54864" anchor="t">
            <a:spAutoFit/>
          </a:bodyPr>
          <a:lstStyle/>
          <a:p>
            <a:pPr algn="ctr"/>
            <a:r>
              <a:rPr sz="1000" b="0">
                <a:solidFill>
                  <a:srgbClr val="23303A"/>
                </a:solidFill>
                <a:latin typeface="Aptos"/>
              </a:rPr>
              <a:t>0.823</a:t>
            </a:r>
          </a:p>
        </p:txBody>
      </p:sp>
      <p:sp>
        <p:nvSpPr>
          <p:cNvPr id="41" name="Rectangle 40"/>
          <p:cNvSpPr/>
          <p:nvPr/>
        </p:nvSpPr>
        <p:spPr>
          <a:xfrm>
            <a:off x="9144000" y="3374135"/>
            <a:ext cx="100584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2" name="TextBox 41"/>
          <p:cNvSpPr txBox="1"/>
          <p:nvPr/>
        </p:nvSpPr>
        <p:spPr>
          <a:xfrm>
            <a:off x="9180576" y="3465575"/>
            <a:ext cx="932688" cy="264688"/>
          </a:xfrm>
          <a:prstGeom prst="rect">
            <a:avLst/>
          </a:prstGeom>
          <a:noFill/>
        </p:spPr>
        <p:txBody>
          <a:bodyPr wrap="square" lIns="54864" tIns="54864" rIns="54864" bIns="54864" anchor="t">
            <a:spAutoFit/>
          </a:bodyPr>
          <a:lstStyle/>
          <a:p>
            <a:pPr algn="ctr"/>
            <a:r>
              <a:rPr sz="1000" b="0">
                <a:solidFill>
                  <a:srgbClr val="23303A"/>
                </a:solidFill>
                <a:latin typeface="Aptos"/>
              </a:rPr>
              <a:t>0.806</a:t>
            </a:r>
          </a:p>
        </p:txBody>
      </p:sp>
      <p:sp>
        <p:nvSpPr>
          <p:cNvPr id="43" name="Rectangle 42"/>
          <p:cNvSpPr/>
          <p:nvPr/>
        </p:nvSpPr>
        <p:spPr>
          <a:xfrm>
            <a:off x="10149840" y="3374135"/>
            <a:ext cx="68580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TextBox 43"/>
          <p:cNvSpPr txBox="1"/>
          <p:nvPr/>
        </p:nvSpPr>
        <p:spPr>
          <a:xfrm>
            <a:off x="10186415" y="3465575"/>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0.234</a:t>
            </a:r>
          </a:p>
        </p:txBody>
      </p:sp>
      <p:sp>
        <p:nvSpPr>
          <p:cNvPr id="45" name="Rectangle 44"/>
          <p:cNvSpPr/>
          <p:nvPr/>
        </p:nvSpPr>
        <p:spPr>
          <a:xfrm>
            <a:off x="10835640" y="3374135"/>
            <a:ext cx="1234440" cy="5303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6" name="TextBox 45"/>
          <p:cNvSpPr txBox="1"/>
          <p:nvPr/>
        </p:nvSpPr>
        <p:spPr>
          <a:xfrm>
            <a:off x="10872215" y="3465575"/>
            <a:ext cx="1161288" cy="264688"/>
          </a:xfrm>
          <a:prstGeom prst="rect">
            <a:avLst/>
          </a:prstGeom>
          <a:noFill/>
        </p:spPr>
        <p:txBody>
          <a:bodyPr wrap="square" lIns="54864" tIns="54864" rIns="54864" bIns="54864" anchor="t">
            <a:spAutoFit/>
          </a:bodyPr>
          <a:lstStyle/>
          <a:p>
            <a:pPr algn="ctr"/>
            <a:r>
              <a:rPr sz="1000" b="0">
                <a:solidFill>
                  <a:srgbClr val="23303A"/>
                </a:solidFill>
                <a:latin typeface="Aptos"/>
              </a:rPr>
              <a:t>1,079</a:t>
            </a:r>
          </a:p>
        </p:txBody>
      </p:sp>
      <p:sp>
        <p:nvSpPr>
          <p:cNvPr id="47" name="Rectangle 46"/>
          <p:cNvSpPr/>
          <p:nvPr/>
        </p:nvSpPr>
        <p:spPr>
          <a:xfrm>
            <a:off x="7315200" y="3904487"/>
            <a:ext cx="77724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51775" y="3995927"/>
            <a:ext cx="704088" cy="264688"/>
          </a:xfrm>
          <a:prstGeom prst="rect">
            <a:avLst/>
          </a:prstGeom>
          <a:noFill/>
        </p:spPr>
        <p:txBody>
          <a:bodyPr wrap="square" lIns="54864" tIns="54864" rIns="54864" bIns="54864" anchor="t">
            <a:spAutoFit/>
          </a:bodyPr>
          <a:lstStyle/>
          <a:p>
            <a:pPr algn="ctr"/>
            <a:r>
              <a:rPr sz="1000" b="1" dirty="0">
                <a:solidFill>
                  <a:srgbClr val="23303A"/>
                </a:solidFill>
                <a:latin typeface="Aptos"/>
              </a:rPr>
              <a:t>0.75</a:t>
            </a:r>
            <a:endParaRPr sz="900" b="1" dirty="0">
              <a:solidFill>
                <a:srgbClr val="23303A"/>
              </a:solidFill>
              <a:latin typeface="Aptos"/>
            </a:endParaRPr>
          </a:p>
        </p:txBody>
      </p:sp>
      <p:sp>
        <p:nvSpPr>
          <p:cNvPr id="49" name="Rectangle 48"/>
          <p:cNvSpPr/>
          <p:nvPr/>
        </p:nvSpPr>
        <p:spPr>
          <a:xfrm>
            <a:off x="8092440" y="3904487"/>
            <a:ext cx="105156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129015" y="3995927"/>
            <a:ext cx="978407" cy="264688"/>
          </a:xfrm>
          <a:prstGeom prst="rect">
            <a:avLst/>
          </a:prstGeom>
          <a:noFill/>
        </p:spPr>
        <p:txBody>
          <a:bodyPr wrap="square" lIns="54864" tIns="54864" rIns="54864" bIns="54864" anchor="t">
            <a:spAutoFit/>
          </a:bodyPr>
          <a:lstStyle/>
          <a:p>
            <a:pPr algn="ctr"/>
            <a:r>
              <a:rPr sz="1000" b="0">
                <a:solidFill>
                  <a:srgbClr val="23303A"/>
                </a:solidFill>
                <a:latin typeface="Aptos"/>
              </a:rPr>
              <a:t>0.571</a:t>
            </a:r>
          </a:p>
        </p:txBody>
      </p:sp>
      <p:sp>
        <p:nvSpPr>
          <p:cNvPr id="51" name="Rectangle 50"/>
          <p:cNvSpPr/>
          <p:nvPr/>
        </p:nvSpPr>
        <p:spPr>
          <a:xfrm>
            <a:off x="9144000" y="3904487"/>
            <a:ext cx="100584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180576" y="3995927"/>
            <a:ext cx="932688" cy="264688"/>
          </a:xfrm>
          <a:prstGeom prst="rect">
            <a:avLst/>
          </a:prstGeom>
          <a:noFill/>
        </p:spPr>
        <p:txBody>
          <a:bodyPr wrap="square" lIns="54864" tIns="54864" rIns="54864" bIns="54864" anchor="t">
            <a:spAutoFit/>
          </a:bodyPr>
          <a:lstStyle/>
          <a:p>
            <a:pPr algn="ctr"/>
            <a:r>
              <a:rPr sz="1000" b="0">
                <a:solidFill>
                  <a:srgbClr val="23303A"/>
                </a:solidFill>
                <a:latin typeface="Aptos"/>
              </a:rPr>
              <a:t>0.926</a:t>
            </a:r>
          </a:p>
        </p:txBody>
      </p:sp>
      <p:sp>
        <p:nvSpPr>
          <p:cNvPr id="53" name="Rectangle 52"/>
          <p:cNvSpPr/>
          <p:nvPr/>
        </p:nvSpPr>
        <p:spPr>
          <a:xfrm>
            <a:off x="10149840" y="3904487"/>
            <a:ext cx="68580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186415" y="3995927"/>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0.356</a:t>
            </a:r>
          </a:p>
        </p:txBody>
      </p:sp>
      <p:sp>
        <p:nvSpPr>
          <p:cNvPr id="55" name="Rectangle 54"/>
          <p:cNvSpPr/>
          <p:nvPr/>
        </p:nvSpPr>
        <p:spPr>
          <a:xfrm>
            <a:off x="10835640" y="3904487"/>
            <a:ext cx="1234440" cy="53035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872215" y="3995927"/>
            <a:ext cx="1161288" cy="264688"/>
          </a:xfrm>
          <a:prstGeom prst="rect">
            <a:avLst/>
          </a:prstGeom>
          <a:noFill/>
        </p:spPr>
        <p:txBody>
          <a:bodyPr wrap="square" lIns="54864" tIns="54864" rIns="54864" bIns="54864" anchor="t">
            <a:spAutoFit/>
          </a:bodyPr>
          <a:lstStyle/>
          <a:p>
            <a:pPr algn="ctr"/>
            <a:r>
              <a:rPr sz="1000" b="0">
                <a:solidFill>
                  <a:srgbClr val="23303A"/>
                </a:solidFill>
                <a:latin typeface="Aptos"/>
              </a:rPr>
              <a:t>414</a:t>
            </a:r>
          </a:p>
        </p:txBody>
      </p:sp>
      <p:sp>
        <p:nvSpPr>
          <p:cNvPr id="57" name="TextBox 56"/>
          <p:cNvSpPr txBox="1"/>
          <p:nvPr/>
        </p:nvSpPr>
        <p:spPr>
          <a:xfrm>
            <a:off x="7360920" y="4800600"/>
            <a:ext cx="3886200" cy="566928"/>
          </a:xfrm>
          <a:prstGeom prst="rect">
            <a:avLst/>
          </a:prstGeom>
          <a:noFill/>
        </p:spPr>
        <p:txBody>
          <a:bodyPr wrap="square" lIns="54864" tIns="54864" rIns="54864" bIns="54864" anchor="t">
            <a:spAutoFit/>
          </a:bodyPr>
          <a:lstStyle/>
          <a:p>
            <a:pPr algn="ctr"/>
            <a:r>
              <a:rPr sz="1500" b="1">
                <a:solidFill>
                  <a:srgbClr val="0B1F33"/>
                </a:solidFill>
                <a:latin typeface="Aptos"/>
              </a:rPr>
              <a:t>Lower cutoff = more catches and more alerts. Higher cutoff = fewer alerts and more misses.</a:t>
            </a:r>
          </a:p>
        </p:txBody>
      </p:sp>
      <p:sp>
        <p:nvSpPr>
          <p:cNvPr id="58" name="Rectangle 57"/>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06  /  PROBABILITY QUALITY</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Calibration asks whether probabilities mean what they say</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13</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58368" y="1481328"/>
            <a:ext cx="6309360" cy="4206240"/>
          </a:xfrm>
          <a:prstGeom prst="rect">
            <a:avLst/>
          </a:prstGeom>
        </p:spPr>
      </p:pic>
      <p:sp>
        <p:nvSpPr>
          <p:cNvPr id="7" name="Rounded Rectangle 6"/>
          <p:cNvSpPr/>
          <p:nvPr/>
        </p:nvSpPr>
        <p:spPr>
          <a:xfrm>
            <a:off x="7269480" y="1664208"/>
            <a:ext cx="4023360" cy="37947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0" y="1993392"/>
            <a:ext cx="3291840" cy="274320"/>
          </a:xfrm>
          <a:prstGeom prst="rect">
            <a:avLst/>
          </a:prstGeom>
          <a:noFill/>
        </p:spPr>
        <p:txBody>
          <a:bodyPr wrap="square" lIns="54864" tIns="54864" rIns="54864" bIns="54864" anchor="t">
            <a:spAutoFit/>
          </a:bodyPr>
          <a:lstStyle/>
          <a:p>
            <a:pPr algn="l"/>
            <a:r>
              <a:rPr sz="2000" b="1">
                <a:solidFill>
                  <a:srgbClr val="0F766E"/>
                </a:solidFill>
                <a:latin typeface="Aptos Display"/>
              </a:rPr>
              <a:t>How to read the curve</a:t>
            </a:r>
          </a:p>
        </p:txBody>
      </p:sp>
      <p:sp>
        <p:nvSpPr>
          <p:cNvPr id="9" name="Oval 8"/>
          <p:cNvSpPr/>
          <p:nvPr/>
        </p:nvSpPr>
        <p:spPr>
          <a:xfrm>
            <a:off x="7589520" y="2715768"/>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54112" y="2633472"/>
            <a:ext cx="2990088" cy="310896"/>
          </a:xfrm>
          <a:prstGeom prst="rect">
            <a:avLst/>
          </a:prstGeom>
          <a:noFill/>
        </p:spPr>
        <p:txBody>
          <a:bodyPr wrap="square" lIns="54864" tIns="54864" rIns="54864" bIns="54864" anchor="t">
            <a:spAutoFit/>
          </a:bodyPr>
          <a:lstStyle/>
          <a:p>
            <a:pPr algn="l"/>
            <a:r>
              <a:rPr sz="1300" b="0">
                <a:solidFill>
                  <a:srgbClr val="23303A"/>
                </a:solidFill>
                <a:latin typeface="Aptos"/>
              </a:rPr>
              <a:t>A calibrated 0.20 prediction means roughly 20% positive in similar cases.</a:t>
            </a:r>
          </a:p>
        </p:txBody>
      </p:sp>
      <p:sp>
        <p:nvSpPr>
          <p:cNvPr id="11" name="Oval 10"/>
          <p:cNvSpPr/>
          <p:nvPr/>
        </p:nvSpPr>
        <p:spPr>
          <a:xfrm>
            <a:off x="7589520" y="3337560"/>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54112" y="3255264"/>
            <a:ext cx="2990088" cy="310896"/>
          </a:xfrm>
          <a:prstGeom prst="rect">
            <a:avLst/>
          </a:prstGeom>
          <a:noFill/>
        </p:spPr>
        <p:txBody>
          <a:bodyPr wrap="square" lIns="54864" tIns="54864" rIns="54864" bIns="54864" anchor="t">
            <a:spAutoFit/>
          </a:bodyPr>
          <a:lstStyle/>
          <a:p>
            <a:pPr algn="l"/>
            <a:r>
              <a:rPr sz="1300" b="0">
                <a:solidFill>
                  <a:srgbClr val="23303A"/>
                </a:solidFill>
                <a:latin typeface="Aptos"/>
              </a:rPr>
              <a:t>Points below the diagonal are overconfident: predicted risk exceeds observed frequency.</a:t>
            </a:r>
          </a:p>
        </p:txBody>
      </p:sp>
      <p:sp>
        <p:nvSpPr>
          <p:cNvPr id="13" name="Oval 12"/>
          <p:cNvSpPr/>
          <p:nvPr/>
        </p:nvSpPr>
        <p:spPr>
          <a:xfrm>
            <a:off x="7589520" y="3959352"/>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54112" y="3877056"/>
            <a:ext cx="2990088" cy="310896"/>
          </a:xfrm>
          <a:prstGeom prst="rect">
            <a:avLst/>
          </a:prstGeom>
          <a:noFill/>
        </p:spPr>
        <p:txBody>
          <a:bodyPr wrap="square" lIns="54864" tIns="54864" rIns="54864" bIns="54864" anchor="t">
            <a:spAutoFit/>
          </a:bodyPr>
          <a:lstStyle/>
          <a:p>
            <a:pPr algn="l"/>
            <a:r>
              <a:rPr sz="1300" b="0">
                <a:solidFill>
                  <a:srgbClr val="23303A"/>
                </a:solidFill>
                <a:latin typeface="Aptos"/>
              </a:rPr>
              <a:t>The current curve is below the diagonal across much of the range.</a:t>
            </a:r>
          </a:p>
        </p:txBody>
      </p:sp>
      <p:sp>
        <p:nvSpPr>
          <p:cNvPr id="15" name="Oval 14"/>
          <p:cNvSpPr/>
          <p:nvPr/>
        </p:nvSpPr>
        <p:spPr>
          <a:xfrm>
            <a:off x="7589520" y="4581144"/>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54112" y="4498848"/>
            <a:ext cx="2990088" cy="310896"/>
          </a:xfrm>
          <a:prstGeom prst="rect">
            <a:avLst/>
          </a:prstGeom>
          <a:noFill/>
        </p:spPr>
        <p:txBody>
          <a:bodyPr wrap="square" lIns="54864" tIns="54864" rIns="54864" bIns="54864" anchor="t">
            <a:spAutoFit/>
          </a:bodyPr>
          <a:lstStyle/>
          <a:p>
            <a:pPr algn="l"/>
            <a:r>
              <a:rPr sz="1300" b="0">
                <a:solidFill>
                  <a:srgbClr val="23303A"/>
                </a:solidFill>
                <a:latin typeface="Aptos"/>
              </a:rPr>
              <a:t>Sampling can shift probability meaning, so recalibration may be needed after resampling.</a:t>
            </a:r>
          </a:p>
        </p:txBody>
      </p:sp>
      <p:sp>
        <p:nvSpPr>
          <p:cNvPr id="17" name="Rectangle 16"/>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07  /  STABILITY</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Cross-validation belongs inside training</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14</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58368" y="1627632"/>
            <a:ext cx="6263640" cy="3703320"/>
          </a:xfrm>
          <a:prstGeom prst="rect">
            <a:avLst/>
          </a:prstGeom>
        </p:spPr>
      </p:pic>
      <p:sp>
        <p:nvSpPr>
          <p:cNvPr id="7" name="TextBox 6"/>
          <p:cNvSpPr txBox="1"/>
          <p:nvPr/>
        </p:nvSpPr>
        <p:spPr>
          <a:xfrm>
            <a:off x="7315200" y="1783080"/>
            <a:ext cx="2286000" cy="438912"/>
          </a:xfrm>
          <a:prstGeom prst="rect">
            <a:avLst/>
          </a:prstGeom>
          <a:noFill/>
        </p:spPr>
        <p:txBody>
          <a:bodyPr wrap="square" lIns="54864" tIns="54864" rIns="54864" bIns="54864" anchor="t">
            <a:spAutoFit/>
          </a:bodyPr>
          <a:lstStyle/>
          <a:p>
            <a:pPr algn="l"/>
            <a:r>
              <a:rPr sz="2900" b="1">
                <a:solidFill>
                  <a:srgbClr val="0F766E"/>
                </a:solidFill>
                <a:latin typeface="Aptos Display"/>
              </a:rPr>
              <a:t>0.879</a:t>
            </a:r>
          </a:p>
        </p:txBody>
      </p:sp>
      <p:sp>
        <p:nvSpPr>
          <p:cNvPr id="8" name="TextBox 7"/>
          <p:cNvSpPr txBox="1"/>
          <p:nvPr/>
        </p:nvSpPr>
        <p:spPr>
          <a:xfrm>
            <a:off x="7315200" y="2267712"/>
            <a:ext cx="2286000" cy="347472"/>
          </a:xfrm>
          <a:prstGeom prst="rect">
            <a:avLst/>
          </a:prstGeom>
          <a:noFill/>
        </p:spPr>
        <p:txBody>
          <a:bodyPr wrap="square" lIns="54864" tIns="54864" rIns="54864" bIns="54864" anchor="t">
            <a:spAutoFit/>
          </a:bodyPr>
          <a:lstStyle/>
          <a:p>
            <a:pPr algn="l"/>
            <a:r>
              <a:rPr sz="1200" b="0">
                <a:solidFill>
                  <a:srgbClr val="5B6971"/>
                </a:solidFill>
                <a:latin typeface="Aptos"/>
              </a:rPr>
              <a:t>mean grouped-CV AUROC</a:t>
            </a:r>
          </a:p>
        </p:txBody>
      </p:sp>
      <p:sp>
        <p:nvSpPr>
          <p:cNvPr id="9" name="TextBox 8"/>
          <p:cNvSpPr txBox="1"/>
          <p:nvPr/>
        </p:nvSpPr>
        <p:spPr>
          <a:xfrm>
            <a:off x="9464040" y="1783080"/>
            <a:ext cx="2011680" cy="438912"/>
          </a:xfrm>
          <a:prstGeom prst="rect">
            <a:avLst/>
          </a:prstGeom>
          <a:noFill/>
        </p:spPr>
        <p:txBody>
          <a:bodyPr wrap="square" lIns="54864" tIns="54864" rIns="54864" bIns="54864" anchor="t">
            <a:spAutoFit/>
          </a:bodyPr>
          <a:lstStyle/>
          <a:p>
            <a:pPr algn="l"/>
            <a:r>
              <a:rPr sz="2900" b="1">
                <a:solidFill>
                  <a:srgbClr val="E76F51"/>
                </a:solidFill>
                <a:latin typeface="Aptos Display"/>
              </a:rPr>
              <a:t>+/- 0.007</a:t>
            </a:r>
          </a:p>
        </p:txBody>
      </p:sp>
      <p:sp>
        <p:nvSpPr>
          <p:cNvPr id="10" name="TextBox 9"/>
          <p:cNvSpPr txBox="1"/>
          <p:nvPr/>
        </p:nvSpPr>
        <p:spPr>
          <a:xfrm>
            <a:off x="9464040" y="2267712"/>
            <a:ext cx="2011680" cy="347472"/>
          </a:xfrm>
          <a:prstGeom prst="rect">
            <a:avLst/>
          </a:prstGeom>
          <a:noFill/>
        </p:spPr>
        <p:txBody>
          <a:bodyPr wrap="square" lIns="54864" tIns="54864" rIns="54864" bIns="54864" anchor="t">
            <a:spAutoFit/>
          </a:bodyPr>
          <a:lstStyle/>
          <a:p>
            <a:pPr algn="l"/>
            <a:r>
              <a:rPr sz="1200" b="0">
                <a:solidFill>
                  <a:srgbClr val="5B6971"/>
                </a:solidFill>
                <a:latin typeface="Aptos"/>
              </a:rPr>
              <a:t>fold-to-fold standard deviation</a:t>
            </a:r>
          </a:p>
        </p:txBody>
      </p:sp>
      <p:sp>
        <p:nvSpPr>
          <p:cNvPr id="11" name="Rounded Rectangle 10"/>
          <p:cNvSpPr/>
          <p:nvPr/>
        </p:nvSpPr>
        <p:spPr>
          <a:xfrm>
            <a:off x="7269480" y="3401568"/>
            <a:ext cx="3977639" cy="2372868"/>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0" y="3703320"/>
            <a:ext cx="3108960" cy="256032"/>
          </a:xfrm>
          <a:prstGeom prst="rect">
            <a:avLst/>
          </a:prstGeom>
          <a:noFill/>
        </p:spPr>
        <p:txBody>
          <a:bodyPr wrap="square" lIns="54864" tIns="54864" rIns="54864" bIns="54864" anchor="t">
            <a:spAutoFit/>
          </a:bodyPr>
          <a:lstStyle/>
          <a:p>
            <a:pPr algn="l"/>
            <a:r>
              <a:rPr sz="2000" b="1">
                <a:solidFill>
                  <a:srgbClr val="0B1F33"/>
                </a:solidFill>
                <a:latin typeface="Aptos Display"/>
              </a:rPr>
              <a:t>The boundary</a:t>
            </a:r>
          </a:p>
        </p:txBody>
      </p:sp>
      <p:sp>
        <p:nvSpPr>
          <p:cNvPr id="13" name="Oval 12"/>
          <p:cNvSpPr/>
          <p:nvPr/>
        </p:nvSpPr>
        <p:spPr>
          <a:xfrm>
            <a:off x="7589520" y="4270248"/>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54112" y="4187952"/>
            <a:ext cx="2852927" cy="310896"/>
          </a:xfrm>
          <a:prstGeom prst="rect">
            <a:avLst/>
          </a:prstGeom>
          <a:noFill/>
        </p:spPr>
        <p:txBody>
          <a:bodyPr wrap="square" lIns="54864" tIns="54864" rIns="54864" bIns="54864" anchor="t">
            <a:spAutoFit/>
          </a:bodyPr>
          <a:lstStyle/>
          <a:p>
            <a:pPr algn="l"/>
            <a:r>
              <a:rPr sz="1200" b="0">
                <a:solidFill>
                  <a:srgbClr val="23303A"/>
                </a:solidFill>
                <a:latin typeface="Aptos"/>
              </a:rPr>
              <a:t>Grouped folds keep patients together.</a:t>
            </a:r>
          </a:p>
        </p:txBody>
      </p:sp>
      <p:sp>
        <p:nvSpPr>
          <p:cNvPr id="15" name="Oval 14"/>
          <p:cNvSpPr/>
          <p:nvPr/>
        </p:nvSpPr>
        <p:spPr>
          <a:xfrm>
            <a:off x="7589520" y="4599432"/>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54112" y="4517136"/>
            <a:ext cx="2852927" cy="310896"/>
          </a:xfrm>
          <a:prstGeom prst="rect">
            <a:avLst/>
          </a:prstGeom>
          <a:noFill/>
        </p:spPr>
        <p:txBody>
          <a:bodyPr wrap="square" lIns="54864" tIns="54864" rIns="54864" bIns="54864" anchor="t">
            <a:spAutoFit/>
          </a:bodyPr>
          <a:lstStyle/>
          <a:p>
            <a:pPr algn="l"/>
            <a:r>
              <a:rPr sz="1200" b="0">
                <a:solidFill>
                  <a:srgbClr val="23303A"/>
                </a:solidFill>
                <a:latin typeface="Aptos"/>
              </a:rPr>
              <a:t>Fold variation is evidence about training stability.</a:t>
            </a:r>
          </a:p>
        </p:txBody>
      </p:sp>
      <p:sp>
        <p:nvSpPr>
          <p:cNvPr id="17" name="Oval 16"/>
          <p:cNvSpPr/>
          <p:nvPr/>
        </p:nvSpPr>
        <p:spPr>
          <a:xfrm>
            <a:off x="7589520" y="4928616"/>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54112" y="4846320"/>
            <a:ext cx="2852927" cy="310896"/>
          </a:xfrm>
          <a:prstGeom prst="rect">
            <a:avLst/>
          </a:prstGeom>
          <a:noFill/>
        </p:spPr>
        <p:txBody>
          <a:bodyPr wrap="square" lIns="54864" tIns="54864" rIns="54864" bIns="54864" anchor="t">
            <a:spAutoFit/>
          </a:bodyPr>
          <a:lstStyle/>
          <a:p>
            <a:pPr algn="l"/>
            <a:r>
              <a:rPr sz="1200" b="0">
                <a:solidFill>
                  <a:srgbClr val="23303A"/>
                </a:solidFill>
                <a:latin typeface="Aptos"/>
              </a:rPr>
              <a:t>The held-out test set stays reserved for final comparison.</a:t>
            </a:r>
          </a:p>
        </p:txBody>
      </p:sp>
      <p:sp>
        <p:nvSpPr>
          <p:cNvPr id="19" name="Oval 18"/>
          <p:cNvSpPr/>
          <p:nvPr/>
        </p:nvSpPr>
        <p:spPr>
          <a:xfrm>
            <a:off x="7589520" y="5257800"/>
            <a:ext cx="82296" cy="82296"/>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54112" y="5175504"/>
            <a:ext cx="2852927" cy="310896"/>
          </a:xfrm>
          <a:prstGeom prst="rect">
            <a:avLst/>
          </a:prstGeom>
          <a:noFill/>
        </p:spPr>
        <p:txBody>
          <a:bodyPr wrap="square" lIns="54864" tIns="54864" rIns="54864" bIns="54864" anchor="t">
            <a:spAutoFit/>
          </a:bodyPr>
          <a:lstStyle/>
          <a:p>
            <a:pPr algn="l"/>
            <a:r>
              <a:rPr sz="1200" b="0">
                <a:solidFill>
                  <a:srgbClr val="23303A"/>
                </a:solidFill>
                <a:latin typeface="Aptos"/>
              </a:rPr>
              <a:t>External and temporal validation are still needed.</a:t>
            </a:r>
          </a:p>
        </p:txBody>
      </p:sp>
      <p:sp>
        <p:nvSpPr>
          <p:cNvPr id="21" name="Rectangle 20"/>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08  /  EXPLAINABILITY</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Global feature influence: useful, limited, and not causal</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15</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21792" y="1481328"/>
            <a:ext cx="6537960" cy="4315968"/>
          </a:xfrm>
          <a:prstGeom prst="rect">
            <a:avLst/>
          </a:prstGeom>
        </p:spPr>
      </p:pic>
      <p:sp>
        <p:nvSpPr>
          <p:cNvPr id="7" name="Rounded Rectangle 6"/>
          <p:cNvSpPr/>
          <p:nvPr/>
        </p:nvSpPr>
        <p:spPr>
          <a:xfrm>
            <a:off x="7360920" y="1664208"/>
            <a:ext cx="3977639" cy="38404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99248" y="1993392"/>
            <a:ext cx="3108960" cy="274320"/>
          </a:xfrm>
          <a:prstGeom prst="rect">
            <a:avLst/>
          </a:prstGeom>
          <a:noFill/>
        </p:spPr>
        <p:txBody>
          <a:bodyPr wrap="square" lIns="54864" tIns="54864" rIns="54864" bIns="54864" anchor="t">
            <a:spAutoFit/>
          </a:bodyPr>
          <a:lstStyle/>
          <a:p>
            <a:pPr algn="l"/>
            <a:r>
              <a:rPr sz="2100" b="1">
                <a:solidFill>
                  <a:srgbClr val="0F766E"/>
                </a:solidFill>
                <a:latin typeface="Aptos Display"/>
              </a:rPr>
              <a:t>Permutation logic</a:t>
            </a:r>
          </a:p>
        </p:txBody>
      </p:sp>
      <p:sp>
        <p:nvSpPr>
          <p:cNvPr id="9" name="Oval 8"/>
          <p:cNvSpPr/>
          <p:nvPr/>
        </p:nvSpPr>
        <p:spPr>
          <a:xfrm>
            <a:off x="7699248" y="273405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2651760"/>
            <a:ext cx="2852927" cy="310896"/>
          </a:xfrm>
          <a:prstGeom prst="rect">
            <a:avLst/>
          </a:prstGeom>
          <a:noFill/>
        </p:spPr>
        <p:txBody>
          <a:bodyPr wrap="square" lIns="54864" tIns="54864" rIns="54864" bIns="54864" anchor="t">
            <a:spAutoFit/>
          </a:bodyPr>
          <a:lstStyle/>
          <a:p>
            <a:pPr algn="l"/>
            <a:r>
              <a:rPr sz="1300" b="0">
                <a:solidFill>
                  <a:srgbClr val="23303A"/>
                </a:solidFill>
                <a:latin typeface="Aptos"/>
              </a:rPr>
              <a:t>Shuffle one feature in held-out rows.</a:t>
            </a:r>
          </a:p>
        </p:txBody>
      </p:sp>
      <p:sp>
        <p:nvSpPr>
          <p:cNvPr id="11" name="Oval 10"/>
          <p:cNvSpPr/>
          <p:nvPr/>
        </p:nvSpPr>
        <p:spPr>
          <a:xfrm>
            <a:off x="7699248" y="323697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0" y="3154680"/>
            <a:ext cx="2852927" cy="310896"/>
          </a:xfrm>
          <a:prstGeom prst="rect">
            <a:avLst/>
          </a:prstGeom>
          <a:noFill/>
        </p:spPr>
        <p:txBody>
          <a:bodyPr wrap="square" lIns="54864" tIns="54864" rIns="54864" bIns="54864" anchor="t">
            <a:spAutoFit/>
          </a:bodyPr>
          <a:lstStyle/>
          <a:p>
            <a:pPr algn="l"/>
            <a:r>
              <a:rPr sz="1300" b="0">
                <a:solidFill>
                  <a:srgbClr val="23303A"/>
                </a:solidFill>
                <a:latin typeface="Aptos"/>
              </a:rPr>
              <a:t>Measure how much AUROC falls.</a:t>
            </a:r>
          </a:p>
        </p:txBody>
      </p:sp>
      <p:sp>
        <p:nvSpPr>
          <p:cNvPr id="13" name="Oval 12"/>
          <p:cNvSpPr/>
          <p:nvPr/>
        </p:nvSpPr>
        <p:spPr>
          <a:xfrm>
            <a:off x="7699248" y="373989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0" y="3657600"/>
            <a:ext cx="2852927" cy="310896"/>
          </a:xfrm>
          <a:prstGeom prst="rect">
            <a:avLst/>
          </a:prstGeom>
          <a:noFill/>
        </p:spPr>
        <p:txBody>
          <a:bodyPr wrap="square" lIns="54864" tIns="54864" rIns="54864" bIns="54864" anchor="t">
            <a:spAutoFit/>
          </a:bodyPr>
          <a:lstStyle/>
          <a:p>
            <a:pPr algn="l"/>
            <a:r>
              <a:rPr sz="1300" b="0">
                <a:solidFill>
                  <a:srgbClr val="23303A"/>
                </a:solidFill>
                <a:latin typeface="Aptos"/>
              </a:rPr>
              <a:t>A larger drop means the pipeline used that feature's information on these rows.</a:t>
            </a:r>
          </a:p>
        </p:txBody>
      </p:sp>
      <p:sp>
        <p:nvSpPr>
          <p:cNvPr id="15" name="Oval 14"/>
          <p:cNvSpPr/>
          <p:nvPr/>
        </p:nvSpPr>
        <p:spPr>
          <a:xfrm>
            <a:off x="7699248" y="424281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4160520"/>
            <a:ext cx="2852927" cy="310896"/>
          </a:xfrm>
          <a:prstGeom prst="rect">
            <a:avLst/>
          </a:prstGeom>
          <a:noFill/>
        </p:spPr>
        <p:txBody>
          <a:bodyPr wrap="square" lIns="54864" tIns="54864" rIns="54864" bIns="54864" anchor="t">
            <a:spAutoFit/>
          </a:bodyPr>
          <a:lstStyle/>
          <a:p>
            <a:pPr algn="l"/>
            <a:r>
              <a:rPr sz="1300" b="0">
                <a:solidFill>
                  <a:srgbClr val="23303A"/>
                </a:solidFill>
                <a:latin typeface="Aptos"/>
              </a:rPr>
              <a:t>Correlated features can share or mask one another's influence.</a:t>
            </a:r>
          </a:p>
        </p:txBody>
      </p:sp>
      <p:sp>
        <p:nvSpPr>
          <p:cNvPr id="17" name="Oval 16"/>
          <p:cNvSpPr/>
          <p:nvPr/>
        </p:nvSpPr>
        <p:spPr>
          <a:xfrm>
            <a:off x="7699248" y="4745736"/>
            <a:ext cx="82296" cy="82296"/>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0" y="4663440"/>
            <a:ext cx="2852927" cy="310896"/>
          </a:xfrm>
          <a:prstGeom prst="rect">
            <a:avLst/>
          </a:prstGeom>
          <a:noFill/>
        </p:spPr>
        <p:txBody>
          <a:bodyPr wrap="square" lIns="54864" tIns="54864" rIns="54864" bIns="54864" anchor="t">
            <a:spAutoFit/>
          </a:bodyPr>
          <a:lstStyle/>
          <a:p>
            <a:pPr algn="l"/>
            <a:r>
              <a:rPr sz="1300" b="0">
                <a:solidFill>
                  <a:srgbClr val="23303A"/>
                </a:solidFill>
                <a:latin typeface="Aptos"/>
              </a:rPr>
              <a:t>Influence is not causality, clinical necessity, or fairness evidence.</a:t>
            </a:r>
          </a:p>
        </p:txBody>
      </p:sp>
      <p:sp>
        <p:nvSpPr>
          <p:cNvPr id="19" name="Rectangle 18"/>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6583680"/>
            <a:ext cx="9875520" cy="146304"/>
          </a:xfrm>
          <a:prstGeom prst="rect">
            <a:avLst/>
          </a:prstGeom>
          <a:noFill/>
        </p:spPr>
        <p:txBody>
          <a:bodyPr wrap="square" lIns="54864" tIns="54864" rIns="54864" bIns="54864" anchor="t">
            <a:spAutoFit/>
          </a:bodyPr>
          <a:lstStyle/>
          <a:p>
            <a:pPr algn="l"/>
            <a:r>
              <a:rPr sz="800" b="0">
                <a:solidFill>
                  <a:srgbClr val="5B6971"/>
                </a:solidFill>
                <a:latin typeface="Aptos"/>
              </a:rPr>
              <a:t>M3  |  critical outcome  |  current exported evidence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09  /  SUBGROUP CHECKS</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Overall performance can hide uneven errors</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16</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21792" y="1481328"/>
            <a:ext cx="6400800" cy="4297680"/>
          </a:xfrm>
          <a:prstGeom prst="rect">
            <a:avLst/>
          </a:prstGeom>
        </p:spPr>
      </p:pic>
      <p:sp>
        <p:nvSpPr>
          <p:cNvPr id="7" name="Rectangle 6"/>
          <p:cNvSpPr/>
          <p:nvPr/>
        </p:nvSpPr>
        <p:spPr>
          <a:xfrm>
            <a:off x="7223760" y="1719072"/>
            <a:ext cx="1600200" cy="45720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60336" y="1810512"/>
            <a:ext cx="1527048" cy="164592"/>
          </a:xfrm>
          <a:prstGeom prst="rect">
            <a:avLst/>
          </a:prstGeom>
          <a:noFill/>
        </p:spPr>
        <p:txBody>
          <a:bodyPr wrap="square" lIns="54864" tIns="54864" rIns="54864" bIns="54864" anchor="t">
            <a:spAutoFit/>
          </a:bodyPr>
          <a:lstStyle/>
          <a:p>
            <a:pPr algn="ctr"/>
            <a:r>
              <a:rPr sz="800" b="1">
                <a:solidFill>
                  <a:srgbClr val="FFFFFF"/>
                </a:solidFill>
                <a:latin typeface="Aptos"/>
              </a:rPr>
              <a:t>Group</a:t>
            </a:r>
          </a:p>
        </p:txBody>
      </p:sp>
      <p:sp>
        <p:nvSpPr>
          <p:cNvPr id="9" name="Rectangle 8"/>
          <p:cNvSpPr/>
          <p:nvPr/>
        </p:nvSpPr>
        <p:spPr>
          <a:xfrm>
            <a:off x="8823960" y="1719072"/>
            <a:ext cx="640080" cy="45720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8860536" y="1810512"/>
            <a:ext cx="566928" cy="264688"/>
          </a:xfrm>
          <a:prstGeom prst="rect">
            <a:avLst/>
          </a:prstGeom>
          <a:noFill/>
        </p:spPr>
        <p:txBody>
          <a:bodyPr wrap="square" lIns="54864" tIns="54864" rIns="54864" bIns="54864" anchor="t">
            <a:spAutoFit/>
          </a:bodyPr>
          <a:lstStyle/>
          <a:p>
            <a:pPr algn="ctr"/>
            <a:r>
              <a:rPr sz="1000" b="1">
                <a:solidFill>
                  <a:srgbClr val="FFFFFF"/>
                </a:solidFill>
                <a:latin typeface="Aptos"/>
              </a:rPr>
              <a:t>n</a:t>
            </a:r>
          </a:p>
        </p:txBody>
      </p:sp>
      <p:sp>
        <p:nvSpPr>
          <p:cNvPr id="11" name="Rectangle 10"/>
          <p:cNvSpPr/>
          <p:nvPr/>
        </p:nvSpPr>
        <p:spPr>
          <a:xfrm>
            <a:off x="9464040" y="1719072"/>
            <a:ext cx="685800" cy="45720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9500616" y="1810512"/>
            <a:ext cx="612648" cy="264688"/>
          </a:xfrm>
          <a:prstGeom prst="rect">
            <a:avLst/>
          </a:prstGeom>
          <a:noFill/>
        </p:spPr>
        <p:txBody>
          <a:bodyPr wrap="square" lIns="54864" tIns="54864" rIns="54864" bIns="54864" anchor="t">
            <a:spAutoFit/>
          </a:bodyPr>
          <a:lstStyle/>
          <a:p>
            <a:pPr algn="ctr"/>
            <a:r>
              <a:rPr sz="1000" b="1">
                <a:solidFill>
                  <a:srgbClr val="FFFFFF"/>
                </a:solidFill>
                <a:latin typeface="Aptos"/>
              </a:rPr>
              <a:t>Prev.</a:t>
            </a:r>
          </a:p>
        </p:txBody>
      </p:sp>
      <p:sp>
        <p:nvSpPr>
          <p:cNvPr id="13" name="Rectangle 12"/>
          <p:cNvSpPr/>
          <p:nvPr/>
        </p:nvSpPr>
        <p:spPr>
          <a:xfrm>
            <a:off x="10149840" y="1719072"/>
            <a:ext cx="685800" cy="45720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10186416" y="1810512"/>
            <a:ext cx="612648" cy="264688"/>
          </a:xfrm>
          <a:prstGeom prst="rect">
            <a:avLst/>
          </a:prstGeom>
          <a:noFill/>
        </p:spPr>
        <p:txBody>
          <a:bodyPr wrap="square" lIns="54864" tIns="54864" rIns="54864" bIns="54864" anchor="t">
            <a:spAutoFit/>
          </a:bodyPr>
          <a:lstStyle/>
          <a:p>
            <a:pPr algn="ctr"/>
            <a:r>
              <a:rPr sz="1000" b="1">
                <a:solidFill>
                  <a:srgbClr val="FFFFFF"/>
                </a:solidFill>
                <a:latin typeface="Aptos"/>
              </a:rPr>
              <a:t>Sens.</a:t>
            </a:r>
          </a:p>
        </p:txBody>
      </p:sp>
      <p:sp>
        <p:nvSpPr>
          <p:cNvPr id="15" name="Rectangle 14"/>
          <p:cNvSpPr/>
          <p:nvPr/>
        </p:nvSpPr>
        <p:spPr>
          <a:xfrm>
            <a:off x="10835640" y="1719072"/>
            <a:ext cx="685800" cy="457200"/>
          </a:xfrm>
          <a:prstGeom prst="rect">
            <a:avLst/>
          </a:prstGeom>
          <a:solidFill>
            <a:srgbClr val="0B1F33"/>
          </a:solidFill>
          <a:ln>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10872216" y="1810512"/>
            <a:ext cx="612648" cy="264688"/>
          </a:xfrm>
          <a:prstGeom prst="rect">
            <a:avLst/>
          </a:prstGeom>
          <a:noFill/>
        </p:spPr>
        <p:txBody>
          <a:bodyPr wrap="square" lIns="54864" tIns="54864" rIns="54864" bIns="54864" anchor="t">
            <a:spAutoFit/>
          </a:bodyPr>
          <a:lstStyle/>
          <a:p>
            <a:pPr algn="ctr"/>
            <a:r>
              <a:rPr sz="1000" b="1">
                <a:solidFill>
                  <a:srgbClr val="FFFFFF"/>
                </a:solidFill>
                <a:latin typeface="Aptos"/>
              </a:rPr>
              <a:t>Spec.</a:t>
            </a:r>
          </a:p>
        </p:txBody>
      </p:sp>
      <p:sp>
        <p:nvSpPr>
          <p:cNvPr id="17" name="Rectangle 16"/>
          <p:cNvSpPr/>
          <p:nvPr/>
        </p:nvSpPr>
        <p:spPr>
          <a:xfrm>
            <a:off x="7223760" y="2176272"/>
            <a:ext cx="16002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7260336" y="2267712"/>
            <a:ext cx="1527048" cy="264688"/>
          </a:xfrm>
          <a:prstGeom prst="rect">
            <a:avLst/>
          </a:prstGeom>
          <a:noFill/>
        </p:spPr>
        <p:txBody>
          <a:bodyPr wrap="square" lIns="54864" tIns="54864" rIns="54864" bIns="54864" anchor="t">
            <a:spAutoFit/>
          </a:bodyPr>
          <a:lstStyle/>
          <a:p>
            <a:pPr algn="ctr"/>
            <a:r>
              <a:rPr sz="1000" b="1">
                <a:solidFill>
                  <a:srgbClr val="23303A"/>
                </a:solidFill>
                <a:latin typeface="Aptos"/>
              </a:rPr>
              <a:t>gender: F</a:t>
            </a:r>
          </a:p>
        </p:txBody>
      </p:sp>
      <p:sp>
        <p:nvSpPr>
          <p:cNvPr id="19" name="Rectangle 18"/>
          <p:cNvSpPr/>
          <p:nvPr/>
        </p:nvSpPr>
        <p:spPr>
          <a:xfrm>
            <a:off x="8823960" y="2176272"/>
            <a:ext cx="64008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8860536" y="2267712"/>
            <a:ext cx="566928" cy="264688"/>
          </a:xfrm>
          <a:prstGeom prst="rect">
            <a:avLst/>
          </a:prstGeom>
          <a:noFill/>
        </p:spPr>
        <p:txBody>
          <a:bodyPr wrap="square" lIns="54864" tIns="54864" rIns="54864" bIns="54864" anchor="t">
            <a:spAutoFit/>
          </a:bodyPr>
          <a:lstStyle/>
          <a:p>
            <a:pPr algn="ctr"/>
            <a:r>
              <a:rPr sz="1000" b="0">
                <a:solidFill>
                  <a:srgbClr val="23303A"/>
                </a:solidFill>
                <a:latin typeface="Aptos"/>
              </a:rPr>
              <a:t>3,217</a:t>
            </a:r>
          </a:p>
        </p:txBody>
      </p:sp>
      <p:sp>
        <p:nvSpPr>
          <p:cNvPr id="21" name="Rectangle 20"/>
          <p:cNvSpPr/>
          <p:nvPr/>
        </p:nvSpPr>
        <p:spPr>
          <a:xfrm>
            <a:off x="9464040" y="2176272"/>
            <a:ext cx="685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9500616" y="22677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6.1%</a:t>
            </a:r>
          </a:p>
        </p:txBody>
      </p:sp>
      <p:sp>
        <p:nvSpPr>
          <p:cNvPr id="23" name="Rectangle 22"/>
          <p:cNvSpPr/>
          <p:nvPr/>
        </p:nvSpPr>
        <p:spPr>
          <a:xfrm>
            <a:off x="10149840" y="2176272"/>
            <a:ext cx="685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0186416" y="22677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0.811</a:t>
            </a:r>
          </a:p>
        </p:txBody>
      </p:sp>
      <p:sp>
        <p:nvSpPr>
          <p:cNvPr id="25" name="Rectangle 24"/>
          <p:cNvSpPr/>
          <p:nvPr/>
        </p:nvSpPr>
        <p:spPr>
          <a:xfrm>
            <a:off x="10835640" y="2176272"/>
            <a:ext cx="685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10872216" y="22677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0.830</a:t>
            </a:r>
          </a:p>
        </p:txBody>
      </p:sp>
      <p:sp>
        <p:nvSpPr>
          <p:cNvPr id="27" name="Rectangle 26"/>
          <p:cNvSpPr/>
          <p:nvPr/>
        </p:nvSpPr>
        <p:spPr>
          <a:xfrm>
            <a:off x="7223760" y="2633472"/>
            <a:ext cx="16002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7260336" y="2724912"/>
            <a:ext cx="1527048" cy="264688"/>
          </a:xfrm>
          <a:prstGeom prst="rect">
            <a:avLst/>
          </a:prstGeom>
          <a:noFill/>
        </p:spPr>
        <p:txBody>
          <a:bodyPr wrap="square" lIns="54864" tIns="54864" rIns="54864" bIns="54864" anchor="t">
            <a:spAutoFit/>
          </a:bodyPr>
          <a:lstStyle/>
          <a:p>
            <a:pPr algn="ctr"/>
            <a:r>
              <a:rPr sz="1000" b="1" dirty="0">
                <a:solidFill>
                  <a:srgbClr val="23303A"/>
                </a:solidFill>
                <a:latin typeface="Aptos"/>
              </a:rPr>
              <a:t>gender</a:t>
            </a:r>
            <a:r>
              <a:rPr sz="800" b="1" dirty="0">
                <a:solidFill>
                  <a:srgbClr val="23303A"/>
                </a:solidFill>
                <a:latin typeface="Aptos"/>
              </a:rPr>
              <a:t>: M</a:t>
            </a:r>
          </a:p>
        </p:txBody>
      </p:sp>
      <p:sp>
        <p:nvSpPr>
          <p:cNvPr id="29" name="Rectangle 28"/>
          <p:cNvSpPr/>
          <p:nvPr/>
        </p:nvSpPr>
        <p:spPr>
          <a:xfrm>
            <a:off x="8823960" y="2633472"/>
            <a:ext cx="64008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8860536" y="2724912"/>
            <a:ext cx="566928" cy="264688"/>
          </a:xfrm>
          <a:prstGeom prst="rect">
            <a:avLst/>
          </a:prstGeom>
          <a:noFill/>
        </p:spPr>
        <p:txBody>
          <a:bodyPr wrap="square" lIns="54864" tIns="54864" rIns="54864" bIns="54864" anchor="t">
            <a:spAutoFit/>
          </a:bodyPr>
          <a:lstStyle/>
          <a:p>
            <a:pPr algn="ctr"/>
            <a:r>
              <a:rPr sz="1000" b="0">
                <a:solidFill>
                  <a:srgbClr val="23303A"/>
                </a:solidFill>
                <a:latin typeface="Aptos"/>
              </a:rPr>
              <a:t>2,747</a:t>
            </a:r>
          </a:p>
        </p:txBody>
      </p:sp>
      <p:sp>
        <p:nvSpPr>
          <p:cNvPr id="31" name="Rectangle 30"/>
          <p:cNvSpPr/>
          <p:nvPr/>
        </p:nvSpPr>
        <p:spPr>
          <a:xfrm>
            <a:off x="9464040" y="2633472"/>
            <a:ext cx="6858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9500616" y="27249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7.5%</a:t>
            </a:r>
          </a:p>
        </p:txBody>
      </p:sp>
      <p:sp>
        <p:nvSpPr>
          <p:cNvPr id="33" name="Rectangle 32"/>
          <p:cNvSpPr/>
          <p:nvPr/>
        </p:nvSpPr>
        <p:spPr>
          <a:xfrm>
            <a:off x="10149840" y="2633472"/>
            <a:ext cx="6858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10186416" y="27249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0.834</a:t>
            </a:r>
          </a:p>
        </p:txBody>
      </p:sp>
      <p:sp>
        <p:nvSpPr>
          <p:cNvPr id="35" name="Rectangle 34"/>
          <p:cNvSpPr/>
          <p:nvPr/>
        </p:nvSpPr>
        <p:spPr>
          <a:xfrm>
            <a:off x="10835640" y="2633472"/>
            <a:ext cx="6858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10872216" y="27249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0.778</a:t>
            </a:r>
          </a:p>
        </p:txBody>
      </p:sp>
      <p:sp>
        <p:nvSpPr>
          <p:cNvPr id="37" name="Rectangle 36"/>
          <p:cNvSpPr/>
          <p:nvPr/>
        </p:nvSpPr>
        <p:spPr>
          <a:xfrm>
            <a:off x="7223760" y="3090672"/>
            <a:ext cx="16002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60336" y="3182112"/>
            <a:ext cx="1527048" cy="387798"/>
          </a:xfrm>
          <a:prstGeom prst="rect">
            <a:avLst/>
          </a:prstGeom>
          <a:noFill/>
        </p:spPr>
        <p:txBody>
          <a:bodyPr wrap="square" lIns="54864" tIns="54864" rIns="54864" bIns="54864" anchor="t">
            <a:spAutoFit/>
          </a:bodyPr>
          <a:lstStyle/>
          <a:p>
            <a:pPr algn="ctr"/>
            <a:r>
              <a:rPr sz="1000" b="1" dirty="0" err="1">
                <a:solidFill>
                  <a:srgbClr val="23303A"/>
                </a:solidFill>
                <a:latin typeface="Aptos"/>
              </a:rPr>
              <a:t>arrival</a:t>
            </a:r>
            <a:r>
              <a:rPr sz="800" b="1" dirty="0" err="1">
                <a:solidFill>
                  <a:srgbClr val="23303A"/>
                </a:solidFill>
                <a:latin typeface="Aptos"/>
              </a:rPr>
              <a:t>_transport</a:t>
            </a:r>
            <a:r>
              <a:rPr sz="800" b="1" dirty="0">
                <a:solidFill>
                  <a:srgbClr val="23303A"/>
                </a:solidFill>
                <a:latin typeface="Aptos"/>
              </a:rPr>
              <a:t>: AMBULANCE</a:t>
            </a:r>
          </a:p>
        </p:txBody>
      </p:sp>
      <p:sp>
        <p:nvSpPr>
          <p:cNvPr id="39" name="Rectangle 38"/>
          <p:cNvSpPr/>
          <p:nvPr/>
        </p:nvSpPr>
        <p:spPr>
          <a:xfrm>
            <a:off x="8823960" y="3090672"/>
            <a:ext cx="64008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8860536" y="3182112"/>
            <a:ext cx="566928" cy="264688"/>
          </a:xfrm>
          <a:prstGeom prst="rect">
            <a:avLst/>
          </a:prstGeom>
          <a:noFill/>
        </p:spPr>
        <p:txBody>
          <a:bodyPr wrap="square" lIns="54864" tIns="54864" rIns="54864" bIns="54864" anchor="t">
            <a:spAutoFit/>
          </a:bodyPr>
          <a:lstStyle/>
          <a:p>
            <a:pPr algn="ctr"/>
            <a:r>
              <a:rPr sz="1000" b="0">
                <a:solidFill>
                  <a:srgbClr val="23303A"/>
                </a:solidFill>
                <a:latin typeface="Aptos"/>
              </a:rPr>
              <a:t>2,148</a:t>
            </a:r>
          </a:p>
        </p:txBody>
      </p:sp>
      <p:sp>
        <p:nvSpPr>
          <p:cNvPr id="41" name="Rectangle 40"/>
          <p:cNvSpPr/>
          <p:nvPr/>
        </p:nvSpPr>
        <p:spPr>
          <a:xfrm>
            <a:off x="9464040" y="3090672"/>
            <a:ext cx="685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9500616" y="31821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11.6%</a:t>
            </a:r>
          </a:p>
        </p:txBody>
      </p:sp>
      <p:sp>
        <p:nvSpPr>
          <p:cNvPr id="43" name="Rectangle 42"/>
          <p:cNvSpPr/>
          <p:nvPr/>
        </p:nvSpPr>
        <p:spPr>
          <a:xfrm>
            <a:off x="10149840" y="3090672"/>
            <a:ext cx="685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10186416" y="31821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0.880</a:t>
            </a:r>
          </a:p>
        </p:txBody>
      </p:sp>
      <p:sp>
        <p:nvSpPr>
          <p:cNvPr id="45" name="Rectangle 44"/>
          <p:cNvSpPr/>
          <p:nvPr/>
        </p:nvSpPr>
        <p:spPr>
          <a:xfrm>
            <a:off x="10835640" y="3090672"/>
            <a:ext cx="685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10872216" y="31821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0.571</a:t>
            </a:r>
          </a:p>
        </p:txBody>
      </p:sp>
      <p:sp>
        <p:nvSpPr>
          <p:cNvPr id="47" name="Rectangle 46"/>
          <p:cNvSpPr/>
          <p:nvPr/>
        </p:nvSpPr>
        <p:spPr>
          <a:xfrm>
            <a:off x="7223760" y="3547872"/>
            <a:ext cx="16002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60336" y="3639312"/>
            <a:ext cx="1527048" cy="387798"/>
          </a:xfrm>
          <a:prstGeom prst="rect">
            <a:avLst/>
          </a:prstGeom>
          <a:noFill/>
        </p:spPr>
        <p:txBody>
          <a:bodyPr wrap="square" lIns="54864" tIns="54864" rIns="54864" bIns="54864" anchor="t">
            <a:spAutoFit/>
          </a:bodyPr>
          <a:lstStyle/>
          <a:p>
            <a:pPr algn="ctr"/>
            <a:r>
              <a:rPr sz="900" b="1" dirty="0" err="1">
                <a:solidFill>
                  <a:srgbClr val="23303A"/>
                </a:solidFill>
                <a:latin typeface="Aptos"/>
              </a:rPr>
              <a:t>arrival_transport</a:t>
            </a:r>
            <a:r>
              <a:rPr sz="900" b="1" dirty="0">
                <a:solidFill>
                  <a:srgbClr val="23303A"/>
                </a:solidFill>
                <a:latin typeface="Aptos"/>
              </a:rPr>
              <a:t>: UNKNOWN</a:t>
            </a:r>
          </a:p>
        </p:txBody>
      </p:sp>
      <p:sp>
        <p:nvSpPr>
          <p:cNvPr id="49" name="Rectangle 48"/>
          <p:cNvSpPr/>
          <p:nvPr/>
        </p:nvSpPr>
        <p:spPr>
          <a:xfrm>
            <a:off x="8823960" y="3547872"/>
            <a:ext cx="64008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8860536" y="3639312"/>
            <a:ext cx="566928" cy="264688"/>
          </a:xfrm>
          <a:prstGeom prst="rect">
            <a:avLst/>
          </a:prstGeom>
          <a:noFill/>
        </p:spPr>
        <p:txBody>
          <a:bodyPr wrap="square" lIns="54864" tIns="54864" rIns="54864" bIns="54864" anchor="t">
            <a:spAutoFit/>
          </a:bodyPr>
          <a:lstStyle/>
          <a:p>
            <a:pPr algn="ctr"/>
            <a:r>
              <a:rPr sz="1000" b="0">
                <a:solidFill>
                  <a:srgbClr val="23303A"/>
                </a:solidFill>
                <a:latin typeface="Aptos"/>
              </a:rPr>
              <a:t>231</a:t>
            </a:r>
          </a:p>
        </p:txBody>
      </p:sp>
      <p:sp>
        <p:nvSpPr>
          <p:cNvPr id="51" name="Rectangle 50"/>
          <p:cNvSpPr/>
          <p:nvPr/>
        </p:nvSpPr>
        <p:spPr>
          <a:xfrm>
            <a:off x="9464040" y="3547872"/>
            <a:ext cx="6858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9500616" y="36393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26.8%</a:t>
            </a:r>
          </a:p>
        </p:txBody>
      </p:sp>
      <p:sp>
        <p:nvSpPr>
          <p:cNvPr id="53" name="Rectangle 52"/>
          <p:cNvSpPr/>
          <p:nvPr/>
        </p:nvSpPr>
        <p:spPr>
          <a:xfrm>
            <a:off x="10149840" y="3547872"/>
            <a:ext cx="6858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10186416" y="36393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1.000</a:t>
            </a:r>
          </a:p>
        </p:txBody>
      </p:sp>
      <p:sp>
        <p:nvSpPr>
          <p:cNvPr id="55" name="Rectangle 54"/>
          <p:cNvSpPr/>
          <p:nvPr/>
        </p:nvSpPr>
        <p:spPr>
          <a:xfrm>
            <a:off x="10835640" y="3547872"/>
            <a:ext cx="685800" cy="457200"/>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6" name="TextBox 55"/>
          <p:cNvSpPr txBox="1"/>
          <p:nvPr/>
        </p:nvSpPr>
        <p:spPr>
          <a:xfrm>
            <a:off x="10872216" y="3639312"/>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0.503</a:t>
            </a:r>
          </a:p>
        </p:txBody>
      </p:sp>
      <p:sp>
        <p:nvSpPr>
          <p:cNvPr id="57" name="Rectangle 56"/>
          <p:cNvSpPr/>
          <p:nvPr/>
        </p:nvSpPr>
        <p:spPr>
          <a:xfrm>
            <a:off x="7223760" y="4005072"/>
            <a:ext cx="16002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260336" y="4096511"/>
            <a:ext cx="1527048" cy="249299"/>
          </a:xfrm>
          <a:prstGeom prst="rect">
            <a:avLst/>
          </a:prstGeom>
          <a:noFill/>
        </p:spPr>
        <p:txBody>
          <a:bodyPr wrap="square" lIns="54864" tIns="54864" rIns="54864" bIns="54864" anchor="t">
            <a:spAutoFit/>
          </a:bodyPr>
          <a:lstStyle/>
          <a:p>
            <a:pPr algn="ctr"/>
            <a:r>
              <a:rPr sz="900" b="1" dirty="0" err="1">
                <a:solidFill>
                  <a:srgbClr val="23303A"/>
                </a:solidFill>
                <a:latin typeface="Aptos"/>
              </a:rPr>
              <a:t>arrival</a:t>
            </a:r>
            <a:r>
              <a:rPr sz="800" b="1" dirty="0" err="1">
                <a:solidFill>
                  <a:srgbClr val="23303A"/>
                </a:solidFill>
                <a:latin typeface="Aptos"/>
              </a:rPr>
              <a:t>_transport</a:t>
            </a:r>
            <a:r>
              <a:rPr sz="800" b="1" dirty="0">
                <a:solidFill>
                  <a:srgbClr val="23303A"/>
                </a:solidFill>
                <a:latin typeface="Aptos"/>
              </a:rPr>
              <a:t>: WALK IN</a:t>
            </a:r>
          </a:p>
        </p:txBody>
      </p:sp>
      <p:sp>
        <p:nvSpPr>
          <p:cNvPr id="59" name="Rectangle 58"/>
          <p:cNvSpPr/>
          <p:nvPr/>
        </p:nvSpPr>
        <p:spPr>
          <a:xfrm>
            <a:off x="8823960" y="4005072"/>
            <a:ext cx="64008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0" name="TextBox 59"/>
          <p:cNvSpPr txBox="1"/>
          <p:nvPr/>
        </p:nvSpPr>
        <p:spPr>
          <a:xfrm>
            <a:off x="8860536" y="4096511"/>
            <a:ext cx="566928" cy="264688"/>
          </a:xfrm>
          <a:prstGeom prst="rect">
            <a:avLst/>
          </a:prstGeom>
          <a:noFill/>
        </p:spPr>
        <p:txBody>
          <a:bodyPr wrap="square" lIns="54864" tIns="54864" rIns="54864" bIns="54864" anchor="t">
            <a:spAutoFit/>
          </a:bodyPr>
          <a:lstStyle/>
          <a:p>
            <a:pPr algn="ctr"/>
            <a:r>
              <a:rPr sz="1000" b="0">
                <a:solidFill>
                  <a:srgbClr val="23303A"/>
                </a:solidFill>
                <a:latin typeface="Aptos"/>
              </a:rPr>
              <a:t>3,555</a:t>
            </a:r>
          </a:p>
        </p:txBody>
      </p:sp>
      <p:sp>
        <p:nvSpPr>
          <p:cNvPr id="61" name="Rectangle 60"/>
          <p:cNvSpPr/>
          <p:nvPr/>
        </p:nvSpPr>
        <p:spPr>
          <a:xfrm>
            <a:off x="9464040" y="4005072"/>
            <a:ext cx="685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2" name="TextBox 61"/>
          <p:cNvSpPr txBox="1"/>
          <p:nvPr/>
        </p:nvSpPr>
        <p:spPr>
          <a:xfrm>
            <a:off x="9500616" y="4096511"/>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2.2%</a:t>
            </a:r>
          </a:p>
        </p:txBody>
      </p:sp>
      <p:sp>
        <p:nvSpPr>
          <p:cNvPr id="63" name="Rectangle 62"/>
          <p:cNvSpPr/>
          <p:nvPr/>
        </p:nvSpPr>
        <p:spPr>
          <a:xfrm>
            <a:off x="10149840" y="4005072"/>
            <a:ext cx="685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p:cNvSpPr txBox="1"/>
          <p:nvPr/>
        </p:nvSpPr>
        <p:spPr>
          <a:xfrm>
            <a:off x="10186416" y="4096511"/>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0.468</a:t>
            </a:r>
          </a:p>
        </p:txBody>
      </p:sp>
      <p:sp>
        <p:nvSpPr>
          <p:cNvPr id="65" name="Rectangle 64"/>
          <p:cNvSpPr/>
          <p:nvPr/>
        </p:nvSpPr>
        <p:spPr>
          <a:xfrm>
            <a:off x="10835640" y="4005072"/>
            <a:ext cx="68580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6" name="TextBox 65"/>
          <p:cNvSpPr txBox="1"/>
          <p:nvPr/>
        </p:nvSpPr>
        <p:spPr>
          <a:xfrm>
            <a:off x="10872216" y="4096511"/>
            <a:ext cx="612648" cy="264688"/>
          </a:xfrm>
          <a:prstGeom prst="rect">
            <a:avLst/>
          </a:prstGeom>
          <a:noFill/>
        </p:spPr>
        <p:txBody>
          <a:bodyPr wrap="square" lIns="54864" tIns="54864" rIns="54864" bIns="54864" anchor="t">
            <a:spAutoFit/>
          </a:bodyPr>
          <a:lstStyle/>
          <a:p>
            <a:pPr algn="ctr"/>
            <a:r>
              <a:rPr sz="1000" b="0">
                <a:solidFill>
                  <a:srgbClr val="23303A"/>
                </a:solidFill>
                <a:latin typeface="Aptos"/>
              </a:rPr>
              <a:t>0.950</a:t>
            </a:r>
          </a:p>
        </p:txBody>
      </p:sp>
      <p:sp>
        <p:nvSpPr>
          <p:cNvPr id="67" name="Rounded Rectangle 66"/>
          <p:cNvSpPr/>
          <p:nvPr/>
        </p:nvSpPr>
        <p:spPr>
          <a:xfrm>
            <a:off x="7223760" y="4828032"/>
            <a:ext cx="3794760" cy="6400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406640" y="4924044"/>
            <a:ext cx="3429000" cy="228600"/>
          </a:xfrm>
          <a:prstGeom prst="rect">
            <a:avLst/>
          </a:prstGeom>
          <a:noFill/>
        </p:spPr>
        <p:txBody>
          <a:bodyPr wrap="square" lIns="54864" tIns="54864" rIns="54864" bIns="54864" anchor="t">
            <a:spAutoFit/>
          </a:bodyPr>
          <a:lstStyle/>
          <a:p>
            <a:pPr algn="ctr"/>
            <a:r>
              <a:rPr sz="1300" b="1" dirty="0">
                <a:solidFill>
                  <a:srgbClr val="0B1F33"/>
                </a:solidFill>
                <a:latin typeface="Aptos"/>
              </a:rPr>
              <a:t>Small groups need uncertainty, not confident ranking.</a:t>
            </a:r>
          </a:p>
        </p:txBody>
      </p:sp>
      <p:sp>
        <p:nvSpPr>
          <p:cNvPr id="69" name="Rectangle 68"/>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8640" y="6583680"/>
            <a:ext cx="9875520" cy="146304"/>
          </a:xfrm>
          <a:prstGeom prst="rect">
            <a:avLst/>
          </a:prstGeom>
          <a:noFill/>
        </p:spPr>
        <p:txBody>
          <a:bodyPr wrap="square" lIns="54864" tIns="54864" rIns="54864" bIns="54864" anchor="t">
            <a:spAutoFit/>
          </a:bodyPr>
          <a:lstStyle/>
          <a:p>
            <a:pPr algn="l"/>
            <a:r>
              <a:rPr sz="800" b="0">
                <a:solidFill>
                  <a:srgbClr val="5B6971"/>
                </a:solidFill>
                <a:latin typeface="Aptos"/>
              </a:rPr>
              <a:t>M3  |  critical outcome  |  current exported evidence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10  /  ERROR ANALYSIS</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False positives and false negatives are the actual workflow</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17</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737360"/>
            <a:ext cx="2743200" cy="438912"/>
          </a:xfrm>
          <a:prstGeom prst="rect">
            <a:avLst/>
          </a:prstGeom>
          <a:noFill/>
        </p:spPr>
        <p:txBody>
          <a:bodyPr wrap="square" lIns="54864" tIns="54864" rIns="54864" bIns="54864" anchor="t">
            <a:spAutoFit/>
          </a:bodyPr>
          <a:lstStyle/>
          <a:p>
            <a:pPr algn="l"/>
            <a:r>
              <a:rPr sz="2900" b="1">
                <a:solidFill>
                  <a:srgbClr val="E76F51"/>
                </a:solidFill>
                <a:latin typeface="Aptos Display"/>
              </a:rPr>
              <a:t>71</a:t>
            </a:r>
          </a:p>
        </p:txBody>
      </p:sp>
      <p:sp>
        <p:nvSpPr>
          <p:cNvPr id="7" name="TextBox 6"/>
          <p:cNvSpPr txBox="1"/>
          <p:nvPr/>
        </p:nvSpPr>
        <p:spPr>
          <a:xfrm>
            <a:off x="868680" y="2221991"/>
            <a:ext cx="2743200" cy="347472"/>
          </a:xfrm>
          <a:prstGeom prst="rect">
            <a:avLst/>
          </a:prstGeom>
          <a:noFill/>
        </p:spPr>
        <p:txBody>
          <a:bodyPr wrap="square" lIns="54864" tIns="54864" rIns="54864" bIns="54864" anchor="t">
            <a:spAutoFit/>
          </a:bodyPr>
          <a:lstStyle/>
          <a:p>
            <a:pPr algn="l"/>
            <a:r>
              <a:rPr sz="1200" b="0">
                <a:solidFill>
                  <a:srgbClr val="5B6971"/>
                </a:solidFill>
                <a:latin typeface="Aptos"/>
              </a:rPr>
              <a:t>logistic false negatives at 0.50</a:t>
            </a:r>
          </a:p>
        </p:txBody>
      </p:sp>
      <p:sp>
        <p:nvSpPr>
          <p:cNvPr id="8" name="TextBox 7"/>
          <p:cNvSpPr txBox="1"/>
          <p:nvPr/>
        </p:nvSpPr>
        <p:spPr>
          <a:xfrm>
            <a:off x="3886200" y="1737360"/>
            <a:ext cx="2743200" cy="438912"/>
          </a:xfrm>
          <a:prstGeom prst="rect">
            <a:avLst/>
          </a:prstGeom>
          <a:noFill/>
        </p:spPr>
        <p:txBody>
          <a:bodyPr wrap="square" lIns="54864" tIns="54864" rIns="54864" bIns="54864" anchor="t">
            <a:spAutoFit/>
          </a:bodyPr>
          <a:lstStyle/>
          <a:p>
            <a:pPr algn="l"/>
            <a:r>
              <a:rPr sz="2900" b="1">
                <a:solidFill>
                  <a:srgbClr val="0F766E"/>
                </a:solidFill>
                <a:latin typeface="Aptos Display"/>
              </a:rPr>
              <a:t>1,079</a:t>
            </a:r>
          </a:p>
        </p:txBody>
      </p:sp>
      <p:sp>
        <p:nvSpPr>
          <p:cNvPr id="9" name="TextBox 8"/>
          <p:cNvSpPr txBox="1"/>
          <p:nvPr/>
        </p:nvSpPr>
        <p:spPr>
          <a:xfrm>
            <a:off x="3886200" y="2221991"/>
            <a:ext cx="2743200" cy="347472"/>
          </a:xfrm>
          <a:prstGeom prst="rect">
            <a:avLst/>
          </a:prstGeom>
          <a:noFill/>
        </p:spPr>
        <p:txBody>
          <a:bodyPr wrap="square" lIns="54864" tIns="54864" rIns="54864" bIns="54864" anchor="t">
            <a:spAutoFit/>
          </a:bodyPr>
          <a:lstStyle/>
          <a:p>
            <a:pPr algn="l"/>
            <a:r>
              <a:rPr sz="1200" b="0">
                <a:solidFill>
                  <a:srgbClr val="5B6971"/>
                </a:solidFill>
                <a:latin typeface="Aptos"/>
              </a:rPr>
              <a:t>logistic false positives at 0.50</a:t>
            </a:r>
          </a:p>
        </p:txBody>
      </p:sp>
      <p:sp>
        <p:nvSpPr>
          <p:cNvPr id="10" name="TextBox 9"/>
          <p:cNvSpPr txBox="1"/>
          <p:nvPr/>
        </p:nvSpPr>
        <p:spPr>
          <a:xfrm>
            <a:off x="6903720" y="1737360"/>
            <a:ext cx="3429000" cy="438912"/>
          </a:xfrm>
          <a:prstGeom prst="rect">
            <a:avLst/>
          </a:prstGeom>
          <a:noFill/>
        </p:spPr>
        <p:txBody>
          <a:bodyPr wrap="square" lIns="54864" tIns="54864" rIns="54864" bIns="54864" anchor="t">
            <a:spAutoFit/>
          </a:bodyPr>
          <a:lstStyle/>
          <a:p>
            <a:pPr algn="l"/>
            <a:r>
              <a:rPr sz="2900" b="1">
                <a:solidFill>
                  <a:srgbClr val="E9C46A"/>
                </a:solidFill>
                <a:latin typeface="Aptos Display"/>
              </a:rPr>
              <a:t>1,150</a:t>
            </a:r>
          </a:p>
        </p:txBody>
      </p:sp>
      <p:sp>
        <p:nvSpPr>
          <p:cNvPr id="11" name="TextBox 10"/>
          <p:cNvSpPr txBox="1"/>
          <p:nvPr/>
        </p:nvSpPr>
        <p:spPr>
          <a:xfrm>
            <a:off x="6903720" y="2221991"/>
            <a:ext cx="3429000" cy="347472"/>
          </a:xfrm>
          <a:prstGeom prst="rect">
            <a:avLst/>
          </a:prstGeom>
          <a:noFill/>
        </p:spPr>
        <p:txBody>
          <a:bodyPr wrap="square" lIns="54864" tIns="54864" rIns="54864" bIns="54864" anchor="t">
            <a:spAutoFit/>
          </a:bodyPr>
          <a:lstStyle/>
          <a:p>
            <a:pPr algn="l"/>
            <a:r>
              <a:rPr sz="1200" b="0">
                <a:solidFill>
                  <a:srgbClr val="5B6971"/>
                </a:solidFill>
                <a:latin typeface="Aptos"/>
              </a:rPr>
              <a:t>exported example rows for inspection</a:t>
            </a:r>
          </a:p>
        </p:txBody>
      </p:sp>
      <p:sp>
        <p:nvSpPr>
          <p:cNvPr id="12" name="Rounded Rectangle 11"/>
          <p:cNvSpPr/>
          <p:nvPr/>
        </p:nvSpPr>
        <p:spPr>
          <a:xfrm>
            <a:off x="868680" y="3246120"/>
            <a:ext cx="4892040" cy="20116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3584448"/>
            <a:ext cx="4160520" cy="292608"/>
          </a:xfrm>
          <a:prstGeom prst="rect">
            <a:avLst/>
          </a:prstGeom>
          <a:noFill/>
        </p:spPr>
        <p:txBody>
          <a:bodyPr wrap="square" lIns="54864" tIns="54864" rIns="54864" bIns="54864" anchor="t">
            <a:spAutoFit/>
          </a:bodyPr>
          <a:lstStyle/>
          <a:p>
            <a:pPr algn="l"/>
            <a:r>
              <a:rPr sz="2200" b="1">
                <a:solidFill>
                  <a:srgbClr val="E76F51"/>
                </a:solidFill>
                <a:latin typeface="Aptos Display"/>
              </a:rPr>
              <a:t>False negative</a:t>
            </a:r>
          </a:p>
        </p:txBody>
      </p:sp>
      <p:sp>
        <p:nvSpPr>
          <p:cNvPr id="14" name="TextBox 13"/>
          <p:cNvSpPr txBox="1"/>
          <p:nvPr/>
        </p:nvSpPr>
        <p:spPr>
          <a:xfrm>
            <a:off x="1188720" y="4160520"/>
            <a:ext cx="4069080" cy="594360"/>
          </a:xfrm>
          <a:prstGeom prst="rect">
            <a:avLst/>
          </a:prstGeom>
          <a:noFill/>
        </p:spPr>
        <p:txBody>
          <a:bodyPr wrap="square" lIns="54864" tIns="54864" rIns="54864" bIns="54864" anchor="t">
            <a:spAutoFit/>
          </a:bodyPr>
          <a:lstStyle/>
          <a:p>
            <a:pPr algn="l"/>
            <a:r>
              <a:rPr sz="1700" b="1">
                <a:solidFill>
                  <a:srgbClr val="23303A"/>
                </a:solidFill>
                <a:latin typeface="Aptos"/>
              </a:rPr>
              <a:t>A critical stay receives a low score and is not flagged at the chosen cutoff.</a:t>
            </a:r>
          </a:p>
        </p:txBody>
      </p:sp>
      <p:sp>
        <p:nvSpPr>
          <p:cNvPr id="15" name="TextBox 14"/>
          <p:cNvSpPr txBox="1"/>
          <p:nvPr/>
        </p:nvSpPr>
        <p:spPr>
          <a:xfrm>
            <a:off x="1188720" y="4828032"/>
            <a:ext cx="4069080" cy="228600"/>
          </a:xfrm>
          <a:prstGeom prst="rect">
            <a:avLst/>
          </a:prstGeom>
          <a:noFill/>
        </p:spPr>
        <p:txBody>
          <a:bodyPr wrap="square" lIns="54864" tIns="54864" rIns="54864" bIns="54864" anchor="t">
            <a:spAutoFit/>
          </a:bodyPr>
          <a:lstStyle/>
          <a:p>
            <a:pPr algn="l"/>
            <a:r>
              <a:rPr sz="1300" b="0">
                <a:solidFill>
                  <a:srgbClr val="5B6971"/>
                </a:solidFill>
                <a:latin typeface="Aptos"/>
              </a:rPr>
              <a:t>Question: what safety net catches the miss?</a:t>
            </a:r>
          </a:p>
        </p:txBody>
      </p:sp>
      <p:sp>
        <p:nvSpPr>
          <p:cNvPr id="16" name="Rounded Rectangle 15"/>
          <p:cNvSpPr/>
          <p:nvPr/>
        </p:nvSpPr>
        <p:spPr>
          <a:xfrm>
            <a:off x="6355080" y="3246120"/>
            <a:ext cx="4892040" cy="201168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3584448"/>
            <a:ext cx="4160520" cy="292608"/>
          </a:xfrm>
          <a:prstGeom prst="rect">
            <a:avLst/>
          </a:prstGeom>
          <a:noFill/>
        </p:spPr>
        <p:txBody>
          <a:bodyPr wrap="square" lIns="54864" tIns="54864" rIns="54864" bIns="54864" anchor="t">
            <a:spAutoFit/>
          </a:bodyPr>
          <a:lstStyle/>
          <a:p>
            <a:pPr algn="l"/>
            <a:r>
              <a:rPr sz="2200" b="1">
                <a:solidFill>
                  <a:srgbClr val="0F766E"/>
                </a:solidFill>
                <a:latin typeface="Aptos Display"/>
              </a:rPr>
              <a:t>False positive</a:t>
            </a:r>
          </a:p>
        </p:txBody>
      </p:sp>
      <p:sp>
        <p:nvSpPr>
          <p:cNvPr id="18" name="TextBox 17"/>
          <p:cNvSpPr txBox="1"/>
          <p:nvPr/>
        </p:nvSpPr>
        <p:spPr>
          <a:xfrm>
            <a:off x="6675120" y="4160520"/>
            <a:ext cx="4069080" cy="594360"/>
          </a:xfrm>
          <a:prstGeom prst="rect">
            <a:avLst/>
          </a:prstGeom>
          <a:noFill/>
        </p:spPr>
        <p:txBody>
          <a:bodyPr wrap="square" lIns="54864" tIns="54864" rIns="54864" bIns="54864" anchor="t">
            <a:spAutoFit/>
          </a:bodyPr>
          <a:lstStyle/>
          <a:p>
            <a:pPr algn="l"/>
            <a:r>
              <a:rPr sz="1700" b="1">
                <a:solidFill>
                  <a:srgbClr val="23303A"/>
                </a:solidFill>
                <a:latin typeface="Aptos"/>
              </a:rPr>
              <a:t>A non-critical stay receives a high score and consumes attention or capacity.</a:t>
            </a:r>
          </a:p>
        </p:txBody>
      </p:sp>
      <p:sp>
        <p:nvSpPr>
          <p:cNvPr id="19" name="TextBox 18"/>
          <p:cNvSpPr txBox="1"/>
          <p:nvPr/>
        </p:nvSpPr>
        <p:spPr>
          <a:xfrm>
            <a:off x="6675120" y="4828032"/>
            <a:ext cx="4069080" cy="228600"/>
          </a:xfrm>
          <a:prstGeom prst="rect">
            <a:avLst/>
          </a:prstGeom>
          <a:noFill/>
        </p:spPr>
        <p:txBody>
          <a:bodyPr wrap="square" lIns="54864" tIns="54864" rIns="54864" bIns="54864" anchor="t">
            <a:spAutoFit/>
          </a:bodyPr>
          <a:lstStyle/>
          <a:p>
            <a:pPr algn="l"/>
            <a:r>
              <a:rPr sz="1300" b="0">
                <a:solidFill>
                  <a:srgbClr val="5B6971"/>
                </a:solidFill>
                <a:latin typeface="Aptos"/>
              </a:rPr>
              <a:t>Question: what is the cost of the alert volume?</a:t>
            </a:r>
          </a:p>
        </p:txBody>
      </p:sp>
      <p:sp>
        <p:nvSpPr>
          <p:cNvPr id="20" name="Rectangle 19"/>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5029200" cy="201168"/>
          </a:xfrm>
          <a:prstGeom prst="rect">
            <a:avLst/>
          </a:prstGeom>
          <a:noFill/>
        </p:spPr>
        <p:txBody>
          <a:bodyPr wrap="square" lIns="54864" tIns="54864" rIns="54864" bIns="54864" anchor="t">
            <a:spAutoFit/>
          </a:bodyPr>
          <a:lstStyle/>
          <a:p>
            <a:pPr algn="l"/>
            <a:r>
              <a:rPr sz="1000" b="1">
                <a:solidFill>
                  <a:srgbClr val="0F766E"/>
                </a:solidFill>
                <a:latin typeface="Aptos"/>
              </a:rPr>
              <a:t>11  /  LIMITATIONS</a:t>
            </a:r>
          </a:p>
        </p:txBody>
      </p:sp>
      <p:sp>
        <p:nvSpPr>
          <p:cNvPr id="3" name="TextBox 2"/>
          <p:cNvSpPr txBox="1"/>
          <p:nvPr/>
        </p:nvSpPr>
        <p:spPr>
          <a:xfrm>
            <a:off x="548640" y="566928"/>
            <a:ext cx="10424160" cy="530352"/>
          </a:xfrm>
          <a:prstGeom prst="rect">
            <a:avLst/>
          </a:prstGeom>
          <a:noFill/>
        </p:spPr>
        <p:txBody>
          <a:bodyPr wrap="square" lIns="54864" tIns="54864" rIns="54864" bIns="54864" anchor="t">
            <a:spAutoFit/>
          </a:bodyPr>
          <a:lstStyle/>
          <a:p>
            <a:pPr algn="l"/>
            <a:r>
              <a:rPr sz="2800" b="1">
                <a:solidFill>
                  <a:srgbClr val="0B1F33"/>
                </a:solidFill>
                <a:latin typeface="Aptos Display"/>
              </a:rPr>
              <a:t>What this analysis can and cannot support</a:t>
            </a:r>
          </a:p>
        </p:txBody>
      </p:sp>
      <p:sp>
        <p:nvSpPr>
          <p:cNvPr id="4" name="TextBox 3"/>
          <p:cNvSpPr txBox="1"/>
          <p:nvPr/>
        </p:nvSpPr>
        <p:spPr>
          <a:xfrm>
            <a:off x="10652760" y="310896"/>
            <a:ext cx="914400" cy="182880"/>
          </a:xfrm>
          <a:prstGeom prst="rect">
            <a:avLst/>
          </a:prstGeom>
          <a:noFill/>
        </p:spPr>
        <p:txBody>
          <a:bodyPr wrap="square" lIns="54864" tIns="54864" rIns="54864" bIns="54864" anchor="t">
            <a:spAutoFit/>
          </a:bodyPr>
          <a:lstStyle/>
          <a:p>
            <a:pPr algn="r"/>
            <a:r>
              <a:rPr sz="1000" b="1">
                <a:solidFill>
                  <a:srgbClr val="5B6971"/>
                </a:solidFill>
                <a:latin typeface="Aptos"/>
              </a:rPr>
              <a:t>M3  /  18</a:t>
            </a:r>
          </a:p>
        </p:txBody>
      </p:sp>
      <p:sp>
        <p:nvSpPr>
          <p:cNvPr id="5" name="Rectangle 4"/>
          <p:cNvSpPr/>
          <p:nvPr/>
        </p:nvSpPr>
        <p:spPr>
          <a:xfrm>
            <a:off x="548640" y="1225296"/>
            <a:ext cx="11064240" cy="22860"/>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554480"/>
            <a:ext cx="91440" cy="841248"/>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TextBox 6"/>
          <p:cNvSpPr txBox="1"/>
          <p:nvPr/>
        </p:nvSpPr>
        <p:spPr>
          <a:xfrm>
            <a:off x="1005840" y="1581912"/>
            <a:ext cx="2560320" cy="387798"/>
          </a:xfrm>
          <a:prstGeom prst="rect">
            <a:avLst/>
          </a:prstGeom>
          <a:noFill/>
        </p:spPr>
        <p:txBody>
          <a:bodyPr wrap="square" lIns="54864" tIns="54864" rIns="54864" bIns="54864" anchor="t">
            <a:spAutoFit/>
          </a:bodyPr>
          <a:lstStyle/>
          <a:p>
            <a:pPr algn="l"/>
            <a:r>
              <a:rPr b="1">
                <a:solidFill>
                  <a:srgbClr val="0B1F33"/>
                </a:solidFill>
                <a:latin typeface="Aptos Display"/>
              </a:rPr>
              <a:t>Retrospective labels</a:t>
            </a:r>
          </a:p>
        </p:txBody>
      </p:sp>
      <p:sp>
        <p:nvSpPr>
          <p:cNvPr id="8" name="TextBox 7"/>
          <p:cNvSpPr txBox="1"/>
          <p:nvPr/>
        </p:nvSpPr>
        <p:spPr>
          <a:xfrm>
            <a:off x="1005840" y="1920240"/>
            <a:ext cx="4709160" cy="541687"/>
          </a:xfrm>
          <a:prstGeom prst="rect">
            <a:avLst/>
          </a:prstGeom>
          <a:noFill/>
        </p:spPr>
        <p:txBody>
          <a:bodyPr wrap="square" lIns="54864" tIns="54864" rIns="54864" bIns="54864" anchor="t">
            <a:spAutoFit/>
          </a:bodyPr>
          <a:lstStyle/>
          <a:p>
            <a:pPr algn="l"/>
            <a:r>
              <a:rPr sz="1400" b="0">
                <a:solidFill>
                  <a:srgbClr val="23303A"/>
                </a:solidFill>
                <a:latin typeface="Aptos"/>
              </a:rPr>
              <a:t>The composite is observed after triage and combines mortality with ICU transfer.</a:t>
            </a:r>
          </a:p>
        </p:txBody>
      </p:sp>
      <p:sp>
        <p:nvSpPr>
          <p:cNvPr id="9" name="Rectangle 8"/>
          <p:cNvSpPr/>
          <p:nvPr/>
        </p:nvSpPr>
        <p:spPr>
          <a:xfrm>
            <a:off x="6217920" y="1554480"/>
            <a:ext cx="91440" cy="841248"/>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6492240" y="1581912"/>
            <a:ext cx="2560320" cy="387798"/>
          </a:xfrm>
          <a:prstGeom prst="rect">
            <a:avLst/>
          </a:prstGeom>
          <a:noFill/>
        </p:spPr>
        <p:txBody>
          <a:bodyPr wrap="square" lIns="54864" tIns="54864" rIns="54864" bIns="54864" anchor="t">
            <a:spAutoFit/>
          </a:bodyPr>
          <a:lstStyle/>
          <a:p>
            <a:pPr algn="l"/>
            <a:r>
              <a:rPr b="1">
                <a:solidFill>
                  <a:srgbClr val="0B1F33"/>
                </a:solidFill>
                <a:latin typeface="Aptos Display"/>
              </a:rPr>
              <a:t>Single-source evidence</a:t>
            </a:r>
          </a:p>
        </p:txBody>
      </p:sp>
      <p:sp>
        <p:nvSpPr>
          <p:cNvPr id="11" name="TextBox 10"/>
          <p:cNvSpPr txBox="1"/>
          <p:nvPr/>
        </p:nvSpPr>
        <p:spPr>
          <a:xfrm>
            <a:off x="6492240" y="1920240"/>
            <a:ext cx="4709160" cy="541687"/>
          </a:xfrm>
          <a:prstGeom prst="rect">
            <a:avLst/>
          </a:prstGeom>
          <a:noFill/>
        </p:spPr>
        <p:txBody>
          <a:bodyPr wrap="square" lIns="54864" tIns="54864" rIns="54864" bIns="54864" anchor="t">
            <a:spAutoFit/>
          </a:bodyPr>
          <a:lstStyle/>
          <a:p>
            <a:pPr algn="l"/>
            <a:r>
              <a:rPr sz="1400" b="0">
                <a:solidFill>
                  <a:srgbClr val="23303A"/>
                </a:solidFill>
                <a:latin typeface="Aptos"/>
              </a:rPr>
              <a:t>One extracted MIMIC-IV-ED teaching table does not establish transportability.</a:t>
            </a:r>
          </a:p>
        </p:txBody>
      </p:sp>
      <p:sp>
        <p:nvSpPr>
          <p:cNvPr id="12" name="Rectangle 11"/>
          <p:cNvSpPr/>
          <p:nvPr/>
        </p:nvSpPr>
        <p:spPr>
          <a:xfrm>
            <a:off x="731520" y="2880360"/>
            <a:ext cx="91440" cy="841248"/>
          </a:xfrm>
          <a:prstGeom prst="rect">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1005840" y="2907791"/>
            <a:ext cx="2560320" cy="387798"/>
          </a:xfrm>
          <a:prstGeom prst="rect">
            <a:avLst/>
          </a:prstGeom>
          <a:noFill/>
        </p:spPr>
        <p:txBody>
          <a:bodyPr wrap="square" lIns="54864" tIns="54864" rIns="54864" bIns="54864" anchor="t">
            <a:spAutoFit/>
          </a:bodyPr>
          <a:lstStyle/>
          <a:p>
            <a:pPr algn="l"/>
            <a:r>
              <a:rPr b="1">
                <a:solidFill>
                  <a:srgbClr val="0B1F33"/>
                </a:solidFill>
                <a:latin typeface="Aptos Display"/>
              </a:rPr>
              <a:t>Model scope</a:t>
            </a:r>
          </a:p>
        </p:txBody>
      </p:sp>
      <p:sp>
        <p:nvSpPr>
          <p:cNvPr id="14" name="TextBox 13"/>
          <p:cNvSpPr txBox="1"/>
          <p:nvPr/>
        </p:nvSpPr>
        <p:spPr>
          <a:xfrm>
            <a:off x="1005840" y="3246120"/>
            <a:ext cx="4709160" cy="541687"/>
          </a:xfrm>
          <a:prstGeom prst="rect">
            <a:avLst/>
          </a:prstGeom>
          <a:noFill/>
        </p:spPr>
        <p:txBody>
          <a:bodyPr wrap="square" lIns="54864" tIns="54864" rIns="54864" bIns="54864" anchor="t">
            <a:spAutoFit/>
          </a:bodyPr>
          <a:lstStyle/>
          <a:p>
            <a:pPr algn="l"/>
            <a:r>
              <a:rPr sz="1400" b="0">
                <a:solidFill>
                  <a:srgbClr val="23303A"/>
                </a:solidFill>
                <a:latin typeface="Aptos"/>
              </a:rPr>
              <a:t>This is a tabular baseline; free text, temporal drift, and clinical workflow are out of scope.</a:t>
            </a:r>
          </a:p>
        </p:txBody>
      </p:sp>
      <p:sp>
        <p:nvSpPr>
          <p:cNvPr id="15" name="Rectangle 14"/>
          <p:cNvSpPr/>
          <p:nvPr/>
        </p:nvSpPr>
        <p:spPr>
          <a:xfrm>
            <a:off x="6217920" y="2880360"/>
            <a:ext cx="91440" cy="841248"/>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6492240" y="2907791"/>
            <a:ext cx="2560320" cy="387798"/>
          </a:xfrm>
          <a:prstGeom prst="rect">
            <a:avLst/>
          </a:prstGeom>
          <a:noFill/>
        </p:spPr>
        <p:txBody>
          <a:bodyPr wrap="square" lIns="54864" tIns="54864" rIns="54864" bIns="54864" anchor="t">
            <a:spAutoFit/>
          </a:bodyPr>
          <a:lstStyle/>
          <a:p>
            <a:pPr algn="l"/>
            <a:r>
              <a:rPr b="1">
                <a:solidFill>
                  <a:srgbClr val="0B1F33"/>
                </a:solidFill>
                <a:latin typeface="Aptos Display"/>
              </a:rPr>
              <a:t>Uncertainty</a:t>
            </a:r>
          </a:p>
        </p:txBody>
      </p:sp>
      <p:sp>
        <p:nvSpPr>
          <p:cNvPr id="17" name="TextBox 16"/>
          <p:cNvSpPr txBox="1"/>
          <p:nvPr/>
        </p:nvSpPr>
        <p:spPr>
          <a:xfrm>
            <a:off x="6492240" y="3246120"/>
            <a:ext cx="4709160" cy="541687"/>
          </a:xfrm>
          <a:prstGeom prst="rect">
            <a:avLst/>
          </a:prstGeom>
          <a:noFill/>
        </p:spPr>
        <p:txBody>
          <a:bodyPr wrap="square" lIns="54864" tIns="54864" rIns="54864" bIns="54864" anchor="t">
            <a:spAutoFit/>
          </a:bodyPr>
          <a:lstStyle/>
          <a:p>
            <a:pPr algn="l"/>
            <a:r>
              <a:rPr sz="1400" b="0">
                <a:solidFill>
                  <a:srgbClr val="23303A"/>
                </a:solidFill>
                <a:latin typeface="Aptos"/>
              </a:rPr>
              <a:t>Point estimates lack confidence intervals and small subgroups are unstable.</a:t>
            </a:r>
          </a:p>
        </p:txBody>
      </p:sp>
      <p:sp>
        <p:nvSpPr>
          <p:cNvPr id="18" name="Rectangle 17"/>
          <p:cNvSpPr/>
          <p:nvPr/>
        </p:nvSpPr>
        <p:spPr>
          <a:xfrm>
            <a:off x="731520" y="4206240"/>
            <a:ext cx="91440" cy="841248"/>
          </a:xfrm>
          <a:prstGeom prst="rect">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1005840" y="4233672"/>
            <a:ext cx="2560320" cy="387798"/>
          </a:xfrm>
          <a:prstGeom prst="rect">
            <a:avLst/>
          </a:prstGeom>
          <a:noFill/>
        </p:spPr>
        <p:txBody>
          <a:bodyPr wrap="square" lIns="54864" tIns="54864" rIns="54864" bIns="54864" anchor="t">
            <a:spAutoFit/>
          </a:bodyPr>
          <a:lstStyle/>
          <a:p>
            <a:pPr algn="l"/>
            <a:r>
              <a:rPr b="1">
                <a:solidFill>
                  <a:srgbClr val="0B1F33"/>
                </a:solidFill>
                <a:latin typeface="Aptos Display"/>
              </a:rPr>
              <a:t>Operational validity</a:t>
            </a:r>
          </a:p>
        </p:txBody>
      </p:sp>
      <p:sp>
        <p:nvSpPr>
          <p:cNvPr id="20" name="TextBox 19"/>
          <p:cNvSpPr txBox="1"/>
          <p:nvPr/>
        </p:nvSpPr>
        <p:spPr>
          <a:xfrm>
            <a:off x="1005840" y="4572000"/>
            <a:ext cx="4709160" cy="541687"/>
          </a:xfrm>
          <a:prstGeom prst="rect">
            <a:avLst/>
          </a:prstGeom>
          <a:noFill/>
        </p:spPr>
        <p:txBody>
          <a:bodyPr wrap="square" lIns="54864" tIns="54864" rIns="54864" bIns="54864" anchor="t">
            <a:spAutoFit/>
          </a:bodyPr>
          <a:lstStyle/>
          <a:p>
            <a:pPr algn="l"/>
            <a:r>
              <a:rPr sz="1400" b="0">
                <a:solidFill>
                  <a:srgbClr val="23303A"/>
                </a:solidFill>
                <a:latin typeface="Aptos"/>
              </a:rPr>
              <a:t>No prospective workflow, calibration intervention, or clinical utility study was performed.</a:t>
            </a:r>
          </a:p>
        </p:txBody>
      </p:sp>
      <p:sp>
        <p:nvSpPr>
          <p:cNvPr id="21" name="Rectangle 20"/>
          <p:cNvSpPr/>
          <p:nvPr/>
        </p:nvSpPr>
        <p:spPr>
          <a:xfrm>
            <a:off x="6217920" y="4206240"/>
            <a:ext cx="91440" cy="841248"/>
          </a:xfrm>
          <a:prstGeom prst="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TextBox 21"/>
          <p:cNvSpPr txBox="1"/>
          <p:nvPr/>
        </p:nvSpPr>
        <p:spPr>
          <a:xfrm>
            <a:off x="6492240" y="4233672"/>
            <a:ext cx="2560320" cy="387798"/>
          </a:xfrm>
          <a:prstGeom prst="rect">
            <a:avLst/>
          </a:prstGeom>
          <a:noFill/>
        </p:spPr>
        <p:txBody>
          <a:bodyPr wrap="square" lIns="54864" tIns="54864" rIns="54864" bIns="54864" anchor="t">
            <a:spAutoFit/>
          </a:bodyPr>
          <a:lstStyle/>
          <a:p>
            <a:pPr algn="l"/>
            <a:r>
              <a:rPr b="1">
                <a:solidFill>
                  <a:srgbClr val="0B1F33"/>
                </a:solidFill>
                <a:latin typeface="Aptos Display"/>
              </a:rPr>
              <a:t>Fairness</a:t>
            </a:r>
          </a:p>
        </p:txBody>
      </p:sp>
      <p:sp>
        <p:nvSpPr>
          <p:cNvPr id="23" name="TextBox 22"/>
          <p:cNvSpPr txBox="1"/>
          <p:nvPr/>
        </p:nvSpPr>
        <p:spPr>
          <a:xfrm>
            <a:off x="6492240" y="4572000"/>
            <a:ext cx="4709160" cy="541687"/>
          </a:xfrm>
          <a:prstGeom prst="rect">
            <a:avLst/>
          </a:prstGeom>
          <a:noFill/>
        </p:spPr>
        <p:txBody>
          <a:bodyPr wrap="square" lIns="54864" tIns="54864" rIns="54864" bIns="54864" anchor="t">
            <a:spAutoFit/>
          </a:bodyPr>
          <a:lstStyle/>
          <a:p>
            <a:pPr algn="l"/>
            <a:r>
              <a:rPr sz="1400" b="0">
                <a:solidFill>
                  <a:srgbClr val="23303A"/>
                </a:solidFill>
                <a:latin typeface="Aptos"/>
              </a:rPr>
              <a:t>Subgroup metrics are an initial audit, not a complete fairness or harm assessment.</a:t>
            </a:r>
          </a:p>
        </p:txBody>
      </p:sp>
      <p:sp>
        <p:nvSpPr>
          <p:cNvPr id="24" name="Rounded Rectangle 23"/>
          <p:cNvSpPr/>
          <p:nvPr/>
        </p:nvSpPr>
        <p:spPr>
          <a:xfrm>
            <a:off x="777240" y="5669280"/>
            <a:ext cx="10607040" cy="708660"/>
          </a:xfrm>
          <a:prstGeom prst="roundRect">
            <a:avLst>
              <a:gd name="adj" fmla="val 8000"/>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0120" y="5815584"/>
            <a:ext cx="10241280" cy="201168"/>
          </a:xfrm>
          <a:prstGeom prst="rect">
            <a:avLst/>
          </a:prstGeom>
          <a:noFill/>
        </p:spPr>
        <p:txBody>
          <a:bodyPr wrap="square" lIns="54864" tIns="54864" rIns="54864" bIns="54864" anchor="t">
            <a:spAutoFit/>
          </a:bodyPr>
          <a:lstStyle/>
          <a:p>
            <a:pPr algn="ctr"/>
            <a:r>
              <a:rPr sz="1500" b="1" dirty="0">
                <a:solidFill>
                  <a:srgbClr val="0B1F33"/>
                </a:solidFill>
                <a:latin typeface="Aptos"/>
              </a:rPr>
              <a:t>Responsible conclusion: these exports support learning and hypothesis generation, not deployment or clinical decisions.</a:t>
            </a:r>
          </a:p>
        </p:txBody>
      </p:sp>
      <p:sp>
        <p:nvSpPr>
          <p:cNvPr id="26" name="Rectangle 25"/>
          <p:cNvSpPr/>
          <p:nvPr/>
        </p:nvSpPr>
        <p:spPr>
          <a:xfrm>
            <a:off x="548640" y="6528816"/>
            <a:ext cx="11064240" cy="10972"/>
          </a:xfrm>
          <a:prstGeom prst="rect">
            <a:avLst/>
          </a:prstGeom>
          <a:solidFill>
            <a:srgbClr val="E4EBEA"/>
          </a:solidFill>
          <a:ln>
            <a:solidFill>
              <a:srgbClr val="E4E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3657600" cy="182880"/>
          </a:xfrm>
          <a:prstGeom prst="rect">
            <a:avLst/>
          </a:prstGeom>
          <a:noFill/>
        </p:spPr>
        <p:txBody>
          <a:bodyPr wrap="square" lIns="54864" tIns="54864" rIns="54864" bIns="54864" anchor="t">
            <a:spAutoFit/>
          </a:bodyPr>
          <a:lstStyle/>
          <a:p>
            <a:pPr algn="l"/>
            <a:r>
              <a:rPr sz="1000" b="1">
                <a:solidFill>
                  <a:srgbClr val="E9C46A"/>
                </a:solidFill>
                <a:latin typeface="Aptos"/>
              </a:rPr>
              <a:t>M3  /  close</a:t>
            </a:r>
          </a:p>
        </p:txBody>
      </p:sp>
      <p:sp>
        <p:nvSpPr>
          <p:cNvPr id="3" name="TextBox 2"/>
          <p:cNvSpPr txBox="1"/>
          <p:nvPr/>
        </p:nvSpPr>
        <p:spPr>
          <a:xfrm>
            <a:off x="548640" y="658368"/>
            <a:ext cx="7955279" cy="530352"/>
          </a:xfrm>
          <a:prstGeom prst="rect">
            <a:avLst/>
          </a:prstGeom>
          <a:noFill/>
        </p:spPr>
        <p:txBody>
          <a:bodyPr wrap="square" lIns="54864" tIns="54864" rIns="54864" bIns="54864" anchor="t">
            <a:spAutoFit/>
          </a:bodyPr>
          <a:lstStyle/>
          <a:p>
            <a:pPr algn="l"/>
            <a:r>
              <a:rPr sz="3100" b="1">
                <a:solidFill>
                  <a:srgbClr val="FFFFFF"/>
                </a:solidFill>
                <a:latin typeface="Aptos Display"/>
              </a:rPr>
              <a:t>The M3 mental model</a:t>
            </a:r>
          </a:p>
        </p:txBody>
      </p:sp>
      <p:sp>
        <p:nvSpPr>
          <p:cNvPr id="4" name="Oval 3"/>
          <p:cNvSpPr/>
          <p:nvPr/>
        </p:nvSpPr>
        <p:spPr>
          <a:xfrm>
            <a:off x="676656" y="1828800"/>
            <a:ext cx="658368" cy="65836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676656" y="2029968"/>
            <a:ext cx="658368" cy="357021"/>
          </a:xfrm>
          <a:prstGeom prst="rect">
            <a:avLst/>
          </a:prstGeom>
          <a:noFill/>
        </p:spPr>
        <p:txBody>
          <a:bodyPr wrap="square" lIns="54864" tIns="54864" rIns="54864" bIns="54864" anchor="t">
            <a:spAutoFit/>
          </a:bodyPr>
          <a:lstStyle/>
          <a:p>
            <a:pPr algn="ctr"/>
            <a:r>
              <a:rPr sz="1600" b="1">
                <a:solidFill>
                  <a:srgbClr val="FFFFFF"/>
                </a:solidFill>
                <a:latin typeface="Aptos"/>
              </a:rPr>
              <a:t>1</a:t>
            </a:r>
          </a:p>
        </p:txBody>
      </p:sp>
      <p:sp>
        <p:nvSpPr>
          <p:cNvPr id="6" name="TextBox 5"/>
          <p:cNvSpPr txBox="1"/>
          <p:nvPr/>
        </p:nvSpPr>
        <p:spPr>
          <a:xfrm>
            <a:off x="448056" y="2788920"/>
            <a:ext cx="1143000" cy="418576"/>
          </a:xfrm>
          <a:prstGeom prst="rect">
            <a:avLst/>
          </a:prstGeom>
          <a:noFill/>
        </p:spPr>
        <p:txBody>
          <a:bodyPr wrap="square" lIns="54864" tIns="54864" rIns="54864" bIns="54864" anchor="t">
            <a:spAutoFit/>
          </a:bodyPr>
          <a:lstStyle/>
          <a:p>
            <a:pPr algn="ctr"/>
            <a:r>
              <a:rPr sz="2000" b="1">
                <a:solidFill>
                  <a:srgbClr val="FFFFFF"/>
                </a:solidFill>
                <a:latin typeface="Aptos"/>
              </a:rPr>
              <a:t>Define</a:t>
            </a:r>
          </a:p>
        </p:txBody>
      </p:sp>
      <p:sp>
        <p:nvSpPr>
          <p:cNvPr id="7" name="TextBox 6"/>
          <p:cNvSpPr txBox="1"/>
          <p:nvPr/>
        </p:nvSpPr>
        <p:spPr>
          <a:xfrm>
            <a:off x="100583" y="3154680"/>
            <a:ext cx="1828800" cy="457200"/>
          </a:xfrm>
          <a:prstGeom prst="rect">
            <a:avLst/>
          </a:prstGeom>
          <a:noFill/>
        </p:spPr>
        <p:txBody>
          <a:bodyPr wrap="square" lIns="54864" tIns="54864" rIns="54864" bIns="54864" anchor="t">
            <a:spAutoFit/>
          </a:bodyPr>
          <a:lstStyle/>
          <a:p>
            <a:pPr algn="ctr"/>
            <a:r>
              <a:rPr sz="1100" b="0">
                <a:solidFill>
                  <a:srgbClr val="E4EBEA"/>
                </a:solidFill>
                <a:latin typeface="Aptos"/>
              </a:rPr>
              <a:t>component-aware target</a:t>
            </a:r>
          </a:p>
        </p:txBody>
      </p:sp>
      <p:cxnSp>
        <p:nvCxnSpPr>
          <p:cNvPr id="8" name="Connector 7"/>
          <p:cNvCxnSpPr/>
          <p:nvPr/>
        </p:nvCxnSpPr>
        <p:spPr>
          <a:xfrm>
            <a:off x="1453895" y="2157984"/>
            <a:ext cx="1280161"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962656" y="1828800"/>
            <a:ext cx="658368" cy="65836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2962656" y="2029968"/>
            <a:ext cx="658368" cy="357021"/>
          </a:xfrm>
          <a:prstGeom prst="rect">
            <a:avLst/>
          </a:prstGeom>
          <a:noFill/>
        </p:spPr>
        <p:txBody>
          <a:bodyPr wrap="square" lIns="54864" tIns="54864" rIns="54864" bIns="54864" anchor="t">
            <a:spAutoFit/>
          </a:bodyPr>
          <a:lstStyle/>
          <a:p>
            <a:pPr algn="ctr"/>
            <a:r>
              <a:rPr sz="1600" b="1">
                <a:solidFill>
                  <a:srgbClr val="FFFFFF"/>
                </a:solidFill>
                <a:latin typeface="Aptos"/>
              </a:rPr>
              <a:t>2</a:t>
            </a:r>
          </a:p>
        </p:txBody>
      </p:sp>
      <p:sp>
        <p:nvSpPr>
          <p:cNvPr id="11" name="TextBox 10"/>
          <p:cNvSpPr txBox="1"/>
          <p:nvPr/>
        </p:nvSpPr>
        <p:spPr>
          <a:xfrm>
            <a:off x="2734056" y="2788920"/>
            <a:ext cx="1143000" cy="418576"/>
          </a:xfrm>
          <a:prstGeom prst="rect">
            <a:avLst/>
          </a:prstGeom>
          <a:noFill/>
        </p:spPr>
        <p:txBody>
          <a:bodyPr wrap="square" lIns="54864" tIns="54864" rIns="54864" bIns="54864" anchor="t">
            <a:spAutoFit/>
          </a:bodyPr>
          <a:lstStyle/>
          <a:p>
            <a:pPr algn="ctr"/>
            <a:r>
              <a:rPr sz="2000" b="1">
                <a:solidFill>
                  <a:srgbClr val="FFFFFF"/>
                </a:solidFill>
                <a:latin typeface="Aptos"/>
              </a:rPr>
              <a:t>Protect</a:t>
            </a:r>
          </a:p>
        </p:txBody>
      </p:sp>
      <p:sp>
        <p:nvSpPr>
          <p:cNvPr id="12" name="TextBox 11"/>
          <p:cNvSpPr txBox="1"/>
          <p:nvPr/>
        </p:nvSpPr>
        <p:spPr>
          <a:xfrm>
            <a:off x="2386584" y="3154680"/>
            <a:ext cx="1828800" cy="541687"/>
          </a:xfrm>
          <a:prstGeom prst="rect">
            <a:avLst/>
          </a:prstGeom>
          <a:noFill/>
        </p:spPr>
        <p:txBody>
          <a:bodyPr wrap="square" lIns="54864" tIns="54864" rIns="54864" bIns="54864" anchor="t">
            <a:spAutoFit/>
          </a:bodyPr>
          <a:lstStyle/>
          <a:p>
            <a:pPr algn="ctr"/>
            <a:r>
              <a:rPr sz="1400" b="0">
                <a:solidFill>
                  <a:srgbClr val="E4EBEA"/>
                </a:solidFill>
                <a:latin typeface="Aptos"/>
              </a:rPr>
              <a:t>triage boundary + patient split</a:t>
            </a:r>
          </a:p>
        </p:txBody>
      </p:sp>
      <p:cxnSp>
        <p:nvCxnSpPr>
          <p:cNvPr id="13" name="Connector 12"/>
          <p:cNvCxnSpPr/>
          <p:nvPr/>
        </p:nvCxnSpPr>
        <p:spPr>
          <a:xfrm>
            <a:off x="3739896" y="2157984"/>
            <a:ext cx="1280160"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248656" y="1828800"/>
            <a:ext cx="658368" cy="658368"/>
          </a:xfrm>
          <a:prstGeom prst="ellipse">
            <a:avLst/>
          </a:prstGeom>
          <a:solidFill>
            <a:srgbClr val="599DB5"/>
          </a:solidFill>
          <a:ln>
            <a:solidFill>
              <a:srgbClr val="599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5248656" y="2029968"/>
            <a:ext cx="658368" cy="357021"/>
          </a:xfrm>
          <a:prstGeom prst="rect">
            <a:avLst/>
          </a:prstGeom>
          <a:noFill/>
        </p:spPr>
        <p:txBody>
          <a:bodyPr wrap="square" lIns="54864" tIns="54864" rIns="54864" bIns="54864" anchor="t">
            <a:spAutoFit/>
          </a:bodyPr>
          <a:lstStyle/>
          <a:p>
            <a:pPr algn="ctr"/>
            <a:r>
              <a:rPr sz="1600" b="1">
                <a:solidFill>
                  <a:srgbClr val="FFFFFF"/>
                </a:solidFill>
                <a:latin typeface="Aptos"/>
              </a:rPr>
              <a:t>3</a:t>
            </a:r>
          </a:p>
        </p:txBody>
      </p:sp>
      <p:sp>
        <p:nvSpPr>
          <p:cNvPr id="16" name="TextBox 15"/>
          <p:cNvSpPr txBox="1"/>
          <p:nvPr/>
        </p:nvSpPr>
        <p:spPr>
          <a:xfrm>
            <a:off x="5020056" y="2788920"/>
            <a:ext cx="1143000" cy="418576"/>
          </a:xfrm>
          <a:prstGeom prst="rect">
            <a:avLst/>
          </a:prstGeom>
          <a:noFill/>
        </p:spPr>
        <p:txBody>
          <a:bodyPr wrap="square" lIns="54864" tIns="54864" rIns="54864" bIns="54864" anchor="t">
            <a:spAutoFit/>
          </a:bodyPr>
          <a:lstStyle/>
          <a:p>
            <a:pPr algn="ctr"/>
            <a:r>
              <a:rPr sz="2000" b="1">
                <a:solidFill>
                  <a:srgbClr val="FFFFFF"/>
                </a:solidFill>
                <a:latin typeface="Aptos"/>
              </a:rPr>
              <a:t>Balance</a:t>
            </a:r>
          </a:p>
        </p:txBody>
      </p:sp>
      <p:sp>
        <p:nvSpPr>
          <p:cNvPr id="17" name="TextBox 16"/>
          <p:cNvSpPr txBox="1"/>
          <p:nvPr/>
        </p:nvSpPr>
        <p:spPr>
          <a:xfrm>
            <a:off x="4672584" y="3154680"/>
            <a:ext cx="1828800" cy="541687"/>
          </a:xfrm>
          <a:prstGeom prst="rect">
            <a:avLst/>
          </a:prstGeom>
          <a:noFill/>
        </p:spPr>
        <p:txBody>
          <a:bodyPr wrap="square" lIns="54864" tIns="54864" rIns="54864" bIns="54864" anchor="t">
            <a:spAutoFit/>
          </a:bodyPr>
          <a:lstStyle/>
          <a:p>
            <a:pPr algn="ctr"/>
            <a:r>
              <a:rPr sz="1400" b="0">
                <a:solidFill>
                  <a:srgbClr val="E4EBEA"/>
                </a:solidFill>
                <a:latin typeface="Aptos"/>
              </a:rPr>
              <a:t>training only, test stays real</a:t>
            </a:r>
          </a:p>
        </p:txBody>
      </p:sp>
      <p:cxnSp>
        <p:nvCxnSpPr>
          <p:cNvPr id="18" name="Connector 17"/>
          <p:cNvCxnSpPr/>
          <p:nvPr/>
        </p:nvCxnSpPr>
        <p:spPr>
          <a:xfrm>
            <a:off x="6025896" y="2157984"/>
            <a:ext cx="1280160"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534656" y="1828800"/>
            <a:ext cx="658368" cy="658368"/>
          </a:xfrm>
          <a:prstGeom prst="ellipse">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7534656" y="2029968"/>
            <a:ext cx="658368" cy="357021"/>
          </a:xfrm>
          <a:prstGeom prst="rect">
            <a:avLst/>
          </a:prstGeom>
          <a:noFill/>
        </p:spPr>
        <p:txBody>
          <a:bodyPr wrap="square" lIns="54864" tIns="54864" rIns="54864" bIns="54864" anchor="t">
            <a:spAutoFit/>
          </a:bodyPr>
          <a:lstStyle/>
          <a:p>
            <a:pPr algn="ctr"/>
            <a:r>
              <a:rPr sz="1600" b="1">
                <a:solidFill>
                  <a:srgbClr val="0B1F33"/>
                </a:solidFill>
                <a:latin typeface="Aptos"/>
              </a:rPr>
              <a:t>4</a:t>
            </a:r>
          </a:p>
        </p:txBody>
      </p:sp>
      <p:sp>
        <p:nvSpPr>
          <p:cNvPr id="21" name="TextBox 20"/>
          <p:cNvSpPr txBox="1"/>
          <p:nvPr/>
        </p:nvSpPr>
        <p:spPr>
          <a:xfrm>
            <a:off x="7306056" y="2788920"/>
            <a:ext cx="1280160" cy="418576"/>
          </a:xfrm>
          <a:prstGeom prst="rect">
            <a:avLst/>
          </a:prstGeom>
          <a:noFill/>
        </p:spPr>
        <p:txBody>
          <a:bodyPr wrap="square" lIns="54864" tIns="54864" rIns="54864" bIns="54864" anchor="t">
            <a:spAutoFit/>
          </a:bodyPr>
          <a:lstStyle/>
          <a:p>
            <a:pPr algn="ctr"/>
            <a:r>
              <a:rPr sz="2000" b="1">
                <a:solidFill>
                  <a:srgbClr val="FFFFFF"/>
                </a:solidFill>
                <a:latin typeface="Aptos"/>
              </a:rPr>
              <a:t>Compare</a:t>
            </a:r>
          </a:p>
        </p:txBody>
      </p:sp>
      <p:sp>
        <p:nvSpPr>
          <p:cNvPr id="22" name="TextBox 21"/>
          <p:cNvSpPr txBox="1"/>
          <p:nvPr/>
        </p:nvSpPr>
        <p:spPr>
          <a:xfrm>
            <a:off x="6958584" y="3154680"/>
            <a:ext cx="1828800" cy="541687"/>
          </a:xfrm>
          <a:prstGeom prst="rect">
            <a:avLst/>
          </a:prstGeom>
          <a:noFill/>
        </p:spPr>
        <p:txBody>
          <a:bodyPr wrap="square" lIns="54864" tIns="54864" rIns="54864" bIns="54864" anchor="t">
            <a:spAutoFit/>
          </a:bodyPr>
          <a:lstStyle/>
          <a:p>
            <a:pPr algn="ctr"/>
            <a:r>
              <a:rPr sz="1400" b="0">
                <a:solidFill>
                  <a:srgbClr val="E4EBEA"/>
                </a:solidFill>
                <a:latin typeface="Aptos"/>
              </a:rPr>
              <a:t>ranking, thresholds, calibration</a:t>
            </a:r>
          </a:p>
        </p:txBody>
      </p:sp>
      <p:cxnSp>
        <p:nvCxnSpPr>
          <p:cNvPr id="23" name="Connector 22"/>
          <p:cNvCxnSpPr/>
          <p:nvPr/>
        </p:nvCxnSpPr>
        <p:spPr>
          <a:xfrm>
            <a:off x="8311896" y="2157984"/>
            <a:ext cx="1280160" cy="0"/>
          </a:xfrm>
          <a:prstGeom prst="line">
            <a:avLst/>
          </a:prstGeom>
          <a:ln w="19050">
            <a:solidFill>
              <a:srgbClr val="E4EBEA"/>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820656" y="1828800"/>
            <a:ext cx="658368" cy="658368"/>
          </a:xfrm>
          <a:prstGeom prst="ellipse">
            <a:avLst/>
          </a:prstGeom>
          <a:solidFill>
            <a:srgbClr val="E76F51"/>
          </a:solidFill>
          <a:ln>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9820656" y="2029968"/>
            <a:ext cx="658368" cy="357021"/>
          </a:xfrm>
          <a:prstGeom prst="rect">
            <a:avLst/>
          </a:prstGeom>
          <a:noFill/>
        </p:spPr>
        <p:txBody>
          <a:bodyPr wrap="square" lIns="54864" tIns="54864" rIns="54864" bIns="54864" anchor="t">
            <a:spAutoFit/>
          </a:bodyPr>
          <a:lstStyle/>
          <a:p>
            <a:pPr algn="ctr"/>
            <a:r>
              <a:rPr sz="1600" b="1">
                <a:solidFill>
                  <a:srgbClr val="FFFFFF"/>
                </a:solidFill>
                <a:latin typeface="Aptos"/>
              </a:rPr>
              <a:t>5</a:t>
            </a:r>
          </a:p>
        </p:txBody>
      </p:sp>
      <p:sp>
        <p:nvSpPr>
          <p:cNvPr id="26" name="TextBox 25"/>
          <p:cNvSpPr txBox="1"/>
          <p:nvPr/>
        </p:nvSpPr>
        <p:spPr>
          <a:xfrm>
            <a:off x="9592056" y="2788920"/>
            <a:ext cx="1481328" cy="418576"/>
          </a:xfrm>
          <a:prstGeom prst="rect">
            <a:avLst/>
          </a:prstGeom>
          <a:noFill/>
        </p:spPr>
        <p:txBody>
          <a:bodyPr wrap="square" lIns="54864" tIns="54864" rIns="54864" bIns="54864" anchor="t">
            <a:spAutoFit/>
          </a:bodyPr>
          <a:lstStyle/>
          <a:p>
            <a:pPr algn="ctr"/>
            <a:r>
              <a:rPr sz="2000" b="1" dirty="0">
                <a:solidFill>
                  <a:srgbClr val="FFFFFF"/>
                </a:solidFill>
                <a:latin typeface="Aptos"/>
              </a:rPr>
              <a:t>Interrogate</a:t>
            </a:r>
          </a:p>
        </p:txBody>
      </p:sp>
      <p:sp>
        <p:nvSpPr>
          <p:cNvPr id="27" name="TextBox 26"/>
          <p:cNvSpPr txBox="1"/>
          <p:nvPr/>
        </p:nvSpPr>
        <p:spPr>
          <a:xfrm>
            <a:off x="9244584" y="3154680"/>
            <a:ext cx="1828800" cy="541687"/>
          </a:xfrm>
          <a:prstGeom prst="rect">
            <a:avLst/>
          </a:prstGeom>
          <a:noFill/>
        </p:spPr>
        <p:txBody>
          <a:bodyPr wrap="square" lIns="54864" tIns="54864" rIns="54864" bIns="54864" anchor="t">
            <a:spAutoFit/>
          </a:bodyPr>
          <a:lstStyle/>
          <a:p>
            <a:pPr algn="ctr"/>
            <a:r>
              <a:rPr sz="1400" b="0">
                <a:solidFill>
                  <a:srgbClr val="E4EBEA"/>
                </a:solidFill>
                <a:latin typeface="Aptos"/>
              </a:rPr>
              <a:t>influence, subgroups, errors</a:t>
            </a:r>
          </a:p>
        </p:txBody>
      </p:sp>
      <p:sp>
        <p:nvSpPr>
          <p:cNvPr id="28" name="Rectangle 27"/>
          <p:cNvSpPr/>
          <p:nvPr/>
        </p:nvSpPr>
        <p:spPr>
          <a:xfrm>
            <a:off x="822960" y="4892040"/>
            <a:ext cx="10515600" cy="45720"/>
          </a:xfrm>
          <a:prstGeom prst="rect">
            <a:avLst/>
          </a:prstGeom>
          <a:solidFill>
            <a:srgbClr val="E9C46A"/>
          </a:solidFill>
          <a:ln>
            <a:solidFill>
              <a:srgbClr val="E9C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285232"/>
            <a:ext cx="10515600" cy="347472"/>
          </a:xfrm>
          <a:prstGeom prst="rect">
            <a:avLst/>
          </a:prstGeom>
          <a:noFill/>
        </p:spPr>
        <p:txBody>
          <a:bodyPr wrap="square" lIns="54864" tIns="54864" rIns="54864" bIns="54864" anchor="t">
            <a:spAutoFit/>
          </a:bodyPr>
          <a:lstStyle/>
          <a:p>
            <a:pPr algn="ctr"/>
            <a:r>
              <a:rPr sz="2200" b="1">
                <a:solidFill>
                  <a:srgbClr val="E9C46A"/>
                </a:solidFill>
                <a:latin typeface="Aptos"/>
              </a:rPr>
              <a:t>A strong score is only one piece of a defensible medical ML argument.</a:t>
            </a:r>
          </a:p>
        </p:txBody>
      </p:sp>
      <p:sp>
        <p:nvSpPr>
          <p:cNvPr id="30" name="TextBox 29"/>
          <p:cNvSpPr txBox="1"/>
          <p:nvPr/>
        </p:nvSpPr>
        <p:spPr>
          <a:xfrm>
            <a:off x="822960" y="5925312"/>
            <a:ext cx="10515600" cy="228600"/>
          </a:xfrm>
          <a:prstGeom prst="rect">
            <a:avLst/>
          </a:prstGeom>
          <a:noFill/>
        </p:spPr>
        <p:txBody>
          <a:bodyPr wrap="square" lIns="54864" tIns="54864" rIns="54864" bIns="54864" anchor="t">
            <a:spAutoFit/>
          </a:bodyPr>
          <a:lstStyle/>
          <a:p>
            <a:pPr algn="ctr"/>
            <a:r>
              <a:rPr sz="1400" b="0">
                <a:solidFill>
                  <a:srgbClr val="E4EBEA"/>
                </a:solidFill>
                <a:latin typeface="Aptos"/>
              </a:rPr>
              <a:t>Next: carry the same discipline into the hospitalization-specific target and leakage boundary.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3669</Words>
  <Application>Microsoft Office PowerPoint</Application>
  <PresentationFormat>Widescreen</PresentationFormat>
  <Paragraphs>324</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Waqar Aziz</cp:lastModifiedBy>
  <cp:revision>2</cp:revision>
  <dcterms:created xsi:type="dcterms:W3CDTF">2013-01-27T09:14:16Z</dcterms:created>
  <dcterms:modified xsi:type="dcterms:W3CDTF">2026-09-01T13:04:34Z</dcterms:modified>
  <cp:category/>
</cp:coreProperties>
</file>
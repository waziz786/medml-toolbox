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615" autoAdjust="0"/>
  </p:normalViewPr>
  <p:slideViewPr>
    <p:cSldViewPr snapToGrid="0" snapToObjects="1">
      <p:cViewPr varScale="1">
        <p:scale>
          <a:sx n="53" d="100"/>
          <a:sy n="53" d="100"/>
        </p:scale>
        <p:origin x="1152"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3466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telling students that M2 changes the outcome while preserving the ED-stay observation established in M1. The question is not simply whether a patient is sick. It is how long the emergency-department encounter lasts, and whether triage-time information can distinguish stays longer than 4.5 hours. The deck will move through two representations of the same outcome: continuous hours and a binary operational class. The first is richer but harder to map to an action. The second is easier to communicate but loses information. The notebook makes that trade-off visible rather than pretending one representation is universally correct. The numbers on this slide come from the current local M1 handoff and M2 outputs.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Briefly reconnect to M1. Students already learned that the table is one row per ED stay, that a subject can have multiple stays, and that variable availability matters. They also saw raw and imputed vital columns kept separate, and they learned to exclude identifiers and downstream fields when defining a prediction boundary. M2 does not reset those decisions. It uses the M1 handoff and asks a new question about ED length of stay. This is a useful modeling principle: when the outcome changes, the target definition and evaluation change, but the data contract and leakage discipline still apply. Ask students to name one M1 decision that would become a problem if it were ignored here.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the target operationally. ED LOS is the time difference between ED arrival and ED departure. It is a duration, measured here in hours. It is not the same thing as severity, quality, or patient harm. A long stay can reflect clinical complexity, diagnostic work, bed availability, consultation, or system flow. A short stay can reflect a straightforward evaluation, an immediate transfer, or an administrative pattern. The timeline also prepares students for the modeling boundary. Triage information is available early. Some later measurements and the final disposition occur after the prediction point. The notebook retains the continuous duration and then creates a binary label only for a specific teaching question.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ED LOS matters because it sits at the intersection of patient experience, clinical work, and system operations. It can be used to describe flow, compare groups, and support planning. But its meaning is not one-dimensional. A longer stay may indicate more complex care, or a delay in a downstream resource. This is why the notebook treats LOS as an outcome and avoids calling group differences causal. It also explains why a model's intended action matters. A flow manager might want a probability that a stay will cross an operational threshold. A planning team might want an expected number of hours. Those are related but not interchangeable decisions.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showing a distribution, define which rows are eligible. Missing ED LOS cannot be described or modeled as a duration, so those rows are absent from the LOS cohort. A negative duration is impossible, so the notebook excludes it from LOS analyses. Zero-hour durations are retained because they may represent same-day events or administrative timing patterns and should be investigated rather than automatically discarded. Valid but unusually long durations are not deleted simply because they exceed an IQR fence. The fence is used as a flag for inspection. This distinction is important: an outlier rule can identify a value for discussion without declaring the value false. The source table remains unchanged, and the derived df_los cohort records the analysis choice.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core descriptive slide. The current valid cohort has a median ED LOS of 5.47 hours and an IQR of 4.79 hours, meaning the middle half of stays spans 4.79 hours. The mean is higher than the median because the distribution has a right tail. The histogram is intentionally restricted to 36 hours for readability; the notebook does not remove longer stays from df_los for analysis. The 99th percentile and maximum show why the tail deserves attention. Teach students to report the median and IQR alongside the mean and standard deviation for a skewed duration. The summary is descriptive, not a performance judgment. It tells us what the table contains, not whether the ED is good or bad.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notebook preserves continuous hours and also defines a binary teaching target: greater than 4.5 hours. This threshold is an operational choice inherited from the source analysis, not a biological boundary. It creates a useful classification question, but it also creates discontinuities. A stay at 4.49 hours and one at 4.51 hours fall on opposite sides of the label despite being almost identical. Two stays labeled long can also differ by many hours. Ask students what action would follow from the label before treating it as meaningful. If the action is staffing or queue management, the threshold may be useful. If the question is how much time a patient spends in the ED, the continuous target is more faithful. The target representation should follow the decision.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group-analysis section asks how LOS varies across triage acuity, age, and arrival transport. The displayed acuity comparison is descriptive. For example, acuity 2 has a median of 6.37 hours while acuity 4 has a median of 2.72 hours in this extract. That pattern is worth investigating, but it does not prove that acuity causes a shorter or longer stay. Group size, missing categories, case mix, and workflow all matter. The notebook reports stays, mean, median, quartiles, and long-stay percentage. Encourage students to compare both center and spread, and to inspect the denominator. A small group can have a volatile percentage. The age and arrival tables extend the same reasoning. Descriptive comparisons generate hypotheses for the next analysis; they are not the final word.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discussing algorithms, define the input boundary. The M2 baseline uses age and demographic context, arrival transport, imputed triage measurements, triage acuity, prior utilization counts, chief-complaint flags, and comorbidity indicators. It excludes identifiers, timestamps, disposition, the LOS target, outcomes, ICU timing, revisit fields, later ED measurements, and medication counts. These exclusions are not claims that the fields have no information. They are claims about when the information becomes available and what question the model is intended to answer. A model that sees later ED measurements may perform well while answering a retrospective question rather than a triage-time question. Ask students to challenge every candidate variable with: could I know this at the prediction point?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Explain why a row-wise random split is not enough when one subject can contribute multiple ED stays. If the same subject appears in both training and test sets, the model may benefit from patient-specific patterns and the performance estimate can be optimistic. The notebook samples up to 50,000 valid LOS rows for responsiveness, then uses </a:t>
            </a:r>
            <a:r>
              <a:rPr dirty="0" err="1"/>
              <a:t>GroupShuffleSplit</a:t>
            </a:r>
            <a:r>
              <a:rPr dirty="0"/>
              <a:t> with </a:t>
            </a:r>
            <a:r>
              <a:rPr dirty="0" err="1"/>
              <a:t>subject_id</a:t>
            </a:r>
            <a:r>
              <a:rPr dirty="0"/>
              <a:t> as the grouping variable. Every sampled stay from a subject goes to one partition. The current run has 40,000 training rows and 10,000 test rows, with no patient overlap. This estimates performance for new patients from the same source distribution. It does not establish temporal generalization, external validity, or clinical utility. Those would require additional study designs.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Introduce the models as a ladder of assumptions rather than a popularity contest. The prior dummy establishes what happens when we use only the class prevalence. Logistic regression provides a transparent linear baseline after imputation, missingness indicators, scaling, and one-hot encoding. A decision tree can represent simple rules and interactions. A random forest averages many trees to reduce variance. Gradient boosting builds trees sequentially, focusing later trees on earlier errors. All models in the notebook use the same declared feature set and patient-disjoint split. The comparison is meaningful because the preprocessing and test set are held constant. A higher score does not automatically make a model preferable; interpretability, calibration, threshold costs, maintenance, and intended action still matter.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metrics through decisions. Sensitivity, or recall, asks how many actual long stays were detected. Specificity asks how many shorter stays were correctly left unflagged. PPV asks how much a positive alert can be trusted in this prevalence context. F1 combines precision and recall at one threshold. AUROC summarizes ranking over all thresholds, while average precision summarizes precision-recall behavior and can be more informative when the positive class is not balanced. Accuracy can be misleading if one class dominates. The notebook reports a full combined table so students can see the trade-offs. Encourage them to read the confusion counts as well as the scalar metrics.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the actual ROC curves regenerated from the M2 modeling setup. The x-axis is false-positive rate and the y-axis is true-positive rate. A curve closer to the upper-left generally ranks positive cases better. The current local results put gradient boosting first by AUROC at 0.727, followed by random forest at 0.723, logistic regression at 0.708, decision tree at 0.704, and the prior dummy at 0.500. Treat those values as this split's evidence, not a universal ranking. AUROC does not select the operating threshold, does not represent calibration, and does not tell us whether the model improves a workflow. The bar chart gives a compact comparison, while the ROC plot makes the threshold trade-off visible.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AUROC describes ranking over all possible thresholds, but a real workflow needs one operating cutoff. The threshold table uses logistic regression to show the trade-off. At 0.25, sensitivity is 0.983 but specificity is only 0.145 and there are many false positives. At 0.75, specificity rises to 0.949, but sensitivity falls to 0.126. Neither threshold is inherently correct. The choice depends on what happens after a flag: a low-cost planning prompt may tolerate more false positives, while a scarce intervention may require higher precision. The notebook makes the threshold explicit rather than hiding it inside accuracy. Ask students to write the action before choosing the metric and cutoff.</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Regression keeps the information that classification discards. The M2 notebook uses Ridge regression with the same declared features, preprocessing, and patient-disjoint test set. MAE is the average absolute error in hours and is easy to communicate: the current value is about 3.80 hours. RMSE is about 6.52 hours and is larger because it penalizes large misses more heavily. R2 is a variance-relative summary and is only about 0.066 in this baseline. These values should prompt inspection rather than embarrassment. LOS is noisy and operationally shaped. The notebook also creates observed-versus-predicted and residual plots because average metrics can hide systematic underprediction of long stays. Ask what an error of four hours means for the decision at hand.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Use this slide to make the modeling choice concrete. Classification turns duration into a </a:t>
            </a:r>
            <a:r>
              <a:rPr dirty="0" err="1"/>
              <a:t>thresholded</a:t>
            </a:r>
            <a:r>
              <a:rPr dirty="0"/>
              <a:t> question. It can be easier to communicate and connect to an alert or routing action, but it discards information. Regression preserves the hours and can support capacity planning, but its errors need interpretation. The two formulations are not competitors in every context. They answer different questions. A model with good AUROC may not provide useful hour estimates. A model with acceptable MAE may not be useful for deciding whether to trigger an alert. Students should identify the intended decision first, then choose the target and metric that represent that decision.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Show students where the notebook's evidence goes. The LOS summary supports the continuous outcome. The group tables support descriptive comparisons. The classification results table lets students compare the prior dummy, logistic regression, decision tree, random forest, and gradient boosting using the same metrics. The threshold table shows that a model is not complete until an operating point is discussed. The regression table reports the hour-based metrics. These outputs are deliberately separate because each supports a different question. Ask students to inspect the denominator, cohort definition, feature boundary, patient split, metric, and limitation before they repeat a performance claim. A CSV without those definitions is not a sufficient handoff.</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Close by repeating the sequence rather than the algorithm names. Define the outcome and eligible cohort. Describe the continuous distribution and group patterns. Declare the triage-time feature boundary and protect the patient split. Compare binary and continuous models using metrics that match the decision. Interpret the errors and limitations. The central lesson is that a model score has meaning only after those choices are visible. M2 is therefore not just a lesson about length of stay. It is a lesson about turning a clinical question into a reproducible outcome analysis without losing the context that makes the number interpretable. The next module changes the outcome again, so students must recompute rather than transfer metrics by habit.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Rectangle 1"/>
          <p:cNvSpPr/>
          <p:nvPr/>
        </p:nvSpPr>
        <p:spPr>
          <a:xfrm>
            <a:off x="0" y="0"/>
            <a:ext cx="246888" cy="6858000"/>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46888" y="0"/>
            <a:ext cx="109728" cy="6858000"/>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731520"/>
            <a:ext cx="4572000" cy="228600"/>
          </a:xfrm>
          <a:prstGeom prst="rect">
            <a:avLst/>
          </a:prstGeom>
          <a:noFill/>
        </p:spPr>
        <p:txBody>
          <a:bodyPr wrap="square" lIns="54864" tIns="54864" rIns="54864" bIns="54864" anchor="t">
            <a:spAutoFit/>
          </a:bodyPr>
          <a:lstStyle/>
          <a:p>
            <a:pPr algn="l"/>
            <a:r>
              <a:rPr sz="1100" b="1">
                <a:solidFill>
                  <a:srgbClr val="E9C46A"/>
                </a:solidFill>
                <a:latin typeface="Aptos"/>
              </a:rPr>
              <a:t>M2  /  OUTCOME ANALYSIS</a:t>
            </a:r>
          </a:p>
        </p:txBody>
      </p:sp>
      <p:sp>
        <p:nvSpPr>
          <p:cNvPr id="5" name="TextBox 4"/>
          <p:cNvSpPr txBox="1"/>
          <p:nvPr/>
        </p:nvSpPr>
        <p:spPr>
          <a:xfrm>
            <a:off x="731520" y="1353312"/>
            <a:ext cx="8961120" cy="658368"/>
          </a:xfrm>
          <a:prstGeom prst="rect">
            <a:avLst/>
          </a:prstGeom>
          <a:noFill/>
        </p:spPr>
        <p:txBody>
          <a:bodyPr wrap="square" lIns="54864" tIns="54864" rIns="54864" bIns="54864" anchor="t">
            <a:spAutoFit/>
          </a:bodyPr>
          <a:lstStyle/>
          <a:p>
            <a:pPr algn="l"/>
            <a:r>
              <a:rPr sz="3900" b="1">
                <a:solidFill>
                  <a:srgbClr val="FFFFFF"/>
                </a:solidFill>
                <a:latin typeface="Aptos Display"/>
              </a:rPr>
              <a:t>How long is an ED stay?</a:t>
            </a:r>
          </a:p>
        </p:txBody>
      </p:sp>
      <p:sp>
        <p:nvSpPr>
          <p:cNvPr id="6" name="TextBox 5"/>
          <p:cNvSpPr txBox="1"/>
          <p:nvPr/>
        </p:nvSpPr>
        <p:spPr>
          <a:xfrm>
            <a:off x="768096" y="2240280"/>
            <a:ext cx="9326880" cy="566928"/>
          </a:xfrm>
          <a:prstGeom prst="rect">
            <a:avLst/>
          </a:prstGeom>
          <a:noFill/>
        </p:spPr>
        <p:txBody>
          <a:bodyPr wrap="square" lIns="54864" tIns="54864" rIns="54864" bIns="54864" anchor="t">
            <a:spAutoFit/>
          </a:bodyPr>
          <a:lstStyle/>
          <a:p>
            <a:pPr algn="l"/>
            <a:r>
              <a:rPr sz="2000" b="0">
                <a:solidFill>
                  <a:srgbClr val="E4EBEA"/>
                </a:solidFill>
                <a:latin typeface="Aptos"/>
              </a:rPr>
              <a:t>From a continuous clinical outcome to patient-disjoint classification and regression baselines</a:t>
            </a:r>
          </a:p>
        </p:txBody>
      </p:sp>
      <p:sp>
        <p:nvSpPr>
          <p:cNvPr id="7" name="Rectangle 6"/>
          <p:cNvSpPr/>
          <p:nvPr/>
        </p:nvSpPr>
        <p:spPr>
          <a:xfrm>
            <a:off x="768096" y="3246120"/>
            <a:ext cx="1051560" cy="54864"/>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7"/>
          <p:cNvSpPr txBox="1"/>
          <p:nvPr/>
        </p:nvSpPr>
        <p:spPr>
          <a:xfrm>
            <a:off x="768096" y="3822191"/>
            <a:ext cx="3474720" cy="357021"/>
          </a:xfrm>
          <a:prstGeom prst="rect">
            <a:avLst/>
          </a:prstGeom>
          <a:noFill/>
        </p:spPr>
        <p:txBody>
          <a:bodyPr wrap="square" lIns="54864" tIns="54864" rIns="54864" bIns="54864" anchor="t">
            <a:spAutoFit/>
          </a:bodyPr>
          <a:lstStyle/>
          <a:p>
            <a:pPr algn="l"/>
            <a:r>
              <a:rPr sz="1600" b="1">
                <a:solidFill>
                  <a:srgbClr val="E9C46A"/>
                </a:solidFill>
                <a:latin typeface="Aptos"/>
              </a:rPr>
              <a:t>M2 teaches students to</a:t>
            </a:r>
          </a:p>
        </p:txBody>
      </p:sp>
      <p:sp>
        <p:nvSpPr>
          <p:cNvPr id="9" name="Oval 8"/>
          <p:cNvSpPr/>
          <p:nvPr/>
        </p:nvSpPr>
        <p:spPr>
          <a:xfrm>
            <a:off x="768096" y="4306824"/>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 name="TextBox 9"/>
          <p:cNvSpPr txBox="1"/>
          <p:nvPr/>
        </p:nvSpPr>
        <p:spPr>
          <a:xfrm>
            <a:off x="932688" y="4224528"/>
            <a:ext cx="7059168" cy="357021"/>
          </a:xfrm>
          <a:prstGeom prst="rect">
            <a:avLst/>
          </a:prstGeom>
          <a:noFill/>
        </p:spPr>
        <p:txBody>
          <a:bodyPr wrap="square" lIns="54864" tIns="54864" rIns="54864" bIns="54864" anchor="t">
            <a:spAutoFit/>
          </a:bodyPr>
          <a:lstStyle/>
          <a:p>
            <a:pPr algn="l"/>
            <a:r>
              <a:rPr sz="1600" b="0">
                <a:solidFill>
                  <a:srgbClr val="FFFFFF"/>
                </a:solidFill>
                <a:latin typeface="Aptos"/>
              </a:rPr>
              <a:t>describe a right-skewed duration without hiding its tail</a:t>
            </a:r>
          </a:p>
        </p:txBody>
      </p:sp>
      <p:sp>
        <p:nvSpPr>
          <p:cNvPr id="11" name="Oval 10"/>
          <p:cNvSpPr/>
          <p:nvPr/>
        </p:nvSpPr>
        <p:spPr>
          <a:xfrm>
            <a:off x="768096" y="4690872"/>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TextBox 11"/>
          <p:cNvSpPr txBox="1"/>
          <p:nvPr/>
        </p:nvSpPr>
        <p:spPr>
          <a:xfrm>
            <a:off x="932688" y="4608576"/>
            <a:ext cx="7059168" cy="357021"/>
          </a:xfrm>
          <a:prstGeom prst="rect">
            <a:avLst/>
          </a:prstGeom>
          <a:noFill/>
        </p:spPr>
        <p:txBody>
          <a:bodyPr wrap="square" lIns="54864" tIns="54864" rIns="54864" bIns="54864" anchor="t">
            <a:spAutoFit/>
          </a:bodyPr>
          <a:lstStyle/>
          <a:p>
            <a:pPr algn="l"/>
            <a:r>
              <a:rPr sz="1600" b="0">
                <a:solidFill>
                  <a:srgbClr val="FFFFFF"/>
                </a:solidFill>
                <a:latin typeface="Aptos"/>
              </a:rPr>
              <a:t>compare groups without turning association into causation</a:t>
            </a:r>
          </a:p>
        </p:txBody>
      </p:sp>
      <p:sp>
        <p:nvSpPr>
          <p:cNvPr id="13" name="Oval 12"/>
          <p:cNvSpPr/>
          <p:nvPr/>
        </p:nvSpPr>
        <p:spPr>
          <a:xfrm>
            <a:off x="768096" y="5074920"/>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 name="TextBox 13"/>
          <p:cNvSpPr txBox="1"/>
          <p:nvPr/>
        </p:nvSpPr>
        <p:spPr>
          <a:xfrm>
            <a:off x="932688" y="4992624"/>
            <a:ext cx="7059168" cy="357021"/>
          </a:xfrm>
          <a:prstGeom prst="rect">
            <a:avLst/>
          </a:prstGeom>
          <a:noFill/>
        </p:spPr>
        <p:txBody>
          <a:bodyPr wrap="square" lIns="54864" tIns="54864" rIns="54864" bIns="54864" anchor="t">
            <a:spAutoFit/>
          </a:bodyPr>
          <a:lstStyle/>
          <a:p>
            <a:pPr algn="l"/>
            <a:r>
              <a:rPr sz="1600" b="0">
                <a:solidFill>
                  <a:srgbClr val="FFFFFF"/>
                </a:solidFill>
                <a:latin typeface="Aptos"/>
              </a:rPr>
              <a:t>build and evaluate binary and continuous baselines</a:t>
            </a:r>
          </a:p>
        </p:txBody>
      </p:sp>
      <p:sp>
        <p:nvSpPr>
          <p:cNvPr id="15" name="TextBox 14"/>
          <p:cNvSpPr txBox="1"/>
          <p:nvPr/>
        </p:nvSpPr>
        <p:spPr>
          <a:xfrm>
            <a:off x="768096" y="6236208"/>
            <a:ext cx="6766560" cy="264688"/>
          </a:xfrm>
          <a:prstGeom prst="rect">
            <a:avLst/>
          </a:prstGeom>
          <a:noFill/>
        </p:spPr>
        <p:txBody>
          <a:bodyPr wrap="square" lIns="54864" tIns="54864" rIns="54864" bIns="54864" anchor="t">
            <a:spAutoFit/>
          </a:bodyPr>
          <a:lstStyle/>
          <a:p>
            <a:pPr algn="l"/>
            <a:r>
              <a:rPr sz="1000" b="0" dirty="0">
                <a:solidFill>
                  <a:srgbClr val="E4EBEA"/>
                </a:solidFill>
                <a:latin typeface="Aptos"/>
              </a:rPr>
              <a:t>425,087 rows  |  4.5-hour operational split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754880" cy="201168"/>
          </a:xfrm>
          <a:prstGeom prst="rect">
            <a:avLst/>
          </a:prstGeom>
          <a:noFill/>
        </p:spPr>
        <p:txBody>
          <a:bodyPr wrap="square" lIns="54864" tIns="54864" rIns="54864" bIns="54864" anchor="t">
            <a:spAutoFit/>
          </a:bodyPr>
          <a:lstStyle/>
          <a:p>
            <a:pPr algn="l"/>
            <a:r>
              <a:rPr sz="1000" b="1">
                <a:solidFill>
                  <a:srgbClr val="0F766E"/>
                </a:solidFill>
                <a:latin typeface="Aptos"/>
              </a:rPr>
              <a:t>M1 RECAP</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900" b="1">
                <a:solidFill>
                  <a:srgbClr val="0B1F33"/>
                </a:solidFill>
                <a:latin typeface="Aptos Display"/>
              </a:rPr>
              <a:t>Carry the data contract forward</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M2  /  02</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645920"/>
            <a:ext cx="91440" cy="960120"/>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1719072"/>
            <a:ext cx="2011680" cy="480131"/>
          </a:xfrm>
          <a:prstGeom prst="rect">
            <a:avLst/>
          </a:prstGeom>
          <a:noFill/>
        </p:spPr>
        <p:txBody>
          <a:bodyPr wrap="square" lIns="54864" tIns="54864" rIns="54864" bIns="54864" anchor="t">
            <a:spAutoFit/>
          </a:bodyPr>
          <a:lstStyle/>
          <a:p>
            <a:pPr algn="l"/>
            <a:r>
              <a:rPr sz="2400" b="1">
                <a:solidFill>
                  <a:srgbClr val="0B1F33"/>
                </a:solidFill>
                <a:latin typeface="Aptos Display"/>
              </a:rPr>
              <a:t>Row grain</a:t>
            </a:r>
          </a:p>
        </p:txBody>
      </p:sp>
      <p:sp>
        <p:nvSpPr>
          <p:cNvPr id="8" name="TextBox 7"/>
          <p:cNvSpPr txBox="1"/>
          <p:nvPr/>
        </p:nvSpPr>
        <p:spPr>
          <a:xfrm>
            <a:off x="1051560" y="2148840"/>
            <a:ext cx="4663440" cy="357021"/>
          </a:xfrm>
          <a:prstGeom prst="rect">
            <a:avLst/>
          </a:prstGeom>
          <a:noFill/>
        </p:spPr>
        <p:txBody>
          <a:bodyPr wrap="square" lIns="54864" tIns="54864" rIns="54864" bIns="54864" anchor="t">
            <a:spAutoFit/>
          </a:bodyPr>
          <a:lstStyle/>
          <a:p>
            <a:pPr algn="l"/>
            <a:r>
              <a:rPr sz="1600" b="0">
                <a:solidFill>
                  <a:srgbClr val="23303A"/>
                </a:solidFill>
                <a:latin typeface="Aptos"/>
              </a:rPr>
              <a:t>one row represents one ED stay</a:t>
            </a:r>
          </a:p>
        </p:txBody>
      </p:sp>
      <p:sp>
        <p:nvSpPr>
          <p:cNvPr id="9" name="Rectangle 8"/>
          <p:cNvSpPr/>
          <p:nvPr/>
        </p:nvSpPr>
        <p:spPr>
          <a:xfrm>
            <a:off x="6263640" y="1645920"/>
            <a:ext cx="91440" cy="96012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59" y="1719072"/>
            <a:ext cx="2678230" cy="480131"/>
          </a:xfrm>
          <a:prstGeom prst="rect">
            <a:avLst/>
          </a:prstGeom>
          <a:noFill/>
        </p:spPr>
        <p:txBody>
          <a:bodyPr wrap="square" lIns="54864" tIns="54864" rIns="54864" bIns="54864" anchor="t">
            <a:spAutoFit/>
          </a:bodyPr>
          <a:lstStyle/>
          <a:p>
            <a:pPr algn="l"/>
            <a:r>
              <a:rPr sz="2400" b="1" dirty="0">
                <a:solidFill>
                  <a:srgbClr val="0B1F33"/>
                </a:solidFill>
                <a:latin typeface="Aptos Display"/>
              </a:rPr>
              <a:t>Time boundary</a:t>
            </a:r>
          </a:p>
        </p:txBody>
      </p:sp>
      <p:sp>
        <p:nvSpPr>
          <p:cNvPr id="11" name="TextBox 10"/>
          <p:cNvSpPr txBox="1"/>
          <p:nvPr/>
        </p:nvSpPr>
        <p:spPr>
          <a:xfrm>
            <a:off x="6537959" y="2148840"/>
            <a:ext cx="4663440" cy="357021"/>
          </a:xfrm>
          <a:prstGeom prst="rect">
            <a:avLst/>
          </a:prstGeom>
          <a:noFill/>
        </p:spPr>
        <p:txBody>
          <a:bodyPr wrap="square" lIns="54864" tIns="54864" rIns="54864" bIns="54864" anchor="t">
            <a:spAutoFit/>
          </a:bodyPr>
          <a:lstStyle/>
          <a:p>
            <a:pPr algn="l"/>
            <a:r>
              <a:rPr sz="1600" b="0" dirty="0">
                <a:solidFill>
                  <a:srgbClr val="23303A"/>
                </a:solidFill>
                <a:latin typeface="Aptos"/>
              </a:rPr>
              <a:t>triage information is separated from later events</a:t>
            </a:r>
          </a:p>
        </p:txBody>
      </p:sp>
      <p:sp>
        <p:nvSpPr>
          <p:cNvPr id="12" name="Rectangle 11"/>
          <p:cNvSpPr/>
          <p:nvPr/>
        </p:nvSpPr>
        <p:spPr>
          <a:xfrm>
            <a:off x="777240" y="3200400"/>
            <a:ext cx="91440" cy="960120"/>
          </a:xfrm>
          <a:prstGeom prst="rect">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TextBox 12"/>
          <p:cNvSpPr txBox="1"/>
          <p:nvPr/>
        </p:nvSpPr>
        <p:spPr>
          <a:xfrm>
            <a:off x="1051560" y="3273552"/>
            <a:ext cx="2011680" cy="480131"/>
          </a:xfrm>
          <a:prstGeom prst="rect">
            <a:avLst/>
          </a:prstGeom>
          <a:noFill/>
        </p:spPr>
        <p:txBody>
          <a:bodyPr wrap="square" lIns="54864" tIns="54864" rIns="54864" bIns="54864" anchor="t">
            <a:spAutoFit/>
          </a:bodyPr>
          <a:lstStyle/>
          <a:p>
            <a:pPr algn="l"/>
            <a:r>
              <a:rPr sz="2400" b="1">
                <a:solidFill>
                  <a:srgbClr val="0B1F33"/>
                </a:solidFill>
                <a:latin typeface="Aptos Display"/>
              </a:rPr>
              <a:t>Data quality</a:t>
            </a:r>
          </a:p>
        </p:txBody>
      </p:sp>
      <p:sp>
        <p:nvSpPr>
          <p:cNvPr id="14" name="TextBox 13"/>
          <p:cNvSpPr txBox="1"/>
          <p:nvPr/>
        </p:nvSpPr>
        <p:spPr>
          <a:xfrm>
            <a:off x="1051560" y="3703320"/>
            <a:ext cx="4663440" cy="357021"/>
          </a:xfrm>
          <a:prstGeom prst="rect">
            <a:avLst/>
          </a:prstGeom>
          <a:noFill/>
        </p:spPr>
        <p:txBody>
          <a:bodyPr wrap="square" lIns="54864" tIns="54864" rIns="54864" bIns="54864" anchor="t">
            <a:spAutoFit/>
          </a:bodyPr>
          <a:lstStyle/>
          <a:p>
            <a:pPr algn="l"/>
            <a:r>
              <a:rPr sz="1600" b="0">
                <a:solidFill>
                  <a:srgbClr val="23303A"/>
                </a:solidFill>
                <a:latin typeface="Aptos"/>
              </a:rPr>
              <a:t>raw fields remain visible; imputed fields are explicit</a:t>
            </a:r>
          </a:p>
        </p:txBody>
      </p:sp>
      <p:sp>
        <p:nvSpPr>
          <p:cNvPr id="15" name="Rectangle 14"/>
          <p:cNvSpPr/>
          <p:nvPr/>
        </p:nvSpPr>
        <p:spPr>
          <a:xfrm>
            <a:off x="6263640" y="3200400"/>
            <a:ext cx="91440" cy="960120"/>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6537959" y="3273552"/>
            <a:ext cx="2011680" cy="480131"/>
          </a:xfrm>
          <a:prstGeom prst="rect">
            <a:avLst/>
          </a:prstGeom>
          <a:noFill/>
        </p:spPr>
        <p:txBody>
          <a:bodyPr wrap="square" lIns="54864" tIns="54864" rIns="54864" bIns="54864" anchor="t">
            <a:spAutoFit/>
          </a:bodyPr>
          <a:lstStyle/>
          <a:p>
            <a:pPr algn="l"/>
            <a:r>
              <a:rPr sz="2400" b="1">
                <a:solidFill>
                  <a:srgbClr val="0B1F33"/>
                </a:solidFill>
                <a:latin typeface="Aptos Display"/>
              </a:rPr>
              <a:t>Leakage</a:t>
            </a:r>
          </a:p>
        </p:txBody>
      </p:sp>
      <p:sp>
        <p:nvSpPr>
          <p:cNvPr id="17" name="TextBox 16"/>
          <p:cNvSpPr txBox="1"/>
          <p:nvPr/>
        </p:nvSpPr>
        <p:spPr>
          <a:xfrm>
            <a:off x="6537959" y="3703320"/>
            <a:ext cx="4663440" cy="603242"/>
          </a:xfrm>
          <a:prstGeom prst="rect">
            <a:avLst/>
          </a:prstGeom>
          <a:noFill/>
        </p:spPr>
        <p:txBody>
          <a:bodyPr wrap="square" lIns="54864" tIns="54864" rIns="54864" bIns="54864" anchor="t">
            <a:spAutoFit/>
          </a:bodyPr>
          <a:lstStyle/>
          <a:p>
            <a:pPr algn="l"/>
            <a:r>
              <a:rPr sz="1600" b="0">
                <a:solidFill>
                  <a:srgbClr val="23303A"/>
                </a:solidFill>
                <a:latin typeface="Aptos"/>
              </a:rPr>
              <a:t>downstream outcomes and identifiers are excluded from predictors</a:t>
            </a:r>
          </a:p>
        </p:txBody>
      </p:sp>
      <p:sp>
        <p:nvSpPr>
          <p:cNvPr id="18" name="Rounded Rectangle 17"/>
          <p:cNvSpPr/>
          <p:nvPr/>
        </p:nvSpPr>
        <p:spPr>
          <a:xfrm>
            <a:off x="777240" y="4892040"/>
            <a:ext cx="10607040" cy="96012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 name="TextBox 18"/>
          <p:cNvSpPr txBox="1"/>
          <p:nvPr/>
        </p:nvSpPr>
        <p:spPr>
          <a:xfrm>
            <a:off x="1005840" y="5148072"/>
            <a:ext cx="10149840" cy="726353"/>
          </a:xfrm>
          <a:prstGeom prst="rect">
            <a:avLst/>
          </a:prstGeom>
          <a:noFill/>
        </p:spPr>
        <p:txBody>
          <a:bodyPr wrap="square" lIns="54864" tIns="54864" rIns="54864" bIns="54864" anchor="t">
            <a:spAutoFit/>
          </a:bodyPr>
          <a:lstStyle/>
          <a:p>
            <a:pPr algn="ctr"/>
            <a:r>
              <a:rPr sz="2000" b="1" dirty="0">
                <a:solidFill>
                  <a:srgbClr val="0B1F33"/>
                </a:solidFill>
                <a:latin typeface="Aptos"/>
              </a:rPr>
              <a:t>M2 inherits the row, timing, and quality decisions from M1; it changes the label to ED length of stay.</a:t>
            </a:r>
          </a:p>
        </p:txBody>
      </p:sp>
      <p:sp>
        <p:nvSpPr>
          <p:cNvPr id="20" name="Rectangle 19"/>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754880" cy="201168"/>
          </a:xfrm>
          <a:prstGeom prst="rect">
            <a:avLst/>
          </a:prstGeom>
          <a:noFill/>
        </p:spPr>
        <p:txBody>
          <a:bodyPr wrap="square" lIns="54864" tIns="54864" rIns="54864" bIns="54864" anchor="t">
            <a:spAutoFit/>
          </a:bodyPr>
          <a:lstStyle/>
          <a:p>
            <a:pPr algn="l"/>
            <a:r>
              <a:rPr sz="1000" b="1">
                <a:solidFill>
                  <a:srgbClr val="0F766E"/>
                </a:solidFill>
                <a:latin typeface="Aptos"/>
              </a:rPr>
              <a:t>01  /  QUESTION</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900" b="1">
                <a:solidFill>
                  <a:srgbClr val="0B1F33"/>
                </a:solidFill>
                <a:latin typeface="Aptos Display"/>
              </a:rPr>
              <a:t>What is ED length of stay?</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M2  /  03</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09344"/>
            <a:ext cx="7772400" cy="420624"/>
          </a:xfrm>
          <a:prstGeom prst="rect">
            <a:avLst/>
          </a:prstGeom>
          <a:noFill/>
        </p:spPr>
        <p:txBody>
          <a:bodyPr wrap="square" lIns="54864" tIns="54864" rIns="54864" bIns="54864" anchor="t">
            <a:spAutoFit/>
          </a:bodyPr>
          <a:lstStyle/>
          <a:p>
            <a:pPr algn="l"/>
            <a:r>
              <a:rPr sz="2300" b="1">
                <a:solidFill>
                  <a:srgbClr val="0B1F33"/>
                </a:solidFill>
                <a:latin typeface="Aptos Display"/>
              </a:rPr>
              <a:t>ED LOS is the elapsed time from emergency-department arrival to ED departure.</a:t>
            </a:r>
          </a:p>
        </p:txBody>
      </p:sp>
      <p:sp>
        <p:nvSpPr>
          <p:cNvPr id="7" name="Rectangle 6"/>
          <p:cNvSpPr/>
          <p:nvPr/>
        </p:nvSpPr>
        <p:spPr>
          <a:xfrm>
            <a:off x="960120" y="2907792"/>
            <a:ext cx="10149840" cy="45720"/>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Oval 7"/>
          <p:cNvSpPr/>
          <p:nvPr/>
        </p:nvSpPr>
        <p:spPr>
          <a:xfrm>
            <a:off x="914400" y="2578608"/>
            <a:ext cx="694944" cy="694944"/>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 name="TextBox 8"/>
          <p:cNvSpPr txBox="1"/>
          <p:nvPr/>
        </p:nvSpPr>
        <p:spPr>
          <a:xfrm>
            <a:off x="640080" y="3657600"/>
            <a:ext cx="1234440" cy="357021"/>
          </a:xfrm>
          <a:prstGeom prst="rect">
            <a:avLst/>
          </a:prstGeom>
          <a:noFill/>
        </p:spPr>
        <p:txBody>
          <a:bodyPr wrap="square" lIns="54864" tIns="54864" rIns="54864" bIns="54864" anchor="t">
            <a:spAutoFit/>
          </a:bodyPr>
          <a:lstStyle/>
          <a:p>
            <a:pPr algn="ctr"/>
            <a:r>
              <a:rPr sz="1600" b="1">
                <a:solidFill>
                  <a:srgbClr val="0B1F33"/>
                </a:solidFill>
                <a:latin typeface="Aptos"/>
              </a:rPr>
              <a:t>arrival</a:t>
            </a:r>
          </a:p>
        </p:txBody>
      </p:sp>
      <p:sp>
        <p:nvSpPr>
          <p:cNvPr id="10" name="TextBox 9"/>
          <p:cNvSpPr txBox="1"/>
          <p:nvPr/>
        </p:nvSpPr>
        <p:spPr>
          <a:xfrm>
            <a:off x="502920" y="3977639"/>
            <a:ext cx="1508760" cy="274320"/>
          </a:xfrm>
          <a:prstGeom prst="rect">
            <a:avLst/>
          </a:prstGeom>
          <a:noFill/>
        </p:spPr>
        <p:txBody>
          <a:bodyPr wrap="square" lIns="54864" tIns="54864" rIns="54864" bIns="54864" anchor="t">
            <a:spAutoFit/>
          </a:bodyPr>
          <a:lstStyle/>
          <a:p>
            <a:pPr algn="ctr"/>
            <a:r>
              <a:rPr sz="1100" b="0">
                <a:solidFill>
                  <a:srgbClr val="5B6971"/>
                </a:solidFill>
                <a:latin typeface="Aptos"/>
              </a:rPr>
              <a:t>clock starts</a:t>
            </a:r>
          </a:p>
        </p:txBody>
      </p:sp>
      <p:sp>
        <p:nvSpPr>
          <p:cNvPr id="11" name="Oval 10"/>
          <p:cNvSpPr/>
          <p:nvPr/>
        </p:nvSpPr>
        <p:spPr>
          <a:xfrm>
            <a:off x="3017520" y="2578608"/>
            <a:ext cx="694944" cy="694944"/>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TextBox 11"/>
          <p:cNvSpPr txBox="1"/>
          <p:nvPr/>
        </p:nvSpPr>
        <p:spPr>
          <a:xfrm>
            <a:off x="2743200" y="3657600"/>
            <a:ext cx="1234440" cy="357021"/>
          </a:xfrm>
          <a:prstGeom prst="rect">
            <a:avLst/>
          </a:prstGeom>
          <a:noFill/>
        </p:spPr>
        <p:txBody>
          <a:bodyPr wrap="square" lIns="54864" tIns="54864" rIns="54864" bIns="54864" anchor="t">
            <a:spAutoFit/>
          </a:bodyPr>
          <a:lstStyle/>
          <a:p>
            <a:pPr algn="ctr"/>
            <a:r>
              <a:rPr sz="1600" b="1">
                <a:solidFill>
                  <a:srgbClr val="0B1F33"/>
                </a:solidFill>
                <a:latin typeface="Aptos"/>
              </a:rPr>
              <a:t>triage</a:t>
            </a:r>
          </a:p>
        </p:txBody>
      </p:sp>
      <p:sp>
        <p:nvSpPr>
          <p:cNvPr id="13" name="TextBox 12"/>
          <p:cNvSpPr txBox="1"/>
          <p:nvPr/>
        </p:nvSpPr>
        <p:spPr>
          <a:xfrm>
            <a:off x="2606039" y="3977639"/>
            <a:ext cx="1508760" cy="295466"/>
          </a:xfrm>
          <a:prstGeom prst="rect">
            <a:avLst/>
          </a:prstGeom>
          <a:noFill/>
        </p:spPr>
        <p:txBody>
          <a:bodyPr wrap="square" lIns="54864" tIns="54864" rIns="54864" bIns="54864" anchor="t">
            <a:spAutoFit/>
          </a:bodyPr>
          <a:lstStyle/>
          <a:p>
            <a:pPr algn="ctr"/>
            <a:r>
              <a:rPr sz="1200" b="0">
                <a:solidFill>
                  <a:srgbClr val="5B6971"/>
                </a:solidFill>
                <a:latin typeface="Aptos"/>
              </a:rPr>
              <a:t>early information</a:t>
            </a:r>
          </a:p>
        </p:txBody>
      </p:sp>
      <p:sp>
        <p:nvSpPr>
          <p:cNvPr id="14" name="Oval 13"/>
          <p:cNvSpPr/>
          <p:nvPr/>
        </p:nvSpPr>
        <p:spPr>
          <a:xfrm>
            <a:off x="5212080" y="2578608"/>
            <a:ext cx="694944" cy="694944"/>
          </a:xfrm>
          <a:prstGeom prst="ellipse">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5" name="TextBox 14"/>
          <p:cNvSpPr txBox="1"/>
          <p:nvPr/>
        </p:nvSpPr>
        <p:spPr>
          <a:xfrm>
            <a:off x="4937760" y="3657600"/>
            <a:ext cx="1234440" cy="357021"/>
          </a:xfrm>
          <a:prstGeom prst="rect">
            <a:avLst/>
          </a:prstGeom>
          <a:noFill/>
        </p:spPr>
        <p:txBody>
          <a:bodyPr wrap="square" lIns="54864" tIns="54864" rIns="54864" bIns="54864" anchor="t">
            <a:spAutoFit/>
          </a:bodyPr>
          <a:lstStyle/>
          <a:p>
            <a:pPr algn="ctr"/>
            <a:r>
              <a:rPr sz="1600" b="1">
                <a:solidFill>
                  <a:srgbClr val="0B1F33"/>
                </a:solidFill>
                <a:latin typeface="Aptos"/>
              </a:rPr>
              <a:t>evaluation</a:t>
            </a:r>
          </a:p>
        </p:txBody>
      </p:sp>
      <p:sp>
        <p:nvSpPr>
          <p:cNvPr id="16" name="TextBox 15"/>
          <p:cNvSpPr txBox="1"/>
          <p:nvPr/>
        </p:nvSpPr>
        <p:spPr>
          <a:xfrm>
            <a:off x="4800600" y="3977639"/>
            <a:ext cx="1508760" cy="295466"/>
          </a:xfrm>
          <a:prstGeom prst="rect">
            <a:avLst/>
          </a:prstGeom>
          <a:noFill/>
        </p:spPr>
        <p:txBody>
          <a:bodyPr wrap="square" lIns="54864" tIns="54864" rIns="54864" bIns="54864" anchor="t">
            <a:spAutoFit/>
          </a:bodyPr>
          <a:lstStyle/>
          <a:p>
            <a:pPr algn="ctr"/>
            <a:r>
              <a:rPr sz="1200" b="0">
                <a:solidFill>
                  <a:srgbClr val="5B6971"/>
                </a:solidFill>
                <a:latin typeface="Aptos"/>
              </a:rPr>
              <a:t>tests and treatment</a:t>
            </a:r>
          </a:p>
        </p:txBody>
      </p:sp>
      <p:sp>
        <p:nvSpPr>
          <p:cNvPr id="17" name="Oval 16"/>
          <p:cNvSpPr/>
          <p:nvPr/>
        </p:nvSpPr>
        <p:spPr>
          <a:xfrm>
            <a:off x="7315200" y="2578608"/>
            <a:ext cx="694944" cy="694944"/>
          </a:xfrm>
          <a:prstGeom prst="ellipse">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8" name="TextBox 17"/>
          <p:cNvSpPr txBox="1"/>
          <p:nvPr/>
        </p:nvSpPr>
        <p:spPr>
          <a:xfrm>
            <a:off x="7040880" y="3657600"/>
            <a:ext cx="1234440" cy="357021"/>
          </a:xfrm>
          <a:prstGeom prst="rect">
            <a:avLst/>
          </a:prstGeom>
          <a:noFill/>
        </p:spPr>
        <p:txBody>
          <a:bodyPr wrap="square" lIns="54864" tIns="54864" rIns="54864" bIns="54864" anchor="t">
            <a:spAutoFit/>
          </a:bodyPr>
          <a:lstStyle/>
          <a:p>
            <a:pPr algn="ctr"/>
            <a:r>
              <a:rPr sz="1600" b="1">
                <a:solidFill>
                  <a:srgbClr val="0B1F33"/>
                </a:solidFill>
                <a:latin typeface="Aptos"/>
              </a:rPr>
              <a:t>decision</a:t>
            </a:r>
          </a:p>
        </p:txBody>
      </p:sp>
      <p:sp>
        <p:nvSpPr>
          <p:cNvPr id="19" name="TextBox 18"/>
          <p:cNvSpPr txBox="1"/>
          <p:nvPr/>
        </p:nvSpPr>
        <p:spPr>
          <a:xfrm>
            <a:off x="6903720" y="3977639"/>
            <a:ext cx="1508760" cy="295466"/>
          </a:xfrm>
          <a:prstGeom prst="rect">
            <a:avLst/>
          </a:prstGeom>
          <a:noFill/>
        </p:spPr>
        <p:txBody>
          <a:bodyPr wrap="square" lIns="54864" tIns="54864" rIns="54864" bIns="54864" anchor="t">
            <a:spAutoFit/>
          </a:bodyPr>
          <a:lstStyle/>
          <a:p>
            <a:pPr algn="ctr"/>
            <a:r>
              <a:rPr sz="1200" b="0">
                <a:solidFill>
                  <a:srgbClr val="5B6971"/>
                </a:solidFill>
                <a:latin typeface="Aptos"/>
              </a:rPr>
              <a:t>disposition process</a:t>
            </a:r>
          </a:p>
        </p:txBody>
      </p:sp>
      <p:sp>
        <p:nvSpPr>
          <p:cNvPr id="20" name="Oval 19"/>
          <p:cNvSpPr/>
          <p:nvPr/>
        </p:nvSpPr>
        <p:spPr>
          <a:xfrm>
            <a:off x="9464040" y="2578608"/>
            <a:ext cx="694944" cy="694944"/>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1" name="TextBox 20"/>
          <p:cNvSpPr txBox="1"/>
          <p:nvPr/>
        </p:nvSpPr>
        <p:spPr>
          <a:xfrm>
            <a:off x="9189719" y="3657600"/>
            <a:ext cx="1234440" cy="357021"/>
          </a:xfrm>
          <a:prstGeom prst="rect">
            <a:avLst/>
          </a:prstGeom>
          <a:noFill/>
        </p:spPr>
        <p:txBody>
          <a:bodyPr wrap="square" lIns="54864" tIns="54864" rIns="54864" bIns="54864" anchor="t">
            <a:spAutoFit/>
          </a:bodyPr>
          <a:lstStyle/>
          <a:p>
            <a:pPr algn="ctr"/>
            <a:r>
              <a:rPr sz="1600" b="1">
                <a:solidFill>
                  <a:srgbClr val="0B1F33"/>
                </a:solidFill>
                <a:latin typeface="Aptos"/>
              </a:rPr>
              <a:t>departure</a:t>
            </a:r>
          </a:p>
        </p:txBody>
      </p:sp>
      <p:sp>
        <p:nvSpPr>
          <p:cNvPr id="22" name="TextBox 21"/>
          <p:cNvSpPr txBox="1"/>
          <p:nvPr/>
        </p:nvSpPr>
        <p:spPr>
          <a:xfrm>
            <a:off x="9052560" y="3977639"/>
            <a:ext cx="1508760" cy="295466"/>
          </a:xfrm>
          <a:prstGeom prst="rect">
            <a:avLst/>
          </a:prstGeom>
          <a:noFill/>
        </p:spPr>
        <p:txBody>
          <a:bodyPr wrap="square" lIns="54864" tIns="54864" rIns="54864" bIns="54864" anchor="t">
            <a:spAutoFit/>
          </a:bodyPr>
          <a:lstStyle/>
          <a:p>
            <a:pPr algn="ctr"/>
            <a:r>
              <a:rPr sz="1200" b="0">
                <a:solidFill>
                  <a:srgbClr val="5B6971"/>
                </a:solidFill>
                <a:latin typeface="Aptos"/>
              </a:rPr>
              <a:t>clock stops</a:t>
            </a:r>
          </a:p>
        </p:txBody>
      </p:sp>
      <p:cxnSp>
        <p:nvCxnSpPr>
          <p:cNvPr id="23" name="Connector 22"/>
          <p:cNvCxnSpPr/>
          <p:nvPr/>
        </p:nvCxnSpPr>
        <p:spPr>
          <a:xfrm>
            <a:off x="1700784" y="2926080"/>
            <a:ext cx="1133856" cy="0"/>
          </a:xfrm>
          <a:prstGeom prst="line">
            <a:avLst/>
          </a:prstGeom>
          <a:ln w="19050">
            <a:solidFill>
              <a:srgbClr val="5B697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803904" y="2926080"/>
            <a:ext cx="1133856" cy="0"/>
          </a:xfrm>
          <a:prstGeom prst="line">
            <a:avLst/>
          </a:prstGeom>
          <a:ln w="19050">
            <a:solidFill>
              <a:srgbClr val="5B697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998464" y="2926080"/>
            <a:ext cx="1133856" cy="0"/>
          </a:xfrm>
          <a:prstGeom prst="line">
            <a:avLst/>
          </a:prstGeom>
          <a:ln w="19050">
            <a:solidFill>
              <a:srgbClr val="5B697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101583" y="2926080"/>
            <a:ext cx="1133857" cy="0"/>
          </a:xfrm>
          <a:prstGeom prst="line">
            <a:avLst/>
          </a:prstGeom>
          <a:ln w="19050">
            <a:solidFill>
              <a:srgbClr val="5B6971"/>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68680" y="4956048"/>
            <a:ext cx="10424160" cy="713232"/>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8" name="TextBox 27"/>
          <p:cNvSpPr txBox="1"/>
          <p:nvPr/>
        </p:nvSpPr>
        <p:spPr>
          <a:xfrm>
            <a:off x="1097280" y="5193792"/>
            <a:ext cx="9966960" cy="418576"/>
          </a:xfrm>
          <a:prstGeom prst="rect">
            <a:avLst/>
          </a:prstGeom>
          <a:noFill/>
        </p:spPr>
        <p:txBody>
          <a:bodyPr wrap="square" lIns="54864" tIns="54864" rIns="54864" bIns="54864" anchor="t">
            <a:spAutoFit/>
          </a:bodyPr>
          <a:lstStyle/>
          <a:p>
            <a:pPr algn="ctr"/>
            <a:r>
              <a:rPr sz="2000" b="1">
                <a:solidFill>
                  <a:srgbClr val="0B1F33"/>
                </a:solidFill>
                <a:latin typeface="Aptos"/>
              </a:rPr>
              <a:t>Units matter: M2 measures the outcome in hours, not a diagnosis or a quality score.</a:t>
            </a:r>
          </a:p>
        </p:txBody>
      </p:sp>
      <p:sp>
        <p:nvSpPr>
          <p:cNvPr id="29" name="Rectangle 28"/>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3657600" cy="182880"/>
          </a:xfrm>
          <a:prstGeom prst="rect">
            <a:avLst/>
          </a:prstGeom>
          <a:noFill/>
        </p:spPr>
        <p:txBody>
          <a:bodyPr wrap="square" lIns="54864" tIns="54864" rIns="54864" bIns="54864" anchor="t">
            <a:spAutoFit/>
          </a:bodyPr>
          <a:lstStyle/>
          <a:p>
            <a:pPr algn="l"/>
            <a:r>
              <a:rPr sz="1000" b="1">
                <a:solidFill>
                  <a:srgbClr val="E9C46A"/>
                </a:solidFill>
                <a:latin typeface="Aptos"/>
              </a:rPr>
              <a:t>01  /  question</a:t>
            </a:r>
          </a:p>
        </p:txBody>
      </p:sp>
      <p:sp>
        <p:nvSpPr>
          <p:cNvPr id="3" name="TextBox 2"/>
          <p:cNvSpPr txBox="1"/>
          <p:nvPr/>
        </p:nvSpPr>
        <p:spPr>
          <a:xfrm>
            <a:off x="548640" y="658368"/>
            <a:ext cx="7955279" cy="530352"/>
          </a:xfrm>
          <a:prstGeom prst="rect">
            <a:avLst/>
          </a:prstGeom>
          <a:noFill/>
        </p:spPr>
        <p:txBody>
          <a:bodyPr wrap="square" lIns="54864" tIns="54864" rIns="54864" bIns="54864" anchor="t">
            <a:spAutoFit/>
          </a:bodyPr>
          <a:lstStyle/>
          <a:p>
            <a:pPr algn="l"/>
            <a:r>
              <a:rPr sz="3000" b="1">
                <a:solidFill>
                  <a:srgbClr val="FFFFFF"/>
                </a:solidFill>
                <a:latin typeface="Aptos Display"/>
              </a:rPr>
              <a:t>Why ED LOS matters</a:t>
            </a:r>
          </a:p>
        </p:txBody>
      </p:sp>
      <p:sp>
        <p:nvSpPr>
          <p:cNvPr id="4" name="Rectangle 3"/>
          <p:cNvSpPr/>
          <p:nvPr/>
        </p:nvSpPr>
        <p:spPr>
          <a:xfrm>
            <a:off x="777240" y="1691640"/>
            <a:ext cx="109728" cy="1051560"/>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 name="TextBox 4"/>
          <p:cNvSpPr txBox="1"/>
          <p:nvPr/>
        </p:nvSpPr>
        <p:spPr>
          <a:xfrm>
            <a:off x="1097280" y="1737360"/>
            <a:ext cx="2651760" cy="480131"/>
          </a:xfrm>
          <a:prstGeom prst="rect">
            <a:avLst/>
          </a:prstGeom>
          <a:noFill/>
        </p:spPr>
        <p:txBody>
          <a:bodyPr wrap="square" lIns="54864" tIns="54864" rIns="54864" bIns="54864" anchor="t">
            <a:spAutoFit/>
          </a:bodyPr>
          <a:lstStyle/>
          <a:p>
            <a:pPr algn="l"/>
            <a:r>
              <a:rPr sz="2400" b="1" dirty="0">
                <a:solidFill>
                  <a:srgbClr val="FFFFFF"/>
                </a:solidFill>
                <a:latin typeface="Aptos Display"/>
              </a:rPr>
              <a:t>Patient experience</a:t>
            </a:r>
          </a:p>
        </p:txBody>
      </p:sp>
      <p:sp>
        <p:nvSpPr>
          <p:cNvPr id="6" name="TextBox 5"/>
          <p:cNvSpPr txBox="1"/>
          <p:nvPr/>
        </p:nvSpPr>
        <p:spPr>
          <a:xfrm>
            <a:off x="1097280" y="2185416"/>
            <a:ext cx="4663440" cy="603242"/>
          </a:xfrm>
          <a:prstGeom prst="rect">
            <a:avLst/>
          </a:prstGeom>
          <a:noFill/>
        </p:spPr>
        <p:txBody>
          <a:bodyPr wrap="square" lIns="54864" tIns="54864" rIns="54864" bIns="54864" anchor="t">
            <a:spAutoFit/>
          </a:bodyPr>
          <a:lstStyle/>
          <a:p>
            <a:pPr algn="l"/>
            <a:r>
              <a:rPr sz="1600" b="0" dirty="0">
                <a:solidFill>
                  <a:srgbClr val="E4EBEA"/>
                </a:solidFill>
                <a:latin typeface="Aptos"/>
              </a:rPr>
              <a:t>time in the ED affects comfort, uncertainty, and access to the next step</a:t>
            </a:r>
          </a:p>
        </p:txBody>
      </p:sp>
      <p:sp>
        <p:nvSpPr>
          <p:cNvPr id="7" name="Rectangle 6"/>
          <p:cNvSpPr/>
          <p:nvPr/>
        </p:nvSpPr>
        <p:spPr>
          <a:xfrm>
            <a:off x="6263640" y="1691640"/>
            <a:ext cx="109728" cy="10515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7"/>
          <p:cNvSpPr txBox="1"/>
          <p:nvPr/>
        </p:nvSpPr>
        <p:spPr>
          <a:xfrm>
            <a:off x="6583679" y="1737360"/>
            <a:ext cx="2651760" cy="480131"/>
          </a:xfrm>
          <a:prstGeom prst="rect">
            <a:avLst/>
          </a:prstGeom>
          <a:noFill/>
        </p:spPr>
        <p:txBody>
          <a:bodyPr wrap="square" lIns="54864" tIns="54864" rIns="54864" bIns="54864" anchor="t">
            <a:spAutoFit/>
          </a:bodyPr>
          <a:lstStyle/>
          <a:p>
            <a:pPr algn="l"/>
            <a:r>
              <a:rPr sz="2400" b="1">
                <a:solidFill>
                  <a:srgbClr val="FFFFFF"/>
                </a:solidFill>
                <a:latin typeface="Aptos Display"/>
              </a:rPr>
              <a:t>Flow and capacity</a:t>
            </a:r>
          </a:p>
        </p:txBody>
      </p:sp>
      <p:sp>
        <p:nvSpPr>
          <p:cNvPr id="9" name="TextBox 8"/>
          <p:cNvSpPr txBox="1"/>
          <p:nvPr/>
        </p:nvSpPr>
        <p:spPr>
          <a:xfrm>
            <a:off x="6583679" y="2185416"/>
            <a:ext cx="4663440" cy="603242"/>
          </a:xfrm>
          <a:prstGeom prst="rect">
            <a:avLst/>
          </a:prstGeom>
          <a:noFill/>
        </p:spPr>
        <p:txBody>
          <a:bodyPr wrap="square" lIns="54864" tIns="54864" rIns="54864" bIns="54864" anchor="t">
            <a:spAutoFit/>
          </a:bodyPr>
          <a:lstStyle/>
          <a:p>
            <a:pPr algn="l"/>
            <a:r>
              <a:rPr sz="1600" b="0">
                <a:solidFill>
                  <a:srgbClr val="E4EBEA"/>
                </a:solidFill>
                <a:latin typeface="Aptos"/>
              </a:rPr>
              <a:t>duration is connected to rooms, staff, diagnostics, beds, and handoffs</a:t>
            </a:r>
          </a:p>
        </p:txBody>
      </p:sp>
      <p:sp>
        <p:nvSpPr>
          <p:cNvPr id="10" name="Rectangle 9"/>
          <p:cNvSpPr/>
          <p:nvPr/>
        </p:nvSpPr>
        <p:spPr>
          <a:xfrm>
            <a:off x="777240" y="3611880"/>
            <a:ext cx="109728" cy="1051560"/>
          </a:xfrm>
          <a:prstGeom prst="rect">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TextBox 10"/>
          <p:cNvSpPr txBox="1"/>
          <p:nvPr/>
        </p:nvSpPr>
        <p:spPr>
          <a:xfrm>
            <a:off x="1097280" y="3657600"/>
            <a:ext cx="2651760" cy="480131"/>
          </a:xfrm>
          <a:prstGeom prst="rect">
            <a:avLst/>
          </a:prstGeom>
          <a:noFill/>
        </p:spPr>
        <p:txBody>
          <a:bodyPr wrap="square" lIns="54864" tIns="54864" rIns="54864" bIns="54864" anchor="t">
            <a:spAutoFit/>
          </a:bodyPr>
          <a:lstStyle/>
          <a:p>
            <a:pPr algn="l"/>
            <a:r>
              <a:rPr sz="2400" b="1">
                <a:solidFill>
                  <a:srgbClr val="FFFFFF"/>
                </a:solidFill>
                <a:latin typeface="Aptos Display"/>
              </a:rPr>
              <a:t>Planning</a:t>
            </a:r>
          </a:p>
        </p:txBody>
      </p:sp>
      <p:sp>
        <p:nvSpPr>
          <p:cNvPr id="12" name="TextBox 11"/>
          <p:cNvSpPr txBox="1"/>
          <p:nvPr/>
        </p:nvSpPr>
        <p:spPr>
          <a:xfrm>
            <a:off x="1097280" y="4105656"/>
            <a:ext cx="4663440" cy="603242"/>
          </a:xfrm>
          <a:prstGeom prst="rect">
            <a:avLst/>
          </a:prstGeom>
          <a:noFill/>
        </p:spPr>
        <p:txBody>
          <a:bodyPr wrap="square" lIns="54864" tIns="54864" rIns="54864" bIns="54864" anchor="t">
            <a:spAutoFit/>
          </a:bodyPr>
          <a:lstStyle/>
          <a:p>
            <a:pPr algn="l"/>
            <a:r>
              <a:rPr sz="1600" b="0">
                <a:solidFill>
                  <a:srgbClr val="E4EBEA"/>
                </a:solidFill>
                <a:latin typeface="Aptos"/>
              </a:rPr>
              <a:t>estimates can support staffing and operational planning when uncertainty is visible</a:t>
            </a:r>
          </a:p>
        </p:txBody>
      </p:sp>
      <p:sp>
        <p:nvSpPr>
          <p:cNvPr id="13" name="Rectangle 12"/>
          <p:cNvSpPr/>
          <p:nvPr/>
        </p:nvSpPr>
        <p:spPr>
          <a:xfrm>
            <a:off x="6263640" y="3611880"/>
            <a:ext cx="109728" cy="1051560"/>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 name="TextBox 13"/>
          <p:cNvSpPr txBox="1"/>
          <p:nvPr/>
        </p:nvSpPr>
        <p:spPr>
          <a:xfrm>
            <a:off x="6583679" y="3657600"/>
            <a:ext cx="2651760" cy="480131"/>
          </a:xfrm>
          <a:prstGeom prst="rect">
            <a:avLst/>
          </a:prstGeom>
          <a:noFill/>
        </p:spPr>
        <p:txBody>
          <a:bodyPr wrap="square" lIns="54864" tIns="54864" rIns="54864" bIns="54864" anchor="t">
            <a:spAutoFit/>
          </a:bodyPr>
          <a:lstStyle/>
          <a:p>
            <a:pPr algn="l"/>
            <a:r>
              <a:rPr sz="2400" b="1">
                <a:solidFill>
                  <a:srgbClr val="FFFFFF"/>
                </a:solidFill>
                <a:latin typeface="Aptos Display"/>
              </a:rPr>
              <a:t>Measurement</a:t>
            </a:r>
          </a:p>
        </p:txBody>
      </p:sp>
      <p:sp>
        <p:nvSpPr>
          <p:cNvPr id="15" name="TextBox 14"/>
          <p:cNvSpPr txBox="1"/>
          <p:nvPr/>
        </p:nvSpPr>
        <p:spPr>
          <a:xfrm>
            <a:off x="6583679" y="4105656"/>
            <a:ext cx="4663440" cy="603242"/>
          </a:xfrm>
          <a:prstGeom prst="rect">
            <a:avLst/>
          </a:prstGeom>
          <a:noFill/>
        </p:spPr>
        <p:txBody>
          <a:bodyPr wrap="square" lIns="54864" tIns="54864" rIns="54864" bIns="54864" anchor="t">
            <a:spAutoFit/>
          </a:bodyPr>
          <a:lstStyle/>
          <a:p>
            <a:pPr algn="l"/>
            <a:r>
              <a:rPr sz="1600" b="0">
                <a:solidFill>
                  <a:srgbClr val="E4EBEA"/>
                </a:solidFill>
                <a:latin typeface="Aptos"/>
              </a:rPr>
              <a:t>the outcome exposes both clinical complexity and system workflow</a:t>
            </a:r>
          </a:p>
        </p:txBody>
      </p:sp>
      <p:sp>
        <p:nvSpPr>
          <p:cNvPr id="16" name="TextBox 15"/>
          <p:cNvSpPr txBox="1"/>
          <p:nvPr/>
        </p:nvSpPr>
        <p:spPr>
          <a:xfrm>
            <a:off x="777240" y="5897880"/>
            <a:ext cx="10149840" cy="274320"/>
          </a:xfrm>
          <a:prstGeom prst="rect">
            <a:avLst/>
          </a:prstGeom>
          <a:noFill/>
        </p:spPr>
        <p:txBody>
          <a:bodyPr wrap="square" lIns="54864" tIns="54864" rIns="54864" bIns="54864" anchor="t">
            <a:spAutoFit/>
          </a:bodyPr>
          <a:lstStyle/>
          <a:p>
            <a:pPr algn="l"/>
            <a:r>
              <a:rPr sz="1800" b="1">
                <a:solidFill>
                  <a:srgbClr val="E9C46A"/>
                </a:solidFill>
                <a:latin typeface="Aptos"/>
              </a:rPr>
              <a:t>Interpretation question: what part of LOS is clinical, and what part is operational?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754880" cy="201168"/>
          </a:xfrm>
          <a:prstGeom prst="rect">
            <a:avLst/>
          </a:prstGeom>
          <a:noFill/>
        </p:spPr>
        <p:txBody>
          <a:bodyPr wrap="square" lIns="54864" tIns="54864" rIns="54864" bIns="54864" anchor="t">
            <a:spAutoFit/>
          </a:bodyPr>
          <a:lstStyle/>
          <a:p>
            <a:pPr algn="l"/>
            <a:r>
              <a:rPr sz="1000" b="1">
                <a:solidFill>
                  <a:srgbClr val="0F766E"/>
                </a:solidFill>
                <a:latin typeface="Aptos"/>
              </a:rPr>
              <a:t>02  /  OUTCOME</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900" b="1">
                <a:solidFill>
                  <a:srgbClr val="0B1F33"/>
                </a:solidFill>
                <a:latin typeface="Aptos Display"/>
              </a:rPr>
              <a:t>Define the cohort before describing it</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M2  /  05</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72768"/>
            <a:ext cx="2560320" cy="603242"/>
          </a:xfrm>
          <a:prstGeom prst="rect">
            <a:avLst/>
          </a:prstGeom>
          <a:noFill/>
        </p:spPr>
        <p:txBody>
          <a:bodyPr wrap="square" lIns="54864" tIns="54864" rIns="54864" bIns="54864" anchor="t">
            <a:spAutoFit/>
          </a:bodyPr>
          <a:lstStyle/>
          <a:p>
            <a:pPr algn="l"/>
            <a:r>
              <a:rPr sz="3200" b="1">
                <a:solidFill>
                  <a:srgbClr val="E76F51"/>
                </a:solidFill>
                <a:latin typeface="Aptos Display"/>
              </a:rPr>
              <a:t>425,087</a:t>
            </a:r>
          </a:p>
        </p:txBody>
      </p:sp>
      <p:sp>
        <p:nvSpPr>
          <p:cNvPr id="7" name="TextBox 6"/>
          <p:cNvSpPr txBox="1"/>
          <p:nvPr/>
        </p:nvSpPr>
        <p:spPr>
          <a:xfrm>
            <a:off x="777240" y="2057400"/>
            <a:ext cx="2560320" cy="326243"/>
          </a:xfrm>
          <a:prstGeom prst="rect">
            <a:avLst/>
          </a:prstGeom>
          <a:noFill/>
        </p:spPr>
        <p:txBody>
          <a:bodyPr wrap="square" lIns="54864" tIns="54864" rIns="54864" bIns="54864" anchor="t">
            <a:spAutoFit/>
          </a:bodyPr>
          <a:lstStyle/>
          <a:p>
            <a:pPr algn="l"/>
            <a:r>
              <a:rPr sz="1400" b="0">
                <a:solidFill>
                  <a:srgbClr val="5B6971"/>
                </a:solidFill>
                <a:latin typeface="Aptos"/>
              </a:rPr>
              <a:t>rows in the source table</a:t>
            </a:r>
          </a:p>
        </p:txBody>
      </p:sp>
      <p:sp>
        <p:nvSpPr>
          <p:cNvPr id="8" name="TextBox 7"/>
          <p:cNvSpPr txBox="1"/>
          <p:nvPr/>
        </p:nvSpPr>
        <p:spPr>
          <a:xfrm>
            <a:off x="3429000" y="1572768"/>
            <a:ext cx="2926080" cy="603242"/>
          </a:xfrm>
          <a:prstGeom prst="rect">
            <a:avLst/>
          </a:prstGeom>
          <a:noFill/>
        </p:spPr>
        <p:txBody>
          <a:bodyPr wrap="square" lIns="54864" tIns="54864" rIns="54864" bIns="54864" anchor="t">
            <a:spAutoFit/>
          </a:bodyPr>
          <a:lstStyle/>
          <a:p>
            <a:pPr algn="l"/>
            <a:r>
              <a:rPr sz="3200" b="1">
                <a:solidFill>
                  <a:srgbClr val="0F766E"/>
                </a:solidFill>
                <a:latin typeface="Aptos Display"/>
              </a:rPr>
              <a:t>425,081</a:t>
            </a:r>
          </a:p>
        </p:txBody>
      </p:sp>
      <p:sp>
        <p:nvSpPr>
          <p:cNvPr id="9" name="TextBox 8"/>
          <p:cNvSpPr txBox="1"/>
          <p:nvPr/>
        </p:nvSpPr>
        <p:spPr>
          <a:xfrm>
            <a:off x="3429000" y="2057400"/>
            <a:ext cx="2926080" cy="326243"/>
          </a:xfrm>
          <a:prstGeom prst="rect">
            <a:avLst/>
          </a:prstGeom>
          <a:noFill/>
        </p:spPr>
        <p:txBody>
          <a:bodyPr wrap="square" lIns="54864" tIns="54864" rIns="54864" bIns="54864" anchor="t">
            <a:spAutoFit/>
          </a:bodyPr>
          <a:lstStyle/>
          <a:p>
            <a:pPr algn="l"/>
            <a:r>
              <a:rPr sz="1400" b="0">
                <a:solidFill>
                  <a:srgbClr val="5B6971"/>
                </a:solidFill>
                <a:latin typeface="Aptos"/>
              </a:rPr>
              <a:t>valid non-negative LOS rows</a:t>
            </a:r>
          </a:p>
        </p:txBody>
      </p:sp>
      <p:sp>
        <p:nvSpPr>
          <p:cNvPr id="10" name="TextBox 9"/>
          <p:cNvSpPr txBox="1"/>
          <p:nvPr/>
        </p:nvSpPr>
        <p:spPr>
          <a:xfrm>
            <a:off x="6446520" y="1572768"/>
            <a:ext cx="2560320" cy="603242"/>
          </a:xfrm>
          <a:prstGeom prst="rect">
            <a:avLst/>
          </a:prstGeom>
          <a:noFill/>
        </p:spPr>
        <p:txBody>
          <a:bodyPr wrap="square" lIns="54864" tIns="54864" rIns="54864" bIns="54864" anchor="t">
            <a:spAutoFit/>
          </a:bodyPr>
          <a:lstStyle/>
          <a:p>
            <a:pPr algn="l"/>
            <a:r>
              <a:rPr sz="3200" b="1">
                <a:solidFill>
                  <a:srgbClr val="599DB5"/>
                </a:solidFill>
                <a:latin typeface="Aptos Display"/>
              </a:rPr>
              <a:t>62.02%</a:t>
            </a:r>
          </a:p>
        </p:txBody>
      </p:sp>
      <p:sp>
        <p:nvSpPr>
          <p:cNvPr id="11" name="TextBox 10"/>
          <p:cNvSpPr txBox="1"/>
          <p:nvPr/>
        </p:nvSpPr>
        <p:spPr>
          <a:xfrm>
            <a:off x="6446520" y="2057400"/>
            <a:ext cx="2560320" cy="326243"/>
          </a:xfrm>
          <a:prstGeom prst="rect">
            <a:avLst/>
          </a:prstGeom>
          <a:noFill/>
        </p:spPr>
        <p:txBody>
          <a:bodyPr wrap="square" lIns="54864" tIns="54864" rIns="54864" bIns="54864" anchor="t">
            <a:spAutoFit/>
          </a:bodyPr>
          <a:lstStyle/>
          <a:p>
            <a:pPr algn="l"/>
            <a:r>
              <a:rPr sz="1400" b="0">
                <a:solidFill>
                  <a:srgbClr val="5B6971"/>
                </a:solidFill>
                <a:latin typeface="Aptos"/>
              </a:rPr>
              <a:t>long-stay prevalence</a:t>
            </a:r>
          </a:p>
        </p:txBody>
      </p:sp>
      <p:sp>
        <p:nvSpPr>
          <p:cNvPr id="12" name="TextBox 11"/>
          <p:cNvSpPr txBox="1"/>
          <p:nvPr/>
        </p:nvSpPr>
        <p:spPr>
          <a:xfrm>
            <a:off x="9098280" y="1572768"/>
            <a:ext cx="2194560" cy="603242"/>
          </a:xfrm>
          <a:prstGeom prst="rect">
            <a:avLst/>
          </a:prstGeom>
          <a:noFill/>
        </p:spPr>
        <p:txBody>
          <a:bodyPr wrap="square" lIns="54864" tIns="54864" rIns="54864" bIns="54864" anchor="t">
            <a:spAutoFit/>
          </a:bodyPr>
          <a:lstStyle/>
          <a:p>
            <a:pPr algn="l"/>
            <a:r>
              <a:rPr sz="3200" b="1">
                <a:solidFill>
                  <a:srgbClr val="E9C46A"/>
                </a:solidFill>
                <a:latin typeface="Aptos Display"/>
              </a:rPr>
              <a:t>53</a:t>
            </a:r>
          </a:p>
        </p:txBody>
      </p:sp>
      <p:sp>
        <p:nvSpPr>
          <p:cNvPr id="13" name="TextBox 12"/>
          <p:cNvSpPr txBox="1"/>
          <p:nvPr/>
        </p:nvSpPr>
        <p:spPr>
          <a:xfrm>
            <a:off x="9098280" y="2057400"/>
            <a:ext cx="2194560" cy="326243"/>
          </a:xfrm>
          <a:prstGeom prst="rect">
            <a:avLst/>
          </a:prstGeom>
          <a:noFill/>
        </p:spPr>
        <p:txBody>
          <a:bodyPr wrap="square" lIns="54864" tIns="54864" rIns="54864" bIns="54864" anchor="t">
            <a:spAutoFit/>
          </a:bodyPr>
          <a:lstStyle/>
          <a:p>
            <a:pPr algn="l"/>
            <a:r>
              <a:rPr sz="1400" b="0">
                <a:solidFill>
                  <a:srgbClr val="5B6971"/>
                </a:solidFill>
                <a:latin typeface="Aptos"/>
              </a:rPr>
              <a:t>zero-hour stays retained</a:t>
            </a:r>
          </a:p>
        </p:txBody>
      </p:sp>
      <p:sp>
        <p:nvSpPr>
          <p:cNvPr id="14" name="Oval 13"/>
          <p:cNvSpPr/>
          <p:nvPr/>
        </p:nvSpPr>
        <p:spPr>
          <a:xfrm>
            <a:off x="868680" y="3108960"/>
            <a:ext cx="274320" cy="274320"/>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5" name="TextBox 14"/>
          <p:cNvSpPr txBox="1"/>
          <p:nvPr/>
        </p:nvSpPr>
        <p:spPr>
          <a:xfrm>
            <a:off x="1325880" y="3063240"/>
            <a:ext cx="1828800" cy="387798"/>
          </a:xfrm>
          <a:prstGeom prst="rect">
            <a:avLst/>
          </a:prstGeom>
          <a:noFill/>
        </p:spPr>
        <p:txBody>
          <a:bodyPr wrap="square" lIns="54864" tIns="54864" rIns="54864" bIns="54864" anchor="t">
            <a:spAutoFit/>
          </a:bodyPr>
          <a:lstStyle/>
          <a:p>
            <a:pPr algn="l"/>
            <a:r>
              <a:rPr b="1">
                <a:solidFill>
                  <a:srgbClr val="0B1F33"/>
                </a:solidFill>
                <a:latin typeface="Aptos"/>
              </a:rPr>
              <a:t>Missing LOS</a:t>
            </a:r>
          </a:p>
        </p:txBody>
      </p:sp>
      <p:sp>
        <p:nvSpPr>
          <p:cNvPr id="16" name="TextBox 15"/>
          <p:cNvSpPr txBox="1"/>
          <p:nvPr/>
        </p:nvSpPr>
        <p:spPr>
          <a:xfrm>
            <a:off x="3200400" y="3063240"/>
            <a:ext cx="7498079" cy="326243"/>
          </a:xfrm>
          <a:prstGeom prst="rect">
            <a:avLst/>
          </a:prstGeom>
          <a:noFill/>
        </p:spPr>
        <p:txBody>
          <a:bodyPr wrap="square" lIns="54864" tIns="54864" rIns="54864" bIns="54864" anchor="t">
            <a:spAutoFit/>
          </a:bodyPr>
          <a:lstStyle/>
          <a:p>
            <a:pPr algn="l"/>
            <a:r>
              <a:rPr sz="1400" b="0">
                <a:solidFill>
                  <a:srgbClr val="23303A"/>
                </a:solidFill>
                <a:latin typeface="Aptos"/>
              </a:rPr>
              <a:t>0 rows are not available for this outcome analysis.</a:t>
            </a:r>
          </a:p>
        </p:txBody>
      </p:sp>
      <p:sp>
        <p:nvSpPr>
          <p:cNvPr id="17" name="Oval 16"/>
          <p:cNvSpPr/>
          <p:nvPr/>
        </p:nvSpPr>
        <p:spPr>
          <a:xfrm>
            <a:off x="868680" y="3931920"/>
            <a:ext cx="274320" cy="274320"/>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8" name="TextBox 17"/>
          <p:cNvSpPr txBox="1"/>
          <p:nvPr/>
        </p:nvSpPr>
        <p:spPr>
          <a:xfrm>
            <a:off x="1325880" y="3886200"/>
            <a:ext cx="1828800" cy="387798"/>
          </a:xfrm>
          <a:prstGeom prst="rect">
            <a:avLst/>
          </a:prstGeom>
          <a:noFill/>
        </p:spPr>
        <p:txBody>
          <a:bodyPr wrap="square" lIns="54864" tIns="54864" rIns="54864" bIns="54864" anchor="t">
            <a:spAutoFit/>
          </a:bodyPr>
          <a:lstStyle/>
          <a:p>
            <a:pPr algn="l"/>
            <a:r>
              <a:rPr b="1">
                <a:solidFill>
                  <a:srgbClr val="0B1F33"/>
                </a:solidFill>
                <a:latin typeface="Aptos"/>
              </a:rPr>
              <a:t>Negative LOS</a:t>
            </a:r>
          </a:p>
        </p:txBody>
      </p:sp>
      <p:sp>
        <p:nvSpPr>
          <p:cNvPr id="19" name="TextBox 18"/>
          <p:cNvSpPr txBox="1"/>
          <p:nvPr/>
        </p:nvSpPr>
        <p:spPr>
          <a:xfrm>
            <a:off x="3200400" y="3886200"/>
            <a:ext cx="7498079" cy="326243"/>
          </a:xfrm>
          <a:prstGeom prst="rect">
            <a:avLst/>
          </a:prstGeom>
          <a:noFill/>
        </p:spPr>
        <p:txBody>
          <a:bodyPr wrap="square" lIns="54864" tIns="54864" rIns="54864" bIns="54864" anchor="t">
            <a:spAutoFit/>
          </a:bodyPr>
          <a:lstStyle/>
          <a:p>
            <a:pPr algn="l"/>
            <a:r>
              <a:rPr sz="1400" b="0">
                <a:solidFill>
                  <a:srgbClr val="23303A"/>
                </a:solidFill>
                <a:latin typeface="Aptos"/>
              </a:rPr>
              <a:t>6 rows are impossible durations and are excluded.</a:t>
            </a:r>
          </a:p>
        </p:txBody>
      </p:sp>
      <p:sp>
        <p:nvSpPr>
          <p:cNvPr id="20" name="Oval 19"/>
          <p:cNvSpPr/>
          <p:nvPr/>
        </p:nvSpPr>
        <p:spPr>
          <a:xfrm>
            <a:off x="868680" y="4754880"/>
            <a:ext cx="274320" cy="274320"/>
          </a:xfrm>
          <a:prstGeom prst="ellipse">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1" name="TextBox 20"/>
          <p:cNvSpPr txBox="1"/>
          <p:nvPr/>
        </p:nvSpPr>
        <p:spPr>
          <a:xfrm>
            <a:off x="1325880" y="4709160"/>
            <a:ext cx="1828800" cy="387798"/>
          </a:xfrm>
          <a:prstGeom prst="rect">
            <a:avLst/>
          </a:prstGeom>
          <a:noFill/>
        </p:spPr>
        <p:txBody>
          <a:bodyPr wrap="square" lIns="54864" tIns="54864" rIns="54864" bIns="54864" anchor="t">
            <a:spAutoFit/>
          </a:bodyPr>
          <a:lstStyle/>
          <a:p>
            <a:pPr algn="l"/>
            <a:r>
              <a:rPr b="1">
                <a:solidFill>
                  <a:srgbClr val="0B1F33"/>
                </a:solidFill>
                <a:latin typeface="Aptos"/>
              </a:rPr>
              <a:t>Valid extremes</a:t>
            </a:r>
          </a:p>
        </p:txBody>
      </p:sp>
      <p:sp>
        <p:nvSpPr>
          <p:cNvPr id="22" name="TextBox 21"/>
          <p:cNvSpPr txBox="1"/>
          <p:nvPr/>
        </p:nvSpPr>
        <p:spPr>
          <a:xfrm>
            <a:off x="3200400" y="4709160"/>
            <a:ext cx="7498079" cy="326243"/>
          </a:xfrm>
          <a:prstGeom prst="rect">
            <a:avLst/>
          </a:prstGeom>
          <a:noFill/>
        </p:spPr>
        <p:txBody>
          <a:bodyPr wrap="square" lIns="54864" tIns="54864" rIns="54864" bIns="54864" anchor="t">
            <a:spAutoFit/>
          </a:bodyPr>
          <a:lstStyle/>
          <a:p>
            <a:pPr algn="l"/>
            <a:r>
              <a:rPr sz="1400" b="0">
                <a:solidFill>
                  <a:srgbClr val="23303A"/>
                </a:solidFill>
                <a:latin typeface="Aptos"/>
              </a:rPr>
              <a:t>34,342 valid rows exceed the 1.5 x IQR upper fence and remain in the cohort.</a:t>
            </a:r>
          </a:p>
        </p:txBody>
      </p:sp>
      <p:sp>
        <p:nvSpPr>
          <p:cNvPr id="23" name="Rounded Rectangle 22"/>
          <p:cNvSpPr/>
          <p:nvPr/>
        </p:nvSpPr>
        <p:spPr>
          <a:xfrm>
            <a:off x="777240" y="5715000"/>
            <a:ext cx="10607040" cy="475488"/>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p:cNvSpPr txBox="1"/>
          <p:nvPr/>
        </p:nvSpPr>
        <p:spPr>
          <a:xfrm>
            <a:off x="960120" y="5852160"/>
            <a:ext cx="10241280" cy="357021"/>
          </a:xfrm>
          <a:prstGeom prst="rect">
            <a:avLst/>
          </a:prstGeom>
          <a:noFill/>
        </p:spPr>
        <p:txBody>
          <a:bodyPr wrap="square" lIns="54864" tIns="54864" rIns="54864" bIns="54864" anchor="t">
            <a:spAutoFit/>
          </a:bodyPr>
          <a:lstStyle/>
          <a:p>
            <a:pPr algn="ctr"/>
            <a:r>
              <a:rPr sz="1600" b="1">
                <a:solidFill>
                  <a:srgbClr val="0B1F33"/>
                </a:solidFill>
                <a:latin typeface="Aptos"/>
              </a:rPr>
              <a:t>Quality rules change the analysis cohort, but the original table is not silently overwritten.</a:t>
            </a:r>
          </a:p>
        </p:txBody>
      </p:sp>
      <p:sp>
        <p:nvSpPr>
          <p:cNvPr id="25" name="Rectangle 24"/>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754880" cy="201168"/>
          </a:xfrm>
          <a:prstGeom prst="rect">
            <a:avLst/>
          </a:prstGeom>
          <a:noFill/>
        </p:spPr>
        <p:txBody>
          <a:bodyPr wrap="square" lIns="54864" tIns="54864" rIns="54864" bIns="54864" anchor="t">
            <a:spAutoFit/>
          </a:bodyPr>
          <a:lstStyle/>
          <a:p>
            <a:pPr algn="l"/>
            <a:r>
              <a:rPr sz="1000" b="1">
                <a:solidFill>
                  <a:srgbClr val="0F766E"/>
                </a:solidFill>
                <a:latin typeface="Aptos"/>
              </a:rPr>
              <a:t>02  /  OUTCOME</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900" b="1">
                <a:solidFill>
                  <a:srgbClr val="0B1F33"/>
                </a:solidFill>
                <a:latin typeface="Aptos Display"/>
              </a:rPr>
              <a:t>Continuous LOS: center, spread, and tail</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M2  /  06</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640080" y="1463040"/>
            <a:ext cx="6537960" cy="4069080"/>
          </a:xfrm>
          <a:prstGeom prst="rect">
            <a:avLst/>
          </a:prstGeom>
        </p:spPr>
      </p:pic>
      <p:sp>
        <p:nvSpPr>
          <p:cNvPr id="7" name="Rounded Rectangle 6"/>
          <p:cNvSpPr/>
          <p:nvPr/>
        </p:nvSpPr>
        <p:spPr>
          <a:xfrm>
            <a:off x="7498079" y="1600199"/>
            <a:ext cx="3749039" cy="3988975"/>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7"/>
          <p:cNvSpPr txBox="1"/>
          <p:nvPr/>
        </p:nvSpPr>
        <p:spPr>
          <a:xfrm>
            <a:off x="7863840" y="1901952"/>
            <a:ext cx="2926080" cy="480131"/>
          </a:xfrm>
          <a:prstGeom prst="rect">
            <a:avLst/>
          </a:prstGeom>
          <a:noFill/>
        </p:spPr>
        <p:txBody>
          <a:bodyPr wrap="square" lIns="54864" tIns="54864" rIns="54864" bIns="54864" anchor="t">
            <a:spAutoFit/>
          </a:bodyPr>
          <a:lstStyle/>
          <a:p>
            <a:pPr algn="l"/>
            <a:r>
              <a:rPr sz="2400" b="1">
                <a:solidFill>
                  <a:srgbClr val="0F766E"/>
                </a:solidFill>
                <a:latin typeface="Aptos Display"/>
              </a:rPr>
              <a:t>Current cohort</a:t>
            </a:r>
          </a:p>
        </p:txBody>
      </p:sp>
      <p:sp>
        <p:nvSpPr>
          <p:cNvPr id="9" name="TextBox 8"/>
          <p:cNvSpPr txBox="1"/>
          <p:nvPr/>
        </p:nvSpPr>
        <p:spPr>
          <a:xfrm>
            <a:off x="7863840" y="2423160"/>
            <a:ext cx="2468880" cy="603242"/>
          </a:xfrm>
          <a:prstGeom prst="rect">
            <a:avLst/>
          </a:prstGeom>
          <a:noFill/>
        </p:spPr>
        <p:txBody>
          <a:bodyPr wrap="square" lIns="54864" tIns="54864" rIns="54864" bIns="54864" anchor="t">
            <a:spAutoFit/>
          </a:bodyPr>
          <a:lstStyle/>
          <a:p>
            <a:pPr algn="l"/>
            <a:r>
              <a:rPr sz="3200" b="1">
                <a:solidFill>
                  <a:srgbClr val="E76F51"/>
                </a:solidFill>
                <a:latin typeface="Aptos Display"/>
              </a:rPr>
              <a:t>5.47 h</a:t>
            </a:r>
          </a:p>
        </p:txBody>
      </p:sp>
      <p:sp>
        <p:nvSpPr>
          <p:cNvPr id="10" name="TextBox 9"/>
          <p:cNvSpPr txBox="1"/>
          <p:nvPr/>
        </p:nvSpPr>
        <p:spPr>
          <a:xfrm>
            <a:off x="7863840" y="2907791"/>
            <a:ext cx="2468880" cy="326243"/>
          </a:xfrm>
          <a:prstGeom prst="rect">
            <a:avLst/>
          </a:prstGeom>
          <a:noFill/>
        </p:spPr>
        <p:txBody>
          <a:bodyPr wrap="square" lIns="54864" tIns="54864" rIns="54864" bIns="54864" anchor="t">
            <a:spAutoFit/>
          </a:bodyPr>
          <a:lstStyle/>
          <a:p>
            <a:pPr algn="l"/>
            <a:r>
              <a:rPr sz="1400" b="0">
                <a:solidFill>
                  <a:srgbClr val="5B6971"/>
                </a:solidFill>
                <a:latin typeface="Aptos"/>
              </a:rPr>
              <a:t>median: middle stay</a:t>
            </a:r>
          </a:p>
        </p:txBody>
      </p:sp>
      <p:sp>
        <p:nvSpPr>
          <p:cNvPr id="11" name="TextBox 10"/>
          <p:cNvSpPr txBox="1"/>
          <p:nvPr/>
        </p:nvSpPr>
        <p:spPr>
          <a:xfrm>
            <a:off x="7863840" y="3310128"/>
            <a:ext cx="2468880" cy="603242"/>
          </a:xfrm>
          <a:prstGeom prst="rect">
            <a:avLst/>
          </a:prstGeom>
          <a:noFill/>
        </p:spPr>
        <p:txBody>
          <a:bodyPr wrap="square" lIns="54864" tIns="54864" rIns="54864" bIns="54864" anchor="t">
            <a:spAutoFit/>
          </a:bodyPr>
          <a:lstStyle/>
          <a:p>
            <a:pPr algn="l"/>
            <a:r>
              <a:rPr sz="3200" b="1">
                <a:solidFill>
                  <a:srgbClr val="0F766E"/>
                </a:solidFill>
                <a:latin typeface="Aptos Display"/>
              </a:rPr>
              <a:t>4.79 h</a:t>
            </a:r>
          </a:p>
        </p:txBody>
      </p:sp>
      <p:sp>
        <p:nvSpPr>
          <p:cNvPr id="12" name="TextBox 11"/>
          <p:cNvSpPr txBox="1"/>
          <p:nvPr/>
        </p:nvSpPr>
        <p:spPr>
          <a:xfrm>
            <a:off x="7863840" y="3794760"/>
            <a:ext cx="2468880" cy="326243"/>
          </a:xfrm>
          <a:prstGeom prst="rect">
            <a:avLst/>
          </a:prstGeom>
          <a:noFill/>
        </p:spPr>
        <p:txBody>
          <a:bodyPr wrap="square" lIns="54864" tIns="54864" rIns="54864" bIns="54864" anchor="t">
            <a:spAutoFit/>
          </a:bodyPr>
          <a:lstStyle/>
          <a:p>
            <a:pPr algn="l"/>
            <a:r>
              <a:rPr sz="1400" b="0">
                <a:solidFill>
                  <a:srgbClr val="5B6971"/>
                </a:solidFill>
                <a:latin typeface="Aptos"/>
              </a:rPr>
              <a:t>IQR: middle 50%</a:t>
            </a:r>
          </a:p>
        </p:txBody>
      </p:sp>
      <p:sp>
        <p:nvSpPr>
          <p:cNvPr id="13" name="TextBox 12"/>
          <p:cNvSpPr txBox="1"/>
          <p:nvPr/>
        </p:nvSpPr>
        <p:spPr>
          <a:xfrm>
            <a:off x="7863840" y="4197096"/>
            <a:ext cx="2468880" cy="603242"/>
          </a:xfrm>
          <a:prstGeom prst="rect">
            <a:avLst/>
          </a:prstGeom>
          <a:noFill/>
        </p:spPr>
        <p:txBody>
          <a:bodyPr wrap="square" lIns="54864" tIns="54864" rIns="54864" bIns="54864" anchor="t">
            <a:spAutoFit/>
          </a:bodyPr>
          <a:lstStyle/>
          <a:p>
            <a:pPr algn="l"/>
            <a:r>
              <a:rPr sz="3200" b="1">
                <a:solidFill>
                  <a:srgbClr val="E9C46A"/>
                </a:solidFill>
                <a:latin typeface="Aptos Display"/>
              </a:rPr>
              <a:t>30.48 h</a:t>
            </a:r>
          </a:p>
        </p:txBody>
      </p:sp>
      <p:sp>
        <p:nvSpPr>
          <p:cNvPr id="14" name="TextBox 13"/>
          <p:cNvSpPr txBox="1"/>
          <p:nvPr/>
        </p:nvSpPr>
        <p:spPr>
          <a:xfrm>
            <a:off x="7863840" y="4681728"/>
            <a:ext cx="2468880" cy="326243"/>
          </a:xfrm>
          <a:prstGeom prst="rect">
            <a:avLst/>
          </a:prstGeom>
          <a:noFill/>
        </p:spPr>
        <p:txBody>
          <a:bodyPr wrap="square" lIns="54864" tIns="54864" rIns="54864" bIns="54864" anchor="t">
            <a:spAutoFit/>
          </a:bodyPr>
          <a:lstStyle/>
          <a:p>
            <a:pPr algn="l"/>
            <a:r>
              <a:rPr sz="1400" b="0">
                <a:solidFill>
                  <a:srgbClr val="5B6971"/>
                </a:solidFill>
                <a:latin typeface="Aptos"/>
              </a:rPr>
              <a:t>99th percentile: tail</a:t>
            </a:r>
          </a:p>
        </p:txBody>
      </p:sp>
      <p:sp>
        <p:nvSpPr>
          <p:cNvPr id="15" name="TextBox 14"/>
          <p:cNvSpPr txBox="1"/>
          <p:nvPr/>
        </p:nvSpPr>
        <p:spPr>
          <a:xfrm>
            <a:off x="7863840" y="5047488"/>
            <a:ext cx="2743200" cy="541687"/>
          </a:xfrm>
          <a:prstGeom prst="rect">
            <a:avLst/>
          </a:prstGeom>
          <a:noFill/>
        </p:spPr>
        <p:txBody>
          <a:bodyPr wrap="square" lIns="54864" tIns="54864" rIns="54864" bIns="54864" anchor="t">
            <a:spAutoFit/>
          </a:bodyPr>
          <a:lstStyle/>
          <a:p>
            <a:pPr algn="l"/>
            <a:r>
              <a:rPr sz="1400" b="0" dirty="0">
                <a:solidFill>
                  <a:srgbClr val="23303A"/>
                </a:solidFill>
                <a:latin typeface="Aptos"/>
              </a:rPr>
              <a:t>The mean is 7.16 h; the maximum is 493.07 h.</a:t>
            </a:r>
          </a:p>
        </p:txBody>
      </p:sp>
      <p:sp>
        <p:nvSpPr>
          <p:cNvPr id="16" name="Rectangle 15"/>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754880" cy="201168"/>
          </a:xfrm>
          <a:prstGeom prst="rect">
            <a:avLst/>
          </a:prstGeom>
          <a:noFill/>
        </p:spPr>
        <p:txBody>
          <a:bodyPr wrap="square" lIns="54864" tIns="54864" rIns="54864" bIns="54864" anchor="t">
            <a:spAutoFit/>
          </a:bodyPr>
          <a:lstStyle/>
          <a:p>
            <a:pPr algn="l"/>
            <a:r>
              <a:rPr sz="1000" b="1">
                <a:solidFill>
                  <a:srgbClr val="0F766E"/>
                </a:solidFill>
                <a:latin typeface="Aptos"/>
              </a:rPr>
              <a:t>02  /  OUTCOME</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900" b="1">
                <a:solidFill>
                  <a:srgbClr val="0B1F33"/>
                </a:solidFill>
                <a:latin typeface="Aptos Display"/>
              </a:rPr>
              <a:t>The 4.5-hour split creates a second target</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M2  /  07</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00200"/>
            <a:ext cx="7406640" cy="411480"/>
          </a:xfrm>
          <a:prstGeom prst="rect">
            <a:avLst/>
          </a:prstGeom>
          <a:noFill/>
        </p:spPr>
        <p:txBody>
          <a:bodyPr wrap="square" lIns="54864" tIns="54864" rIns="54864" bIns="54864" anchor="t">
            <a:spAutoFit/>
          </a:bodyPr>
          <a:lstStyle/>
          <a:p>
            <a:pPr algn="l"/>
            <a:r>
              <a:rPr sz="2400" b="1">
                <a:solidFill>
                  <a:srgbClr val="0B1F33"/>
                </a:solidFill>
                <a:latin typeface="Aptos Display"/>
              </a:rPr>
              <a:t>los_long_4_5h = 1 when ED LOS &gt; 4.5 hours</a:t>
            </a:r>
          </a:p>
        </p:txBody>
      </p:sp>
      <p:sp>
        <p:nvSpPr>
          <p:cNvPr id="7" name="Rectangle 6"/>
          <p:cNvSpPr/>
          <p:nvPr/>
        </p:nvSpPr>
        <p:spPr>
          <a:xfrm>
            <a:off x="1097280" y="2999232"/>
            <a:ext cx="9966960" cy="54864"/>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572000" y="2679192"/>
            <a:ext cx="685800" cy="685800"/>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51960" y="3703320"/>
            <a:ext cx="1325880" cy="256032"/>
          </a:xfrm>
          <a:prstGeom prst="rect">
            <a:avLst/>
          </a:prstGeom>
          <a:noFill/>
        </p:spPr>
        <p:txBody>
          <a:bodyPr wrap="square" lIns="54864" tIns="54864" rIns="54864" bIns="54864" anchor="t">
            <a:spAutoFit/>
          </a:bodyPr>
          <a:lstStyle/>
          <a:p>
            <a:pPr algn="ctr"/>
            <a:r>
              <a:rPr sz="1700" b="1">
                <a:solidFill>
                  <a:srgbClr val="E76F51"/>
                </a:solidFill>
                <a:latin typeface="Aptos"/>
              </a:rPr>
              <a:t>4.5 h</a:t>
            </a:r>
          </a:p>
        </p:txBody>
      </p:sp>
      <p:sp>
        <p:nvSpPr>
          <p:cNvPr id="10" name="TextBox 9"/>
          <p:cNvSpPr txBox="1"/>
          <p:nvPr/>
        </p:nvSpPr>
        <p:spPr>
          <a:xfrm>
            <a:off x="960120" y="3520440"/>
            <a:ext cx="1828800" cy="228600"/>
          </a:xfrm>
          <a:prstGeom prst="rect">
            <a:avLst/>
          </a:prstGeom>
          <a:noFill/>
        </p:spPr>
        <p:txBody>
          <a:bodyPr wrap="square" lIns="54864" tIns="54864" rIns="54864" bIns="54864" anchor="t">
            <a:spAutoFit/>
          </a:bodyPr>
          <a:lstStyle/>
          <a:p>
            <a:pPr algn="ctr"/>
            <a:r>
              <a:rPr sz="1800" b="1">
                <a:solidFill>
                  <a:srgbClr val="0F766E"/>
                </a:solidFill>
                <a:latin typeface="Aptos"/>
              </a:rPr>
              <a:t>shorter</a:t>
            </a:r>
          </a:p>
        </p:txBody>
      </p:sp>
      <p:sp>
        <p:nvSpPr>
          <p:cNvPr id="11" name="TextBox 10"/>
          <p:cNvSpPr txBox="1"/>
          <p:nvPr/>
        </p:nvSpPr>
        <p:spPr>
          <a:xfrm>
            <a:off x="9281160" y="3520440"/>
            <a:ext cx="1828800" cy="228600"/>
          </a:xfrm>
          <a:prstGeom prst="rect">
            <a:avLst/>
          </a:prstGeom>
          <a:noFill/>
        </p:spPr>
        <p:txBody>
          <a:bodyPr wrap="square" lIns="54864" tIns="54864" rIns="54864" bIns="54864" anchor="t">
            <a:spAutoFit/>
          </a:bodyPr>
          <a:lstStyle/>
          <a:p>
            <a:pPr algn="ctr"/>
            <a:r>
              <a:rPr sz="1800" b="1">
                <a:solidFill>
                  <a:srgbClr val="E76F51"/>
                </a:solidFill>
                <a:latin typeface="Aptos"/>
              </a:rPr>
              <a:t>longer</a:t>
            </a:r>
          </a:p>
        </p:txBody>
      </p:sp>
      <p:sp>
        <p:nvSpPr>
          <p:cNvPr id="12" name="TextBox 11"/>
          <p:cNvSpPr txBox="1"/>
          <p:nvPr/>
        </p:nvSpPr>
        <p:spPr>
          <a:xfrm>
            <a:off x="822960" y="4709160"/>
            <a:ext cx="3017520" cy="438912"/>
          </a:xfrm>
          <a:prstGeom prst="rect">
            <a:avLst/>
          </a:prstGeom>
          <a:noFill/>
        </p:spPr>
        <p:txBody>
          <a:bodyPr wrap="square" lIns="54864" tIns="54864" rIns="54864" bIns="54864" anchor="t">
            <a:spAutoFit/>
          </a:bodyPr>
          <a:lstStyle/>
          <a:p>
            <a:pPr algn="l"/>
            <a:r>
              <a:rPr sz="3000" b="1">
                <a:solidFill>
                  <a:srgbClr val="E76F51"/>
                </a:solidFill>
                <a:latin typeface="Aptos Display"/>
              </a:rPr>
              <a:t>62.02%</a:t>
            </a:r>
          </a:p>
        </p:txBody>
      </p:sp>
      <p:sp>
        <p:nvSpPr>
          <p:cNvPr id="13" name="TextBox 12"/>
          <p:cNvSpPr txBox="1"/>
          <p:nvPr/>
        </p:nvSpPr>
        <p:spPr>
          <a:xfrm>
            <a:off x="822960" y="5193792"/>
            <a:ext cx="3017520" cy="347472"/>
          </a:xfrm>
          <a:prstGeom prst="rect">
            <a:avLst/>
          </a:prstGeom>
          <a:noFill/>
        </p:spPr>
        <p:txBody>
          <a:bodyPr wrap="square" lIns="54864" tIns="54864" rIns="54864" bIns="54864" anchor="t">
            <a:spAutoFit/>
          </a:bodyPr>
          <a:lstStyle/>
          <a:p>
            <a:pPr algn="l"/>
            <a:r>
              <a:rPr sz="1200" b="0">
                <a:solidFill>
                  <a:srgbClr val="5B6971"/>
                </a:solidFill>
                <a:latin typeface="Aptos"/>
              </a:rPr>
              <a:t>of valid stays are above the threshold</a:t>
            </a:r>
          </a:p>
        </p:txBody>
      </p:sp>
      <p:sp>
        <p:nvSpPr>
          <p:cNvPr id="14" name="Rounded Rectangle 13"/>
          <p:cNvSpPr/>
          <p:nvPr/>
        </p:nvSpPr>
        <p:spPr>
          <a:xfrm>
            <a:off x="4572000" y="4599432"/>
            <a:ext cx="6629400" cy="86868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46320" y="4800600"/>
            <a:ext cx="6080760" cy="411480"/>
          </a:xfrm>
          <a:prstGeom prst="rect">
            <a:avLst/>
          </a:prstGeom>
          <a:noFill/>
        </p:spPr>
        <p:txBody>
          <a:bodyPr wrap="square" lIns="54864" tIns="54864" rIns="54864" bIns="54864" anchor="t">
            <a:spAutoFit/>
          </a:bodyPr>
          <a:lstStyle/>
          <a:p>
            <a:pPr algn="ctr"/>
            <a:r>
              <a:rPr sz="1400" b="1">
                <a:solidFill>
                  <a:srgbClr val="0B1F33"/>
                </a:solidFill>
                <a:latin typeface="Aptos"/>
              </a:rPr>
              <a:t>Useful for an operational teaching question, but not a natural law. A 4.49-hour stay and a 4.51-hour stay are nearly identical.</a:t>
            </a:r>
          </a:p>
        </p:txBody>
      </p:sp>
      <p:sp>
        <p:nvSpPr>
          <p:cNvPr id="16" name="Rectangle 15"/>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754880" cy="201168"/>
          </a:xfrm>
          <a:prstGeom prst="rect">
            <a:avLst/>
          </a:prstGeom>
          <a:noFill/>
        </p:spPr>
        <p:txBody>
          <a:bodyPr wrap="square" lIns="54864" tIns="54864" rIns="54864" bIns="54864" anchor="t">
            <a:spAutoFit/>
          </a:bodyPr>
          <a:lstStyle/>
          <a:p>
            <a:pPr algn="l"/>
            <a:r>
              <a:rPr sz="1000" b="1">
                <a:solidFill>
                  <a:srgbClr val="0F766E"/>
                </a:solidFill>
                <a:latin typeface="Aptos"/>
              </a:rPr>
              <a:t>03  /  GROUP ANALYSIS</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900" b="1">
                <a:solidFill>
                  <a:srgbClr val="0B1F33"/>
                </a:solidFill>
                <a:latin typeface="Aptos Display"/>
              </a:rPr>
              <a:t>Group comparisons generate questions</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M2  /  08</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685800" y="1554480"/>
            <a:ext cx="5897880" cy="3931920"/>
          </a:xfrm>
          <a:prstGeom prst="rect">
            <a:avLst/>
          </a:prstGeom>
        </p:spPr>
      </p:pic>
      <p:sp>
        <p:nvSpPr>
          <p:cNvPr id="7" name="Rounded Rectangle 6"/>
          <p:cNvSpPr/>
          <p:nvPr/>
        </p:nvSpPr>
        <p:spPr>
          <a:xfrm>
            <a:off x="6995160" y="1600200"/>
            <a:ext cx="4297680" cy="3977639"/>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60920" y="1920240"/>
            <a:ext cx="3474720" cy="274320"/>
          </a:xfrm>
          <a:prstGeom prst="rect">
            <a:avLst/>
          </a:prstGeom>
          <a:noFill/>
        </p:spPr>
        <p:txBody>
          <a:bodyPr wrap="square" lIns="54864" tIns="54864" rIns="54864" bIns="54864" anchor="t">
            <a:spAutoFit/>
          </a:bodyPr>
          <a:lstStyle/>
          <a:p>
            <a:pPr algn="l"/>
            <a:r>
              <a:rPr sz="2000" b="1">
                <a:solidFill>
                  <a:srgbClr val="0F766E"/>
                </a:solidFill>
                <a:latin typeface="Aptos Display"/>
              </a:rPr>
              <a:t>Read the pattern carefully</a:t>
            </a:r>
          </a:p>
        </p:txBody>
      </p:sp>
      <p:sp>
        <p:nvSpPr>
          <p:cNvPr id="9" name="Oval 8"/>
          <p:cNvSpPr/>
          <p:nvPr/>
        </p:nvSpPr>
        <p:spPr>
          <a:xfrm>
            <a:off x="7360920" y="2624327"/>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25512" y="2542032"/>
            <a:ext cx="3081527" cy="292608"/>
          </a:xfrm>
          <a:prstGeom prst="rect">
            <a:avLst/>
          </a:prstGeom>
          <a:noFill/>
        </p:spPr>
        <p:txBody>
          <a:bodyPr wrap="square" lIns="54864" tIns="54864" rIns="54864" bIns="54864" anchor="t">
            <a:spAutoFit/>
          </a:bodyPr>
          <a:lstStyle/>
          <a:p>
            <a:pPr algn="l"/>
            <a:r>
              <a:rPr sz="1400" b="0">
                <a:solidFill>
                  <a:srgbClr val="23303A"/>
                </a:solidFill>
                <a:latin typeface="Aptos"/>
              </a:rPr>
              <a:t>Acuity 2 median: 6.37 hours.</a:t>
            </a:r>
          </a:p>
        </p:txBody>
      </p:sp>
      <p:sp>
        <p:nvSpPr>
          <p:cNvPr id="11" name="Oval 10"/>
          <p:cNvSpPr/>
          <p:nvPr/>
        </p:nvSpPr>
        <p:spPr>
          <a:xfrm>
            <a:off x="7360920" y="3227832"/>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25512" y="3145536"/>
            <a:ext cx="3081527" cy="292608"/>
          </a:xfrm>
          <a:prstGeom prst="rect">
            <a:avLst/>
          </a:prstGeom>
          <a:noFill/>
        </p:spPr>
        <p:txBody>
          <a:bodyPr wrap="square" lIns="54864" tIns="54864" rIns="54864" bIns="54864" anchor="t">
            <a:spAutoFit/>
          </a:bodyPr>
          <a:lstStyle/>
          <a:p>
            <a:pPr algn="l"/>
            <a:r>
              <a:rPr sz="1400" b="0">
                <a:solidFill>
                  <a:srgbClr val="23303A"/>
                </a:solidFill>
                <a:latin typeface="Aptos"/>
              </a:rPr>
              <a:t>Acuity 4 median: 2.72 hours.</a:t>
            </a:r>
          </a:p>
        </p:txBody>
      </p:sp>
      <p:sp>
        <p:nvSpPr>
          <p:cNvPr id="13" name="Oval 12"/>
          <p:cNvSpPr/>
          <p:nvPr/>
        </p:nvSpPr>
        <p:spPr>
          <a:xfrm>
            <a:off x="7360920" y="3831335"/>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25512" y="3749039"/>
            <a:ext cx="3081527" cy="292608"/>
          </a:xfrm>
          <a:prstGeom prst="rect">
            <a:avLst/>
          </a:prstGeom>
          <a:noFill/>
        </p:spPr>
        <p:txBody>
          <a:bodyPr wrap="square" lIns="54864" tIns="54864" rIns="54864" bIns="54864" anchor="t">
            <a:spAutoFit/>
          </a:bodyPr>
          <a:lstStyle/>
          <a:p>
            <a:pPr algn="l"/>
            <a:r>
              <a:rPr sz="1400" b="0">
                <a:solidFill>
                  <a:srgbClr val="23303A"/>
                </a:solidFill>
                <a:latin typeface="Aptos"/>
              </a:rPr>
              <a:t>Group sizes differ, so percentages need denominators.</a:t>
            </a:r>
          </a:p>
        </p:txBody>
      </p:sp>
      <p:sp>
        <p:nvSpPr>
          <p:cNvPr id="15" name="Oval 14"/>
          <p:cNvSpPr/>
          <p:nvPr/>
        </p:nvSpPr>
        <p:spPr>
          <a:xfrm>
            <a:off x="7360920" y="4434840"/>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25512" y="4352544"/>
            <a:ext cx="3081527" cy="292608"/>
          </a:xfrm>
          <a:prstGeom prst="rect">
            <a:avLst/>
          </a:prstGeom>
          <a:noFill/>
        </p:spPr>
        <p:txBody>
          <a:bodyPr wrap="square" lIns="54864" tIns="54864" rIns="54864" bIns="54864" anchor="t">
            <a:spAutoFit/>
          </a:bodyPr>
          <a:lstStyle/>
          <a:p>
            <a:pPr algn="l"/>
            <a:r>
              <a:rPr sz="1400" b="0">
                <a:solidFill>
                  <a:srgbClr val="23303A"/>
                </a:solidFill>
                <a:latin typeface="Aptos"/>
              </a:rPr>
              <a:t>Association may reflect case mix and workflow, not causation.</a:t>
            </a:r>
          </a:p>
        </p:txBody>
      </p:sp>
      <p:sp>
        <p:nvSpPr>
          <p:cNvPr id="17" name="TextBox 16"/>
          <p:cNvSpPr txBox="1"/>
          <p:nvPr/>
        </p:nvSpPr>
        <p:spPr>
          <a:xfrm>
            <a:off x="868680" y="5897880"/>
            <a:ext cx="10058400" cy="228600"/>
          </a:xfrm>
          <a:prstGeom prst="rect">
            <a:avLst/>
          </a:prstGeom>
          <a:noFill/>
        </p:spPr>
        <p:txBody>
          <a:bodyPr wrap="square" lIns="54864" tIns="54864" rIns="54864" bIns="54864" anchor="t">
            <a:spAutoFit/>
          </a:bodyPr>
          <a:lstStyle/>
          <a:p>
            <a:pPr algn="ctr"/>
            <a:r>
              <a:rPr sz="1600" b="1">
                <a:solidFill>
                  <a:srgbClr val="0B1F33"/>
                </a:solidFill>
                <a:latin typeface="Aptos"/>
              </a:rPr>
              <a:t>M2 also compares age groups and arrival transport.</a:t>
            </a:r>
          </a:p>
        </p:txBody>
      </p:sp>
      <p:sp>
        <p:nvSpPr>
          <p:cNvPr id="18" name="Rectangle 17"/>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3657600" cy="182880"/>
          </a:xfrm>
          <a:prstGeom prst="rect">
            <a:avLst/>
          </a:prstGeom>
          <a:noFill/>
        </p:spPr>
        <p:txBody>
          <a:bodyPr wrap="square" lIns="54864" tIns="54864" rIns="54864" bIns="54864" anchor="t">
            <a:spAutoFit/>
          </a:bodyPr>
          <a:lstStyle/>
          <a:p>
            <a:pPr algn="l"/>
            <a:r>
              <a:rPr sz="1000" b="1">
                <a:solidFill>
                  <a:srgbClr val="E9C46A"/>
                </a:solidFill>
                <a:latin typeface="Aptos"/>
              </a:rPr>
              <a:t>04  /  modeling</a:t>
            </a:r>
          </a:p>
        </p:txBody>
      </p:sp>
      <p:sp>
        <p:nvSpPr>
          <p:cNvPr id="3" name="TextBox 2"/>
          <p:cNvSpPr txBox="1"/>
          <p:nvPr/>
        </p:nvSpPr>
        <p:spPr>
          <a:xfrm>
            <a:off x="548640" y="658368"/>
            <a:ext cx="7955279" cy="530352"/>
          </a:xfrm>
          <a:prstGeom prst="rect">
            <a:avLst/>
          </a:prstGeom>
          <a:noFill/>
        </p:spPr>
        <p:txBody>
          <a:bodyPr wrap="square" lIns="54864" tIns="54864" rIns="54864" bIns="54864" anchor="t">
            <a:spAutoFit/>
          </a:bodyPr>
          <a:lstStyle/>
          <a:p>
            <a:pPr algn="l"/>
            <a:r>
              <a:rPr sz="3000" b="1">
                <a:solidFill>
                  <a:srgbClr val="FFFFFF"/>
                </a:solidFill>
                <a:latin typeface="Aptos Display"/>
              </a:rPr>
              <a:t>Start with the information boundary</a:t>
            </a:r>
          </a:p>
        </p:txBody>
      </p:sp>
      <p:sp>
        <p:nvSpPr>
          <p:cNvPr id="4" name="Rounded Rectangle 3"/>
          <p:cNvSpPr/>
          <p:nvPr/>
        </p:nvSpPr>
        <p:spPr>
          <a:xfrm>
            <a:off x="777240" y="1691640"/>
            <a:ext cx="3246120" cy="2331720"/>
          </a:xfrm>
          <a:prstGeom prst="roundRect">
            <a:avLst>
              <a:gd name="adj" fmla="val 8000"/>
            </a:avLst>
          </a:prstGeom>
          <a:solidFill>
            <a:srgbClr val="183143"/>
          </a:solidFill>
          <a:ln>
            <a:solidFill>
              <a:srgbClr val="1831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 name="Rectangle 4"/>
          <p:cNvSpPr/>
          <p:nvPr/>
        </p:nvSpPr>
        <p:spPr>
          <a:xfrm>
            <a:off x="777240" y="1691640"/>
            <a:ext cx="3246120" cy="91440"/>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TextBox 5"/>
          <p:cNvSpPr txBox="1"/>
          <p:nvPr/>
        </p:nvSpPr>
        <p:spPr>
          <a:xfrm>
            <a:off x="1033271" y="2057400"/>
            <a:ext cx="2697480" cy="418576"/>
          </a:xfrm>
          <a:prstGeom prst="rect">
            <a:avLst/>
          </a:prstGeom>
          <a:noFill/>
        </p:spPr>
        <p:txBody>
          <a:bodyPr wrap="square" lIns="54864" tIns="54864" rIns="54864" bIns="54864" anchor="t">
            <a:spAutoFit/>
          </a:bodyPr>
          <a:lstStyle/>
          <a:p>
            <a:pPr algn="ctr"/>
            <a:r>
              <a:rPr sz="2000" b="1">
                <a:solidFill>
                  <a:srgbClr val="FFFFFF"/>
                </a:solidFill>
                <a:latin typeface="Aptos Display"/>
              </a:rPr>
              <a:t>Triage and context</a:t>
            </a:r>
          </a:p>
        </p:txBody>
      </p:sp>
      <p:sp>
        <p:nvSpPr>
          <p:cNvPr id="7" name="TextBox 6"/>
          <p:cNvSpPr txBox="1"/>
          <p:nvPr/>
        </p:nvSpPr>
        <p:spPr>
          <a:xfrm>
            <a:off x="1097280" y="2670048"/>
            <a:ext cx="2606040" cy="777240"/>
          </a:xfrm>
          <a:prstGeom prst="rect">
            <a:avLst/>
          </a:prstGeom>
          <a:noFill/>
        </p:spPr>
        <p:txBody>
          <a:bodyPr wrap="square" lIns="54864" tIns="54864" rIns="54864" bIns="54864" anchor="t">
            <a:spAutoFit/>
          </a:bodyPr>
          <a:lstStyle/>
          <a:p>
            <a:pPr algn="ctr"/>
            <a:r>
              <a:rPr sz="1400" b="0">
                <a:solidFill>
                  <a:srgbClr val="E4EBEA"/>
                </a:solidFill>
                <a:latin typeface="Aptos"/>
              </a:rPr>
              <a:t>age, gender, race, arrival transport, imputed triage vitals, acuity</a:t>
            </a:r>
          </a:p>
        </p:txBody>
      </p:sp>
      <p:sp>
        <p:nvSpPr>
          <p:cNvPr id="8" name="Rounded Rectangle 7"/>
          <p:cNvSpPr/>
          <p:nvPr/>
        </p:nvSpPr>
        <p:spPr>
          <a:xfrm>
            <a:off x="4526279" y="1691640"/>
            <a:ext cx="3246120" cy="2331720"/>
          </a:xfrm>
          <a:prstGeom prst="roundRect">
            <a:avLst>
              <a:gd name="adj" fmla="val 8000"/>
            </a:avLst>
          </a:prstGeom>
          <a:solidFill>
            <a:srgbClr val="183143"/>
          </a:solidFill>
          <a:ln>
            <a:solidFill>
              <a:srgbClr val="1831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 name="Rectangle 8"/>
          <p:cNvSpPr/>
          <p:nvPr/>
        </p:nvSpPr>
        <p:spPr>
          <a:xfrm>
            <a:off x="4526279" y="1691640"/>
            <a:ext cx="3246120" cy="9144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 name="TextBox 9"/>
          <p:cNvSpPr txBox="1"/>
          <p:nvPr/>
        </p:nvSpPr>
        <p:spPr>
          <a:xfrm>
            <a:off x="4782312" y="2057400"/>
            <a:ext cx="2697480" cy="418576"/>
          </a:xfrm>
          <a:prstGeom prst="rect">
            <a:avLst/>
          </a:prstGeom>
          <a:noFill/>
        </p:spPr>
        <p:txBody>
          <a:bodyPr wrap="square" lIns="54864" tIns="54864" rIns="54864" bIns="54864" anchor="t">
            <a:spAutoFit/>
          </a:bodyPr>
          <a:lstStyle/>
          <a:p>
            <a:pPr algn="ctr"/>
            <a:r>
              <a:rPr sz="2000" b="1">
                <a:solidFill>
                  <a:srgbClr val="FFFFFF"/>
                </a:solidFill>
                <a:latin typeface="Aptos Display"/>
              </a:rPr>
              <a:t>Prior utilization</a:t>
            </a:r>
          </a:p>
        </p:txBody>
      </p:sp>
      <p:sp>
        <p:nvSpPr>
          <p:cNvPr id="11" name="TextBox 10"/>
          <p:cNvSpPr txBox="1"/>
          <p:nvPr/>
        </p:nvSpPr>
        <p:spPr>
          <a:xfrm>
            <a:off x="4846319" y="2670048"/>
            <a:ext cx="2606040" cy="541687"/>
          </a:xfrm>
          <a:prstGeom prst="rect">
            <a:avLst/>
          </a:prstGeom>
          <a:noFill/>
        </p:spPr>
        <p:txBody>
          <a:bodyPr wrap="square" lIns="54864" tIns="54864" rIns="54864" bIns="54864" anchor="t">
            <a:spAutoFit/>
          </a:bodyPr>
          <a:lstStyle/>
          <a:p>
            <a:pPr algn="ctr"/>
            <a:r>
              <a:rPr sz="1400" b="0">
                <a:solidFill>
                  <a:srgbClr val="E4EBEA"/>
                </a:solidFill>
                <a:latin typeface="Aptos"/>
              </a:rPr>
              <a:t>ED, hospital, and ICU counts over 30, 90, and 365 days</a:t>
            </a:r>
          </a:p>
        </p:txBody>
      </p:sp>
      <p:sp>
        <p:nvSpPr>
          <p:cNvPr id="12" name="Rounded Rectangle 11"/>
          <p:cNvSpPr/>
          <p:nvPr/>
        </p:nvSpPr>
        <p:spPr>
          <a:xfrm>
            <a:off x="8275319" y="1691640"/>
            <a:ext cx="3246120" cy="2331720"/>
          </a:xfrm>
          <a:prstGeom prst="roundRect">
            <a:avLst>
              <a:gd name="adj" fmla="val 8000"/>
            </a:avLst>
          </a:prstGeom>
          <a:solidFill>
            <a:srgbClr val="183143"/>
          </a:solidFill>
          <a:ln>
            <a:solidFill>
              <a:srgbClr val="1831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Rectangle 12"/>
          <p:cNvSpPr/>
          <p:nvPr/>
        </p:nvSpPr>
        <p:spPr>
          <a:xfrm>
            <a:off x="8275319" y="1691640"/>
            <a:ext cx="3246120" cy="91440"/>
          </a:xfrm>
          <a:prstGeom prst="rect">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 name="TextBox 13"/>
          <p:cNvSpPr txBox="1"/>
          <p:nvPr/>
        </p:nvSpPr>
        <p:spPr>
          <a:xfrm>
            <a:off x="8531351" y="2057400"/>
            <a:ext cx="2697480" cy="418576"/>
          </a:xfrm>
          <a:prstGeom prst="rect">
            <a:avLst/>
          </a:prstGeom>
          <a:noFill/>
        </p:spPr>
        <p:txBody>
          <a:bodyPr wrap="square" lIns="54864" tIns="54864" rIns="54864" bIns="54864" anchor="t">
            <a:spAutoFit/>
          </a:bodyPr>
          <a:lstStyle/>
          <a:p>
            <a:pPr algn="ctr"/>
            <a:r>
              <a:rPr sz="2000" b="1">
                <a:solidFill>
                  <a:srgbClr val="FFFFFF"/>
                </a:solidFill>
                <a:latin typeface="Aptos Display"/>
              </a:rPr>
              <a:t>Clinical flags</a:t>
            </a:r>
          </a:p>
        </p:txBody>
      </p:sp>
      <p:sp>
        <p:nvSpPr>
          <p:cNvPr id="15" name="TextBox 14"/>
          <p:cNvSpPr txBox="1"/>
          <p:nvPr/>
        </p:nvSpPr>
        <p:spPr>
          <a:xfrm>
            <a:off x="8595359" y="2670048"/>
            <a:ext cx="2606040" cy="541687"/>
          </a:xfrm>
          <a:prstGeom prst="rect">
            <a:avLst/>
          </a:prstGeom>
          <a:noFill/>
        </p:spPr>
        <p:txBody>
          <a:bodyPr wrap="square" lIns="54864" tIns="54864" rIns="54864" bIns="54864" anchor="t">
            <a:spAutoFit/>
          </a:bodyPr>
          <a:lstStyle/>
          <a:p>
            <a:pPr algn="ctr"/>
            <a:r>
              <a:rPr sz="1400" b="0">
                <a:solidFill>
                  <a:srgbClr val="E4EBEA"/>
                </a:solidFill>
                <a:latin typeface="Aptos"/>
              </a:rPr>
              <a:t>chief-complaint indicators and CCI/ECI comorbidity indicators</a:t>
            </a:r>
          </a:p>
        </p:txBody>
      </p:sp>
      <p:sp>
        <p:nvSpPr>
          <p:cNvPr id="16" name="TextBox 15"/>
          <p:cNvSpPr txBox="1"/>
          <p:nvPr/>
        </p:nvSpPr>
        <p:spPr>
          <a:xfrm>
            <a:off x="777240" y="4590288"/>
            <a:ext cx="4206240" cy="726353"/>
          </a:xfrm>
          <a:prstGeom prst="rect">
            <a:avLst/>
          </a:prstGeom>
          <a:noFill/>
        </p:spPr>
        <p:txBody>
          <a:bodyPr wrap="square" lIns="54864" tIns="54864" rIns="54864" bIns="54864" anchor="t">
            <a:spAutoFit/>
          </a:bodyPr>
          <a:lstStyle/>
          <a:p>
            <a:pPr algn="l"/>
            <a:r>
              <a:rPr sz="2000" b="1">
                <a:solidFill>
                  <a:srgbClr val="E9C46A"/>
                </a:solidFill>
                <a:latin typeface="Aptos"/>
              </a:rPr>
              <a:t>Excluded from this triage-time baseline</a:t>
            </a:r>
          </a:p>
        </p:txBody>
      </p:sp>
      <p:sp>
        <p:nvSpPr>
          <p:cNvPr id="17" name="TextBox 16"/>
          <p:cNvSpPr txBox="1"/>
          <p:nvPr/>
        </p:nvSpPr>
        <p:spPr>
          <a:xfrm>
            <a:off x="777239" y="5334448"/>
            <a:ext cx="10424160" cy="357021"/>
          </a:xfrm>
          <a:prstGeom prst="rect">
            <a:avLst/>
          </a:prstGeom>
          <a:noFill/>
        </p:spPr>
        <p:txBody>
          <a:bodyPr wrap="square" lIns="54864" tIns="54864" rIns="54864" bIns="54864" anchor="t">
            <a:spAutoFit/>
          </a:bodyPr>
          <a:lstStyle/>
          <a:p>
            <a:pPr algn="l"/>
            <a:r>
              <a:rPr sz="1600" b="0" dirty="0">
                <a:solidFill>
                  <a:srgbClr val="FFFFFF"/>
                </a:solidFill>
                <a:latin typeface="Aptos"/>
              </a:rPr>
              <a:t>identifiers  |  timestamps  |  disposition  |  ED LOS  |  outcomes  |  later ED measurements  |  medications</a:t>
            </a:r>
          </a:p>
        </p:txBody>
      </p:sp>
      <p:sp>
        <p:nvSpPr>
          <p:cNvPr id="18" name="TextBox 17"/>
          <p:cNvSpPr txBox="1"/>
          <p:nvPr/>
        </p:nvSpPr>
        <p:spPr>
          <a:xfrm>
            <a:off x="777240" y="5870448"/>
            <a:ext cx="10241280" cy="387798"/>
          </a:xfrm>
          <a:prstGeom prst="rect">
            <a:avLst/>
          </a:prstGeom>
          <a:noFill/>
        </p:spPr>
        <p:txBody>
          <a:bodyPr wrap="square" lIns="54864" tIns="54864" rIns="54864" bIns="54864" anchor="t">
            <a:spAutoFit/>
          </a:bodyPr>
          <a:lstStyle/>
          <a:p>
            <a:pPr algn="l"/>
            <a:r>
              <a:rPr b="1">
                <a:solidFill>
                  <a:srgbClr val="E9C46A"/>
                </a:solidFill>
                <a:latin typeface="Aptos"/>
              </a:rPr>
              <a:t>The model may be predictive only if its inputs could exist at the intended prediction time.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754880" cy="201168"/>
          </a:xfrm>
          <a:prstGeom prst="rect">
            <a:avLst/>
          </a:prstGeom>
          <a:noFill/>
        </p:spPr>
        <p:txBody>
          <a:bodyPr wrap="square" lIns="54864" tIns="54864" rIns="54864" bIns="54864" anchor="t">
            <a:spAutoFit/>
          </a:bodyPr>
          <a:lstStyle/>
          <a:p>
            <a:pPr algn="l"/>
            <a:r>
              <a:rPr sz="1000" b="1">
                <a:solidFill>
                  <a:srgbClr val="0F766E"/>
                </a:solidFill>
                <a:latin typeface="Aptos"/>
              </a:rPr>
              <a:t>04  /  MODELING</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900" b="1">
                <a:solidFill>
                  <a:srgbClr val="0B1F33"/>
                </a:solidFill>
                <a:latin typeface="Aptos Display"/>
              </a:rPr>
              <a:t>Train/test splitting: protect the patient boundary</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M2  /  10</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828800"/>
            <a:ext cx="2194560" cy="155448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 name="Oval 6"/>
          <p:cNvSpPr/>
          <p:nvPr/>
        </p:nvSpPr>
        <p:spPr>
          <a:xfrm>
            <a:off x="914400" y="2057400"/>
            <a:ext cx="475488" cy="475488"/>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7"/>
          <p:cNvSpPr txBox="1"/>
          <p:nvPr/>
        </p:nvSpPr>
        <p:spPr>
          <a:xfrm>
            <a:off x="914400" y="2194560"/>
            <a:ext cx="475488" cy="295466"/>
          </a:xfrm>
          <a:prstGeom prst="rect">
            <a:avLst/>
          </a:prstGeom>
          <a:noFill/>
        </p:spPr>
        <p:txBody>
          <a:bodyPr wrap="square" lIns="54864" tIns="54864" rIns="54864" bIns="54864" anchor="t">
            <a:spAutoFit/>
          </a:bodyPr>
          <a:lstStyle/>
          <a:p>
            <a:pPr algn="ctr"/>
            <a:r>
              <a:rPr sz="1200" b="1">
                <a:solidFill>
                  <a:srgbClr val="FFFFFF"/>
                </a:solidFill>
                <a:latin typeface="Aptos"/>
              </a:rPr>
              <a:t>1</a:t>
            </a:r>
          </a:p>
        </p:txBody>
      </p:sp>
      <p:sp>
        <p:nvSpPr>
          <p:cNvPr id="9" name="TextBox 8"/>
          <p:cNvSpPr txBox="1"/>
          <p:nvPr/>
        </p:nvSpPr>
        <p:spPr>
          <a:xfrm>
            <a:off x="1508760" y="2084831"/>
            <a:ext cx="1188720" cy="387798"/>
          </a:xfrm>
          <a:prstGeom prst="rect">
            <a:avLst/>
          </a:prstGeom>
          <a:noFill/>
        </p:spPr>
        <p:txBody>
          <a:bodyPr wrap="square" lIns="54864" tIns="54864" rIns="54864" bIns="54864" anchor="t">
            <a:spAutoFit/>
          </a:bodyPr>
          <a:lstStyle/>
          <a:p>
            <a:pPr algn="l"/>
            <a:r>
              <a:rPr b="1">
                <a:solidFill>
                  <a:srgbClr val="0B1F33"/>
                </a:solidFill>
                <a:latin typeface="Aptos Display"/>
              </a:rPr>
              <a:t>sample</a:t>
            </a:r>
          </a:p>
        </p:txBody>
      </p:sp>
      <p:sp>
        <p:nvSpPr>
          <p:cNvPr id="10" name="TextBox 9"/>
          <p:cNvSpPr txBox="1"/>
          <p:nvPr/>
        </p:nvSpPr>
        <p:spPr>
          <a:xfrm>
            <a:off x="960120" y="2670048"/>
            <a:ext cx="1737360" cy="664797"/>
          </a:xfrm>
          <a:prstGeom prst="rect">
            <a:avLst/>
          </a:prstGeom>
          <a:noFill/>
        </p:spPr>
        <p:txBody>
          <a:bodyPr wrap="square" lIns="54864" tIns="54864" rIns="54864" bIns="54864" anchor="t">
            <a:spAutoFit/>
          </a:bodyPr>
          <a:lstStyle/>
          <a:p>
            <a:pPr algn="ctr"/>
            <a:r>
              <a:rPr sz="1200" b="0">
                <a:solidFill>
                  <a:srgbClr val="23303A"/>
                </a:solidFill>
                <a:latin typeface="Aptos"/>
              </a:rPr>
              <a:t>50,000 rows for a responsive classroom run</a:t>
            </a:r>
          </a:p>
        </p:txBody>
      </p:sp>
      <p:cxnSp>
        <p:nvCxnSpPr>
          <p:cNvPr id="11" name="Connector 10"/>
          <p:cNvCxnSpPr/>
          <p:nvPr/>
        </p:nvCxnSpPr>
        <p:spPr>
          <a:xfrm>
            <a:off x="2971800" y="2596896"/>
            <a:ext cx="502920" cy="0"/>
          </a:xfrm>
          <a:prstGeom prst="line">
            <a:avLst/>
          </a:prstGeom>
          <a:ln w="19050">
            <a:solidFill>
              <a:srgbClr val="5B697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566160" y="1828800"/>
            <a:ext cx="2194560" cy="155448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Oval 12"/>
          <p:cNvSpPr/>
          <p:nvPr/>
        </p:nvSpPr>
        <p:spPr>
          <a:xfrm>
            <a:off x="3749040" y="2057400"/>
            <a:ext cx="475488" cy="47548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 name="TextBox 13"/>
          <p:cNvSpPr txBox="1"/>
          <p:nvPr/>
        </p:nvSpPr>
        <p:spPr>
          <a:xfrm>
            <a:off x="3749040" y="2194560"/>
            <a:ext cx="475488" cy="295466"/>
          </a:xfrm>
          <a:prstGeom prst="rect">
            <a:avLst/>
          </a:prstGeom>
          <a:noFill/>
        </p:spPr>
        <p:txBody>
          <a:bodyPr wrap="square" lIns="54864" tIns="54864" rIns="54864" bIns="54864" anchor="t">
            <a:spAutoFit/>
          </a:bodyPr>
          <a:lstStyle/>
          <a:p>
            <a:pPr algn="ctr"/>
            <a:r>
              <a:rPr sz="1200" b="1">
                <a:solidFill>
                  <a:srgbClr val="FFFFFF"/>
                </a:solidFill>
                <a:latin typeface="Aptos"/>
              </a:rPr>
              <a:t>2</a:t>
            </a:r>
          </a:p>
        </p:txBody>
      </p:sp>
      <p:sp>
        <p:nvSpPr>
          <p:cNvPr id="15" name="TextBox 14"/>
          <p:cNvSpPr txBox="1"/>
          <p:nvPr/>
        </p:nvSpPr>
        <p:spPr>
          <a:xfrm>
            <a:off x="4343400" y="2084831"/>
            <a:ext cx="1188720" cy="387798"/>
          </a:xfrm>
          <a:prstGeom prst="rect">
            <a:avLst/>
          </a:prstGeom>
          <a:noFill/>
        </p:spPr>
        <p:txBody>
          <a:bodyPr wrap="square" lIns="54864" tIns="54864" rIns="54864" bIns="54864" anchor="t">
            <a:spAutoFit/>
          </a:bodyPr>
          <a:lstStyle/>
          <a:p>
            <a:pPr algn="l"/>
            <a:r>
              <a:rPr b="1">
                <a:solidFill>
                  <a:srgbClr val="0B1F33"/>
                </a:solidFill>
                <a:latin typeface="Aptos Display"/>
              </a:rPr>
              <a:t>group</a:t>
            </a:r>
          </a:p>
        </p:txBody>
      </p:sp>
      <p:sp>
        <p:nvSpPr>
          <p:cNvPr id="16" name="TextBox 15"/>
          <p:cNvSpPr txBox="1"/>
          <p:nvPr/>
        </p:nvSpPr>
        <p:spPr>
          <a:xfrm>
            <a:off x="3794760" y="2670048"/>
            <a:ext cx="1737360" cy="480131"/>
          </a:xfrm>
          <a:prstGeom prst="rect">
            <a:avLst/>
          </a:prstGeom>
          <a:noFill/>
        </p:spPr>
        <p:txBody>
          <a:bodyPr wrap="square" lIns="54864" tIns="54864" rIns="54864" bIns="54864" anchor="t">
            <a:spAutoFit/>
          </a:bodyPr>
          <a:lstStyle/>
          <a:p>
            <a:pPr algn="ctr"/>
            <a:r>
              <a:rPr sz="1200" b="0">
                <a:solidFill>
                  <a:srgbClr val="23303A"/>
                </a:solidFill>
                <a:latin typeface="Aptos"/>
              </a:rPr>
              <a:t>subject_id keeps repeated stays together</a:t>
            </a:r>
          </a:p>
        </p:txBody>
      </p:sp>
      <p:cxnSp>
        <p:nvCxnSpPr>
          <p:cNvPr id="17" name="Connector 16"/>
          <p:cNvCxnSpPr/>
          <p:nvPr/>
        </p:nvCxnSpPr>
        <p:spPr>
          <a:xfrm>
            <a:off x="5806440" y="2596896"/>
            <a:ext cx="502920" cy="0"/>
          </a:xfrm>
          <a:prstGeom prst="line">
            <a:avLst/>
          </a:prstGeom>
          <a:ln w="19050">
            <a:solidFill>
              <a:srgbClr val="5B6971"/>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400800" y="1828800"/>
            <a:ext cx="2194560" cy="155448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 name="Oval 18"/>
          <p:cNvSpPr/>
          <p:nvPr/>
        </p:nvSpPr>
        <p:spPr>
          <a:xfrm>
            <a:off x="6583680" y="2057400"/>
            <a:ext cx="475488" cy="475488"/>
          </a:xfrm>
          <a:prstGeom prst="ellipse">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p:cNvSpPr txBox="1"/>
          <p:nvPr/>
        </p:nvSpPr>
        <p:spPr>
          <a:xfrm>
            <a:off x="6583680" y="2194560"/>
            <a:ext cx="475488" cy="295466"/>
          </a:xfrm>
          <a:prstGeom prst="rect">
            <a:avLst/>
          </a:prstGeom>
          <a:noFill/>
        </p:spPr>
        <p:txBody>
          <a:bodyPr wrap="square" lIns="54864" tIns="54864" rIns="54864" bIns="54864" anchor="t">
            <a:spAutoFit/>
          </a:bodyPr>
          <a:lstStyle/>
          <a:p>
            <a:pPr algn="ctr"/>
            <a:r>
              <a:rPr sz="1200" b="1">
                <a:solidFill>
                  <a:srgbClr val="FFFFFF"/>
                </a:solidFill>
                <a:latin typeface="Aptos"/>
              </a:rPr>
              <a:t>3</a:t>
            </a:r>
          </a:p>
        </p:txBody>
      </p:sp>
      <p:sp>
        <p:nvSpPr>
          <p:cNvPr id="21" name="TextBox 20"/>
          <p:cNvSpPr txBox="1"/>
          <p:nvPr/>
        </p:nvSpPr>
        <p:spPr>
          <a:xfrm>
            <a:off x="7178040" y="2084831"/>
            <a:ext cx="1188720" cy="387798"/>
          </a:xfrm>
          <a:prstGeom prst="rect">
            <a:avLst/>
          </a:prstGeom>
          <a:noFill/>
        </p:spPr>
        <p:txBody>
          <a:bodyPr wrap="square" lIns="54864" tIns="54864" rIns="54864" bIns="54864" anchor="t">
            <a:spAutoFit/>
          </a:bodyPr>
          <a:lstStyle/>
          <a:p>
            <a:pPr algn="l"/>
            <a:r>
              <a:rPr b="1">
                <a:solidFill>
                  <a:srgbClr val="0B1F33"/>
                </a:solidFill>
                <a:latin typeface="Aptos Display"/>
              </a:rPr>
              <a:t>split</a:t>
            </a:r>
          </a:p>
        </p:txBody>
      </p:sp>
      <p:sp>
        <p:nvSpPr>
          <p:cNvPr id="22" name="TextBox 21"/>
          <p:cNvSpPr txBox="1"/>
          <p:nvPr/>
        </p:nvSpPr>
        <p:spPr>
          <a:xfrm>
            <a:off x="6629400" y="2670048"/>
            <a:ext cx="1737360" cy="295466"/>
          </a:xfrm>
          <a:prstGeom prst="rect">
            <a:avLst/>
          </a:prstGeom>
          <a:noFill/>
        </p:spPr>
        <p:txBody>
          <a:bodyPr wrap="square" lIns="54864" tIns="54864" rIns="54864" bIns="54864" anchor="t">
            <a:spAutoFit/>
          </a:bodyPr>
          <a:lstStyle/>
          <a:p>
            <a:pPr algn="ctr"/>
            <a:r>
              <a:rPr sz="1200" b="0">
                <a:solidFill>
                  <a:srgbClr val="23303A"/>
                </a:solidFill>
                <a:latin typeface="Aptos"/>
              </a:rPr>
              <a:t>80% train / 20% test</a:t>
            </a:r>
          </a:p>
        </p:txBody>
      </p:sp>
      <p:cxnSp>
        <p:nvCxnSpPr>
          <p:cNvPr id="23" name="Connector 22"/>
          <p:cNvCxnSpPr/>
          <p:nvPr/>
        </p:nvCxnSpPr>
        <p:spPr>
          <a:xfrm>
            <a:off x="8641080" y="2596896"/>
            <a:ext cx="502920" cy="0"/>
          </a:xfrm>
          <a:prstGeom prst="line">
            <a:avLst/>
          </a:prstGeom>
          <a:ln w="19050">
            <a:solidFill>
              <a:srgbClr val="5B6971"/>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235440" y="1828800"/>
            <a:ext cx="2194560" cy="155448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5" name="Oval 24"/>
          <p:cNvSpPr/>
          <p:nvPr/>
        </p:nvSpPr>
        <p:spPr>
          <a:xfrm>
            <a:off x="9418320" y="2057400"/>
            <a:ext cx="475488" cy="475488"/>
          </a:xfrm>
          <a:prstGeom prst="ellipse">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6" name="TextBox 25"/>
          <p:cNvSpPr txBox="1"/>
          <p:nvPr/>
        </p:nvSpPr>
        <p:spPr>
          <a:xfrm>
            <a:off x="9418320" y="2194560"/>
            <a:ext cx="475488" cy="295466"/>
          </a:xfrm>
          <a:prstGeom prst="rect">
            <a:avLst/>
          </a:prstGeom>
          <a:noFill/>
        </p:spPr>
        <p:txBody>
          <a:bodyPr wrap="square" lIns="54864" tIns="54864" rIns="54864" bIns="54864" anchor="t">
            <a:spAutoFit/>
          </a:bodyPr>
          <a:lstStyle/>
          <a:p>
            <a:pPr algn="ctr"/>
            <a:r>
              <a:rPr sz="1200" b="1">
                <a:solidFill>
                  <a:srgbClr val="0B1F33"/>
                </a:solidFill>
                <a:latin typeface="Aptos"/>
              </a:rPr>
              <a:t>4</a:t>
            </a:r>
          </a:p>
        </p:txBody>
      </p:sp>
      <p:sp>
        <p:nvSpPr>
          <p:cNvPr id="27" name="TextBox 26"/>
          <p:cNvSpPr txBox="1"/>
          <p:nvPr/>
        </p:nvSpPr>
        <p:spPr>
          <a:xfrm>
            <a:off x="10012680" y="2084831"/>
            <a:ext cx="1188720" cy="387798"/>
          </a:xfrm>
          <a:prstGeom prst="rect">
            <a:avLst/>
          </a:prstGeom>
          <a:noFill/>
        </p:spPr>
        <p:txBody>
          <a:bodyPr wrap="square" lIns="54864" tIns="54864" rIns="54864" bIns="54864" anchor="t">
            <a:spAutoFit/>
          </a:bodyPr>
          <a:lstStyle/>
          <a:p>
            <a:pPr algn="l"/>
            <a:r>
              <a:rPr b="1">
                <a:solidFill>
                  <a:srgbClr val="0B1F33"/>
                </a:solidFill>
                <a:latin typeface="Aptos Display"/>
              </a:rPr>
              <a:t>evaluate</a:t>
            </a:r>
          </a:p>
        </p:txBody>
      </p:sp>
      <p:sp>
        <p:nvSpPr>
          <p:cNvPr id="28" name="TextBox 27"/>
          <p:cNvSpPr txBox="1"/>
          <p:nvPr/>
        </p:nvSpPr>
        <p:spPr>
          <a:xfrm>
            <a:off x="9464040" y="2670048"/>
            <a:ext cx="1737360" cy="480131"/>
          </a:xfrm>
          <a:prstGeom prst="rect">
            <a:avLst/>
          </a:prstGeom>
          <a:noFill/>
        </p:spPr>
        <p:txBody>
          <a:bodyPr wrap="square" lIns="54864" tIns="54864" rIns="54864" bIns="54864" anchor="t">
            <a:spAutoFit/>
          </a:bodyPr>
          <a:lstStyle/>
          <a:p>
            <a:pPr algn="ctr"/>
            <a:r>
              <a:rPr sz="1200" b="0">
                <a:solidFill>
                  <a:srgbClr val="23303A"/>
                </a:solidFill>
                <a:latin typeface="Aptos"/>
              </a:rPr>
              <a:t>test performance is held until the end</a:t>
            </a:r>
          </a:p>
        </p:txBody>
      </p:sp>
      <p:sp>
        <p:nvSpPr>
          <p:cNvPr id="29" name="TextBox 28"/>
          <p:cNvSpPr txBox="1"/>
          <p:nvPr/>
        </p:nvSpPr>
        <p:spPr>
          <a:xfrm>
            <a:off x="868680" y="4343400"/>
            <a:ext cx="2194560" cy="603242"/>
          </a:xfrm>
          <a:prstGeom prst="rect">
            <a:avLst/>
          </a:prstGeom>
          <a:noFill/>
        </p:spPr>
        <p:txBody>
          <a:bodyPr wrap="square" lIns="54864" tIns="54864" rIns="54864" bIns="54864" anchor="t">
            <a:spAutoFit/>
          </a:bodyPr>
          <a:lstStyle/>
          <a:p>
            <a:pPr algn="l"/>
            <a:r>
              <a:rPr sz="3200" b="1">
                <a:solidFill>
                  <a:srgbClr val="0F766E"/>
                </a:solidFill>
                <a:latin typeface="Aptos Display"/>
              </a:rPr>
              <a:t>40,009</a:t>
            </a:r>
          </a:p>
        </p:txBody>
      </p:sp>
      <p:sp>
        <p:nvSpPr>
          <p:cNvPr id="30" name="TextBox 29"/>
          <p:cNvSpPr txBox="1"/>
          <p:nvPr/>
        </p:nvSpPr>
        <p:spPr>
          <a:xfrm>
            <a:off x="868680" y="4828032"/>
            <a:ext cx="2194560" cy="326243"/>
          </a:xfrm>
          <a:prstGeom prst="rect">
            <a:avLst/>
          </a:prstGeom>
          <a:noFill/>
        </p:spPr>
        <p:txBody>
          <a:bodyPr wrap="square" lIns="54864" tIns="54864" rIns="54864" bIns="54864" anchor="t">
            <a:spAutoFit/>
          </a:bodyPr>
          <a:lstStyle/>
          <a:p>
            <a:pPr algn="l"/>
            <a:r>
              <a:rPr sz="1400" b="0">
                <a:solidFill>
                  <a:srgbClr val="5B6971"/>
                </a:solidFill>
                <a:latin typeface="Aptos"/>
              </a:rPr>
              <a:t>training rows</a:t>
            </a:r>
          </a:p>
        </p:txBody>
      </p:sp>
      <p:sp>
        <p:nvSpPr>
          <p:cNvPr id="31" name="TextBox 30"/>
          <p:cNvSpPr txBox="1"/>
          <p:nvPr/>
        </p:nvSpPr>
        <p:spPr>
          <a:xfrm>
            <a:off x="3383280" y="4343400"/>
            <a:ext cx="2194560" cy="603242"/>
          </a:xfrm>
          <a:prstGeom prst="rect">
            <a:avLst/>
          </a:prstGeom>
          <a:noFill/>
        </p:spPr>
        <p:txBody>
          <a:bodyPr wrap="square" lIns="54864" tIns="54864" rIns="54864" bIns="54864" anchor="t">
            <a:spAutoFit/>
          </a:bodyPr>
          <a:lstStyle/>
          <a:p>
            <a:pPr algn="l"/>
            <a:r>
              <a:rPr sz="3200" b="1">
                <a:solidFill>
                  <a:srgbClr val="E76F51"/>
                </a:solidFill>
                <a:latin typeface="Aptos Display"/>
              </a:rPr>
              <a:t>9,991</a:t>
            </a:r>
          </a:p>
        </p:txBody>
      </p:sp>
      <p:sp>
        <p:nvSpPr>
          <p:cNvPr id="32" name="TextBox 31"/>
          <p:cNvSpPr txBox="1"/>
          <p:nvPr/>
        </p:nvSpPr>
        <p:spPr>
          <a:xfrm>
            <a:off x="3383280" y="4828032"/>
            <a:ext cx="2194560" cy="326243"/>
          </a:xfrm>
          <a:prstGeom prst="rect">
            <a:avLst/>
          </a:prstGeom>
          <a:noFill/>
        </p:spPr>
        <p:txBody>
          <a:bodyPr wrap="square" lIns="54864" tIns="54864" rIns="54864" bIns="54864" anchor="t">
            <a:spAutoFit/>
          </a:bodyPr>
          <a:lstStyle/>
          <a:p>
            <a:pPr algn="l"/>
            <a:r>
              <a:rPr sz="1400" b="0">
                <a:solidFill>
                  <a:srgbClr val="5B6971"/>
                </a:solidFill>
                <a:latin typeface="Aptos"/>
              </a:rPr>
              <a:t>test rows</a:t>
            </a:r>
          </a:p>
        </p:txBody>
      </p:sp>
      <p:sp>
        <p:nvSpPr>
          <p:cNvPr id="33" name="TextBox 32"/>
          <p:cNvSpPr txBox="1"/>
          <p:nvPr/>
        </p:nvSpPr>
        <p:spPr>
          <a:xfrm>
            <a:off x="5897880" y="4343400"/>
            <a:ext cx="2194560" cy="603242"/>
          </a:xfrm>
          <a:prstGeom prst="rect">
            <a:avLst/>
          </a:prstGeom>
          <a:noFill/>
        </p:spPr>
        <p:txBody>
          <a:bodyPr wrap="square" lIns="54864" tIns="54864" rIns="54864" bIns="54864" anchor="t">
            <a:spAutoFit/>
          </a:bodyPr>
          <a:lstStyle/>
          <a:p>
            <a:pPr algn="l"/>
            <a:r>
              <a:rPr sz="3200" b="1">
                <a:solidFill>
                  <a:srgbClr val="599DB5"/>
                </a:solidFill>
                <a:latin typeface="Aptos Display"/>
              </a:rPr>
              <a:t>32,360</a:t>
            </a:r>
          </a:p>
        </p:txBody>
      </p:sp>
      <p:sp>
        <p:nvSpPr>
          <p:cNvPr id="34" name="TextBox 33"/>
          <p:cNvSpPr txBox="1"/>
          <p:nvPr/>
        </p:nvSpPr>
        <p:spPr>
          <a:xfrm>
            <a:off x="5897880" y="4828032"/>
            <a:ext cx="2194560" cy="326243"/>
          </a:xfrm>
          <a:prstGeom prst="rect">
            <a:avLst/>
          </a:prstGeom>
          <a:noFill/>
        </p:spPr>
        <p:txBody>
          <a:bodyPr wrap="square" lIns="54864" tIns="54864" rIns="54864" bIns="54864" anchor="t">
            <a:spAutoFit/>
          </a:bodyPr>
          <a:lstStyle/>
          <a:p>
            <a:pPr algn="l"/>
            <a:r>
              <a:rPr sz="1400" b="0">
                <a:solidFill>
                  <a:srgbClr val="5B6971"/>
                </a:solidFill>
                <a:latin typeface="Aptos"/>
              </a:rPr>
              <a:t>train patients</a:t>
            </a:r>
          </a:p>
        </p:txBody>
      </p:sp>
      <p:sp>
        <p:nvSpPr>
          <p:cNvPr id="35" name="TextBox 34"/>
          <p:cNvSpPr txBox="1"/>
          <p:nvPr/>
        </p:nvSpPr>
        <p:spPr>
          <a:xfrm>
            <a:off x="8412480" y="4343400"/>
            <a:ext cx="2194560" cy="603242"/>
          </a:xfrm>
          <a:prstGeom prst="rect">
            <a:avLst/>
          </a:prstGeom>
          <a:noFill/>
        </p:spPr>
        <p:txBody>
          <a:bodyPr wrap="square" lIns="54864" tIns="54864" rIns="54864" bIns="54864" anchor="t">
            <a:spAutoFit/>
          </a:bodyPr>
          <a:lstStyle/>
          <a:p>
            <a:pPr algn="l"/>
            <a:r>
              <a:rPr sz="3200" b="1">
                <a:solidFill>
                  <a:srgbClr val="E9C46A"/>
                </a:solidFill>
                <a:latin typeface="Aptos Display"/>
              </a:rPr>
              <a:t>8,090</a:t>
            </a:r>
          </a:p>
        </p:txBody>
      </p:sp>
      <p:sp>
        <p:nvSpPr>
          <p:cNvPr id="36" name="TextBox 35"/>
          <p:cNvSpPr txBox="1"/>
          <p:nvPr/>
        </p:nvSpPr>
        <p:spPr>
          <a:xfrm>
            <a:off x="8412480" y="4828032"/>
            <a:ext cx="2194560" cy="326243"/>
          </a:xfrm>
          <a:prstGeom prst="rect">
            <a:avLst/>
          </a:prstGeom>
          <a:noFill/>
        </p:spPr>
        <p:txBody>
          <a:bodyPr wrap="square" lIns="54864" tIns="54864" rIns="54864" bIns="54864" anchor="t">
            <a:spAutoFit/>
          </a:bodyPr>
          <a:lstStyle/>
          <a:p>
            <a:pPr algn="l"/>
            <a:r>
              <a:rPr sz="1400" b="0">
                <a:solidFill>
                  <a:srgbClr val="5B6971"/>
                </a:solidFill>
                <a:latin typeface="Aptos"/>
              </a:rPr>
              <a:t>test patients</a:t>
            </a:r>
          </a:p>
        </p:txBody>
      </p:sp>
      <p:sp>
        <p:nvSpPr>
          <p:cNvPr id="37" name="Rounded Rectangle 36"/>
          <p:cNvSpPr/>
          <p:nvPr/>
        </p:nvSpPr>
        <p:spPr>
          <a:xfrm>
            <a:off x="868680" y="5623560"/>
            <a:ext cx="10332720" cy="50292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8" name="TextBox 37"/>
          <p:cNvSpPr txBox="1"/>
          <p:nvPr/>
        </p:nvSpPr>
        <p:spPr>
          <a:xfrm>
            <a:off x="1097280" y="5769864"/>
            <a:ext cx="9875520" cy="387798"/>
          </a:xfrm>
          <a:prstGeom prst="rect">
            <a:avLst/>
          </a:prstGeom>
          <a:noFill/>
        </p:spPr>
        <p:txBody>
          <a:bodyPr wrap="square" lIns="54864" tIns="54864" rIns="54864" bIns="54864" anchor="t">
            <a:spAutoFit/>
          </a:bodyPr>
          <a:lstStyle/>
          <a:p>
            <a:pPr algn="ctr"/>
            <a:r>
              <a:rPr b="1">
                <a:solidFill>
                  <a:srgbClr val="0B1F33"/>
                </a:solidFill>
                <a:latin typeface="Aptos"/>
              </a:rPr>
              <a:t>Patient overlap in the split: 0</a:t>
            </a:r>
          </a:p>
        </p:txBody>
      </p:sp>
      <p:sp>
        <p:nvSpPr>
          <p:cNvPr id="39" name="Rectangle 38"/>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754880" cy="201168"/>
          </a:xfrm>
          <a:prstGeom prst="rect">
            <a:avLst/>
          </a:prstGeom>
          <a:noFill/>
        </p:spPr>
        <p:txBody>
          <a:bodyPr wrap="square" lIns="54864" tIns="54864" rIns="54864" bIns="54864" anchor="t">
            <a:spAutoFit/>
          </a:bodyPr>
          <a:lstStyle/>
          <a:p>
            <a:pPr algn="l"/>
            <a:r>
              <a:rPr sz="1000" b="1">
                <a:solidFill>
                  <a:srgbClr val="0F766E"/>
                </a:solidFill>
                <a:latin typeface="Aptos"/>
              </a:rPr>
              <a:t>04  /  MODELING</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900" b="1">
                <a:solidFill>
                  <a:srgbClr val="0B1F33"/>
                </a:solidFill>
                <a:latin typeface="Aptos Display"/>
              </a:rPr>
              <a:t>Classification models: different assumptions, same test set</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M2  /  11</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508760"/>
            <a:ext cx="100584" cy="621792"/>
          </a:xfrm>
          <a:prstGeom prst="rect">
            <a:avLst/>
          </a:prstGeom>
          <a:solidFill>
            <a:srgbClr val="5B6971"/>
          </a:solidFill>
          <a:ln>
            <a:solidFill>
              <a:srgbClr val="5B69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1554480"/>
            <a:ext cx="2240280" cy="387798"/>
          </a:xfrm>
          <a:prstGeom prst="rect">
            <a:avLst/>
          </a:prstGeom>
          <a:noFill/>
        </p:spPr>
        <p:txBody>
          <a:bodyPr wrap="square" lIns="54864" tIns="54864" rIns="54864" bIns="54864" anchor="t">
            <a:spAutoFit/>
          </a:bodyPr>
          <a:lstStyle/>
          <a:p>
            <a:pPr algn="l"/>
            <a:r>
              <a:rPr b="1">
                <a:solidFill>
                  <a:srgbClr val="0B1F33"/>
                </a:solidFill>
                <a:latin typeface="Aptos Display"/>
              </a:rPr>
              <a:t>Prior dummy</a:t>
            </a:r>
          </a:p>
        </p:txBody>
      </p:sp>
      <p:sp>
        <p:nvSpPr>
          <p:cNvPr id="8" name="TextBox 7"/>
          <p:cNvSpPr txBox="1"/>
          <p:nvPr/>
        </p:nvSpPr>
        <p:spPr>
          <a:xfrm>
            <a:off x="3520440" y="1554480"/>
            <a:ext cx="4023360" cy="541687"/>
          </a:xfrm>
          <a:prstGeom prst="rect">
            <a:avLst/>
          </a:prstGeom>
          <a:noFill/>
        </p:spPr>
        <p:txBody>
          <a:bodyPr wrap="square" lIns="54864" tIns="54864" rIns="54864" bIns="54864" anchor="t">
            <a:spAutoFit/>
          </a:bodyPr>
          <a:lstStyle/>
          <a:p>
            <a:pPr algn="l"/>
            <a:r>
              <a:rPr sz="1400" b="0">
                <a:solidFill>
                  <a:srgbClr val="23303A"/>
                </a:solidFill>
                <a:latin typeface="Aptos"/>
              </a:rPr>
              <a:t>predicts the training prevalence; a minimum reference</a:t>
            </a:r>
          </a:p>
        </p:txBody>
      </p:sp>
      <p:sp>
        <p:nvSpPr>
          <p:cNvPr id="9" name="TextBox 8"/>
          <p:cNvSpPr txBox="1"/>
          <p:nvPr/>
        </p:nvSpPr>
        <p:spPr>
          <a:xfrm>
            <a:off x="8229600" y="1554480"/>
            <a:ext cx="2377440" cy="326243"/>
          </a:xfrm>
          <a:prstGeom prst="rect">
            <a:avLst/>
          </a:prstGeom>
          <a:noFill/>
        </p:spPr>
        <p:txBody>
          <a:bodyPr wrap="square" lIns="54864" tIns="54864" rIns="54864" bIns="54864" anchor="t">
            <a:spAutoFit/>
          </a:bodyPr>
          <a:lstStyle/>
          <a:p>
            <a:pPr algn="l"/>
            <a:r>
              <a:rPr sz="1400" b="1">
                <a:solidFill>
                  <a:srgbClr val="5B6971"/>
                </a:solidFill>
                <a:latin typeface="Aptos"/>
              </a:rPr>
              <a:t>no patient information</a:t>
            </a:r>
          </a:p>
        </p:txBody>
      </p:sp>
      <p:sp>
        <p:nvSpPr>
          <p:cNvPr id="10" name="Rectangle 9"/>
          <p:cNvSpPr/>
          <p:nvPr/>
        </p:nvSpPr>
        <p:spPr>
          <a:xfrm>
            <a:off x="777240" y="2377439"/>
            <a:ext cx="100584" cy="621792"/>
          </a:xfrm>
          <a:prstGeom prst="rect">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TextBox 10"/>
          <p:cNvSpPr txBox="1"/>
          <p:nvPr/>
        </p:nvSpPr>
        <p:spPr>
          <a:xfrm>
            <a:off x="1097280" y="2423159"/>
            <a:ext cx="2240280" cy="387798"/>
          </a:xfrm>
          <a:prstGeom prst="rect">
            <a:avLst/>
          </a:prstGeom>
          <a:noFill/>
        </p:spPr>
        <p:txBody>
          <a:bodyPr wrap="square" lIns="54864" tIns="54864" rIns="54864" bIns="54864" anchor="t">
            <a:spAutoFit/>
          </a:bodyPr>
          <a:lstStyle/>
          <a:p>
            <a:pPr algn="l"/>
            <a:r>
              <a:rPr b="1">
                <a:solidFill>
                  <a:srgbClr val="0B1F33"/>
                </a:solidFill>
                <a:latin typeface="Aptos Display"/>
              </a:rPr>
              <a:t>Logistic regression</a:t>
            </a:r>
          </a:p>
        </p:txBody>
      </p:sp>
      <p:sp>
        <p:nvSpPr>
          <p:cNvPr id="12" name="TextBox 11"/>
          <p:cNvSpPr txBox="1"/>
          <p:nvPr/>
        </p:nvSpPr>
        <p:spPr>
          <a:xfrm>
            <a:off x="3520440" y="2423159"/>
            <a:ext cx="4023360" cy="326243"/>
          </a:xfrm>
          <a:prstGeom prst="rect">
            <a:avLst/>
          </a:prstGeom>
          <a:noFill/>
        </p:spPr>
        <p:txBody>
          <a:bodyPr wrap="square" lIns="54864" tIns="54864" rIns="54864" bIns="54864" anchor="t">
            <a:spAutoFit/>
          </a:bodyPr>
          <a:lstStyle/>
          <a:p>
            <a:pPr algn="l"/>
            <a:r>
              <a:rPr sz="1400" b="0">
                <a:solidFill>
                  <a:srgbClr val="23303A"/>
                </a:solidFill>
                <a:latin typeface="Aptos"/>
              </a:rPr>
              <a:t>linear decision boundary after preprocessing</a:t>
            </a:r>
          </a:p>
        </p:txBody>
      </p:sp>
      <p:sp>
        <p:nvSpPr>
          <p:cNvPr id="13" name="TextBox 12"/>
          <p:cNvSpPr txBox="1"/>
          <p:nvPr/>
        </p:nvSpPr>
        <p:spPr>
          <a:xfrm>
            <a:off x="8229600" y="2423159"/>
            <a:ext cx="2377440" cy="326243"/>
          </a:xfrm>
          <a:prstGeom prst="rect">
            <a:avLst/>
          </a:prstGeom>
          <a:noFill/>
        </p:spPr>
        <p:txBody>
          <a:bodyPr wrap="square" lIns="54864" tIns="54864" rIns="54864" bIns="54864" anchor="t">
            <a:spAutoFit/>
          </a:bodyPr>
          <a:lstStyle/>
          <a:p>
            <a:pPr algn="l"/>
            <a:r>
              <a:rPr sz="1400" b="1">
                <a:solidFill>
                  <a:srgbClr val="599DB5"/>
                </a:solidFill>
                <a:latin typeface="Aptos"/>
              </a:rPr>
              <a:t>transparent baseline</a:t>
            </a:r>
          </a:p>
        </p:txBody>
      </p:sp>
      <p:sp>
        <p:nvSpPr>
          <p:cNvPr id="14" name="Rectangle 13"/>
          <p:cNvSpPr/>
          <p:nvPr/>
        </p:nvSpPr>
        <p:spPr>
          <a:xfrm>
            <a:off x="777240" y="3246120"/>
            <a:ext cx="100584" cy="621792"/>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5" name="TextBox 14"/>
          <p:cNvSpPr txBox="1"/>
          <p:nvPr/>
        </p:nvSpPr>
        <p:spPr>
          <a:xfrm>
            <a:off x="1097280" y="3291839"/>
            <a:ext cx="2240280" cy="387798"/>
          </a:xfrm>
          <a:prstGeom prst="rect">
            <a:avLst/>
          </a:prstGeom>
          <a:noFill/>
        </p:spPr>
        <p:txBody>
          <a:bodyPr wrap="square" lIns="54864" tIns="54864" rIns="54864" bIns="54864" anchor="t">
            <a:spAutoFit/>
          </a:bodyPr>
          <a:lstStyle/>
          <a:p>
            <a:pPr algn="l"/>
            <a:r>
              <a:rPr b="1">
                <a:solidFill>
                  <a:srgbClr val="0B1F33"/>
                </a:solidFill>
                <a:latin typeface="Aptos Display"/>
              </a:rPr>
              <a:t>Decision tree</a:t>
            </a:r>
          </a:p>
        </p:txBody>
      </p:sp>
      <p:sp>
        <p:nvSpPr>
          <p:cNvPr id="16" name="TextBox 15"/>
          <p:cNvSpPr txBox="1"/>
          <p:nvPr/>
        </p:nvSpPr>
        <p:spPr>
          <a:xfrm>
            <a:off x="3520440" y="3291839"/>
            <a:ext cx="4023360" cy="326243"/>
          </a:xfrm>
          <a:prstGeom prst="rect">
            <a:avLst/>
          </a:prstGeom>
          <a:noFill/>
        </p:spPr>
        <p:txBody>
          <a:bodyPr wrap="square" lIns="54864" tIns="54864" rIns="54864" bIns="54864" anchor="t">
            <a:spAutoFit/>
          </a:bodyPr>
          <a:lstStyle/>
          <a:p>
            <a:pPr algn="l"/>
            <a:r>
              <a:rPr sz="1400" b="0">
                <a:solidFill>
                  <a:srgbClr val="23303A"/>
                </a:solidFill>
                <a:latin typeface="Aptos"/>
              </a:rPr>
              <a:t>recursive rules and interactions</a:t>
            </a:r>
          </a:p>
        </p:txBody>
      </p:sp>
      <p:sp>
        <p:nvSpPr>
          <p:cNvPr id="17" name="TextBox 16"/>
          <p:cNvSpPr txBox="1"/>
          <p:nvPr/>
        </p:nvSpPr>
        <p:spPr>
          <a:xfrm>
            <a:off x="8229600" y="3291839"/>
            <a:ext cx="2377440" cy="326243"/>
          </a:xfrm>
          <a:prstGeom prst="rect">
            <a:avLst/>
          </a:prstGeom>
          <a:noFill/>
        </p:spPr>
        <p:txBody>
          <a:bodyPr wrap="square" lIns="54864" tIns="54864" rIns="54864" bIns="54864" anchor="t">
            <a:spAutoFit/>
          </a:bodyPr>
          <a:lstStyle/>
          <a:p>
            <a:pPr algn="l"/>
            <a:r>
              <a:rPr sz="1400" b="1">
                <a:solidFill>
                  <a:srgbClr val="E9C46A"/>
                </a:solidFill>
                <a:latin typeface="Aptos"/>
              </a:rPr>
              <a:t>interpretable splits</a:t>
            </a:r>
          </a:p>
        </p:txBody>
      </p:sp>
      <p:sp>
        <p:nvSpPr>
          <p:cNvPr id="18" name="Rectangle 17"/>
          <p:cNvSpPr/>
          <p:nvPr/>
        </p:nvSpPr>
        <p:spPr>
          <a:xfrm>
            <a:off x="777240" y="4114800"/>
            <a:ext cx="100584" cy="621792"/>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 name="TextBox 18"/>
          <p:cNvSpPr txBox="1"/>
          <p:nvPr/>
        </p:nvSpPr>
        <p:spPr>
          <a:xfrm>
            <a:off x="1097280" y="4160520"/>
            <a:ext cx="2240280" cy="387798"/>
          </a:xfrm>
          <a:prstGeom prst="rect">
            <a:avLst/>
          </a:prstGeom>
          <a:noFill/>
        </p:spPr>
        <p:txBody>
          <a:bodyPr wrap="square" lIns="54864" tIns="54864" rIns="54864" bIns="54864" anchor="t">
            <a:spAutoFit/>
          </a:bodyPr>
          <a:lstStyle/>
          <a:p>
            <a:pPr algn="l"/>
            <a:r>
              <a:rPr b="1">
                <a:solidFill>
                  <a:srgbClr val="0B1F33"/>
                </a:solidFill>
                <a:latin typeface="Aptos Display"/>
              </a:rPr>
              <a:t>Random forest</a:t>
            </a:r>
          </a:p>
        </p:txBody>
      </p:sp>
      <p:sp>
        <p:nvSpPr>
          <p:cNvPr id="20" name="TextBox 19"/>
          <p:cNvSpPr txBox="1"/>
          <p:nvPr/>
        </p:nvSpPr>
        <p:spPr>
          <a:xfrm>
            <a:off x="3520440" y="4160520"/>
            <a:ext cx="4023360" cy="326243"/>
          </a:xfrm>
          <a:prstGeom prst="rect">
            <a:avLst/>
          </a:prstGeom>
          <a:noFill/>
        </p:spPr>
        <p:txBody>
          <a:bodyPr wrap="square" lIns="54864" tIns="54864" rIns="54864" bIns="54864" anchor="t">
            <a:spAutoFit/>
          </a:bodyPr>
          <a:lstStyle/>
          <a:p>
            <a:pPr algn="l"/>
            <a:r>
              <a:rPr sz="1400" b="0">
                <a:solidFill>
                  <a:srgbClr val="23303A"/>
                </a:solidFill>
                <a:latin typeface="Aptos"/>
              </a:rPr>
              <a:t>many trees averaged together</a:t>
            </a:r>
          </a:p>
        </p:txBody>
      </p:sp>
      <p:sp>
        <p:nvSpPr>
          <p:cNvPr id="21" name="TextBox 20"/>
          <p:cNvSpPr txBox="1"/>
          <p:nvPr/>
        </p:nvSpPr>
        <p:spPr>
          <a:xfrm>
            <a:off x="8229600" y="4160520"/>
            <a:ext cx="2377440" cy="326243"/>
          </a:xfrm>
          <a:prstGeom prst="rect">
            <a:avLst/>
          </a:prstGeom>
          <a:noFill/>
        </p:spPr>
        <p:txBody>
          <a:bodyPr wrap="square" lIns="54864" tIns="54864" rIns="54864" bIns="54864" anchor="t">
            <a:spAutoFit/>
          </a:bodyPr>
          <a:lstStyle/>
          <a:p>
            <a:pPr algn="l"/>
            <a:r>
              <a:rPr sz="1400" b="1">
                <a:solidFill>
                  <a:srgbClr val="E76F51"/>
                </a:solidFill>
                <a:latin typeface="Aptos"/>
              </a:rPr>
              <a:t>nonlinear ensemble</a:t>
            </a:r>
          </a:p>
        </p:txBody>
      </p:sp>
      <p:sp>
        <p:nvSpPr>
          <p:cNvPr id="22" name="Rectangle 21"/>
          <p:cNvSpPr/>
          <p:nvPr/>
        </p:nvSpPr>
        <p:spPr>
          <a:xfrm>
            <a:off x="777240" y="4983479"/>
            <a:ext cx="100584" cy="621792"/>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TextBox 22"/>
          <p:cNvSpPr txBox="1"/>
          <p:nvPr/>
        </p:nvSpPr>
        <p:spPr>
          <a:xfrm>
            <a:off x="1097280" y="5029199"/>
            <a:ext cx="2240280" cy="387798"/>
          </a:xfrm>
          <a:prstGeom prst="rect">
            <a:avLst/>
          </a:prstGeom>
          <a:noFill/>
        </p:spPr>
        <p:txBody>
          <a:bodyPr wrap="square" lIns="54864" tIns="54864" rIns="54864" bIns="54864" anchor="t">
            <a:spAutoFit/>
          </a:bodyPr>
          <a:lstStyle/>
          <a:p>
            <a:pPr algn="l"/>
            <a:r>
              <a:rPr b="1">
                <a:solidFill>
                  <a:srgbClr val="0B1F33"/>
                </a:solidFill>
                <a:latin typeface="Aptos Display"/>
              </a:rPr>
              <a:t>Gradient boosting</a:t>
            </a:r>
          </a:p>
        </p:txBody>
      </p:sp>
      <p:sp>
        <p:nvSpPr>
          <p:cNvPr id="24" name="TextBox 23"/>
          <p:cNvSpPr txBox="1"/>
          <p:nvPr/>
        </p:nvSpPr>
        <p:spPr>
          <a:xfrm>
            <a:off x="3520440" y="5029199"/>
            <a:ext cx="4023360" cy="326243"/>
          </a:xfrm>
          <a:prstGeom prst="rect">
            <a:avLst/>
          </a:prstGeom>
          <a:noFill/>
        </p:spPr>
        <p:txBody>
          <a:bodyPr wrap="square" lIns="54864" tIns="54864" rIns="54864" bIns="54864" anchor="t">
            <a:spAutoFit/>
          </a:bodyPr>
          <a:lstStyle/>
          <a:p>
            <a:pPr algn="l"/>
            <a:r>
              <a:rPr sz="1400" b="0">
                <a:solidFill>
                  <a:srgbClr val="23303A"/>
                </a:solidFill>
                <a:latin typeface="Aptos"/>
              </a:rPr>
              <a:t>sequential trees correct earlier errors</a:t>
            </a:r>
          </a:p>
        </p:txBody>
      </p:sp>
      <p:sp>
        <p:nvSpPr>
          <p:cNvPr id="25" name="TextBox 24"/>
          <p:cNvSpPr txBox="1"/>
          <p:nvPr/>
        </p:nvSpPr>
        <p:spPr>
          <a:xfrm>
            <a:off x="8229600" y="5029199"/>
            <a:ext cx="2377440" cy="326243"/>
          </a:xfrm>
          <a:prstGeom prst="rect">
            <a:avLst/>
          </a:prstGeom>
          <a:noFill/>
        </p:spPr>
        <p:txBody>
          <a:bodyPr wrap="square" lIns="54864" tIns="54864" rIns="54864" bIns="54864" anchor="t">
            <a:spAutoFit/>
          </a:bodyPr>
          <a:lstStyle/>
          <a:p>
            <a:pPr algn="l"/>
            <a:r>
              <a:rPr sz="1400" b="1">
                <a:solidFill>
                  <a:srgbClr val="0F766E"/>
                </a:solidFill>
                <a:latin typeface="Aptos"/>
              </a:rPr>
              <a:t>strong tabular baseline</a:t>
            </a:r>
          </a:p>
        </p:txBody>
      </p:sp>
      <p:sp>
        <p:nvSpPr>
          <p:cNvPr id="26" name="Rounded Rectangle 25"/>
          <p:cNvSpPr/>
          <p:nvPr/>
        </p:nvSpPr>
        <p:spPr>
          <a:xfrm>
            <a:off x="777240" y="5989320"/>
            <a:ext cx="10515600" cy="36576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60120" y="6089904"/>
            <a:ext cx="10149840" cy="164592"/>
          </a:xfrm>
          <a:prstGeom prst="rect">
            <a:avLst/>
          </a:prstGeom>
          <a:noFill/>
        </p:spPr>
        <p:txBody>
          <a:bodyPr wrap="square" lIns="54864" tIns="54864" rIns="54864" bIns="54864" anchor="t">
            <a:spAutoFit/>
          </a:bodyPr>
          <a:lstStyle/>
          <a:p>
            <a:pPr algn="ctr"/>
            <a:r>
              <a:rPr sz="1300" b="1">
                <a:solidFill>
                  <a:srgbClr val="0B1F33"/>
                </a:solidFill>
                <a:latin typeface="Aptos"/>
              </a:rPr>
              <a:t>Fair comparison means shared features, shared preprocessing, shared split, and the same held-out test set.</a:t>
            </a:r>
          </a:p>
        </p:txBody>
      </p:sp>
      <p:sp>
        <p:nvSpPr>
          <p:cNvPr id="28" name="Rectangle 27"/>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754880" cy="201168"/>
          </a:xfrm>
          <a:prstGeom prst="rect">
            <a:avLst/>
          </a:prstGeom>
          <a:noFill/>
        </p:spPr>
        <p:txBody>
          <a:bodyPr wrap="square" lIns="54864" tIns="54864" rIns="54864" bIns="54864" anchor="t">
            <a:spAutoFit/>
          </a:bodyPr>
          <a:lstStyle/>
          <a:p>
            <a:pPr algn="l"/>
            <a:r>
              <a:rPr sz="1000" b="1">
                <a:solidFill>
                  <a:srgbClr val="0F766E"/>
                </a:solidFill>
                <a:latin typeface="Aptos"/>
              </a:rPr>
              <a:t>04  /  MODELING</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900" b="1">
                <a:solidFill>
                  <a:srgbClr val="0B1F33"/>
                </a:solidFill>
                <a:latin typeface="Aptos Display"/>
              </a:rPr>
              <a:t>Classification metrics answer different questions</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M2  /  12</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554480"/>
            <a:ext cx="3108960" cy="1115568"/>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 name="Rectangle 6"/>
          <p:cNvSpPr/>
          <p:nvPr/>
        </p:nvSpPr>
        <p:spPr>
          <a:xfrm>
            <a:off x="731520" y="1554480"/>
            <a:ext cx="91440" cy="1115568"/>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7"/>
          <p:cNvSpPr txBox="1"/>
          <p:nvPr/>
        </p:nvSpPr>
        <p:spPr>
          <a:xfrm>
            <a:off x="1005840" y="1664207"/>
            <a:ext cx="2468880" cy="418576"/>
          </a:xfrm>
          <a:prstGeom prst="rect">
            <a:avLst/>
          </a:prstGeom>
          <a:noFill/>
        </p:spPr>
        <p:txBody>
          <a:bodyPr wrap="square" lIns="54864" tIns="54864" rIns="54864" bIns="54864" anchor="t">
            <a:spAutoFit/>
          </a:bodyPr>
          <a:lstStyle/>
          <a:p>
            <a:pPr algn="l"/>
            <a:r>
              <a:rPr sz="2000" b="1">
                <a:solidFill>
                  <a:srgbClr val="0B1F33"/>
                </a:solidFill>
                <a:latin typeface="Aptos Display"/>
              </a:rPr>
              <a:t>Sensitivity</a:t>
            </a:r>
          </a:p>
        </p:txBody>
      </p:sp>
      <p:sp>
        <p:nvSpPr>
          <p:cNvPr id="9" name="TextBox 8"/>
          <p:cNvSpPr txBox="1"/>
          <p:nvPr/>
        </p:nvSpPr>
        <p:spPr>
          <a:xfrm>
            <a:off x="1005840" y="2039112"/>
            <a:ext cx="2560320" cy="541687"/>
          </a:xfrm>
          <a:prstGeom prst="rect">
            <a:avLst/>
          </a:prstGeom>
          <a:noFill/>
        </p:spPr>
        <p:txBody>
          <a:bodyPr wrap="square" lIns="54864" tIns="54864" rIns="54864" bIns="54864" anchor="t">
            <a:spAutoFit/>
          </a:bodyPr>
          <a:lstStyle/>
          <a:p>
            <a:pPr algn="l"/>
            <a:r>
              <a:rPr sz="1400" b="0">
                <a:solidFill>
                  <a:srgbClr val="23303A"/>
                </a:solidFill>
                <a:latin typeface="Aptos"/>
              </a:rPr>
              <a:t>of true long stays, how many were flagged?</a:t>
            </a:r>
          </a:p>
        </p:txBody>
      </p:sp>
      <p:sp>
        <p:nvSpPr>
          <p:cNvPr id="10" name="Rectangle 9"/>
          <p:cNvSpPr/>
          <p:nvPr/>
        </p:nvSpPr>
        <p:spPr>
          <a:xfrm>
            <a:off x="4480559" y="1554480"/>
            <a:ext cx="3108960" cy="1115568"/>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Rectangle 10"/>
          <p:cNvSpPr/>
          <p:nvPr/>
        </p:nvSpPr>
        <p:spPr>
          <a:xfrm>
            <a:off x="4480559" y="1554480"/>
            <a:ext cx="91440" cy="1115568"/>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TextBox 11"/>
          <p:cNvSpPr txBox="1"/>
          <p:nvPr/>
        </p:nvSpPr>
        <p:spPr>
          <a:xfrm>
            <a:off x="4754879" y="1664207"/>
            <a:ext cx="2468880" cy="418576"/>
          </a:xfrm>
          <a:prstGeom prst="rect">
            <a:avLst/>
          </a:prstGeom>
          <a:noFill/>
        </p:spPr>
        <p:txBody>
          <a:bodyPr wrap="square" lIns="54864" tIns="54864" rIns="54864" bIns="54864" anchor="t">
            <a:spAutoFit/>
          </a:bodyPr>
          <a:lstStyle/>
          <a:p>
            <a:pPr algn="l"/>
            <a:r>
              <a:rPr sz="2000" b="1">
                <a:solidFill>
                  <a:srgbClr val="0B1F33"/>
                </a:solidFill>
                <a:latin typeface="Aptos Display"/>
              </a:rPr>
              <a:t>Specificity</a:t>
            </a:r>
          </a:p>
        </p:txBody>
      </p:sp>
      <p:sp>
        <p:nvSpPr>
          <p:cNvPr id="13" name="TextBox 12"/>
          <p:cNvSpPr txBox="1"/>
          <p:nvPr/>
        </p:nvSpPr>
        <p:spPr>
          <a:xfrm>
            <a:off x="4754879" y="2039112"/>
            <a:ext cx="2560320" cy="541687"/>
          </a:xfrm>
          <a:prstGeom prst="rect">
            <a:avLst/>
          </a:prstGeom>
          <a:noFill/>
        </p:spPr>
        <p:txBody>
          <a:bodyPr wrap="square" lIns="54864" tIns="54864" rIns="54864" bIns="54864" anchor="t">
            <a:spAutoFit/>
          </a:bodyPr>
          <a:lstStyle/>
          <a:p>
            <a:pPr algn="l"/>
            <a:r>
              <a:rPr sz="1400" b="0">
                <a:solidFill>
                  <a:srgbClr val="23303A"/>
                </a:solidFill>
                <a:latin typeface="Aptos"/>
              </a:rPr>
              <a:t>of shorter stays, how many were left unflagged?</a:t>
            </a:r>
          </a:p>
        </p:txBody>
      </p:sp>
      <p:sp>
        <p:nvSpPr>
          <p:cNvPr id="14" name="Rectangle 13"/>
          <p:cNvSpPr/>
          <p:nvPr/>
        </p:nvSpPr>
        <p:spPr>
          <a:xfrm>
            <a:off x="8229600" y="1554480"/>
            <a:ext cx="3108960" cy="1115568"/>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5" name="Rectangle 14"/>
          <p:cNvSpPr/>
          <p:nvPr/>
        </p:nvSpPr>
        <p:spPr>
          <a:xfrm>
            <a:off x="8229600" y="1554480"/>
            <a:ext cx="91440" cy="1115568"/>
          </a:xfrm>
          <a:prstGeom prst="rect">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8503920" y="1664207"/>
            <a:ext cx="2468880" cy="418576"/>
          </a:xfrm>
          <a:prstGeom prst="rect">
            <a:avLst/>
          </a:prstGeom>
          <a:noFill/>
        </p:spPr>
        <p:txBody>
          <a:bodyPr wrap="square" lIns="54864" tIns="54864" rIns="54864" bIns="54864" anchor="t">
            <a:spAutoFit/>
          </a:bodyPr>
          <a:lstStyle/>
          <a:p>
            <a:pPr algn="l"/>
            <a:r>
              <a:rPr sz="2000" b="1">
                <a:solidFill>
                  <a:srgbClr val="0B1F33"/>
                </a:solidFill>
                <a:latin typeface="Aptos Display"/>
              </a:rPr>
              <a:t>PPV</a:t>
            </a:r>
          </a:p>
        </p:txBody>
      </p:sp>
      <p:sp>
        <p:nvSpPr>
          <p:cNvPr id="17" name="TextBox 16"/>
          <p:cNvSpPr txBox="1"/>
          <p:nvPr/>
        </p:nvSpPr>
        <p:spPr>
          <a:xfrm>
            <a:off x="8503920" y="2039112"/>
            <a:ext cx="2560320" cy="541687"/>
          </a:xfrm>
          <a:prstGeom prst="rect">
            <a:avLst/>
          </a:prstGeom>
          <a:noFill/>
        </p:spPr>
        <p:txBody>
          <a:bodyPr wrap="square" lIns="54864" tIns="54864" rIns="54864" bIns="54864" anchor="t">
            <a:spAutoFit/>
          </a:bodyPr>
          <a:lstStyle/>
          <a:p>
            <a:pPr algn="l"/>
            <a:r>
              <a:rPr sz="1400" b="0">
                <a:solidFill>
                  <a:srgbClr val="23303A"/>
                </a:solidFill>
                <a:latin typeface="Aptos"/>
              </a:rPr>
              <a:t>of flagged stays, how many were actually long?</a:t>
            </a:r>
          </a:p>
        </p:txBody>
      </p:sp>
      <p:sp>
        <p:nvSpPr>
          <p:cNvPr id="18" name="Rectangle 17"/>
          <p:cNvSpPr/>
          <p:nvPr/>
        </p:nvSpPr>
        <p:spPr>
          <a:xfrm>
            <a:off x="731520" y="3383280"/>
            <a:ext cx="3108960" cy="1115568"/>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 name="Rectangle 18"/>
          <p:cNvSpPr/>
          <p:nvPr/>
        </p:nvSpPr>
        <p:spPr>
          <a:xfrm>
            <a:off x="731520" y="3383280"/>
            <a:ext cx="91440" cy="1115568"/>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p:cNvSpPr txBox="1"/>
          <p:nvPr/>
        </p:nvSpPr>
        <p:spPr>
          <a:xfrm>
            <a:off x="1005840" y="3493008"/>
            <a:ext cx="2468880" cy="418576"/>
          </a:xfrm>
          <a:prstGeom prst="rect">
            <a:avLst/>
          </a:prstGeom>
          <a:noFill/>
        </p:spPr>
        <p:txBody>
          <a:bodyPr wrap="square" lIns="54864" tIns="54864" rIns="54864" bIns="54864" anchor="t">
            <a:spAutoFit/>
          </a:bodyPr>
          <a:lstStyle/>
          <a:p>
            <a:pPr algn="l"/>
            <a:r>
              <a:rPr sz="2000" b="1">
                <a:solidFill>
                  <a:srgbClr val="0B1F33"/>
                </a:solidFill>
                <a:latin typeface="Aptos Display"/>
              </a:rPr>
              <a:t>F1</a:t>
            </a:r>
          </a:p>
        </p:txBody>
      </p:sp>
      <p:sp>
        <p:nvSpPr>
          <p:cNvPr id="21" name="TextBox 20"/>
          <p:cNvSpPr txBox="1"/>
          <p:nvPr/>
        </p:nvSpPr>
        <p:spPr>
          <a:xfrm>
            <a:off x="1005840" y="3867912"/>
            <a:ext cx="2560320" cy="541687"/>
          </a:xfrm>
          <a:prstGeom prst="rect">
            <a:avLst/>
          </a:prstGeom>
          <a:noFill/>
        </p:spPr>
        <p:txBody>
          <a:bodyPr wrap="square" lIns="54864" tIns="54864" rIns="54864" bIns="54864" anchor="t">
            <a:spAutoFit/>
          </a:bodyPr>
          <a:lstStyle/>
          <a:p>
            <a:pPr algn="l"/>
            <a:r>
              <a:rPr sz="1400" b="0">
                <a:solidFill>
                  <a:srgbClr val="23303A"/>
                </a:solidFill>
                <a:latin typeface="Aptos"/>
              </a:rPr>
              <a:t>a balance of precision and recall</a:t>
            </a:r>
          </a:p>
        </p:txBody>
      </p:sp>
      <p:sp>
        <p:nvSpPr>
          <p:cNvPr id="22" name="Rectangle 21"/>
          <p:cNvSpPr/>
          <p:nvPr/>
        </p:nvSpPr>
        <p:spPr>
          <a:xfrm>
            <a:off x="4480559" y="3383280"/>
            <a:ext cx="3108960" cy="1115568"/>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Rectangle 22"/>
          <p:cNvSpPr/>
          <p:nvPr/>
        </p:nvSpPr>
        <p:spPr>
          <a:xfrm>
            <a:off x="4480559" y="3383280"/>
            <a:ext cx="91440" cy="1115568"/>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p:cNvSpPr txBox="1"/>
          <p:nvPr/>
        </p:nvSpPr>
        <p:spPr>
          <a:xfrm>
            <a:off x="4754879" y="3493008"/>
            <a:ext cx="2468880" cy="418576"/>
          </a:xfrm>
          <a:prstGeom prst="rect">
            <a:avLst/>
          </a:prstGeom>
          <a:noFill/>
        </p:spPr>
        <p:txBody>
          <a:bodyPr wrap="square" lIns="54864" tIns="54864" rIns="54864" bIns="54864" anchor="t">
            <a:spAutoFit/>
          </a:bodyPr>
          <a:lstStyle/>
          <a:p>
            <a:pPr algn="l"/>
            <a:r>
              <a:rPr sz="2000" b="1">
                <a:solidFill>
                  <a:srgbClr val="0B1F33"/>
                </a:solidFill>
                <a:latin typeface="Aptos Display"/>
              </a:rPr>
              <a:t>AUROC</a:t>
            </a:r>
          </a:p>
        </p:txBody>
      </p:sp>
      <p:sp>
        <p:nvSpPr>
          <p:cNvPr id="25" name="TextBox 24"/>
          <p:cNvSpPr txBox="1"/>
          <p:nvPr/>
        </p:nvSpPr>
        <p:spPr>
          <a:xfrm>
            <a:off x="4754879" y="3867912"/>
            <a:ext cx="2560320" cy="541687"/>
          </a:xfrm>
          <a:prstGeom prst="rect">
            <a:avLst/>
          </a:prstGeom>
          <a:noFill/>
        </p:spPr>
        <p:txBody>
          <a:bodyPr wrap="square" lIns="54864" tIns="54864" rIns="54864" bIns="54864" anchor="t">
            <a:spAutoFit/>
          </a:bodyPr>
          <a:lstStyle/>
          <a:p>
            <a:pPr algn="l"/>
            <a:r>
              <a:rPr sz="1400" b="0">
                <a:solidFill>
                  <a:srgbClr val="23303A"/>
                </a:solidFill>
                <a:latin typeface="Aptos"/>
              </a:rPr>
              <a:t>ranking quality across all thresholds</a:t>
            </a:r>
          </a:p>
        </p:txBody>
      </p:sp>
      <p:sp>
        <p:nvSpPr>
          <p:cNvPr id="26" name="Rectangle 25"/>
          <p:cNvSpPr/>
          <p:nvPr/>
        </p:nvSpPr>
        <p:spPr>
          <a:xfrm>
            <a:off x="8229600" y="3383280"/>
            <a:ext cx="3108960" cy="1115568"/>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7" name="Rectangle 26"/>
          <p:cNvSpPr/>
          <p:nvPr/>
        </p:nvSpPr>
        <p:spPr>
          <a:xfrm>
            <a:off x="8229600" y="3383280"/>
            <a:ext cx="91440" cy="1115568"/>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8" name="TextBox 27"/>
          <p:cNvSpPr txBox="1"/>
          <p:nvPr/>
        </p:nvSpPr>
        <p:spPr>
          <a:xfrm>
            <a:off x="8503920" y="3493008"/>
            <a:ext cx="2468880" cy="418576"/>
          </a:xfrm>
          <a:prstGeom prst="rect">
            <a:avLst/>
          </a:prstGeom>
          <a:noFill/>
        </p:spPr>
        <p:txBody>
          <a:bodyPr wrap="square" lIns="54864" tIns="54864" rIns="54864" bIns="54864" anchor="t">
            <a:spAutoFit/>
          </a:bodyPr>
          <a:lstStyle/>
          <a:p>
            <a:pPr algn="l"/>
            <a:r>
              <a:rPr sz="2000" b="1">
                <a:solidFill>
                  <a:srgbClr val="0B1F33"/>
                </a:solidFill>
                <a:latin typeface="Aptos Display"/>
              </a:rPr>
              <a:t>Average precision</a:t>
            </a:r>
          </a:p>
        </p:txBody>
      </p:sp>
      <p:sp>
        <p:nvSpPr>
          <p:cNvPr id="29" name="TextBox 28"/>
          <p:cNvSpPr txBox="1"/>
          <p:nvPr/>
        </p:nvSpPr>
        <p:spPr>
          <a:xfrm>
            <a:off x="8503920" y="3867912"/>
            <a:ext cx="2560320" cy="541687"/>
          </a:xfrm>
          <a:prstGeom prst="rect">
            <a:avLst/>
          </a:prstGeom>
          <a:noFill/>
        </p:spPr>
        <p:txBody>
          <a:bodyPr wrap="square" lIns="54864" tIns="54864" rIns="54864" bIns="54864" anchor="t">
            <a:spAutoFit/>
          </a:bodyPr>
          <a:lstStyle/>
          <a:p>
            <a:pPr algn="l"/>
            <a:r>
              <a:rPr sz="1400" b="0">
                <a:solidFill>
                  <a:srgbClr val="23303A"/>
                </a:solidFill>
                <a:latin typeface="Aptos"/>
              </a:rPr>
              <a:t>precision-recall summary, useful with imbalance</a:t>
            </a:r>
          </a:p>
        </p:txBody>
      </p:sp>
      <p:sp>
        <p:nvSpPr>
          <p:cNvPr id="30" name="TextBox 29"/>
          <p:cNvSpPr txBox="1"/>
          <p:nvPr/>
        </p:nvSpPr>
        <p:spPr>
          <a:xfrm>
            <a:off x="868680" y="5687568"/>
            <a:ext cx="10332720" cy="347472"/>
          </a:xfrm>
          <a:prstGeom prst="rect">
            <a:avLst/>
          </a:prstGeom>
          <a:noFill/>
        </p:spPr>
        <p:txBody>
          <a:bodyPr wrap="square" lIns="54864" tIns="54864" rIns="54864" bIns="54864" anchor="t">
            <a:spAutoFit/>
          </a:bodyPr>
          <a:lstStyle/>
          <a:p>
            <a:pPr algn="ctr"/>
            <a:r>
              <a:rPr sz="1800" b="1">
                <a:solidFill>
                  <a:srgbClr val="0B1F33"/>
                </a:solidFill>
                <a:latin typeface="Aptos"/>
              </a:rPr>
              <a:t>No single metric is “the performance.” The right metric depends on the action and the cost of errors.</a:t>
            </a:r>
          </a:p>
        </p:txBody>
      </p:sp>
      <p:sp>
        <p:nvSpPr>
          <p:cNvPr id="31" name="Rectangle 30"/>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754880" cy="201168"/>
          </a:xfrm>
          <a:prstGeom prst="rect">
            <a:avLst/>
          </a:prstGeom>
          <a:noFill/>
        </p:spPr>
        <p:txBody>
          <a:bodyPr wrap="square" lIns="54864" tIns="54864" rIns="54864" bIns="54864" anchor="t">
            <a:spAutoFit/>
          </a:bodyPr>
          <a:lstStyle/>
          <a:p>
            <a:pPr algn="l"/>
            <a:r>
              <a:rPr sz="1000" b="1">
                <a:solidFill>
                  <a:srgbClr val="0F766E"/>
                </a:solidFill>
                <a:latin typeface="Aptos"/>
              </a:rPr>
              <a:t>04  /  MODELING</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900" b="1">
                <a:solidFill>
                  <a:srgbClr val="0B1F33"/>
                </a:solidFill>
                <a:latin typeface="Aptos Display"/>
              </a:rPr>
              <a:t>AUROC: compare ranking across thresholds</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M2  /  13</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594360" y="1444752"/>
            <a:ext cx="6629400" cy="4434840"/>
          </a:xfrm>
          <a:prstGeom prst="rect">
            <a:avLst/>
          </a:prstGeom>
        </p:spPr>
      </p:pic>
      <p:pic>
        <p:nvPicPr>
          <p:cNvPr id="7" name="Picture 6" descr="image.png"/>
          <p:cNvPicPr>
            <a:picLocks noChangeAspect="1"/>
          </p:cNvPicPr>
          <p:nvPr/>
        </p:nvPicPr>
        <p:blipFill>
          <a:blip r:embed="rId4"/>
          <a:stretch>
            <a:fillRect/>
          </a:stretch>
        </p:blipFill>
        <p:spPr>
          <a:xfrm>
            <a:off x="7315200" y="1645920"/>
            <a:ext cx="4114800" cy="3474720"/>
          </a:xfrm>
          <a:prstGeom prst="rect">
            <a:avLst/>
          </a:prstGeom>
        </p:spPr>
      </p:pic>
      <p:sp>
        <p:nvSpPr>
          <p:cNvPr id="8" name="Rounded Rectangle 7"/>
          <p:cNvSpPr/>
          <p:nvPr/>
        </p:nvSpPr>
        <p:spPr>
          <a:xfrm>
            <a:off x="7315200" y="5257800"/>
            <a:ext cx="4160520" cy="64008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79" y="5449824"/>
            <a:ext cx="4069082" cy="357021"/>
          </a:xfrm>
          <a:prstGeom prst="rect">
            <a:avLst/>
          </a:prstGeom>
          <a:noFill/>
        </p:spPr>
        <p:txBody>
          <a:bodyPr wrap="square" lIns="54864" tIns="54864" rIns="54864" bIns="54864" anchor="t">
            <a:spAutoFit/>
          </a:bodyPr>
          <a:lstStyle/>
          <a:p>
            <a:pPr algn="ctr"/>
            <a:r>
              <a:rPr sz="1600" b="1">
                <a:solidFill>
                  <a:srgbClr val="0B1F33"/>
                </a:solidFill>
                <a:latin typeface="Aptos"/>
              </a:rPr>
              <a:t>Highest AUROC: gradient boosting (0.727)</a:t>
            </a:r>
          </a:p>
        </p:txBody>
      </p:sp>
      <p:sp>
        <p:nvSpPr>
          <p:cNvPr id="10" name="Rectangle 9"/>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754880" cy="201168"/>
          </a:xfrm>
          <a:prstGeom prst="rect">
            <a:avLst/>
          </a:prstGeom>
          <a:noFill/>
        </p:spPr>
        <p:txBody>
          <a:bodyPr wrap="square" lIns="54864" tIns="54864" rIns="54864" bIns="54864" anchor="t">
            <a:spAutoFit/>
          </a:bodyPr>
          <a:lstStyle/>
          <a:p>
            <a:pPr algn="l"/>
            <a:r>
              <a:rPr sz="1000" b="1">
                <a:solidFill>
                  <a:srgbClr val="0F766E"/>
                </a:solidFill>
                <a:latin typeface="Aptos"/>
              </a:rPr>
              <a:t>04  /  MODELING</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900" b="1">
                <a:solidFill>
                  <a:srgbClr val="0B1F33"/>
                </a:solidFill>
                <a:latin typeface="Aptos Display"/>
              </a:rPr>
              <a:t>The threshold changes the error profile</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M2  /  14</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36192"/>
            <a:ext cx="9784080" cy="310896"/>
          </a:xfrm>
          <a:prstGeom prst="rect">
            <a:avLst/>
          </a:prstGeom>
          <a:noFill/>
        </p:spPr>
        <p:txBody>
          <a:bodyPr wrap="square" lIns="54864" tIns="54864" rIns="54864" bIns="54864" anchor="t">
            <a:spAutoFit/>
          </a:bodyPr>
          <a:lstStyle/>
          <a:p>
            <a:pPr algn="l"/>
            <a:r>
              <a:rPr sz="1900" b="1">
                <a:solidFill>
                  <a:srgbClr val="0B1F33"/>
                </a:solidFill>
                <a:latin typeface="Aptos Display"/>
              </a:rPr>
              <a:t>The logistic model's ranking stays the same; the action changes when the cutoff changes.</a:t>
            </a:r>
          </a:p>
        </p:txBody>
      </p:sp>
      <p:sp>
        <p:nvSpPr>
          <p:cNvPr id="7" name="Rectangle 6"/>
          <p:cNvSpPr/>
          <p:nvPr/>
        </p:nvSpPr>
        <p:spPr>
          <a:xfrm>
            <a:off x="868680" y="2240280"/>
            <a:ext cx="1371600" cy="384048"/>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7"/>
          <p:cNvSpPr txBox="1"/>
          <p:nvPr/>
        </p:nvSpPr>
        <p:spPr>
          <a:xfrm>
            <a:off x="914400" y="2340864"/>
            <a:ext cx="1280160" cy="295466"/>
          </a:xfrm>
          <a:prstGeom prst="rect">
            <a:avLst/>
          </a:prstGeom>
          <a:noFill/>
        </p:spPr>
        <p:txBody>
          <a:bodyPr wrap="square" lIns="54864" tIns="54864" rIns="54864" bIns="54864" anchor="t">
            <a:spAutoFit/>
          </a:bodyPr>
          <a:lstStyle/>
          <a:p>
            <a:pPr algn="ctr"/>
            <a:r>
              <a:rPr sz="1200" b="1">
                <a:solidFill>
                  <a:srgbClr val="FFFFFF"/>
                </a:solidFill>
                <a:latin typeface="Aptos"/>
              </a:rPr>
              <a:t>Threshold</a:t>
            </a:r>
          </a:p>
        </p:txBody>
      </p:sp>
      <p:sp>
        <p:nvSpPr>
          <p:cNvPr id="9" name="Rectangle 8"/>
          <p:cNvSpPr/>
          <p:nvPr/>
        </p:nvSpPr>
        <p:spPr>
          <a:xfrm>
            <a:off x="2240280" y="2240280"/>
            <a:ext cx="1554480" cy="384048"/>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 name="TextBox 9"/>
          <p:cNvSpPr txBox="1"/>
          <p:nvPr/>
        </p:nvSpPr>
        <p:spPr>
          <a:xfrm>
            <a:off x="2286000" y="2340864"/>
            <a:ext cx="1463039" cy="295466"/>
          </a:xfrm>
          <a:prstGeom prst="rect">
            <a:avLst/>
          </a:prstGeom>
          <a:noFill/>
        </p:spPr>
        <p:txBody>
          <a:bodyPr wrap="square" lIns="54864" tIns="54864" rIns="54864" bIns="54864" anchor="t">
            <a:spAutoFit/>
          </a:bodyPr>
          <a:lstStyle/>
          <a:p>
            <a:pPr algn="ctr"/>
            <a:r>
              <a:rPr sz="1200" b="1">
                <a:solidFill>
                  <a:srgbClr val="FFFFFF"/>
                </a:solidFill>
                <a:latin typeface="Aptos"/>
              </a:rPr>
              <a:t>Sensitivity</a:t>
            </a:r>
          </a:p>
        </p:txBody>
      </p:sp>
      <p:sp>
        <p:nvSpPr>
          <p:cNvPr id="11" name="Rectangle 10"/>
          <p:cNvSpPr/>
          <p:nvPr/>
        </p:nvSpPr>
        <p:spPr>
          <a:xfrm>
            <a:off x="3794760" y="2240280"/>
            <a:ext cx="1554480" cy="384048"/>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TextBox 11"/>
          <p:cNvSpPr txBox="1"/>
          <p:nvPr/>
        </p:nvSpPr>
        <p:spPr>
          <a:xfrm>
            <a:off x="3840480" y="2340864"/>
            <a:ext cx="1463039" cy="295466"/>
          </a:xfrm>
          <a:prstGeom prst="rect">
            <a:avLst/>
          </a:prstGeom>
          <a:noFill/>
        </p:spPr>
        <p:txBody>
          <a:bodyPr wrap="square" lIns="54864" tIns="54864" rIns="54864" bIns="54864" anchor="t">
            <a:spAutoFit/>
          </a:bodyPr>
          <a:lstStyle/>
          <a:p>
            <a:pPr algn="ctr"/>
            <a:r>
              <a:rPr sz="1200" b="1">
                <a:solidFill>
                  <a:srgbClr val="FFFFFF"/>
                </a:solidFill>
                <a:latin typeface="Aptos"/>
              </a:rPr>
              <a:t>Specificity</a:t>
            </a:r>
          </a:p>
        </p:txBody>
      </p:sp>
      <p:sp>
        <p:nvSpPr>
          <p:cNvPr id="13" name="Rectangle 12"/>
          <p:cNvSpPr/>
          <p:nvPr/>
        </p:nvSpPr>
        <p:spPr>
          <a:xfrm>
            <a:off x="5349240" y="2240280"/>
            <a:ext cx="1371600" cy="384048"/>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 name="TextBox 13"/>
          <p:cNvSpPr txBox="1"/>
          <p:nvPr/>
        </p:nvSpPr>
        <p:spPr>
          <a:xfrm>
            <a:off x="5394960" y="2340864"/>
            <a:ext cx="1280160" cy="295466"/>
          </a:xfrm>
          <a:prstGeom prst="rect">
            <a:avLst/>
          </a:prstGeom>
          <a:noFill/>
        </p:spPr>
        <p:txBody>
          <a:bodyPr wrap="square" lIns="54864" tIns="54864" rIns="54864" bIns="54864" anchor="t">
            <a:spAutoFit/>
          </a:bodyPr>
          <a:lstStyle/>
          <a:p>
            <a:pPr algn="ctr"/>
            <a:r>
              <a:rPr sz="1200" b="1">
                <a:solidFill>
                  <a:srgbClr val="FFFFFF"/>
                </a:solidFill>
                <a:latin typeface="Aptos"/>
              </a:rPr>
              <a:t>PPV</a:t>
            </a:r>
          </a:p>
        </p:txBody>
      </p:sp>
      <p:sp>
        <p:nvSpPr>
          <p:cNvPr id="15" name="Rectangle 14"/>
          <p:cNvSpPr/>
          <p:nvPr/>
        </p:nvSpPr>
        <p:spPr>
          <a:xfrm>
            <a:off x="6720840" y="2240280"/>
            <a:ext cx="1828800" cy="384048"/>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6766560" y="2340864"/>
            <a:ext cx="1737360" cy="295466"/>
          </a:xfrm>
          <a:prstGeom prst="rect">
            <a:avLst/>
          </a:prstGeom>
          <a:noFill/>
        </p:spPr>
        <p:txBody>
          <a:bodyPr wrap="square" lIns="54864" tIns="54864" rIns="54864" bIns="54864" anchor="t">
            <a:spAutoFit/>
          </a:bodyPr>
          <a:lstStyle/>
          <a:p>
            <a:pPr algn="ctr"/>
            <a:r>
              <a:rPr sz="1200" b="1">
                <a:solidFill>
                  <a:srgbClr val="FFFFFF"/>
                </a:solidFill>
                <a:latin typeface="Aptos"/>
              </a:rPr>
              <a:t>False positives</a:t>
            </a:r>
          </a:p>
        </p:txBody>
      </p:sp>
      <p:sp>
        <p:nvSpPr>
          <p:cNvPr id="17" name="Rectangle 16"/>
          <p:cNvSpPr/>
          <p:nvPr/>
        </p:nvSpPr>
        <p:spPr>
          <a:xfrm>
            <a:off x="868680" y="2660904"/>
            <a:ext cx="13716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8" name="TextBox 17"/>
          <p:cNvSpPr txBox="1"/>
          <p:nvPr/>
        </p:nvSpPr>
        <p:spPr>
          <a:xfrm>
            <a:off x="914400" y="2788920"/>
            <a:ext cx="1280160" cy="326243"/>
          </a:xfrm>
          <a:prstGeom prst="rect">
            <a:avLst/>
          </a:prstGeom>
          <a:noFill/>
        </p:spPr>
        <p:txBody>
          <a:bodyPr wrap="square" lIns="54864" tIns="54864" rIns="54864" bIns="54864" anchor="t">
            <a:spAutoFit/>
          </a:bodyPr>
          <a:lstStyle/>
          <a:p>
            <a:pPr algn="ctr"/>
            <a:r>
              <a:rPr sz="1400" b="1">
                <a:solidFill>
                  <a:srgbClr val="23303A"/>
                </a:solidFill>
                <a:latin typeface="Aptos"/>
              </a:rPr>
              <a:t>0.25</a:t>
            </a:r>
          </a:p>
        </p:txBody>
      </p:sp>
      <p:sp>
        <p:nvSpPr>
          <p:cNvPr id="19" name="Rectangle 18"/>
          <p:cNvSpPr/>
          <p:nvPr/>
        </p:nvSpPr>
        <p:spPr>
          <a:xfrm>
            <a:off x="2240280" y="2660904"/>
            <a:ext cx="155448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p:cNvSpPr txBox="1"/>
          <p:nvPr/>
        </p:nvSpPr>
        <p:spPr>
          <a:xfrm>
            <a:off x="2286000" y="2788920"/>
            <a:ext cx="1463039" cy="326243"/>
          </a:xfrm>
          <a:prstGeom prst="rect">
            <a:avLst/>
          </a:prstGeom>
          <a:noFill/>
        </p:spPr>
        <p:txBody>
          <a:bodyPr wrap="square" lIns="54864" tIns="54864" rIns="54864" bIns="54864" anchor="t">
            <a:spAutoFit/>
          </a:bodyPr>
          <a:lstStyle/>
          <a:p>
            <a:pPr algn="ctr"/>
            <a:r>
              <a:rPr sz="1400" b="0">
                <a:solidFill>
                  <a:srgbClr val="23303A"/>
                </a:solidFill>
                <a:latin typeface="Aptos"/>
              </a:rPr>
              <a:t>0.983</a:t>
            </a:r>
          </a:p>
        </p:txBody>
      </p:sp>
      <p:sp>
        <p:nvSpPr>
          <p:cNvPr id="21" name="Rectangle 20"/>
          <p:cNvSpPr/>
          <p:nvPr/>
        </p:nvSpPr>
        <p:spPr>
          <a:xfrm>
            <a:off x="3794760" y="2660904"/>
            <a:ext cx="155448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2" name="TextBox 21"/>
          <p:cNvSpPr txBox="1"/>
          <p:nvPr/>
        </p:nvSpPr>
        <p:spPr>
          <a:xfrm>
            <a:off x="3840480" y="2788920"/>
            <a:ext cx="1463039" cy="326243"/>
          </a:xfrm>
          <a:prstGeom prst="rect">
            <a:avLst/>
          </a:prstGeom>
          <a:noFill/>
        </p:spPr>
        <p:txBody>
          <a:bodyPr wrap="square" lIns="54864" tIns="54864" rIns="54864" bIns="54864" anchor="t">
            <a:spAutoFit/>
          </a:bodyPr>
          <a:lstStyle/>
          <a:p>
            <a:pPr algn="ctr"/>
            <a:r>
              <a:rPr sz="1400" b="0">
                <a:solidFill>
                  <a:srgbClr val="23303A"/>
                </a:solidFill>
                <a:latin typeface="Aptos"/>
              </a:rPr>
              <a:t>0.145</a:t>
            </a:r>
          </a:p>
        </p:txBody>
      </p:sp>
      <p:sp>
        <p:nvSpPr>
          <p:cNvPr id="23" name="Rectangle 22"/>
          <p:cNvSpPr/>
          <p:nvPr/>
        </p:nvSpPr>
        <p:spPr>
          <a:xfrm>
            <a:off x="5349240" y="2660904"/>
            <a:ext cx="13716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p:cNvSpPr txBox="1"/>
          <p:nvPr/>
        </p:nvSpPr>
        <p:spPr>
          <a:xfrm>
            <a:off x="5394960" y="2788920"/>
            <a:ext cx="1280160" cy="326243"/>
          </a:xfrm>
          <a:prstGeom prst="rect">
            <a:avLst/>
          </a:prstGeom>
          <a:noFill/>
        </p:spPr>
        <p:txBody>
          <a:bodyPr wrap="square" lIns="54864" tIns="54864" rIns="54864" bIns="54864" anchor="t">
            <a:spAutoFit/>
          </a:bodyPr>
          <a:lstStyle/>
          <a:p>
            <a:pPr algn="ctr"/>
            <a:r>
              <a:rPr sz="1400" b="0">
                <a:solidFill>
                  <a:srgbClr val="23303A"/>
                </a:solidFill>
                <a:latin typeface="Aptos"/>
              </a:rPr>
              <a:t>0.649</a:t>
            </a:r>
          </a:p>
        </p:txBody>
      </p:sp>
      <p:sp>
        <p:nvSpPr>
          <p:cNvPr id="25" name="Rectangle 24"/>
          <p:cNvSpPr/>
          <p:nvPr/>
        </p:nvSpPr>
        <p:spPr>
          <a:xfrm>
            <a:off x="6720840" y="2660904"/>
            <a:ext cx="18288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6" name="TextBox 25"/>
          <p:cNvSpPr txBox="1"/>
          <p:nvPr/>
        </p:nvSpPr>
        <p:spPr>
          <a:xfrm>
            <a:off x="6766560" y="2788920"/>
            <a:ext cx="1737360" cy="326243"/>
          </a:xfrm>
          <a:prstGeom prst="rect">
            <a:avLst/>
          </a:prstGeom>
          <a:noFill/>
        </p:spPr>
        <p:txBody>
          <a:bodyPr wrap="square" lIns="54864" tIns="54864" rIns="54864" bIns="54864" anchor="t">
            <a:spAutoFit/>
          </a:bodyPr>
          <a:lstStyle/>
          <a:p>
            <a:pPr algn="ctr"/>
            <a:r>
              <a:rPr sz="1400" b="0">
                <a:solidFill>
                  <a:srgbClr val="23303A"/>
                </a:solidFill>
                <a:latin typeface="Aptos"/>
              </a:rPr>
              <a:t>3,278</a:t>
            </a:r>
          </a:p>
        </p:txBody>
      </p:sp>
      <p:sp>
        <p:nvSpPr>
          <p:cNvPr id="27" name="Rectangle 26"/>
          <p:cNvSpPr/>
          <p:nvPr/>
        </p:nvSpPr>
        <p:spPr>
          <a:xfrm>
            <a:off x="868680" y="3191256"/>
            <a:ext cx="137160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8" name="TextBox 27"/>
          <p:cNvSpPr txBox="1"/>
          <p:nvPr/>
        </p:nvSpPr>
        <p:spPr>
          <a:xfrm>
            <a:off x="914400" y="3319272"/>
            <a:ext cx="1280160" cy="326243"/>
          </a:xfrm>
          <a:prstGeom prst="rect">
            <a:avLst/>
          </a:prstGeom>
          <a:noFill/>
        </p:spPr>
        <p:txBody>
          <a:bodyPr wrap="square" lIns="54864" tIns="54864" rIns="54864" bIns="54864" anchor="t">
            <a:spAutoFit/>
          </a:bodyPr>
          <a:lstStyle/>
          <a:p>
            <a:pPr algn="ctr"/>
            <a:r>
              <a:rPr sz="1400" b="1">
                <a:solidFill>
                  <a:srgbClr val="23303A"/>
                </a:solidFill>
                <a:latin typeface="Aptos"/>
              </a:rPr>
              <a:t>0.40</a:t>
            </a:r>
          </a:p>
        </p:txBody>
      </p:sp>
      <p:sp>
        <p:nvSpPr>
          <p:cNvPr id="29" name="Rectangle 28"/>
          <p:cNvSpPr/>
          <p:nvPr/>
        </p:nvSpPr>
        <p:spPr>
          <a:xfrm>
            <a:off x="2240280" y="3191256"/>
            <a:ext cx="155448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0" name="TextBox 29"/>
          <p:cNvSpPr txBox="1"/>
          <p:nvPr/>
        </p:nvSpPr>
        <p:spPr>
          <a:xfrm>
            <a:off x="2286000" y="3319272"/>
            <a:ext cx="1463039" cy="326243"/>
          </a:xfrm>
          <a:prstGeom prst="rect">
            <a:avLst/>
          </a:prstGeom>
          <a:noFill/>
        </p:spPr>
        <p:txBody>
          <a:bodyPr wrap="square" lIns="54864" tIns="54864" rIns="54864" bIns="54864" anchor="t">
            <a:spAutoFit/>
          </a:bodyPr>
          <a:lstStyle/>
          <a:p>
            <a:pPr algn="ctr"/>
            <a:r>
              <a:rPr sz="1400" b="0">
                <a:solidFill>
                  <a:srgbClr val="23303A"/>
                </a:solidFill>
                <a:latin typeface="Aptos"/>
              </a:rPr>
              <a:t>0.836</a:t>
            </a:r>
          </a:p>
        </p:txBody>
      </p:sp>
      <p:sp>
        <p:nvSpPr>
          <p:cNvPr id="31" name="Rectangle 30"/>
          <p:cNvSpPr/>
          <p:nvPr/>
        </p:nvSpPr>
        <p:spPr>
          <a:xfrm>
            <a:off x="3794760" y="3191256"/>
            <a:ext cx="155448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2" name="TextBox 31"/>
          <p:cNvSpPr txBox="1"/>
          <p:nvPr/>
        </p:nvSpPr>
        <p:spPr>
          <a:xfrm>
            <a:off x="3840480" y="3319272"/>
            <a:ext cx="1463039" cy="326243"/>
          </a:xfrm>
          <a:prstGeom prst="rect">
            <a:avLst/>
          </a:prstGeom>
          <a:noFill/>
        </p:spPr>
        <p:txBody>
          <a:bodyPr wrap="square" lIns="54864" tIns="54864" rIns="54864" bIns="54864" anchor="t">
            <a:spAutoFit/>
          </a:bodyPr>
          <a:lstStyle/>
          <a:p>
            <a:pPr algn="ctr"/>
            <a:r>
              <a:rPr sz="1400" b="0">
                <a:solidFill>
                  <a:srgbClr val="23303A"/>
                </a:solidFill>
                <a:latin typeface="Aptos"/>
              </a:rPr>
              <a:t>0.461</a:t>
            </a:r>
          </a:p>
        </p:txBody>
      </p:sp>
      <p:sp>
        <p:nvSpPr>
          <p:cNvPr id="33" name="Rectangle 32"/>
          <p:cNvSpPr/>
          <p:nvPr/>
        </p:nvSpPr>
        <p:spPr>
          <a:xfrm>
            <a:off x="5349240" y="3191256"/>
            <a:ext cx="137160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4" name="TextBox 33"/>
          <p:cNvSpPr txBox="1"/>
          <p:nvPr/>
        </p:nvSpPr>
        <p:spPr>
          <a:xfrm>
            <a:off x="5394960" y="3319272"/>
            <a:ext cx="1280160" cy="326243"/>
          </a:xfrm>
          <a:prstGeom prst="rect">
            <a:avLst/>
          </a:prstGeom>
          <a:noFill/>
        </p:spPr>
        <p:txBody>
          <a:bodyPr wrap="square" lIns="54864" tIns="54864" rIns="54864" bIns="54864" anchor="t">
            <a:spAutoFit/>
          </a:bodyPr>
          <a:lstStyle/>
          <a:p>
            <a:pPr algn="ctr"/>
            <a:r>
              <a:rPr sz="1400" b="0">
                <a:solidFill>
                  <a:srgbClr val="23303A"/>
                </a:solidFill>
                <a:latin typeface="Aptos"/>
              </a:rPr>
              <a:t>0.714</a:t>
            </a:r>
          </a:p>
        </p:txBody>
      </p:sp>
      <p:sp>
        <p:nvSpPr>
          <p:cNvPr id="35" name="Rectangle 34"/>
          <p:cNvSpPr/>
          <p:nvPr/>
        </p:nvSpPr>
        <p:spPr>
          <a:xfrm>
            <a:off x="6720840" y="3191256"/>
            <a:ext cx="182880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6" name="TextBox 35"/>
          <p:cNvSpPr txBox="1"/>
          <p:nvPr/>
        </p:nvSpPr>
        <p:spPr>
          <a:xfrm>
            <a:off x="6766560" y="3319272"/>
            <a:ext cx="1737360" cy="326243"/>
          </a:xfrm>
          <a:prstGeom prst="rect">
            <a:avLst/>
          </a:prstGeom>
          <a:noFill/>
        </p:spPr>
        <p:txBody>
          <a:bodyPr wrap="square" lIns="54864" tIns="54864" rIns="54864" bIns="54864" anchor="t">
            <a:spAutoFit/>
          </a:bodyPr>
          <a:lstStyle/>
          <a:p>
            <a:pPr algn="ctr"/>
            <a:r>
              <a:rPr sz="1400" b="0">
                <a:solidFill>
                  <a:srgbClr val="23303A"/>
                </a:solidFill>
                <a:latin typeface="Aptos"/>
              </a:rPr>
              <a:t>2,066</a:t>
            </a:r>
          </a:p>
        </p:txBody>
      </p:sp>
      <p:sp>
        <p:nvSpPr>
          <p:cNvPr id="37" name="Rectangle 36"/>
          <p:cNvSpPr/>
          <p:nvPr/>
        </p:nvSpPr>
        <p:spPr>
          <a:xfrm>
            <a:off x="868680" y="3721608"/>
            <a:ext cx="13716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8" name="TextBox 37"/>
          <p:cNvSpPr txBox="1"/>
          <p:nvPr/>
        </p:nvSpPr>
        <p:spPr>
          <a:xfrm>
            <a:off x="914400" y="3849624"/>
            <a:ext cx="1280160" cy="326243"/>
          </a:xfrm>
          <a:prstGeom prst="rect">
            <a:avLst/>
          </a:prstGeom>
          <a:noFill/>
        </p:spPr>
        <p:txBody>
          <a:bodyPr wrap="square" lIns="54864" tIns="54864" rIns="54864" bIns="54864" anchor="t">
            <a:spAutoFit/>
          </a:bodyPr>
          <a:lstStyle/>
          <a:p>
            <a:pPr algn="ctr"/>
            <a:r>
              <a:rPr sz="1400" b="1">
                <a:solidFill>
                  <a:srgbClr val="23303A"/>
                </a:solidFill>
                <a:latin typeface="Aptos"/>
              </a:rPr>
              <a:t>0.50</a:t>
            </a:r>
          </a:p>
        </p:txBody>
      </p:sp>
      <p:sp>
        <p:nvSpPr>
          <p:cNvPr id="39" name="Rectangle 38"/>
          <p:cNvSpPr/>
          <p:nvPr/>
        </p:nvSpPr>
        <p:spPr>
          <a:xfrm>
            <a:off x="2240280" y="3721608"/>
            <a:ext cx="155448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0" name="TextBox 39"/>
          <p:cNvSpPr txBox="1"/>
          <p:nvPr/>
        </p:nvSpPr>
        <p:spPr>
          <a:xfrm>
            <a:off x="2286000" y="3849624"/>
            <a:ext cx="1463039" cy="326243"/>
          </a:xfrm>
          <a:prstGeom prst="rect">
            <a:avLst/>
          </a:prstGeom>
          <a:noFill/>
        </p:spPr>
        <p:txBody>
          <a:bodyPr wrap="square" lIns="54864" tIns="54864" rIns="54864" bIns="54864" anchor="t">
            <a:spAutoFit/>
          </a:bodyPr>
          <a:lstStyle/>
          <a:p>
            <a:pPr algn="ctr"/>
            <a:r>
              <a:rPr sz="1400" b="0">
                <a:solidFill>
                  <a:srgbClr val="23303A"/>
                </a:solidFill>
                <a:latin typeface="Aptos"/>
              </a:rPr>
              <a:t>0.660</a:t>
            </a:r>
          </a:p>
        </p:txBody>
      </p:sp>
      <p:sp>
        <p:nvSpPr>
          <p:cNvPr id="41" name="Rectangle 40"/>
          <p:cNvSpPr/>
          <p:nvPr/>
        </p:nvSpPr>
        <p:spPr>
          <a:xfrm>
            <a:off x="3794760" y="3721608"/>
            <a:ext cx="155448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2" name="TextBox 41"/>
          <p:cNvSpPr txBox="1"/>
          <p:nvPr/>
        </p:nvSpPr>
        <p:spPr>
          <a:xfrm>
            <a:off x="3840480" y="3849624"/>
            <a:ext cx="1463039" cy="326243"/>
          </a:xfrm>
          <a:prstGeom prst="rect">
            <a:avLst/>
          </a:prstGeom>
          <a:noFill/>
        </p:spPr>
        <p:txBody>
          <a:bodyPr wrap="square" lIns="54864" tIns="54864" rIns="54864" bIns="54864" anchor="t">
            <a:spAutoFit/>
          </a:bodyPr>
          <a:lstStyle/>
          <a:p>
            <a:pPr algn="ctr"/>
            <a:r>
              <a:rPr sz="1400" b="0">
                <a:solidFill>
                  <a:srgbClr val="23303A"/>
                </a:solidFill>
                <a:latin typeface="Aptos"/>
              </a:rPr>
              <a:t>0.651</a:t>
            </a:r>
          </a:p>
        </p:txBody>
      </p:sp>
      <p:sp>
        <p:nvSpPr>
          <p:cNvPr id="43" name="Rectangle 42"/>
          <p:cNvSpPr/>
          <p:nvPr/>
        </p:nvSpPr>
        <p:spPr>
          <a:xfrm>
            <a:off x="5349240" y="3721608"/>
            <a:ext cx="13716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4" name="TextBox 43"/>
          <p:cNvSpPr txBox="1"/>
          <p:nvPr/>
        </p:nvSpPr>
        <p:spPr>
          <a:xfrm>
            <a:off x="5394960" y="3849624"/>
            <a:ext cx="1280160" cy="326243"/>
          </a:xfrm>
          <a:prstGeom prst="rect">
            <a:avLst/>
          </a:prstGeom>
          <a:noFill/>
        </p:spPr>
        <p:txBody>
          <a:bodyPr wrap="square" lIns="54864" tIns="54864" rIns="54864" bIns="54864" anchor="t">
            <a:spAutoFit/>
          </a:bodyPr>
          <a:lstStyle/>
          <a:p>
            <a:pPr algn="ctr"/>
            <a:r>
              <a:rPr sz="1400" b="0">
                <a:solidFill>
                  <a:srgbClr val="23303A"/>
                </a:solidFill>
                <a:latin typeface="Aptos"/>
              </a:rPr>
              <a:t>0.752</a:t>
            </a:r>
          </a:p>
        </p:txBody>
      </p:sp>
      <p:sp>
        <p:nvSpPr>
          <p:cNvPr id="45" name="Rectangle 44"/>
          <p:cNvSpPr/>
          <p:nvPr/>
        </p:nvSpPr>
        <p:spPr>
          <a:xfrm>
            <a:off x="6720840" y="3721608"/>
            <a:ext cx="18288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6" name="TextBox 45"/>
          <p:cNvSpPr txBox="1"/>
          <p:nvPr/>
        </p:nvSpPr>
        <p:spPr>
          <a:xfrm>
            <a:off x="6766560" y="3849624"/>
            <a:ext cx="1737360" cy="326243"/>
          </a:xfrm>
          <a:prstGeom prst="rect">
            <a:avLst/>
          </a:prstGeom>
          <a:noFill/>
        </p:spPr>
        <p:txBody>
          <a:bodyPr wrap="square" lIns="54864" tIns="54864" rIns="54864" bIns="54864" anchor="t">
            <a:spAutoFit/>
          </a:bodyPr>
          <a:lstStyle/>
          <a:p>
            <a:pPr algn="ctr"/>
            <a:r>
              <a:rPr sz="1400" b="0">
                <a:solidFill>
                  <a:srgbClr val="23303A"/>
                </a:solidFill>
                <a:latin typeface="Aptos"/>
              </a:rPr>
              <a:t>1,338</a:t>
            </a:r>
          </a:p>
        </p:txBody>
      </p:sp>
      <p:sp>
        <p:nvSpPr>
          <p:cNvPr id="47" name="Rectangle 46"/>
          <p:cNvSpPr/>
          <p:nvPr/>
        </p:nvSpPr>
        <p:spPr>
          <a:xfrm>
            <a:off x="868680" y="4251960"/>
            <a:ext cx="137160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8" name="TextBox 47"/>
          <p:cNvSpPr txBox="1"/>
          <p:nvPr/>
        </p:nvSpPr>
        <p:spPr>
          <a:xfrm>
            <a:off x="914400" y="4379976"/>
            <a:ext cx="1280160" cy="326243"/>
          </a:xfrm>
          <a:prstGeom prst="rect">
            <a:avLst/>
          </a:prstGeom>
          <a:noFill/>
        </p:spPr>
        <p:txBody>
          <a:bodyPr wrap="square" lIns="54864" tIns="54864" rIns="54864" bIns="54864" anchor="t">
            <a:spAutoFit/>
          </a:bodyPr>
          <a:lstStyle/>
          <a:p>
            <a:pPr algn="ctr"/>
            <a:r>
              <a:rPr sz="1400" b="1">
                <a:solidFill>
                  <a:srgbClr val="23303A"/>
                </a:solidFill>
                <a:latin typeface="Aptos"/>
              </a:rPr>
              <a:t>0.60</a:t>
            </a:r>
          </a:p>
        </p:txBody>
      </p:sp>
      <p:sp>
        <p:nvSpPr>
          <p:cNvPr id="49" name="Rectangle 48"/>
          <p:cNvSpPr/>
          <p:nvPr/>
        </p:nvSpPr>
        <p:spPr>
          <a:xfrm>
            <a:off x="2240280" y="4251960"/>
            <a:ext cx="155448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0" name="TextBox 49"/>
          <p:cNvSpPr txBox="1"/>
          <p:nvPr/>
        </p:nvSpPr>
        <p:spPr>
          <a:xfrm>
            <a:off x="2286000" y="4379976"/>
            <a:ext cx="1463039" cy="326243"/>
          </a:xfrm>
          <a:prstGeom prst="rect">
            <a:avLst/>
          </a:prstGeom>
          <a:noFill/>
        </p:spPr>
        <p:txBody>
          <a:bodyPr wrap="square" lIns="54864" tIns="54864" rIns="54864" bIns="54864" anchor="t">
            <a:spAutoFit/>
          </a:bodyPr>
          <a:lstStyle/>
          <a:p>
            <a:pPr algn="ctr"/>
            <a:r>
              <a:rPr sz="1400" b="0">
                <a:solidFill>
                  <a:srgbClr val="23303A"/>
                </a:solidFill>
                <a:latin typeface="Aptos"/>
              </a:rPr>
              <a:t>0.443</a:t>
            </a:r>
          </a:p>
        </p:txBody>
      </p:sp>
      <p:sp>
        <p:nvSpPr>
          <p:cNvPr id="51" name="Rectangle 50"/>
          <p:cNvSpPr/>
          <p:nvPr/>
        </p:nvSpPr>
        <p:spPr>
          <a:xfrm>
            <a:off x="3794760" y="4251960"/>
            <a:ext cx="155448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2" name="TextBox 51"/>
          <p:cNvSpPr txBox="1"/>
          <p:nvPr/>
        </p:nvSpPr>
        <p:spPr>
          <a:xfrm>
            <a:off x="3840480" y="4379976"/>
            <a:ext cx="1463039" cy="326243"/>
          </a:xfrm>
          <a:prstGeom prst="rect">
            <a:avLst/>
          </a:prstGeom>
          <a:noFill/>
        </p:spPr>
        <p:txBody>
          <a:bodyPr wrap="square" lIns="54864" tIns="54864" rIns="54864" bIns="54864" anchor="t">
            <a:spAutoFit/>
          </a:bodyPr>
          <a:lstStyle/>
          <a:p>
            <a:pPr algn="ctr"/>
            <a:r>
              <a:rPr sz="1400" b="0">
                <a:solidFill>
                  <a:srgbClr val="23303A"/>
                </a:solidFill>
                <a:latin typeface="Aptos"/>
              </a:rPr>
              <a:t>0.793</a:t>
            </a:r>
          </a:p>
        </p:txBody>
      </p:sp>
      <p:sp>
        <p:nvSpPr>
          <p:cNvPr id="53" name="Rectangle 52"/>
          <p:cNvSpPr/>
          <p:nvPr/>
        </p:nvSpPr>
        <p:spPr>
          <a:xfrm>
            <a:off x="5349240" y="4251960"/>
            <a:ext cx="137160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4" name="TextBox 53"/>
          <p:cNvSpPr txBox="1"/>
          <p:nvPr/>
        </p:nvSpPr>
        <p:spPr>
          <a:xfrm>
            <a:off x="5394960" y="4379976"/>
            <a:ext cx="1280160" cy="326243"/>
          </a:xfrm>
          <a:prstGeom prst="rect">
            <a:avLst/>
          </a:prstGeom>
          <a:noFill/>
        </p:spPr>
        <p:txBody>
          <a:bodyPr wrap="square" lIns="54864" tIns="54864" rIns="54864" bIns="54864" anchor="t">
            <a:spAutoFit/>
          </a:bodyPr>
          <a:lstStyle/>
          <a:p>
            <a:pPr algn="ctr"/>
            <a:r>
              <a:rPr sz="1400" b="0">
                <a:solidFill>
                  <a:srgbClr val="23303A"/>
                </a:solidFill>
                <a:latin typeface="Aptos"/>
              </a:rPr>
              <a:t>0.774</a:t>
            </a:r>
          </a:p>
        </p:txBody>
      </p:sp>
      <p:sp>
        <p:nvSpPr>
          <p:cNvPr id="55" name="Rectangle 54"/>
          <p:cNvSpPr/>
          <p:nvPr/>
        </p:nvSpPr>
        <p:spPr>
          <a:xfrm>
            <a:off x="6720840" y="4251960"/>
            <a:ext cx="182880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6" name="TextBox 55"/>
          <p:cNvSpPr txBox="1"/>
          <p:nvPr/>
        </p:nvSpPr>
        <p:spPr>
          <a:xfrm>
            <a:off x="6766560" y="4379976"/>
            <a:ext cx="1737360" cy="326243"/>
          </a:xfrm>
          <a:prstGeom prst="rect">
            <a:avLst/>
          </a:prstGeom>
          <a:noFill/>
        </p:spPr>
        <p:txBody>
          <a:bodyPr wrap="square" lIns="54864" tIns="54864" rIns="54864" bIns="54864" anchor="t">
            <a:spAutoFit/>
          </a:bodyPr>
          <a:lstStyle/>
          <a:p>
            <a:pPr algn="ctr"/>
            <a:r>
              <a:rPr sz="1400" b="0">
                <a:solidFill>
                  <a:srgbClr val="23303A"/>
                </a:solidFill>
                <a:latin typeface="Aptos"/>
              </a:rPr>
              <a:t>795</a:t>
            </a:r>
          </a:p>
        </p:txBody>
      </p:sp>
      <p:sp>
        <p:nvSpPr>
          <p:cNvPr id="57" name="Rectangle 56"/>
          <p:cNvSpPr/>
          <p:nvPr/>
        </p:nvSpPr>
        <p:spPr>
          <a:xfrm>
            <a:off x="868680" y="4782312"/>
            <a:ext cx="13716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8" name="TextBox 57"/>
          <p:cNvSpPr txBox="1"/>
          <p:nvPr/>
        </p:nvSpPr>
        <p:spPr>
          <a:xfrm>
            <a:off x="914400" y="4910328"/>
            <a:ext cx="1280160" cy="326243"/>
          </a:xfrm>
          <a:prstGeom prst="rect">
            <a:avLst/>
          </a:prstGeom>
          <a:noFill/>
        </p:spPr>
        <p:txBody>
          <a:bodyPr wrap="square" lIns="54864" tIns="54864" rIns="54864" bIns="54864" anchor="t">
            <a:spAutoFit/>
          </a:bodyPr>
          <a:lstStyle/>
          <a:p>
            <a:pPr algn="ctr"/>
            <a:r>
              <a:rPr sz="1400" b="1">
                <a:solidFill>
                  <a:srgbClr val="23303A"/>
                </a:solidFill>
                <a:latin typeface="Aptos"/>
              </a:rPr>
              <a:t>0.75</a:t>
            </a:r>
          </a:p>
        </p:txBody>
      </p:sp>
      <p:sp>
        <p:nvSpPr>
          <p:cNvPr id="59" name="Rectangle 58"/>
          <p:cNvSpPr/>
          <p:nvPr/>
        </p:nvSpPr>
        <p:spPr>
          <a:xfrm>
            <a:off x="2240280" y="4782312"/>
            <a:ext cx="155448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0" name="TextBox 59"/>
          <p:cNvSpPr txBox="1"/>
          <p:nvPr/>
        </p:nvSpPr>
        <p:spPr>
          <a:xfrm>
            <a:off x="2286000" y="4910328"/>
            <a:ext cx="1463039" cy="326243"/>
          </a:xfrm>
          <a:prstGeom prst="rect">
            <a:avLst/>
          </a:prstGeom>
          <a:noFill/>
        </p:spPr>
        <p:txBody>
          <a:bodyPr wrap="square" lIns="54864" tIns="54864" rIns="54864" bIns="54864" anchor="t">
            <a:spAutoFit/>
          </a:bodyPr>
          <a:lstStyle/>
          <a:p>
            <a:pPr algn="ctr"/>
            <a:r>
              <a:rPr sz="1400" b="0">
                <a:solidFill>
                  <a:srgbClr val="23303A"/>
                </a:solidFill>
                <a:latin typeface="Aptos"/>
              </a:rPr>
              <a:t>0.126</a:t>
            </a:r>
          </a:p>
        </p:txBody>
      </p:sp>
      <p:sp>
        <p:nvSpPr>
          <p:cNvPr id="61" name="Rectangle 60"/>
          <p:cNvSpPr/>
          <p:nvPr/>
        </p:nvSpPr>
        <p:spPr>
          <a:xfrm>
            <a:off x="3794760" y="4782312"/>
            <a:ext cx="155448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2" name="TextBox 61"/>
          <p:cNvSpPr txBox="1"/>
          <p:nvPr/>
        </p:nvSpPr>
        <p:spPr>
          <a:xfrm>
            <a:off x="3840480" y="4910328"/>
            <a:ext cx="1463039" cy="326243"/>
          </a:xfrm>
          <a:prstGeom prst="rect">
            <a:avLst/>
          </a:prstGeom>
          <a:noFill/>
        </p:spPr>
        <p:txBody>
          <a:bodyPr wrap="square" lIns="54864" tIns="54864" rIns="54864" bIns="54864" anchor="t">
            <a:spAutoFit/>
          </a:bodyPr>
          <a:lstStyle/>
          <a:p>
            <a:pPr algn="ctr"/>
            <a:r>
              <a:rPr sz="1400" b="0">
                <a:solidFill>
                  <a:srgbClr val="23303A"/>
                </a:solidFill>
                <a:latin typeface="Aptos"/>
              </a:rPr>
              <a:t>0.949</a:t>
            </a:r>
          </a:p>
        </p:txBody>
      </p:sp>
      <p:sp>
        <p:nvSpPr>
          <p:cNvPr id="63" name="Rectangle 62"/>
          <p:cNvSpPr/>
          <p:nvPr/>
        </p:nvSpPr>
        <p:spPr>
          <a:xfrm>
            <a:off x="5349240" y="4782312"/>
            <a:ext cx="13716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4" name="TextBox 63"/>
          <p:cNvSpPr txBox="1"/>
          <p:nvPr/>
        </p:nvSpPr>
        <p:spPr>
          <a:xfrm>
            <a:off x="5394960" y="4910328"/>
            <a:ext cx="1280160" cy="326243"/>
          </a:xfrm>
          <a:prstGeom prst="rect">
            <a:avLst/>
          </a:prstGeom>
          <a:noFill/>
        </p:spPr>
        <p:txBody>
          <a:bodyPr wrap="square" lIns="54864" tIns="54864" rIns="54864" bIns="54864" anchor="t">
            <a:spAutoFit/>
          </a:bodyPr>
          <a:lstStyle/>
          <a:p>
            <a:pPr algn="ctr"/>
            <a:r>
              <a:rPr sz="1400" b="0">
                <a:solidFill>
                  <a:srgbClr val="23303A"/>
                </a:solidFill>
                <a:latin typeface="Aptos"/>
              </a:rPr>
              <a:t>0.800</a:t>
            </a:r>
          </a:p>
        </p:txBody>
      </p:sp>
      <p:sp>
        <p:nvSpPr>
          <p:cNvPr id="65" name="Rectangle 64"/>
          <p:cNvSpPr/>
          <p:nvPr/>
        </p:nvSpPr>
        <p:spPr>
          <a:xfrm>
            <a:off x="6720840" y="4782312"/>
            <a:ext cx="18288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6" name="TextBox 65"/>
          <p:cNvSpPr txBox="1"/>
          <p:nvPr/>
        </p:nvSpPr>
        <p:spPr>
          <a:xfrm>
            <a:off x="6766560" y="4910328"/>
            <a:ext cx="1737360" cy="326243"/>
          </a:xfrm>
          <a:prstGeom prst="rect">
            <a:avLst/>
          </a:prstGeom>
          <a:noFill/>
        </p:spPr>
        <p:txBody>
          <a:bodyPr wrap="square" lIns="54864" tIns="54864" rIns="54864" bIns="54864" anchor="t">
            <a:spAutoFit/>
          </a:bodyPr>
          <a:lstStyle/>
          <a:p>
            <a:pPr algn="ctr"/>
            <a:r>
              <a:rPr sz="1400" b="0">
                <a:solidFill>
                  <a:srgbClr val="23303A"/>
                </a:solidFill>
                <a:latin typeface="Aptos"/>
              </a:rPr>
              <a:t>194</a:t>
            </a:r>
          </a:p>
        </p:txBody>
      </p:sp>
      <p:sp>
        <p:nvSpPr>
          <p:cNvPr id="67" name="Rounded Rectangle 66"/>
          <p:cNvSpPr/>
          <p:nvPr/>
        </p:nvSpPr>
        <p:spPr>
          <a:xfrm>
            <a:off x="8641080" y="2120973"/>
            <a:ext cx="3383280" cy="315468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8" name="TextBox 67"/>
          <p:cNvSpPr txBox="1"/>
          <p:nvPr/>
        </p:nvSpPr>
        <p:spPr>
          <a:xfrm>
            <a:off x="9212580" y="2232225"/>
            <a:ext cx="2697480" cy="418576"/>
          </a:xfrm>
          <a:prstGeom prst="rect">
            <a:avLst/>
          </a:prstGeom>
          <a:noFill/>
        </p:spPr>
        <p:txBody>
          <a:bodyPr wrap="square" lIns="54864" tIns="54864" rIns="54864" bIns="54864" anchor="t">
            <a:spAutoFit/>
          </a:bodyPr>
          <a:lstStyle/>
          <a:p>
            <a:pPr algn="l"/>
            <a:r>
              <a:rPr sz="2000" b="1" dirty="0">
                <a:solidFill>
                  <a:srgbClr val="0F766E"/>
                </a:solidFill>
                <a:latin typeface="Aptos Display"/>
              </a:rPr>
              <a:t>Operational reading</a:t>
            </a:r>
          </a:p>
        </p:txBody>
      </p:sp>
      <p:sp>
        <p:nvSpPr>
          <p:cNvPr id="69" name="Oval 68"/>
          <p:cNvSpPr/>
          <p:nvPr/>
        </p:nvSpPr>
        <p:spPr>
          <a:xfrm>
            <a:off x="8780635" y="2962656"/>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0" name="TextBox 69"/>
          <p:cNvSpPr txBox="1"/>
          <p:nvPr/>
        </p:nvSpPr>
        <p:spPr>
          <a:xfrm>
            <a:off x="8955024" y="2788920"/>
            <a:ext cx="2322576" cy="541687"/>
          </a:xfrm>
          <a:prstGeom prst="rect">
            <a:avLst/>
          </a:prstGeom>
          <a:noFill/>
        </p:spPr>
        <p:txBody>
          <a:bodyPr wrap="square" lIns="54864" tIns="54864" rIns="54864" bIns="54864" anchor="t">
            <a:spAutoFit/>
          </a:bodyPr>
          <a:lstStyle/>
          <a:p>
            <a:pPr algn="l"/>
            <a:r>
              <a:rPr sz="1400" b="0" dirty="0">
                <a:solidFill>
                  <a:srgbClr val="23303A"/>
                </a:solidFill>
                <a:latin typeface="Aptos"/>
              </a:rPr>
              <a:t>Lower cutoff: more sensitivity, more alerts.</a:t>
            </a:r>
          </a:p>
        </p:txBody>
      </p:sp>
      <p:sp>
        <p:nvSpPr>
          <p:cNvPr id="71" name="Oval 70"/>
          <p:cNvSpPr/>
          <p:nvPr/>
        </p:nvSpPr>
        <p:spPr>
          <a:xfrm>
            <a:off x="8795440" y="3598164"/>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2" name="TextBox 71"/>
          <p:cNvSpPr txBox="1"/>
          <p:nvPr/>
        </p:nvSpPr>
        <p:spPr>
          <a:xfrm>
            <a:off x="8955024" y="3382191"/>
            <a:ext cx="2322576" cy="757130"/>
          </a:xfrm>
          <a:prstGeom prst="rect">
            <a:avLst/>
          </a:prstGeom>
          <a:noFill/>
        </p:spPr>
        <p:txBody>
          <a:bodyPr wrap="square" lIns="54864" tIns="54864" rIns="54864" bIns="54864" anchor="t">
            <a:spAutoFit/>
          </a:bodyPr>
          <a:lstStyle/>
          <a:p>
            <a:pPr algn="l"/>
            <a:r>
              <a:rPr sz="1400" b="0" dirty="0">
                <a:solidFill>
                  <a:srgbClr val="23303A"/>
                </a:solidFill>
                <a:latin typeface="Aptos"/>
              </a:rPr>
              <a:t>Higher cutoff: fewer false positives, more missed long stays.</a:t>
            </a:r>
          </a:p>
        </p:txBody>
      </p:sp>
      <p:sp>
        <p:nvSpPr>
          <p:cNvPr id="73" name="Oval 72"/>
          <p:cNvSpPr/>
          <p:nvPr/>
        </p:nvSpPr>
        <p:spPr>
          <a:xfrm>
            <a:off x="8810243" y="4398264"/>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4" name="TextBox 73"/>
          <p:cNvSpPr txBox="1"/>
          <p:nvPr/>
        </p:nvSpPr>
        <p:spPr>
          <a:xfrm>
            <a:off x="8988551" y="4145280"/>
            <a:ext cx="2322576" cy="757130"/>
          </a:xfrm>
          <a:prstGeom prst="rect">
            <a:avLst/>
          </a:prstGeom>
          <a:noFill/>
        </p:spPr>
        <p:txBody>
          <a:bodyPr wrap="square" lIns="54864" tIns="54864" rIns="54864" bIns="54864" anchor="t">
            <a:spAutoFit/>
          </a:bodyPr>
          <a:lstStyle/>
          <a:p>
            <a:pPr algn="l"/>
            <a:r>
              <a:rPr sz="1400" b="0" dirty="0">
                <a:solidFill>
                  <a:srgbClr val="23303A"/>
                </a:solidFill>
                <a:latin typeface="Aptos"/>
              </a:rPr>
              <a:t>Choose a cutoff with a real action and capacity constraint in mind.</a:t>
            </a:r>
          </a:p>
        </p:txBody>
      </p:sp>
      <p:sp>
        <p:nvSpPr>
          <p:cNvPr id="75" name="Rectangle 74"/>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754880" cy="201168"/>
          </a:xfrm>
          <a:prstGeom prst="rect">
            <a:avLst/>
          </a:prstGeom>
          <a:noFill/>
        </p:spPr>
        <p:txBody>
          <a:bodyPr wrap="square" lIns="54864" tIns="54864" rIns="54864" bIns="54864" anchor="t">
            <a:spAutoFit/>
          </a:bodyPr>
          <a:lstStyle/>
          <a:p>
            <a:pPr algn="l"/>
            <a:r>
              <a:rPr sz="1000" b="1">
                <a:solidFill>
                  <a:srgbClr val="0F766E"/>
                </a:solidFill>
                <a:latin typeface="Aptos"/>
              </a:rPr>
              <a:t>04  /  MODELING</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900" b="1">
                <a:solidFill>
                  <a:srgbClr val="0B1F33"/>
                </a:solidFill>
                <a:latin typeface="Aptos Display"/>
              </a:rPr>
              <a:t>Regression keeps the hours</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M2  /  15</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54480"/>
            <a:ext cx="9052560" cy="384048"/>
          </a:xfrm>
          <a:prstGeom prst="rect">
            <a:avLst/>
          </a:prstGeom>
          <a:noFill/>
        </p:spPr>
        <p:txBody>
          <a:bodyPr wrap="square" lIns="54864" tIns="54864" rIns="54864" bIns="54864" anchor="t">
            <a:spAutoFit/>
          </a:bodyPr>
          <a:lstStyle/>
          <a:p>
            <a:pPr algn="l"/>
            <a:r>
              <a:rPr sz="2200" b="1">
                <a:solidFill>
                  <a:srgbClr val="0B1F33"/>
                </a:solidFill>
                <a:latin typeface="Aptos Display"/>
              </a:rPr>
              <a:t>Ridge regression predicts a continuous ED LOS rather than only a class.</a:t>
            </a:r>
          </a:p>
        </p:txBody>
      </p:sp>
      <p:sp>
        <p:nvSpPr>
          <p:cNvPr id="7" name="Rounded Rectangle 6"/>
          <p:cNvSpPr/>
          <p:nvPr/>
        </p:nvSpPr>
        <p:spPr>
          <a:xfrm>
            <a:off x="777240" y="2331720"/>
            <a:ext cx="3246120" cy="242316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7"/>
          <p:cNvSpPr txBox="1"/>
          <p:nvPr/>
        </p:nvSpPr>
        <p:spPr>
          <a:xfrm>
            <a:off x="1097280" y="2670048"/>
            <a:ext cx="2560320" cy="541687"/>
          </a:xfrm>
          <a:prstGeom prst="rect">
            <a:avLst/>
          </a:prstGeom>
          <a:noFill/>
        </p:spPr>
        <p:txBody>
          <a:bodyPr wrap="square" lIns="54864" tIns="54864" rIns="54864" bIns="54864" anchor="t">
            <a:spAutoFit/>
          </a:bodyPr>
          <a:lstStyle/>
          <a:p>
            <a:pPr algn="ctr"/>
            <a:r>
              <a:rPr sz="2800" b="1">
                <a:solidFill>
                  <a:srgbClr val="0F766E"/>
                </a:solidFill>
                <a:latin typeface="Aptos Display"/>
              </a:rPr>
              <a:t>Ridge</a:t>
            </a:r>
          </a:p>
        </p:txBody>
      </p:sp>
      <p:sp>
        <p:nvSpPr>
          <p:cNvPr id="9" name="TextBox 8"/>
          <p:cNvSpPr txBox="1"/>
          <p:nvPr/>
        </p:nvSpPr>
        <p:spPr>
          <a:xfrm>
            <a:off x="1097280" y="3182112"/>
            <a:ext cx="2560320" cy="603242"/>
          </a:xfrm>
          <a:prstGeom prst="rect">
            <a:avLst/>
          </a:prstGeom>
          <a:noFill/>
        </p:spPr>
        <p:txBody>
          <a:bodyPr wrap="square" lIns="54864" tIns="54864" rIns="54864" bIns="54864" anchor="t">
            <a:spAutoFit/>
          </a:bodyPr>
          <a:lstStyle/>
          <a:p>
            <a:pPr algn="ctr"/>
            <a:r>
              <a:rPr sz="1600" b="0">
                <a:solidFill>
                  <a:srgbClr val="23303A"/>
                </a:solidFill>
                <a:latin typeface="Aptos"/>
              </a:rPr>
              <a:t>linear prediction with L2 regularization</a:t>
            </a:r>
          </a:p>
        </p:txBody>
      </p:sp>
      <p:sp>
        <p:nvSpPr>
          <p:cNvPr id="10" name="TextBox 9"/>
          <p:cNvSpPr txBox="1"/>
          <p:nvPr/>
        </p:nvSpPr>
        <p:spPr>
          <a:xfrm>
            <a:off x="1097280" y="3886200"/>
            <a:ext cx="2560320" cy="757130"/>
          </a:xfrm>
          <a:prstGeom prst="rect">
            <a:avLst/>
          </a:prstGeom>
          <a:noFill/>
        </p:spPr>
        <p:txBody>
          <a:bodyPr wrap="square" lIns="54864" tIns="54864" rIns="54864" bIns="54864" anchor="t">
            <a:spAutoFit/>
          </a:bodyPr>
          <a:lstStyle/>
          <a:p>
            <a:pPr algn="ctr"/>
            <a:r>
              <a:rPr sz="1400" b="0">
                <a:solidFill>
                  <a:srgbClr val="5B6971"/>
                </a:solidFill>
                <a:latin typeface="Aptos"/>
              </a:rPr>
              <a:t>shared preprocessing -&gt; transformed features -&gt; predicted hours</a:t>
            </a:r>
          </a:p>
        </p:txBody>
      </p:sp>
      <p:sp>
        <p:nvSpPr>
          <p:cNvPr id="11" name="TextBox 10"/>
          <p:cNvSpPr txBox="1"/>
          <p:nvPr/>
        </p:nvSpPr>
        <p:spPr>
          <a:xfrm>
            <a:off x="4617720" y="2487168"/>
            <a:ext cx="2560320" cy="603242"/>
          </a:xfrm>
          <a:prstGeom prst="rect">
            <a:avLst/>
          </a:prstGeom>
          <a:noFill/>
        </p:spPr>
        <p:txBody>
          <a:bodyPr wrap="square" lIns="54864" tIns="54864" rIns="54864" bIns="54864" anchor="t">
            <a:spAutoFit/>
          </a:bodyPr>
          <a:lstStyle/>
          <a:p>
            <a:pPr algn="l"/>
            <a:r>
              <a:rPr sz="3200" b="1">
                <a:solidFill>
                  <a:srgbClr val="E76F51"/>
                </a:solidFill>
                <a:latin typeface="Aptos Display"/>
              </a:rPr>
              <a:t>3.80 h</a:t>
            </a:r>
          </a:p>
        </p:txBody>
      </p:sp>
      <p:sp>
        <p:nvSpPr>
          <p:cNvPr id="12" name="TextBox 11"/>
          <p:cNvSpPr txBox="1"/>
          <p:nvPr/>
        </p:nvSpPr>
        <p:spPr>
          <a:xfrm>
            <a:off x="4617720" y="2971800"/>
            <a:ext cx="2560320" cy="326243"/>
          </a:xfrm>
          <a:prstGeom prst="rect">
            <a:avLst/>
          </a:prstGeom>
          <a:noFill/>
        </p:spPr>
        <p:txBody>
          <a:bodyPr wrap="square" lIns="54864" tIns="54864" rIns="54864" bIns="54864" anchor="t">
            <a:spAutoFit/>
          </a:bodyPr>
          <a:lstStyle/>
          <a:p>
            <a:pPr algn="l"/>
            <a:r>
              <a:rPr sz="1400" b="0">
                <a:solidFill>
                  <a:srgbClr val="5B6971"/>
                </a:solidFill>
                <a:latin typeface="Aptos"/>
              </a:rPr>
              <a:t>MAE: average absolute miss</a:t>
            </a:r>
          </a:p>
        </p:txBody>
      </p:sp>
      <p:sp>
        <p:nvSpPr>
          <p:cNvPr id="13" name="TextBox 12"/>
          <p:cNvSpPr txBox="1"/>
          <p:nvPr/>
        </p:nvSpPr>
        <p:spPr>
          <a:xfrm>
            <a:off x="7315200" y="2487168"/>
            <a:ext cx="2560320" cy="603242"/>
          </a:xfrm>
          <a:prstGeom prst="rect">
            <a:avLst/>
          </a:prstGeom>
          <a:noFill/>
        </p:spPr>
        <p:txBody>
          <a:bodyPr wrap="square" lIns="54864" tIns="54864" rIns="54864" bIns="54864" anchor="t">
            <a:spAutoFit/>
          </a:bodyPr>
          <a:lstStyle/>
          <a:p>
            <a:pPr algn="l"/>
            <a:r>
              <a:rPr sz="3200" b="1">
                <a:solidFill>
                  <a:srgbClr val="599DB5"/>
                </a:solidFill>
                <a:latin typeface="Aptos Display"/>
              </a:rPr>
              <a:t>6.52 h</a:t>
            </a:r>
          </a:p>
        </p:txBody>
      </p:sp>
      <p:sp>
        <p:nvSpPr>
          <p:cNvPr id="14" name="TextBox 13"/>
          <p:cNvSpPr txBox="1"/>
          <p:nvPr/>
        </p:nvSpPr>
        <p:spPr>
          <a:xfrm>
            <a:off x="7315200" y="2971800"/>
            <a:ext cx="2560320" cy="326243"/>
          </a:xfrm>
          <a:prstGeom prst="rect">
            <a:avLst/>
          </a:prstGeom>
          <a:noFill/>
        </p:spPr>
        <p:txBody>
          <a:bodyPr wrap="square" lIns="54864" tIns="54864" rIns="54864" bIns="54864" anchor="t">
            <a:spAutoFit/>
          </a:bodyPr>
          <a:lstStyle/>
          <a:p>
            <a:pPr algn="l"/>
            <a:r>
              <a:rPr sz="1400" b="0">
                <a:solidFill>
                  <a:srgbClr val="5B6971"/>
                </a:solidFill>
                <a:latin typeface="Aptos"/>
              </a:rPr>
              <a:t>RMSE: penalizes large misses</a:t>
            </a:r>
          </a:p>
        </p:txBody>
      </p:sp>
      <p:sp>
        <p:nvSpPr>
          <p:cNvPr id="15" name="TextBox 14"/>
          <p:cNvSpPr txBox="1"/>
          <p:nvPr/>
        </p:nvSpPr>
        <p:spPr>
          <a:xfrm>
            <a:off x="4617720" y="3749039"/>
            <a:ext cx="2560320" cy="603242"/>
          </a:xfrm>
          <a:prstGeom prst="rect">
            <a:avLst/>
          </a:prstGeom>
          <a:noFill/>
        </p:spPr>
        <p:txBody>
          <a:bodyPr wrap="square" lIns="54864" tIns="54864" rIns="54864" bIns="54864" anchor="t">
            <a:spAutoFit/>
          </a:bodyPr>
          <a:lstStyle/>
          <a:p>
            <a:pPr algn="l"/>
            <a:r>
              <a:rPr sz="3200" b="1">
                <a:solidFill>
                  <a:srgbClr val="0F766E"/>
                </a:solidFill>
                <a:latin typeface="Aptos Display"/>
              </a:rPr>
              <a:t>0.066</a:t>
            </a:r>
          </a:p>
        </p:txBody>
      </p:sp>
      <p:sp>
        <p:nvSpPr>
          <p:cNvPr id="16" name="TextBox 15"/>
          <p:cNvSpPr txBox="1"/>
          <p:nvPr/>
        </p:nvSpPr>
        <p:spPr>
          <a:xfrm>
            <a:off x="4617720" y="4233672"/>
            <a:ext cx="2560320" cy="326243"/>
          </a:xfrm>
          <a:prstGeom prst="rect">
            <a:avLst/>
          </a:prstGeom>
          <a:noFill/>
        </p:spPr>
        <p:txBody>
          <a:bodyPr wrap="square" lIns="54864" tIns="54864" rIns="54864" bIns="54864" anchor="t">
            <a:spAutoFit/>
          </a:bodyPr>
          <a:lstStyle/>
          <a:p>
            <a:pPr algn="l"/>
            <a:r>
              <a:rPr sz="1400" b="0">
                <a:solidFill>
                  <a:srgbClr val="5B6971"/>
                </a:solidFill>
                <a:latin typeface="Aptos"/>
              </a:rPr>
              <a:t>R2: variance-relative summary</a:t>
            </a:r>
          </a:p>
        </p:txBody>
      </p:sp>
      <p:sp>
        <p:nvSpPr>
          <p:cNvPr id="17" name="Rounded Rectangle 16"/>
          <p:cNvSpPr/>
          <p:nvPr/>
        </p:nvSpPr>
        <p:spPr>
          <a:xfrm>
            <a:off x="7315200" y="3703320"/>
            <a:ext cx="3657600" cy="100584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8" name="TextBox 17"/>
          <p:cNvSpPr txBox="1"/>
          <p:nvPr/>
        </p:nvSpPr>
        <p:spPr>
          <a:xfrm>
            <a:off x="7589520" y="3968496"/>
            <a:ext cx="3108960" cy="757130"/>
          </a:xfrm>
          <a:prstGeom prst="rect">
            <a:avLst/>
          </a:prstGeom>
          <a:noFill/>
        </p:spPr>
        <p:txBody>
          <a:bodyPr wrap="square" lIns="54864" tIns="54864" rIns="54864" bIns="54864" anchor="t">
            <a:spAutoFit/>
          </a:bodyPr>
          <a:lstStyle/>
          <a:p>
            <a:pPr algn="ctr"/>
            <a:r>
              <a:rPr sz="1400" b="1">
                <a:solidFill>
                  <a:srgbClr val="0B1F33"/>
                </a:solidFill>
                <a:latin typeface="Aptos"/>
              </a:rPr>
              <a:t>Read residuals too: a reasonable average error can hide systematic underprediction of the longest stays.</a:t>
            </a:r>
          </a:p>
        </p:txBody>
      </p:sp>
      <p:sp>
        <p:nvSpPr>
          <p:cNvPr id="19" name="TextBox 18"/>
          <p:cNvSpPr txBox="1"/>
          <p:nvPr/>
        </p:nvSpPr>
        <p:spPr>
          <a:xfrm>
            <a:off x="868680" y="5806440"/>
            <a:ext cx="10241280" cy="256032"/>
          </a:xfrm>
          <a:prstGeom prst="rect">
            <a:avLst/>
          </a:prstGeom>
          <a:noFill/>
        </p:spPr>
        <p:txBody>
          <a:bodyPr wrap="square" lIns="54864" tIns="54864" rIns="54864" bIns="54864" anchor="t">
            <a:spAutoFit/>
          </a:bodyPr>
          <a:lstStyle/>
          <a:p>
            <a:pPr algn="ctr"/>
            <a:r>
              <a:rPr sz="1700" b="1">
                <a:solidFill>
                  <a:srgbClr val="0B1F33"/>
                </a:solidFill>
                <a:latin typeface="Aptos"/>
              </a:rPr>
              <a:t>A continuous prediction is more informative, but its error must still connect to a decision.</a:t>
            </a:r>
          </a:p>
        </p:txBody>
      </p:sp>
      <p:sp>
        <p:nvSpPr>
          <p:cNvPr id="20" name="Rectangle 19"/>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754880" cy="201168"/>
          </a:xfrm>
          <a:prstGeom prst="rect">
            <a:avLst/>
          </a:prstGeom>
          <a:noFill/>
        </p:spPr>
        <p:txBody>
          <a:bodyPr wrap="square" lIns="54864" tIns="54864" rIns="54864" bIns="54864" anchor="t">
            <a:spAutoFit/>
          </a:bodyPr>
          <a:lstStyle/>
          <a:p>
            <a:pPr algn="l"/>
            <a:r>
              <a:rPr sz="1000" b="1">
                <a:solidFill>
                  <a:srgbClr val="0F766E"/>
                </a:solidFill>
                <a:latin typeface="Aptos"/>
              </a:rPr>
              <a:t>04  /  MODELING</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900" b="1">
                <a:solidFill>
                  <a:srgbClr val="0B1F33"/>
                </a:solidFill>
                <a:latin typeface="Aptos Display"/>
              </a:rPr>
              <a:t>Binary and continuous targets support different decisions</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M2  /  16</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22960" y="1691640"/>
            <a:ext cx="4800600" cy="342900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2011680"/>
            <a:ext cx="4023360" cy="320040"/>
          </a:xfrm>
          <a:prstGeom prst="rect">
            <a:avLst/>
          </a:prstGeom>
          <a:noFill/>
        </p:spPr>
        <p:txBody>
          <a:bodyPr wrap="square" lIns="54864" tIns="54864" rIns="54864" bIns="54864" anchor="t">
            <a:spAutoFit/>
          </a:bodyPr>
          <a:lstStyle/>
          <a:p>
            <a:pPr algn="ctr"/>
            <a:r>
              <a:rPr sz="2400" b="1">
                <a:solidFill>
                  <a:srgbClr val="E76F51"/>
                </a:solidFill>
                <a:latin typeface="Aptos Display"/>
              </a:rPr>
              <a:t>Classification</a:t>
            </a:r>
          </a:p>
        </p:txBody>
      </p:sp>
      <p:sp>
        <p:nvSpPr>
          <p:cNvPr id="8" name="Oval 7"/>
          <p:cNvSpPr/>
          <p:nvPr/>
        </p:nvSpPr>
        <p:spPr>
          <a:xfrm>
            <a:off x="1188720" y="2779776"/>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53312" y="2697480"/>
            <a:ext cx="3675888" cy="292608"/>
          </a:xfrm>
          <a:prstGeom prst="rect">
            <a:avLst/>
          </a:prstGeom>
          <a:noFill/>
        </p:spPr>
        <p:txBody>
          <a:bodyPr wrap="square" lIns="54864" tIns="54864" rIns="54864" bIns="54864" anchor="t">
            <a:spAutoFit/>
          </a:bodyPr>
          <a:lstStyle/>
          <a:p>
            <a:pPr algn="l"/>
            <a:r>
              <a:rPr sz="1500" b="0">
                <a:solidFill>
                  <a:srgbClr val="23303A"/>
                </a:solidFill>
                <a:latin typeface="Aptos"/>
              </a:rPr>
              <a:t>Question: will LOS exceed 4.5 hours?</a:t>
            </a:r>
          </a:p>
        </p:txBody>
      </p:sp>
      <p:sp>
        <p:nvSpPr>
          <p:cNvPr id="10" name="Oval 9"/>
          <p:cNvSpPr/>
          <p:nvPr/>
        </p:nvSpPr>
        <p:spPr>
          <a:xfrm>
            <a:off x="1188720" y="3310128"/>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53312" y="3227832"/>
            <a:ext cx="3675888" cy="292608"/>
          </a:xfrm>
          <a:prstGeom prst="rect">
            <a:avLst/>
          </a:prstGeom>
          <a:noFill/>
        </p:spPr>
        <p:txBody>
          <a:bodyPr wrap="square" lIns="54864" tIns="54864" rIns="54864" bIns="54864" anchor="t">
            <a:spAutoFit/>
          </a:bodyPr>
          <a:lstStyle/>
          <a:p>
            <a:pPr algn="l"/>
            <a:r>
              <a:rPr sz="1500" b="0">
                <a:solidFill>
                  <a:srgbClr val="23303A"/>
                </a:solidFill>
                <a:latin typeface="Aptos"/>
              </a:rPr>
              <a:t>Output: probability or class label.</a:t>
            </a:r>
          </a:p>
        </p:txBody>
      </p:sp>
      <p:sp>
        <p:nvSpPr>
          <p:cNvPr id="12" name="Oval 11"/>
          <p:cNvSpPr/>
          <p:nvPr/>
        </p:nvSpPr>
        <p:spPr>
          <a:xfrm>
            <a:off x="1188720" y="3840480"/>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53312" y="3758184"/>
            <a:ext cx="3675888" cy="292608"/>
          </a:xfrm>
          <a:prstGeom prst="rect">
            <a:avLst/>
          </a:prstGeom>
          <a:noFill/>
        </p:spPr>
        <p:txBody>
          <a:bodyPr wrap="square" lIns="54864" tIns="54864" rIns="54864" bIns="54864" anchor="t">
            <a:spAutoFit/>
          </a:bodyPr>
          <a:lstStyle/>
          <a:p>
            <a:pPr algn="l"/>
            <a:r>
              <a:rPr sz="1500" b="0">
                <a:solidFill>
                  <a:srgbClr val="23303A"/>
                </a:solidFill>
                <a:latin typeface="Aptos"/>
              </a:rPr>
              <a:t>Useful for alerts, routing, or thresholded actions.</a:t>
            </a:r>
          </a:p>
        </p:txBody>
      </p:sp>
      <p:sp>
        <p:nvSpPr>
          <p:cNvPr id="14" name="Oval 13"/>
          <p:cNvSpPr/>
          <p:nvPr/>
        </p:nvSpPr>
        <p:spPr>
          <a:xfrm>
            <a:off x="1188720" y="4370832"/>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53312" y="4288536"/>
            <a:ext cx="3675888" cy="292608"/>
          </a:xfrm>
          <a:prstGeom prst="rect">
            <a:avLst/>
          </a:prstGeom>
          <a:noFill/>
        </p:spPr>
        <p:txBody>
          <a:bodyPr wrap="square" lIns="54864" tIns="54864" rIns="54864" bIns="54864" anchor="t">
            <a:spAutoFit/>
          </a:bodyPr>
          <a:lstStyle/>
          <a:p>
            <a:pPr algn="l"/>
            <a:r>
              <a:rPr sz="1500" b="0">
                <a:solidFill>
                  <a:srgbClr val="23303A"/>
                </a:solidFill>
                <a:latin typeface="Aptos"/>
              </a:rPr>
              <a:t>Cost: loses differences within each class.</a:t>
            </a:r>
          </a:p>
        </p:txBody>
      </p:sp>
      <p:sp>
        <p:nvSpPr>
          <p:cNvPr id="16" name="Rounded Rectangle 15"/>
          <p:cNvSpPr/>
          <p:nvPr/>
        </p:nvSpPr>
        <p:spPr>
          <a:xfrm>
            <a:off x="6537960" y="1691640"/>
            <a:ext cx="4800600" cy="342900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03720" y="2011680"/>
            <a:ext cx="4023360" cy="320040"/>
          </a:xfrm>
          <a:prstGeom prst="rect">
            <a:avLst/>
          </a:prstGeom>
          <a:noFill/>
        </p:spPr>
        <p:txBody>
          <a:bodyPr wrap="square" lIns="54864" tIns="54864" rIns="54864" bIns="54864" anchor="t">
            <a:spAutoFit/>
          </a:bodyPr>
          <a:lstStyle/>
          <a:p>
            <a:pPr algn="ctr"/>
            <a:r>
              <a:rPr sz="2400" b="1">
                <a:solidFill>
                  <a:srgbClr val="0F766E"/>
                </a:solidFill>
                <a:latin typeface="Aptos Display"/>
              </a:rPr>
              <a:t>Regression</a:t>
            </a:r>
          </a:p>
        </p:txBody>
      </p:sp>
      <p:sp>
        <p:nvSpPr>
          <p:cNvPr id="18" name="Oval 17"/>
          <p:cNvSpPr/>
          <p:nvPr/>
        </p:nvSpPr>
        <p:spPr>
          <a:xfrm>
            <a:off x="6903720" y="2779776"/>
            <a:ext cx="82296" cy="82296"/>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68312" y="2697480"/>
            <a:ext cx="3675888" cy="292608"/>
          </a:xfrm>
          <a:prstGeom prst="rect">
            <a:avLst/>
          </a:prstGeom>
          <a:noFill/>
        </p:spPr>
        <p:txBody>
          <a:bodyPr wrap="square" lIns="54864" tIns="54864" rIns="54864" bIns="54864" anchor="t">
            <a:spAutoFit/>
          </a:bodyPr>
          <a:lstStyle/>
          <a:p>
            <a:pPr algn="l"/>
            <a:r>
              <a:rPr sz="1500" b="0">
                <a:solidFill>
                  <a:srgbClr val="23303A"/>
                </a:solidFill>
                <a:latin typeface="Aptos"/>
              </a:rPr>
              <a:t>Question: how many hours is the stay?</a:t>
            </a:r>
          </a:p>
        </p:txBody>
      </p:sp>
      <p:sp>
        <p:nvSpPr>
          <p:cNvPr id="20" name="Oval 19"/>
          <p:cNvSpPr/>
          <p:nvPr/>
        </p:nvSpPr>
        <p:spPr>
          <a:xfrm>
            <a:off x="6903720" y="3310128"/>
            <a:ext cx="82296" cy="82296"/>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68312" y="3227832"/>
            <a:ext cx="3675888" cy="292608"/>
          </a:xfrm>
          <a:prstGeom prst="rect">
            <a:avLst/>
          </a:prstGeom>
          <a:noFill/>
        </p:spPr>
        <p:txBody>
          <a:bodyPr wrap="square" lIns="54864" tIns="54864" rIns="54864" bIns="54864" anchor="t">
            <a:spAutoFit/>
          </a:bodyPr>
          <a:lstStyle/>
          <a:p>
            <a:pPr algn="l"/>
            <a:r>
              <a:rPr sz="1500" b="0">
                <a:solidFill>
                  <a:srgbClr val="23303A"/>
                </a:solidFill>
                <a:latin typeface="Aptos"/>
              </a:rPr>
              <a:t>Output: expected continuous duration.</a:t>
            </a:r>
          </a:p>
        </p:txBody>
      </p:sp>
      <p:sp>
        <p:nvSpPr>
          <p:cNvPr id="22" name="Oval 21"/>
          <p:cNvSpPr/>
          <p:nvPr/>
        </p:nvSpPr>
        <p:spPr>
          <a:xfrm>
            <a:off x="6903720" y="3840480"/>
            <a:ext cx="82296" cy="82296"/>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68312" y="3758184"/>
            <a:ext cx="3675888" cy="292608"/>
          </a:xfrm>
          <a:prstGeom prst="rect">
            <a:avLst/>
          </a:prstGeom>
          <a:noFill/>
        </p:spPr>
        <p:txBody>
          <a:bodyPr wrap="square" lIns="54864" tIns="54864" rIns="54864" bIns="54864" anchor="t">
            <a:spAutoFit/>
          </a:bodyPr>
          <a:lstStyle/>
          <a:p>
            <a:pPr algn="l"/>
            <a:r>
              <a:rPr sz="1500" b="0">
                <a:solidFill>
                  <a:srgbClr val="23303A"/>
                </a:solidFill>
                <a:latin typeface="Aptos"/>
              </a:rPr>
              <a:t>Useful for planning and resource forecasting.</a:t>
            </a:r>
          </a:p>
        </p:txBody>
      </p:sp>
      <p:sp>
        <p:nvSpPr>
          <p:cNvPr id="24" name="Oval 23"/>
          <p:cNvSpPr/>
          <p:nvPr/>
        </p:nvSpPr>
        <p:spPr>
          <a:xfrm>
            <a:off x="6903720" y="4370832"/>
            <a:ext cx="82296" cy="82296"/>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68312" y="4288536"/>
            <a:ext cx="3675888" cy="292608"/>
          </a:xfrm>
          <a:prstGeom prst="rect">
            <a:avLst/>
          </a:prstGeom>
          <a:noFill/>
        </p:spPr>
        <p:txBody>
          <a:bodyPr wrap="square" lIns="54864" tIns="54864" rIns="54864" bIns="54864" anchor="t">
            <a:spAutoFit/>
          </a:bodyPr>
          <a:lstStyle/>
          <a:p>
            <a:pPr algn="l"/>
            <a:r>
              <a:rPr sz="1500" b="0">
                <a:solidFill>
                  <a:srgbClr val="23303A"/>
                </a:solidFill>
                <a:latin typeface="Aptos"/>
              </a:rPr>
              <a:t>Cost: errors are harder to translate into one action.</a:t>
            </a:r>
          </a:p>
        </p:txBody>
      </p:sp>
      <p:sp>
        <p:nvSpPr>
          <p:cNvPr id="26" name="TextBox 25"/>
          <p:cNvSpPr txBox="1"/>
          <p:nvPr/>
        </p:nvSpPr>
        <p:spPr>
          <a:xfrm>
            <a:off x="868680" y="5806440"/>
            <a:ext cx="10332720" cy="274320"/>
          </a:xfrm>
          <a:prstGeom prst="rect">
            <a:avLst/>
          </a:prstGeom>
          <a:noFill/>
        </p:spPr>
        <p:txBody>
          <a:bodyPr wrap="square" lIns="54864" tIns="54864" rIns="54864" bIns="54864" anchor="t">
            <a:spAutoFit/>
          </a:bodyPr>
          <a:lstStyle/>
          <a:p>
            <a:pPr algn="ctr"/>
            <a:r>
              <a:rPr sz="1900" b="1">
                <a:solidFill>
                  <a:srgbClr val="0B1F33"/>
                </a:solidFill>
                <a:latin typeface="Aptos"/>
              </a:rPr>
              <a:t>State the intended decision before choosing the target representation and metric.</a:t>
            </a:r>
          </a:p>
        </p:txBody>
      </p:sp>
      <p:sp>
        <p:nvSpPr>
          <p:cNvPr id="27" name="Rectangle 26"/>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4754880" cy="201168"/>
          </a:xfrm>
          <a:prstGeom prst="rect">
            <a:avLst/>
          </a:prstGeom>
          <a:noFill/>
        </p:spPr>
        <p:txBody>
          <a:bodyPr wrap="square" lIns="54864" tIns="54864" rIns="54864" bIns="54864" anchor="t">
            <a:spAutoFit/>
          </a:bodyPr>
          <a:lstStyle/>
          <a:p>
            <a:pPr algn="l"/>
            <a:r>
              <a:rPr sz="1000" b="1">
                <a:solidFill>
                  <a:srgbClr val="0F766E"/>
                </a:solidFill>
                <a:latin typeface="Aptos"/>
              </a:rPr>
              <a:t>05  /  HANDOFF</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900" b="1">
                <a:solidFill>
                  <a:srgbClr val="0B1F33"/>
                </a:solidFill>
                <a:latin typeface="Aptos Display"/>
              </a:rPr>
              <a:t>What M2 exports and what students should inspect</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M2  /  17</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481328"/>
            <a:ext cx="91440" cy="713232"/>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987552" y="1517904"/>
            <a:ext cx="2697480" cy="357021"/>
          </a:xfrm>
          <a:prstGeom prst="rect">
            <a:avLst/>
          </a:prstGeom>
          <a:noFill/>
        </p:spPr>
        <p:txBody>
          <a:bodyPr wrap="square" lIns="54864" tIns="54864" rIns="54864" bIns="54864" anchor="t">
            <a:spAutoFit/>
          </a:bodyPr>
          <a:lstStyle/>
          <a:p>
            <a:pPr algn="l"/>
            <a:r>
              <a:rPr sz="1600" b="1">
                <a:solidFill>
                  <a:srgbClr val="0B1F33"/>
                </a:solidFill>
                <a:latin typeface="Aptos Display"/>
              </a:rPr>
              <a:t>M2_los_summary.csv</a:t>
            </a:r>
          </a:p>
        </p:txBody>
      </p:sp>
      <p:sp>
        <p:nvSpPr>
          <p:cNvPr id="8" name="TextBox 7"/>
          <p:cNvSpPr txBox="1"/>
          <p:nvPr/>
        </p:nvSpPr>
        <p:spPr>
          <a:xfrm>
            <a:off x="3520439" y="1527048"/>
            <a:ext cx="2331720" cy="541687"/>
          </a:xfrm>
          <a:prstGeom prst="rect">
            <a:avLst/>
          </a:prstGeom>
          <a:noFill/>
        </p:spPr>
        <p:txBody>
          <a:bodyPr wrap="square" lIns="54864" tIns="54864" rIns="54864" bIns="54864" anchor="t">
            <a:spAutoFit/>
          </a:bodyPr>
          <a:lstStyle/>
          <a:p>
            <a:pPr algn="l"/>
            <a:r>
              <a:rPr sz="1400" b="0" dirty="0">
                <a:solidFill>
                  <a:srgbClr val="23303A"/>
                </a:solidFill>
                <a:latin typeface="Aptos"/>
              </a:rPr>
              <a:t>center, spread, percentiles, and tail of valid LOS</a:t>
            </a:r>
          </a:p>
        </p:txBody>
      </p:sp>
      <p:sp>
        <p:nvSpPr>
          <p:cNvPr id="9" name="Rectangle 8"/>
          <p:cNvSpPr/>
          <p:nvPr/>
        </p:nvSpPr>
        <p:spPr>
          <a:xfrm>
            <a:off x="6217920" y="1481328"/>
            <a:ext cx="91440" cy="713232"/>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6473952" y="1517904"/>
            <a:ext cx="2697480" cy="357021"/>
          </a:xfrm>
          <a:prstGeom prst="rect">
            <a:avLst/>
          </a:prstGeom>
          <a:noFill/>
        </p:spPr>
        <p:txBody>
          <a:bodyPr wrap="square" lIns="54864" tIns="54864" rIns="54864" bIns="54864" anchor="t">
            <a:spAutoFit/>
          </a:bodyPr>
          <a:lstStyle/>
          <a:p>
            <a:pPr algn="l"/>
            <a:r>
              <a:rPr sz="1600" b="1">
                <a:solidFill>
                  <a:srgbClr val="0B1F33"/>
                </a:solidFill>
                <a:latin typeface="Aptos Display"/>
              </a:rPr>
              <a:t>M2_los_by_acuity.csv</a:t>
            </a:r>
          </a:p>
        </p:txBody>
      </p:sp>
      <p:sp>
        <p:nvSpPr>
          <p:cNvPr id="11" name="TextBox 10"/>
          <p:cNvSpPr txBox="1"/>
          <p:nvPr/>
        </p:nvSpPr>
        <p:spPr>
          <a:xfrm>
            <a:off x="9006840" y="1527048"/>
            <a:ext cx="2331720" cy="541687"/>
          </a:xfrm>
          <a:prstGeom prst="rect">
            <a:avLst/>
          </a:prstGeom>
          <a:noFill/>
        </p:spPr>
        <p:txBody>
          <a:bodyPr wrap="square" lIns="54864" tIns="54864" rIns="54864" bIns="54864" anchor="t">
            <a:spAutoFit/>
          </a:bodyPr>
          <a:lstStyle/>
          <a:p>
            <a:pPr algn="l"/>
            <a:r>
              <a:rPr sz="1400" b="0">
                <a:solidFill>
                  <a:srgbClr val="23303A"/>
                </a:solidFill>
                <a:latin typeface="Aptos"/>
              </a:rPr>
              <a:t>descriptive LOS and long-stay rates by acuity</a:t>
            </a:r>
          </a:p>
        </p:txBody>
      </p:sp>
      <p:sp>
        <p:nvSpPr>
          <p:cNvPr id="12" name="Rectangle 11"/>
          <p:cNvSpPr/>
          <p:nvPr/>
        </p:nvSpPr>
        <p:spPr>
          <a:xfrm>
            <a:off x="731520" y="2532888"/>
            <a:ext cx="91440" cy="713232"/>
          </a:xfrm>
          <a:prstGeom prst="rect">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p:cNvSpPr txBox="1"/>
          <p:nvPr/>
        </p:nvSpPr>
        <p:spPr>
          <a:xfrm>
            <a:off x="987552" y="2569464"/>
            <a:ext cx="2697480" cy="357021"/>
          </a:xfrm>
          <a:prstGeom prst="rect">
            <a:avLst/>
          </a:prstGeom>
          <a:noFill/>
        </p:spPr>
        <p:txBody>
          <a:bodyPr wrap="square" lIns="54864" tIns="54864" rIns="54864" bIns="54864" anchor="t">
            <a:spAutoFit/>
          </a:bodyPr>
          <a:lstStyle/>
          <a:p>
            <a:pPr algn="l"/>
            <a:r>
              <a:rPr sz="1600" b="1">
                <a:solidFill>
                  <a:srgbClr val="0B1F33"/>
                </a:solidFill>
                <a:latin typeface="Aptos Display"/>
              </a:rPr>
              <a:t>M2_los_by_age.csv</a:t>
            </a:r>
          </a:p>
        </p:txBody>
      </p:sp>
      <p:sp>
        <p:nvSpPr>
          <p:cNvPr id="14" name="TextBox 13"/>
          <p:cNvSpPr txBox="1"/>
          <p:nvPr/>
        </p:nvSpPr>
        <p:spPr>
          <a:xfrm>
            <a:off x="3520439" y="2578608"/>
            <a:ext cx="2331720" cy="326243"/>
          </a:xfrm>
          <a:prstGeom prst="rect">
            <a:avLst/>
          </a:prstGeom>
          <a:noFill/>
        </p:spPr>
        <p:txBody>
          <a:bodyPr wrap="square" lIns="54864" tIns="54864" rIns="54864" bIns="54864" anchor="t">
            <a:spAutoFit/>
          </a:bodyPr>
          <a:lstStyle/>
          <a:p>
            <a:pPr algn="l"/>
            <a:r>
              <a:rPr sz="1400" b="0">
                <a:solidFill>
                  <a:srgbClr val="23303A"/>
                </a:solidFill>
                <a:latin typeface="Aptos"/>
              </a:rPr>
              <a:t>age-group comparisons</a:t>
            </a:r>
          </a:p>
        </p:txBody>
      </p:sp>
      <p:sp>
        <p:nvSpPr>
          <p:cNvPr id="15" name="Rectangle 14"/>
          <p:cNvSpPr/>
          <p:nvPr/>
        </p:nvSpPr>
        <p:spPr>
          <a:xfrm>
            <a:off x="6217920" y="2532888"/>
            <a:ext cx="91440" cy="713232"/>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6473952" y="2569464"/>
            <a:ext cx="2697480" cy="357021"/>
          </a:xfrm>
          <a:prstGeom prst="rect">
            <a:avLst/>
          </a:prstGeom>
          <a:noFill/>
        </p:spPr>
        <p:txBody>
          <a:bodyPr wrap="square" lIns="54864" tIns="54864" rIns="54864" bIns="54864" anchor="t">
            <a:spAutoFit/>
          </a:bodyPr>
          <a:lstStyle/>
          <a:p>
            <a:pPr algn="l"/>
            <a:r>
              <a:rPr sz="1600" b="1">
                <a:solidFill>
                  <a:srgbClr val="0B1F33"/>
                </a:solidFill>
                <a:latin typeface="Aptos Display"/>
              </a:rPr>
              <a:t>M2_los_by_arrival.csv</a:t>
            </a:r>
          </a:p>
        </p:txBody>
      </p:sp>
      <p:sp>
        <p:nvSpPr>
          <p:cNvPr id="17" name="TextBox 16"/>
          <p:cNvSpPr txBox="1"/>
          <p:nvPr/>
        </p:nvSpPr>
        <p:spPr>
          <a:xfrm>
            <a:off x="9006840" y="2578608"/>
            <a:ext cx="2331720" cy="541687"/>
          </a:xfrm>
          <a:prstGeom prst="rect">
            <a:avLst/>
          </a:prstGeom>
          <a:noFill/>
        </p:spPr>
        <p:txBody>
          <a:bodyPr wrap="square" lIns="54864" tIns="54864" rIns="54864" bIns="54864" anchor="t">
            <a:spAutoFit/>
          </a:bodyPr>
          <a:lstStyle/>
          <a:p>
            <a:pPr algn="l"/>
            <a:r>
              <a:rPr sz="1400" b="0">
                <a:solidFill>
                  <a:srgbClr val="23303A"/>
                </a:solidFill>
                <a:latin typeface="Aptos"/>
              </a:rPr>
              <a:t>arrival-transport comparisons</a:t>
            </a:r>
          </a:p>
        </p:txBody>
      </p:sp>
      <p:sp>
        <p:nvSpPr>
          <p:cNvPr id="18" name="Rectangle 17"/>
          <p:cNvSpPr/>
          <p:nvPr/>
        </p:nvSpPr>
        <p:spPr>
          <a:xfrm>
            <a:off x="731520" y="3584448"/>
            <a:ext cx="91440" cy="713232"/>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TextBox 18"/>
          <p:cNvSpPr txBox="1"/>
          <p:nvPr/>
        </p:nvSpPr>
        <p:spPr>
          <a:xfrm>
            <a:off x="987552" y="3621024"/>
            <a:ext cx="2167126" cy="603242"/>
          </a:xfrm>
          <a:prstGeom prst="rect">
            <a:avLst/>
          </a:prstGeom>
          <a:noFill/>
        </p:spPr>
        <p:txBody>
          <a:bodyPr wrap="square" lIns="54864" tIns="54864" rIns="54864" bIns="54864" anchor="t">
            <a:spAutoFit/>
          </a:bodyPr>
          <a:lstStyle/>
          <a:p>
            <a:pPr algn="l"/>
            <a:r>
              <a:rPr sz="1600" b="1" dirty="0">
                <a:solidFill>
                  <a:srgbClr val="0B1F33"/>
                </a:solidFill>
                <a:latin typeface="Aptos Display"/>
              </a:rPr>
              <a:t>M2_classification_results.csv</a:t>
            </a:r>
          </a:p>
        </p:txBody>
      </p:sp>
      <p:sp>
        <p:nvSpPr>
          <p:cNvPr id="20" name="TextBox 19"/>
          <p:cNvSpPr txBox="1"/>
          <p:nvPr/>
        </p:nvSpPr>
        <p:spPr>
          <a:xfrm>
            <a:off x="3520439" y="3630168"/>
            <a:ext cx="2331720" cy="541687"/>
          </a:xfrm>
          <a:prstGeom prst="rect">
            <a:avLst/>
          </a:prstGeom>
          <a:noFill/>
        </p:spPr>
        <p:txBody>
          <a:bodyPr wrap="square" lIns="54864" tIns="54864" rIns="54864" bIns="54864" anchor="t">
            <a:spAutoFit/>
          </a:bodyPr>
          <a:lstStyle/>
          <a:p>
            <a:pPr algn="l"/>
            <a:r>
              <a:rPr sz="1400" b="0">
                <a:solidFill>
                  <a:srgbClr val="23303A"/>
                </a:solidFill>
                <a:latin typeface="Aptos"/>
              </a:rPr>
              <a:t>combined metrics for all classifiers</a:t>
            </a:r>
          </a:p>
        </p:txBody>
      </p:sp>
      <p:sp>
        <p:nvSpPr>
          <p:cNvPr id="21" name="Rectangle 20"/>
          <p:cNvSpPr/>
          <p:nvPr/>
        </p:nvSpPr>
        <p:spPr>
          <a:xfrm>
            <a:off x="6217920" y="3584448"/>
            <a:ext cx="91440" cy="713232"/>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6473952" y="3621024"/>
            <a:ext cx="2697480" cy="357021"/>
          </a:xfrm>
          <a:prstGeom prst="rect">
            <a:avLst/>
          </a:prstGeom>
          <a:noFill/>
        </p:spPr>
        <p:txBody>
          <a:bodyPr wrap="square" lIns="54864" tIns="54864" rIns="54864" bIns="54864" anchor="t">
            <a:spAutoFit/>
          </a:bodyPr>
          <a:lstStyle/>
          <a:p>
            <a:pPr algn="l"/>
            <a:r>
              <a:rPr sz="1600" b="1">
                <a:solidFill>
                  <a:srgbClr val="0B1F33"/>
                </a:solidFill>
                <a:latin typeface="Aptos Display"/>
              </a:rPr>
              <a:t>M2_threshold_results.csv</a:t>
            </a:r>
          </a:p>
        </p:txBody>
      </p:sp>
      <p:sp>
        <p:nvSpPr>
          <p:cNvPr id="23" name="TextBox 22"/>
          <p:cNvSpPr txBox="1"/>
          <p:nvPr/>
        </p:nvSpPr>
        <p:spPr>
          <a:xfrm>
            <a:off x="9006840" y="3630168"/>
            <a:ext cx="2331720" cy="326243"/>
          </a:xfrm>
          <a:prstGeom prst="rect">
            <a:avLst/>
          </a:prstGeom>
          <a:noFill/>
        </p:spPr>
        <p:txBody>
          <a:bodyPr wrap="square" lIns="54864" tIns="54864" rIns="54864" bIns="54864" anchor="t">
            <a:spAutoFit/>
          </a:bodyPr>
          <a:lstStyle/>
          <a:p>
            <a:pPr algn="l"/>
            <a:r>
              <a:rPr sz="1400" b="0">
                <a:solidFill>
                  <a:srgbClr val="23303A"/>
                </a:solidFill>
                <a:latin typeface="Aptos"/>
              </a:rPr>
              <a:t>logistic threshold trade-offs</a:t>
            </a:r>
          </a:p>
        </p:txBody>
      </p:sp>
      <p:sp>
        <p:nvSpPr>
          <p:cNvPr id="24" name="Rectangle 23"/>
          <p:cNvSpPr/>
          <p:nvPr/>
        </p:nvSpPr>
        <p:spPr>
          <a:xfrm>
            <a:off x="731520" y="4636008"/>
            <a:ext cx="91440" cy="713232"/>
          </a:xfrm>
          <a:prstGeom prst="rect">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TextBox 24"/>
          <p:cNvSpPr txBox="1"/>
          <p:nvPr/>
        </p:nvSpPr>
        <p:spPr>
          <a:xfrm>
            <a:off x="987552" y="4672584"/>
            <a:ext cx="2697480" cy="357021"/>
          </a:xfrm>
          <a:prstGeom prst="rect">
            <a:avLst/>
          </a:prstGeom>
          <a:noFill/>
        </p:spPr>
        <p:txBody>
          <a:bodyPr wrap="square" lIns="54864" tIns="54864" rIns="54864" bIns="54864" anchor="t">
            <a:spAutoFit/>
          </a:bodyPr>
          <a:lstStyle/>
          <a:p>
            <a:pPr algn="l"/>
            <a:r>
              <a:rPr sz="1600" b="1">
                <a:solidFill>
                  <a:srgbClr val="0B1F33"/>
                </a:solidFill>
                <a:latin typeface="Aptos Display"/>
              </a:rPr>
              <a:t>M2_regression_results.csv</a:t>
            </a:r>
          </a:p>
        </p:txBody>
      </p:sp>
      <p:sp>
        <p:nvSpPr>
          <p:cNvPr id="26" name="TextBox 25"/>
          <p:cNvSpPr txBox="1"/>
          <p:nvPr/>
        </p:nvSpPr>
        <p:spPr>
          <a:xfrm>
            <a:off x="3520439" y="4681728"/>
            <a:ext cx="2331720" cy="326243"/>
          </a:xfrm>
          <a:prstGeom prst="rect">
            <a:avLst/>
          </a:prstGeom>
          <a:noFill/>
        </p:spPr>
        <p:txBody>
          <a:bodyPr wrap="square" lIns="54864" tIns="54864" rIns="54864" bIns="54864" anchor="t">
            <a:spAutoFit/>
          </a:bodyPr>
          <a:lstStyle/>
          <a:p>
            <a:pPr algn="l"/>
            <a:r>
              <a:rPr sz="1400" b="0">
                <a:solidFill>
                  <a:srgbClr val="23303A"/>
                </a:solidFill>
                <a:latin typeface="Aptos"/>
              </a:rPr>
              <a:t>Ridge MAE, RMSE, and R2</a:t>
            </a:r>
          </a:p>
        </p:txBody>
      </p:sp>
      <p:sp>
        <p:nvSpPr>
          <p:cNvPr id="27" name="Rounded Rectangle 26"/>
          <p:cNvSpPr/>
          <p:nvPr/>
        </p:nvSpPr>
        <p:spPr>
          <a:xfrm>
            <a:off x="777240" y="5486400"/>
            <a:ext cx="10607040" cy="658368"/>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5840" y="5696712"/>
            <a:ext cx="10149840" cy="219456"/>
          </a:xfrm>
          <a:prstGeom prst="rect">
            <a:avLst/>
          </a:prstGeom>
          <a:noFill/>
        </p:spPr>
        <p:txBody>
          <a:bodyPr wrap="square" lIns="54864" tIns="54864" rIns="54864" bIns="54864" anchor="t">
            <a:spAutoFit/>
          </a:bodyPr>
          <a:lstStyle/>
          <a:p>
            <a:pPr algn="ctr"/>
            <a:r>
              <a:rPr sz="1800" b="1">
                <a:solidFill>
                  <a:srgbClr val="0B1F33"/>
                </a:solidFill>
                <a:latin typeface="Aptos"/>
              </a:rPr>
              <a:t>The handoff is an argument: cohort -&gt; target -&gt; boundary -&gt; split -&gt; metric -&gt; limitation.</a:t>
            </a:r>
          </a:p>
        </p:txBody>
      </p:sp>
      <p:sp>
        <p:nvSpPr>
          <p:cNvPr id="29" name="Rectangle 28"/>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3657600" cy="182880"/>
          </a:xfrm>
          <a:prstGeom prst="rect">
            <a:avLst/>
          </a:prstGeom>
          <a:noFill/>
        </p:spPr>
        <p:txBody>
          <a:bodyPr wrap="square" lIns="54864" tIns="54864" rIns="54864" bIns="54864" anchor="t">
            <a:spAutoFit/>
          </a:bodyPr>
          <a:lstStyle/>
          <a:p>
            <a:pPr algn="l"/>
            <a:r>
              <a:rPr sz="1000" b="1">
                <a:solidFill>
                  <a:srgbClr val="E9C46A"/>
                </a:solidFill>
                <a:latin typeface="Aptos"/>
              </a:rPr>
              <a:t>M2  /  close</a:t>
            </a:r>
          </a:p>
        </p:txBody>
      </p:sp>
      <p:sp>
        <p:nvSpPr>
          <p:cNvPr id="3" name="TextBox 2"/>
          <p:cNvSpPr txBox="1"/>
          <p:nvPr/>
        </p:nvSpPr>
        <p:spPr>
          <a:xfrm>
            <a:off x="548640" y="658368"/>
            <a:ext cx="8046720" cy="530352"/>
          </a:xfrm>
          <a:prstGeom prst="rect">
            <a:avLst/>
          </a:prstGeom>
          <a:noFill/>
        </p:spPr>
        <p:txBody>
          <a:bodyPr wrap="square" lIns="54864" tIns="54864" rIns="54864" bIns="54864" anchor="t">
            <a:spAutoFit/>
          </a:bodyPr>
          <a:lstStyle/>
          <a:p>
            <a:pPr algn="l"/>
            <a:r>
              <a:rPr sz="3000" b="1">
                <a:solidFill>
                  <a:srgbClr val="FFFFFF"/>
                </a:solidFill>
                <a:latin typeface="Aptos Display"/>
              </a:rPr>
              <a:t>The M2 mental model</a:t>
            </a:r>
          </a:p>
        </p:txBody>
      </p:sp>
      <p:sp>
        <p:nvSpPr>
          <p:cNvPr id="4" name="Oval 3"/>
          <p:cNvSpPr/>
          <p:nvPr/>
        </p:nvSpPr>
        <p:spPr>
          <a:xfrm>
            <a:off x="685800" y="1828800"/>
            <a:ext cx="658368" cy="658368"/>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685800" y="2011680"/>
            <a:ext cx="658368" cy="357021"/>
          </a:xfrm>
          <a:prstGeom prst="rect">
            <a:avLst/>
          </a:prstGeom>
          <a:noFill/>
        </p:spPr>
        <p:txBody>
          <a:bodyPr wrap="square" lIns="54864" tIns="54864" rIns="54864" bIns="54864" anchor="t">
            <a:spAutoFit/>
          </a:bodyPr>
          <a:lstStyle/>
          <a:p>
            <a:pPr algn="ctr"/>
            <a:r>
              <a:rPr sz="1600" b="1">
                <a:solidFill>
                  <a:srgbClr val="FFFFFF"/>
                </a:solidFill>
                <a:latin typeface="Aptos"/>
              </a:rPr>
              <a:t>1</a:t>
            </a:r>
          </a:p>
        </p:txBody>
      </p:sp>
      <p:sp>
        <p:nvSpPr>
          <p:cNvPr id="6" name="TextBox 5"/>
          <p:cNvSpPr txBox="1"/>
          <p:nvPr/>
        </p:nvSpPr>
        <p:spPr>
          <a:xfrm>
            <a:off x="457200" y="2788920"/>
            <a:ext cx="1143000" cy="418576"/>
          </a:xfrm>
          <a:prstGeom prst="rect">
            <a:avLst/>
          </a:prstGeom>
          <a:noFill/>
        </p:spPr>
        <p:txBody>
          <a:bodyPr wrap="square" lIns="54864" tIns="54864" rIns="54864" bIns="54864" anchor="t">
            <a:spAutoFit/>
          </a:bodyPr>
          <a:lstStyle/>
          <a:p>
            <a:pPr algn="ctr"/>
            <a:r>
              <a:rPr sz="2000" b="1">
                <a:solidFill>
                  <a:srgbClr val="FFFFFF"/>
                </a:solidFill>
                <a:latin typeface="Aptos"/>
              </a:rPr>
              <a:t>Define</a:t>
            </a:r>
          </a:p>
        </p:txBody>
      </p:sp>
      <p:sp>
        <p:nvSpPr>
          <p:cNvPr id="7" name="TextBox 6"/>
          <p:cNvSpPr txBox="1"/>
          <p:nvPr/>
        </p:nvSpPr>
        <p:spPr>
          <a:xfrm>
            <a:off x="91439" y="3154680"/>
            <a:ext cx="1828800" cy="457200"/>
          </a:xfrm>
          <a:prstGeom prst="rect">
            <a:avLst/>
          </a:prstGeom>
          <a:noFill/>
        </p:spPr>
        <p:txBody>
          <a:bodyPr wrap="square" lIns="54864" tIns="54864" rIns="54864" bIns="54864" anchor="t">
            <a:spAutoFit/>
          </a:bodyPr>
          <a:lstStyle/>
          <a:p>
            <a:pPr algn="ctr"/>
            <a:r>
              <a:rPr sz="1100" b="0" dirty="0">
                <a:solidFill>
                  <a:srgbClr val="E4EBEA"/>
                </a:solidFill>
                <a:latin typeface="Aptos"/>
              </a:rPr>
              <a:t>ED LOS and the eligible cohort</a:t>
            </a:r>
          </a:p>
        </p:txBody>
      </p:sp>
      <p:cxnSp>
        <p:nvCxnSpPr>
          <p:cNvPr id="8" name="Connector 7"/>
          <p:cNvCxnSpPr/>
          <p:nvPr/>
        </p:nvCxnSpPr>
        <p:spPr>
          <a:xfrm>
            <a:off x="1463040" y="2157984"/>
            <a:ext cx="1280160" cy="0"/>
          </a:xfrm>
          <a:prstGeom prst="line">
            <a:avLst/>
          </a:prstGeom>
          <a:ln w="19050">
            <a:solidFill>
              <a:srgbClr val="E4EBEA"/>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971800" y="1828800"/>
            <a:ext cx="658368" cy="65836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2971800" y="2011680"/>
            <a:ext cx="658368" cy="357021"/>
          </a:xfrm>
          <a:prstGeom prst="rect">
            <a:avLst/>
          </a:prstGeom>
          <a:noFill/>
        </p:spPr>
        <p:txBody>
          <a:bodyPr wrap="square" lIns="54864" tIns="54864" rIns="54864" bIns="54864" anchor="t">
            <a:spAutoFit/>
          </a:bodyPr>
          <a:lstStyle/>
          <a:p>
            <a:pPr algn="ctr"/>
            <a:r>
              <a:rPr sz="1600" b="1">
                <a:solidFill>
                  <a:srgbClr val="FFFFFF"/>
                </a:solidFill>
                <a:latin typeface="Aptos"/>
              </a:rPr>
              <a:t>2</a:t>
            </a:r>
          </a:p>
        </p:txBody>
      </p:sp>
      <p:sp>
        <p:nvSpPr>
          <p:cNvPr id="11" name="TextBox 10"/>
          <p:cNvSpPr txBox="1"/>
          <p:nvPr/>
        </p:nvSpPr>
        <p:spPr>
          <a:xfrm>
            <a:off x="2743200" y="2788920"/>
            <a:ext cx="1143000" cy="726353"/>
          </a:xfrm>
          <a:prstGeom prst="rect">
            <a:avLst/>
          </a:prstGeom>
          <a:noFill/>
        </p:spPr>
        <p:txBody>
          <a:bodyPr wrap="square" lIns="54864" tIns="54864" rIns="54864" bIns="54864" anchor="t">
            <a:spAutoFit/>
          </a:bodyPr>
          <a:lstStyle/>
          <a:p>
            <a:pPr algn="ctr"/>
            <a:r>
              <a:rPr sz="2000" b="1">
                <a:solidFill>
                  <a:srgbClr val="FFFFFF"/>
                </a:solidFill>
                <a:latin typeface="Aptos"/>
              </a:rPr>
              <a:t>Describe</a:t>
            </a:r>
          </a:p>
        </p:txBody>
      </p:sp>
      <p:sp>
        <p:nvSpPr>
          <p:cNvPr id="12" name="TextBox 11"/>
          <p:cNvSpPr txBox="1"/>
          <p:nvPr/>
        </p:nvSpPr>
        <p:spPr>
          <a:xfrm>
            <a:off x="2377440" y="3154680"/>
            <a:ext cx="1828800" cy="541687"/>
          </a:xfrm>
          <a:prstGeom prst="rect">
            <a:avLst/>
          </a:prstGeom>
          <a:noFill/>
        </p:spPr>
        <p:txBody>
          <a:bodyPr wrap="square" lIns="54864" tIns="54864" rIns="54864" bIns="54864" anchor="t">
            <a:spAutoFit/>
          </a:bodyPr>
          <a:lstStyle/>
          <a:p>
            <a:pPr algn="ctr"/>
            <a:r>
              <a:rPr sz="1400" b="0">
                <a:solidFill>
                  <a:srgbClr val="E4EBEA"/>
                </a:solidFill>
                <a:latin typeface="Aptos"/>
              </a:rPr>
              <a:t>center, spread, tail, and groups</a:t>
            </a:r>
          </a:p>
        </p:txBody>
      </p:sp>
      <p:cxnSp>
        <p:nvCxnSpPr>
          <p:cNvPr id="13" name="Connector 12"/>
          <p:cNvCxnSpPr/>
          <p:nvPr/>
        </p:nvCxnSpPr>
        <p:spPr>
          <a:xfrm>
            <a:off x="3749039" y="2157984"/>
            <a:ext cx="1280161" cy="0"/>
          </a:xfrm>
          <a:prstGeom prst="line">
            <a:avLst/>
          </a:prstGeom>
          <a:ln w="19050">
            <a:solidFill>
              <a:srgbClr val="E4EBEA"/>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5257800" y="1828800"/>
            <a:ext cx="658368" cy="658368"/>
          </a:xfrm>
          <a:prstGeom prst="ellipse">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5257800" y="2011680"/>
            <a:ext cx="658368" cy="357021"/>
          </a:xfrm>
          <a:prstGeom prst="rect">
            <a:avLst/>
          </a:prstGeom>
          <a:noFill/>
        </p:spPr>
        <p:txBody>
          <a:bodyPr wrap="square" lIns="54864" tIns="54864" rIns="54864" bIns="54864" anchor="t">
            <a:spAutoFit/>
          </a:bodyPr>
          <a:lstStyle/>
          <a:p>
            <a:pPr algn="ctr"/>
            <a:r>
              <a:rPr sz="1600" b="1">
                <a:solidFill>
                  <a:srgbClr val="FFFFFF"/>
                </a:solidFill>
                <a:latin typeface="Aptos"/>
              </a:rPr>
              <a:t>3</a:t>
            </a:r>
          </a:p>
        </p:txBody>
      </p:sp>
      <p:sp>
        <p:nvSpPr>
          <p:cNvPr id="16" name="TextBox 15"/>
          <p:cNvSpPr txBox="1"/>
          <p:nvPr/>
        </p:nvSpPr>
        <p:spPr>
          <a:xfrm>
            <a:off x="5029200" y="2788920"/>
            <a:ext cx="1143000" cy="418576"/>
          </a:xfrm>
          <a:prstGeom prst="rect">
            <a:avLst/>
          </a:prstGeom>
          <a:noFill/>
        </p:spPr>
        <p:txBody>
          <a:bodyPr wrap="square" lIns="54864" tIns="54864" rIns="54864" bIns="54864" anchor="t">
            <a:spAutoFit/>
          </a:bodyPr>
          <a:lstStyle/>
          <a:p>
            <a:pPr algn="ctr"/>
            <a:r>
              <a:rPr sz="2000" b="1">
                <a:solidFill>
                  <a:srgbClr val="FFFFFF"/>
                </a:solidFill>
                <a:latin typeface="Aptos"/>
              </a:rPr>
              <a:t>Bound</a:t>
            </a:r>
          </a:p>
        </p:txBody>
      </p:sp>
      <p:sp>
        <p:nvSpPr>
          <p:cNvPr id="17" name="TextBox 16"/>
          <p:cNvSpPr txBox="1"/>
          <p:nvPr/>
        </p:nvSpPr>
        <p:spPr>
          <a:xfrm>
            <a:off x="4663440" y="3154680"/>
            <a:ext cx="1828800" cy="541687"/>
          </a:xfrm>
          <a:prstGeom prst="rect">
            <a:avLst/>
          </a:prstGeom>
          <a:noFill/>
        </p:spPr>
        <p:txBody>
          <a:bodyPr wrap="square" lIns="54864" tIns="54864" rIns="54864" bIns="54864" anchor="t">
            <a:spAutoFit/>
          </a:bodyPr>
          <a:lstStyle/>
          <a:p>
            <a:pPr algn="ctr"/>
            <a:r>
              <a:rPr sz="1400" b="0">
                <a:solidFill>
                  <a:srgbClr val="E4EBEA"/>
                </a:solidFill>
                <a:latin typeface="Aptos"/>
              </a:rPr>
              <a:t>triage-time inputs and patient split</a:t>
            </a:r>
          </a:p>
        </p:txBody>
      </p:sp>
      <p:cxnSp>
        <p:nvCxnSpPr>
          <p:cNvPr id="18" name="Connector 17"/>
          <p:cNvCxnSpPr/>
          <p:nvPr/>
        </p:nvCxnSpPr>
        <p:spPr>
          <a:xfrm>
            <a:off x="6035040" y="2157984"/>
            <a:ext cx="1280160" cy="0"/>
          </a:xfrm>
          <a:prstGeom prst="line">
            <a:avLst/>
          </a:prstGeom>
          <a:ln w="19050">
            <a:solidFill>
              <a:srgbClr val="E4EBEA"/>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7543800" y="1828800"/>
            <a:ext cx="658368" cy="658368"/>
          </a:xfrm>
          <a:prstGeom prst="ellipse">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7543800" y="2011680"/>
            <a:ext cx="658368" cy="357021"/>
          </a:xfrm>
          <a:prstGeom prst="rect">
            <a:avLst/>
          </a:prstGeom>
          <a:noFill/>
        </p:spPr>
        <p:txBody>
          <a:bodyPr wrap="square" lIns="54864" tIns="54864" rIns="54864" bIns="54864" anchor="t">
            <a:spAutoFit/>
          </a:bodyPr>
          <a:lstStyle/>
          <a:p>
            <a:pPr algn="ctr"/>
            <a:r>
              <a:rPr sz="1600" b="1">
                <a:solidFill>
                  <a:srgbClr val="0B1F33"/>
                </a:solidFill>
                <a:latin typeface="Aptos"/>
              </a:rPr>
              <a:t>4</a:t>
            </a:r>
          </a:p>
        </p:txBody>
      </p:sp>
      <p:sp>
        <p:nvSpPr>
          <p:cNvPr id="21" name="TextBox 20"/>
          <p:cNvSpPr txBox="1"/>
          <p:nvPr/>
        </p:nvSpPr>
        <p:spPr>
          <a:xfrm>
            <a:off x="7315200" y="2788920"/>
            <a:ext cx="1143000" cy="726353"/>
          </a:xfrm>
          <a:prstGeom prst="rect">
            <a:avLst/>
          </a:prstGeom>
          <a:noFill/>
        </p:spPr>
        <p:txBody>
          <a:bodyPr wrap="square" lIns="54864" tIns="54864" rIns="54864" bIns="54864" anchor="t">
            <a:spAutoFit/>
          </a:bodyPr>
          <a:lstStyle/>
          <a:p>
            <a:pPr algn="ctr"/>
            <a:r>
              <a:rPr sz="2000" b="1">
                <a:solidFill>
                  <a:srgbClr val="FFFFFF"/>
                </a:solidFill>
                <a:latin typeface="Aptos"/>
              </a:rPr>
              <a:t>Compare</a:t>
            </a:r>
          </a:p>
        </p:txBody>
      </p:sp>
      <p:sp>
        <p:nvSpPr>
          <p:cNvPr id="22" name="TextBox 21"/>
          <p:cNvSpPr txBox="1"/>
          <p:nvPr/>
        </p:nvSpPr>
        <p:spPr>
          <a:xfrm>
            <a:off x="6949440" y="3154680"/>
            <a:ext cx="1828800" cy="541687"/>
          </a:xfrm>
          <a:prstGeom prst="rect">
            <a:avLst/>
          </a:prstGeom>
          <a:noFill/>
        </p:spPr>
        <p:txBody>
          <a:bodyPr wrap="square" lIns="54864" tIns="54864" rIns="54864" bIns="54864" anchor="t">
            <a:spAutoFit/>
          </a:bodyPr>
          <a:lstStyle/>
          <a:p>
            <a:pPr algn="ctr"/>
            <a:r>
              <a:rPr sz="1400" b="0">
                <a:solidFill>
                  <a:srgbClr val="E4EBEA"/>
                </a:solidFill>
                <a:latin typeface="Aptos"/>
              </a:rPr>
              <a:t>classification and regression metrics</a:t>
            </a:r>
          </a:p>
        </p:txBody>
      </p:sp>
      <p:cxnSp>
        <p:nvCxnSpPr>
          <p:cNvPr id="23" name="Connector 22"/>
          <p:cNvCxnSpPr/>
          <p:nvPr/>
        </p:nvCxnSpPr>
        <p:spPr>
          <a:xfrm>
            <a:off x="8321040" y="2157984"/>
            <a:ext cx="1280160" cy="0"/>
          </a:xfrm>
          <a:prstGeom prst="line">
            <a:avLst/>
          </a:prstGeom>
          <a:ln w="19050">
            <a:solidFill>
              <a:srgbClr val="E4EBEA"/>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9829800" y="1828800"/>
            <a:ext cx="658368" cy="658368"/>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TextBox 24"/>
          <p:cNvSpPr txBox="1"/>
          <p:nvPr/>
        </p:nvSpPr>
        <p:spPr>
          <a:xfrm>
            <a:off x="9829800" y="2011680"/>
            <a:ext cx="658368" cy="357021"/>
          </a:xfrm>
          <a:prstGeom prst="rect">
            <a:avLst/>
          </a:prstGeom>
          <a:noFill/>
        </p:spPr>
        <p:txBody>
          <a:bodyPr wrap="square" lIns="54864" tIns="54864" rIns="54864" bIns="54864" anchor="t">
            <a:spAutoFit/>
          </a:bodyPr>
          <a:lstStyle/>
          <a:p>
            <a:pPr algn="ctr"/>
            <a:r>
              <a:rPr sz="1600" b="1">
                <a:solidFill>
                  <a:srgbClr val="FFFFFF"/>
                </a:solidFill>
                <a:latin typeface="Aptos"/>
              </a:rPr>
              <a:t>5</a:t>
            </a:r>
          </a:p>
        </p:txBody>
      </p:sp>
      <p:sp>
        <p:nvSpPr>
          <p:cNvPr id="26" name="TextBox 25"/>
          <p:cNvSpPr txBox="1"/>
          <p:nvPr/>
        </p:nvSpPr>
        <p:spPr>
          <a:xfrm>
            <a:off x="9601200" y="2788920"/>
            <a:ext cx="1143000" cy="418576"/>
          </a:xfrm>
          <a:prstGeom prst="rect">
            <a:avLst/>
          </a:prstGeom>
          <a:noFill/>
        </p:spPr>
        <p:txBody>
          <a:bodyPr wrap="square" lIns="54864" tIns="54864" rIns="54864" bIns="54864" anchor="t">
            <a:spAutoFit/>
          </a:bodyPr>
          <a:lstStyle/>
          <a:p>
            <a:pPr algn="ctr"/>
            <a:r>
              <a:rPr sz="2000" b="1">
                <a:solidFill>
                  <a:srgbClr val="FFFFFF"/>
                </a:solidFill>
                <a:latin typeface="Aptos"/>
              </a:rPr>
              <a:t>Interpret</a:t>
            </a:r>
          </a:p>
        </p:txBody>
      </p:sp>
      <p:sp>
        <p:nvSpPr>
          <p:cNvPr id="27" name="TextBox 26"/>
          <p:cNvSpPr txBox="1"/>
          <p:nvPr/>
        </p:nvSpPr>
        <p:spPr>
          <a:xfrm>
            <a:off x="9235440" y="3154680"/>
            <a:ext cx="1828800" cy="541687"/>
          </a:xfrm>
          <a:prstGeom prst="rect">
            <a:avLst/>
          </a:prstGeom>
          <a:noFill/>
        </p:spPr>
        <p:txBody>
          <a:bodyPr wrap="square" lIns="54864" tIns="54864" rIns="54864" bIns="54864" anchor="t">
            <a:spAutoFit/>
          </a:bodyPr>
          <a:lstStyle/>
          <a:p>
            <a:pPr algn="ctr"/>
            <a:r>
              <a:rPr sz="1400" b="0">
                <a:solidFill>
                  <a:srgbClr val="E4EBEA"/>
                </a:solidFill>
                <a:latin typeface="Aptos"/>
              </a:rPr>
              <a:t>connect errors to an action</a:t>
            </a:r>
          </a:p>
        </p:txBody>
      </p:sp>
      <p:sp>
        <p:nvSpPr>
          <p:cNvPr id="28" name="Rectangle 27"/>
          <p:cNvSpPr/>
          <p:nvPr/>
        </p:nvSpPr>
        <p:spPr>
          <a:xfrm>
            <a:off x="822960" y="4892040"/>
            <a:ext cx="10515600" cy="45720"/>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5257800"/>
            <a:ext cx="10515600" cy="849463"/>
          </a:xfrm>
          <a:prstGeom prst="rect">
            <a:avLst/>
          </a:prstGeom>
          <a:noFill/>
        </p:spPr>
        <p:txBody>
          <a:bodyPr wrap="square" lIns="54864" tIns="54864" rIns="54864" bIns="54864" anchor="t">
            <a:spAutoFit/>
          </a:bodyPr>
          <a:lstStyle/>
          <a:p>
            <a:pPr algn="ctr"/>
            <a:r>
              <a:rPr sz="2400" b="1" dirty="0">
                <a:solidFill>
                  <a:srgbClr val="E9C46A"/>
                </a:solidFill>
                <a:latin typeface="Aptos"/>
              </a:rPr>
              <a:t>A model score is only meaningful after the question, time boundary, cohort, and action are clear.</a:t>
            </a:r>
          </a:p>
        </p:txBody>
      </p:sp>
      <p:sp>
        <p:nvSpPr>
          <p:cNvPr id="30" name="TextBox 29"/>
          <p:cNvSpPr txBox="1"/>
          <p:nvPr/>
        </p:nvSpPr>
        <p:spPr>
          <a:xfrm>
            <a:off x="777240" y="6249328"/>
            <a:ext cx="10515600" cy="357021"/>
          </a:xfrm>
          <a:prstGeom prst="rect">
            <a:avLst/>
          </a:prstGeom>
          <a:noFill/>
        </p:spPr>
        <p:txBody>
          <a:bodyPr wrap="square" lIns="54864" tIns="54864" rIns="54864" bIns="54864" anchor="t">
            <a:spAutoFit/>
          </a:bodyPr>
          <a:lstStyle/>
          <a:p>
            <a:pPr algn="ctr"/>
            <a:r>
              <a:rPr sz="1600" b="0" dirty="0">
                <a:solidFill>
                  <a:srgbClr val="E4EBEA"/>
                </a:solidFill>
                <a:latin typeface="Aptos"/>
              </a:rPr>
              <a:t>Next: carry the same discipline into the critical-outcome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322</TotalTime>
  <Words>3672</Words>
  <Application>Microsoft Office PowerPoint</Application>
  <PresentationFormat>Widescreen</PresentationFormat>
  <Paragraphs>290</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Waqar Aziz</cp:lastModifiedBy>
  <cp:revision>4</cp:revision>
  <dcterms:created xsi:type="dcterms:W3CDTF">2013-01-27T09:14:16Z</dcterms:created>
  <dcterms:modified xsi:type="dcterms:W3CDTF">2026-09-01T12:14:51Z</dcterms:modified>
  <cp:category/>
</cp:coreProperties>
</file>
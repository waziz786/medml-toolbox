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362" autoAdjust="0"/>
  </p:normalViewPr>
  <p:slideViewPr>
    <p:cSldViewPr snapToGrid="0" snapToObjects="1">
      <p:cViewPr varScale="1">
        <p:scale>
          <a:sx n="46" d="100"/>
          <a:sy n="46" d="100"/>
        </p:scale>
        <p:origin x="1420"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433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framing the deck as a map for the notebook, not a replacement for running it. The central idea is that a clinical record is not born as a tidy machine-learning table. It is assembled from events, identifiers, timestamps, measurements, and outcome definitions. M1 asks students to slow down and understand that construction before they model anything. Tell students that the numbers on this slide are recomputed from the current local CSV, so the deck is tied to the same evidence they will see. By the end, students should be able to explain what one row means, when each variable becomes available, how missingness is represented, what a summary statistic says, and what the exported handoff tables contain.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establish the order of operations. Students often jump from a CSV to a model because the table looks finished. M1 reverses that impulse. First we define the domain and the dataset. Then we identify the row grain and the time boundary. Only after that do we inspect variable meanings, distributions, category counts, missingness, and relationships. The final step is preparation for later work. Emphasize that these are not disconnected notebook sections. A variable dictionary depends on the construction process. A missingness interpretation depends on when a measurement could have been collected. An imputation rule depends on the measurement's units and valid range. The outputs are useful because the earlier definitions make them auditable.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Define EHR broadly enough that students understand it is more than a spreadsheet of diagnoses. It is a record generated by care delivery. Some fields are measurements, some are orders or actions, some are administrative timestamps, and some are retrospective outcomes. The workflow creates structure and bias. For example, a vital sign can be missing because it was not measured, not documented, or not included in the extraction window. The fact that a field is present in a file does not tell us when it was known. Connect this directly to M1: the notebook asks students to classify identifiers, timing fields, demographics, triage observations, prior history, later ED measurements, and downstream outcomes before using them analytically.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Pause on the tension in this slide. EHR data offers scale and realism that controlled datasets often lack, but it carries the traces of clinical workflow. A test is more likely to appear when someone orders it. A later measurement is more likely to appear for patients who remain in the ED. A disposition field is informative, but it is also downstream of the decision we may want to predict. The lesson for M1 is not that EHR data is unusable. The lesson is that usefulness comes from explicit boundaries: what is one row, what was available at the prediction time, how was each field created, and what does missing mean here?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MIMIC as a research and education resource, then make the important distinction between the source database and this notebook's local teaching table. Students should not assume that every field in the CSV was directly copied from one raw table. The local extraction has already applied joins, time windows, transformations, and outcome definitions. M1 therefore begins with provenance and recomputes summaries from the current CSV. Also make the non-clinical boundary explicit: this is not a decision-support system, and an imputed value in the notebook should not be interpreted as a clinical replacement measurement.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Walk from left to right. The source system contains events in different tables and at different grains. Link keys give us the relationships: </a:t>
            </a:r>
            <a:r>
              <a:rPr dirty="0" err="1"/>
              <a:t>subject_id</a:t>
            </a:r>
            <a:r>
              <a:rPr dirty="0"/>
              <a:t> identifies a person, </a:t>
            </a:r>
            <a:r>
              <a:rPr dirty="0" err="1"/>
              <a:t>hadm_id</a:t>
            </a:r>
            <a:r>
              <a:rPr dirty="0"/>
              <a:t> links to a hospital admission when present, and </a:t>
            </a:r>
            <a:r>
              <a:rPr dirty="0" err="1"/>
              <a:t>stay_id</a:t>
            </a:r>
            <a:r>
              <a:rPr dirty="0"/>
              <a:t> identifies an ED stay. Time windows decide whether a value belongs to triage, the first hour, later ED care, or a downstream outcome. The master table then chooses one row per ED stay. Stress that the join is not a neutral technical step. If a join duplicates a stay, drops a stay, or attaches a later event to an earlier snapshot, the resulting analysis changes. This is why M1 checks uniqueness and describes the row grain before making plots.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one of the most important slides in the deck. Ask students to point to the earliest time at which each example could be known. triage_acuity and triage vitals belong near arrival. ed_los_hours is known after departure. disposition is downstream of the ED decision. ed_*_last is a later measurement and should not automatically be used as a triage predictor. The notebook includes an exercise asking students to classify fields by availability. Also distinguish subject from stay: repeated visits are not duplicate rows if the row grain is an ED stay. They do matter for modeling because random row splits can put the same subject in both training and test sets.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Use the six families to help students read the notebook's generated variable dictionary. Identifiers and timestamps support auditing, but they are not automatically predictors. Demographics and arrival fields describe representation and presentation context. Triage measurements are observations available near the beginning of the stay. Prior utilization summarizes history before the index stay. Later ED measurements and medications may be useful for retrospective description but violate a triage-time boundary. Outcomes are labels or downstream events. The dictionary is generated from the actual columns, which is a useful reproducibility pattern: the documentation follows the data rather than becoming a manually maintained list that silently drifts.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Teach these as reading conventions rather than memorization. </a:t>
            </a:r>
            <a:r>
              <a:rPr dirty="0" err="1"/>
              <a:t>NaN</a:t>
            </a:r>
            <a:r>
              <a:rPr dirty="0"/>
              <a:t> means the value is missing in the table; it does not tell us why. A suffix such as _last describes a selection rule inside a time window. A count variable is numeric, but it represents a historical event count rather than a physiologic measurement. outcome_ fields are retrospective labels and must be kept out of a model that is supposed to operate at triage. The _iterative suffix is especially important: it names a new derived column</a:t>
            </a:r>
            <a:r>
              <a:rPr lang="en-US" dirty="0"/>
              <a:t> (impute0d</a:t>
            </a:r>
            <a:r>
              <a:rPr dirty="0"/>
              <a:t>, while the raw measurement remains available. Ask students to interpret </a:t>
            </a:r>
            <a:r>
              <a:rPr dirty="0" err="1"/>
              <a:t>triage_acuity_iterative</a:t>
            </a:r>
            <a:r>
              <a:rPr dirty="0"/>
              <a:t> in words: an estimated version of the triage acuity field, generated by the selected imputation method, constrained to the valid acuity range.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why the notebook asks for more than mean and standard deviation. Emergency-department length of stay is often skewed, and utilization counts can have many zeros with a long right tail. The mean can be pulled upward by a small number of long stays. The median and IQR describe the center and middle spread more robustly. Percentiles show the tails and are useful for spotting implausible values or heavy skew. Missing percentage is not a descriptive statistic about the observed values, but it is essential context for interpreting them. Encourage students to report both the numerical summary and the data-generating interpretation: a high missing percentage may reflect a selective workflow rather than a random absence.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table as an example of disciplined reporting. The counts establish the scale and repeated-subject structure. The summary table then gives students a compact view of center, spread, tail behavior, and missingness. Do not let the impressive-looking numbers become detached from units. The temperature cleaning logic detects Fahrenheit-like values and uses Fahrenheit-equivalent bounds. ED length of stay is in hours. Triage acuity is an ordinal scale from 1 to 5, so its median is interpretable as a location on an ordered category scale, not as a precise physical measurement. Point out that the 99th percentile is useful for seeing tail behavior, while missing percentage tells us how much observed information is available in the first place.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Contrast ordinal and nominal variables. Triage acuity has an order, so the labels 1 through 5 represent increasing urgency in the dataset's coding. Gender, race, and arrival transport are categories without the same numeric order. A frequency table can reveal representation, rare labels, unexpected codes, and missing categories. It cannot establish whether a category is clinically meaningful or whether a difference is causal. Remind students that percentages should use a declared denominator, and that keeping missing categories visible is often more honest than silently dropping them. Later encoding choices depend on this review: ordinal categories may need a different treatment from nominal categories, and rare labels may require grouping or explicit documentation.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chart shows missing percentages for the 15 vital fields used in the M1 imputation exercise. The exact reason for a blank is usually not recoverable from the value alone. That uncertainty matters because missingness can reflect clinical workflow and severity. A later ED measurement may be absent because the patient left earlier, not because the patient was normal. The notebook therefore reports raw missingness, applies source-informed range cleaning to a working copy, and keeps the raw columns intact. In later modeling, missingness indicators may preserve the fact that an observation was absent. Imputation then estimates a value for a specific analytical purpose; it does not recreate the original clinical measurement.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Explain the validation design slowly. We need a known reference value, so the notebook starts with rows where all candidate vitals are observed. It hides 20 percent of the cells, fits each method on the masked table, and scores only the deliberately hidden cells. This is not proof that real missing values are recoverable; it is a controlled comparison of reconstruction behavior. The methods represent increasingly structured assumptions: a column median, local neighbors, chained regression models, and an autoencoder-style neural reconstruction. The current notebook constrains iterative output using the same variable-specific valid bounds used in cleaning. That prevents an ordinal acuity field from becoming negative, while still allowing the method to produce fractional estimates. The local comparison currently selects the method shown on the slide; students should rerun rather than treat the result as universal.</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correlation as a descriptive relationship between two variables. The notebook uses Spearman correlation for selected numeric fields, which works on ranks and is less dependent on a linear relationship. A positive value means high ranks tend to occur with high ranks; a negative value means high ranks tend to occur with low ranks. The matrix is useful for generating questions, spotting redundant variables, and checking whether a claimed relationship is plausible. It is not a causal analysis. It also does not settle whether a field belongs in a prediction model. For example, a later ED measurement may correlate strongly with length of stay because it is observed during the evolving stay, but that does not make it valid at triage. Timing and availability remain the controlling questions.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the outputs as a handoff, not as clutter. Each CSV answers a different audit question. The variable dictionary explains what is present. The missingness table quantifies absence. The imputation comparison records how methods were judged. The vital audit documents the raw and derived names, ranges, and completeness. Quality checks surface values that need discussion rather than silently changing the source. Target and acuity summaries support the descriptive part of M1. The imputed export keeps stay_id, triage vitals, and the method-suffixed columns together for later work. Emphasize the preservation rule: the raw columns remain available, so students can compare source observations with analytical estimates and avoid confusing an imputed value with a measurement that actually occurred.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Use this as the bridge from the deck to the notebook. Students should run the cells in order and inspect the outputs rather than treating the notebook as a black box. The order protects the reasoning: establish the data path, verify the row grain, generate the dictionary, summarize numeric and categorical variables, inspect missingness, compare imputation, run quality checks, define outcomes, and audit leakage. The final deliverable is an evidence trail. A future analyst should be able to see which columns were raw, which were derived, what rules were used, how the imputation method was selected, and what limitations remain. This mindset will carry directly into later modeling modules.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returning to the four questions. Who is represented? What is one row and what does each field mean? When could the value have been known? How certain are we that it is observed rather than missing, cleaned, imputed, or downstream? If students can answer those questions from the M1 notebook, they have the foundation for the later modules. The final point is that data preparation is not merely a technical prelude. It is the first version of the scientific argument. Later models inherit the row grain, timing choices, definitions, and limitations established here.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a:t>Click to edit Master subtitle style</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endParaRPr lang="en-US"/>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C1FF6DA9-008F-8B48-92A6-B652298478BF}" type="slidenum">
              <a:rPr lang="en-US" smtClean="0"/>
              <a:t>‹#›</a:t>
            </a:fld>
            <a:endParaRPr lang="en-US"/>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a:t>Click to edit Master title style</a:t>
            </a:r>
            <a:endParaRPr lang="en-US" dirty="0"/>
          </a:p>
        </p:txBody>
      </p:sp>
    </p:spTree>
    <p:extLst>
      <p:ext uri="{BB962C8B-B14F-4D97-AF65-F5344CB8AC3E}">
        <p14:creationId xmlns:p14="http://schemas.microsoft.com/office/powerpoint/2010/main" val="416400044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endParaRPr lang="en-US"/>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fld id="{5BCAD085-E8A6-8845-BD4E-CB4CCA059FC4}" type="datetimeFigureOut">
              <a:rPr lang="en-US" smtClean="0"/>
              <a:t>9/1/2026</a:t>
            </a:fld>
            <a:endParaRPr lang="en-US"/>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C1FF6DA9-008F-8B48-92A6-B652298478BF}"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60591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en-US"/>
              <a:t>Click to edit Master title style</a:t>
            </a:r>
            <a:endParaRPr lang="en-US" dirty="0"/>
          </a:p>
        </p:txBody>
      </p:sp>
    </p:spTree>
    <p:extLst>
      <p:ext uri="{BB962C8B-B14F-4D97-AF65-F5344CB8AC3E}">
        <p14:creationId xmlns:p14="http://schemas.microsoft.com/office/powerpoint/2010/main" val="17641046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fld id="{5BCAD085-E8A6-8845-BD4E-CB4CCA059FC4}" type="datetimeFigureOut">
              <a:rPr lang="en-US" smtClean="0"/>
              <a:t>9/1/2026</a:t>
            </a:fld>
            <a:endParaRPr lang="en-US"/>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12625495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9919274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anchor="t">
            <a:normAutofit/>
          </a:bodyPr>
          <a:lstStyle>
            <a:lvl1pPr>
              <a:defRPr sz="56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Oval 7">
            <a:extLst>
              <a:ext uri="{FF2B5EF4-FFF2-40B4-BE49-F238E27FC236}">
                <a16:creationId xmlns:a16="http://schemas.microsoft.com/office/drawing/2014/main" id="{175C8E38-E957-9E3C-9A05-717C0F009AB9}"/>
              </a:ext>
            </a:extLst>
          </p:cNvPr>
          <p:cNvSpPr/>
          <p:nvPr/>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1762793" y="100701"/>
            <a:ext cx="42920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1094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anchor="t">
            <a:noAutofit/>
          </a:bodyPr>
          <a:lstStyle>
            <a:lvl1pPr>
              <a:defRPr sz="56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5906642" cy="6858000"/>
          </a:xfrm>
          <a:blipFill>
            <a:blip r:embed="rId2">
              <a:alphaModFix amt="70000"/>
            </a:blip>
            <a:stretch>
              <a:fillRect/>
            </a:stretch>
          </a:blipFill>
        </p:spPr>
        <p:txBody>
          <a:bodyPr/>
          <a:lstStyle>
            <a:lvl1pPr>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0364"/>
            <a:ext cx="5349239" cy="365125"/>
          </a:xfrm>
        </p:spPr>
        <p:txBody>
          <a:bodyPr/>
          <a:lstStyle/>
          <a:p>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5190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endParaRPr lang="en-US"/>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fld id="{5BCAD085-E8A6-8845-BD4E-CB4CCA059FC4}" type="datetimeFigureOut">
              <a:rPr lang="en-US" smtClean="0"/>
              <a:t>9/1/2026</a:t>
            </a:fld>
            <a:endParaRPr lang="en-US"/>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26156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a:normAutofit/>
          </a:bodyPr>
          <a:lstStyle>
            <a:lvl1pPr>
              <a:defRPr sz="5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32150" y="100701"/>
            <a:ext cx="3470224" cy="365125"/>
          </a:xfrm>
        </p:spPr>
        <p:txBody>
          <a:bodyPr/>
          <a:lstStyle/>
          <a:p>
            <a:endParaRPr lang="en-US"/>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317167" y="100701"/>
            <a:ext cx="2940449" cy="365125"/>
          </a:xfrm>
        </p:spPr>
        <p:txBody>
          <a:bodyPr/>
          <a:lstStyle/>
          <a:p>
            <a:fld id="{5BCAD085-E8A6-8845-BD4E-CB4CCA059FC4}" type="datetimeFigureOut">
              <a:rPr lang="en-US" smtClean="0"/>
              <a:t>9/1/2026</a:t>
            </a:fld>
            <a:endParaRPr lang="en-US"/>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1105731" y="100701"/>
            <a:ext cx="429207" cy="365125"/>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17167" y="967689"/>
            <a:ext cx="7217771"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44386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fld id="{C1FF6DA9-008F-8B48-92A6-B652298478BF}" type="slidenum">
              <a:rPr lang="en-US" smtClean="0"/>
              <a:t>‹#›</a:t>
            </a:fld>
            <a:endParaRPr lang="en-US"/>
          </a:p>
        </p:txBody>
      </p:sp>
    </p:spTree>
    <p:extLst>
      <p:ext uri="{BB962C8B-B14F-4D97-AF65-F5344CB8AC3E}">
        <p14:creationId xmlns:p14="http://schemas.microsoft.com/office/powerpoint/2010/main" val="3801518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endParaRPr lang="en-US"/>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fld id="{5BCAD085-E8A6-8845-BD4E-CB4CCA059FC4}" type="datetimeFigureOut">
              <a:rPr lang="en-US" smtClean="0"/>
              <a:t>9/1/2026</a:t>
            </a:fld>
            <a:endParaRPr lang="en-US"/>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fld id="{C1FF6DA9-008F-8B48-92A6-B652298478BF}" type="slidenum">
              <a:rPr lang="en-US" smtClean="0"/>
              <a:t>‹#›</a:t>
            </a:fld>
            <a:endParaRPr lang="en-US"/>
          </a:p>
        </p:txBody>
      </p:sp>
    </p:spTree>
    <p:extLst>
      <p:ext uri="{BB962C8B-B14F-4D97-AF65-F5344CB8AC3E}">
        <p14:creationId xmlns:p14="http://schemas.microsoft.com/office/powerpoint/2010/main" val="9725849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endParaRPr lang="en-US"/>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fld id="{5BCAD085-E8A6-8845-BD4E-CB4CCA059FC4}" type="datetimeFigureOut">
              <a:rPr lang="en-US" smtClean="0"/>
              <a:t>9/1/2026</a:t>
            </a:fld>
            <a:endParaRPr lang="en-US"/>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325457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en-US"/>
              <a:t>Click to edit Master title style</a:t>
            </a:r>
            <a:endParaRPr lang="en-US" dirty="0"/>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endParaRPr lang="en-US"/>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fld id="{C1FF6DA9-008F-8B48-92A6-B652298478BF}" type="slidenum">
              <a:rPr lang="en-US" smtClean="0"/>
              <a:t>‹#›</a:t>
            </a:fld>
            <a:endParaRPr lang="en-US"/>
          </a:p>
        </p:txBody>
      </p:sp>
    </p:spTree>
    <p:extLst>
      <p:ext uri="{BB962C8B-B14F-4D97-AF65-F5344CB8AC3E}">
        <p14:creationId xmlns:p14="http://schemas.microsoft.com/office/powerpoint/2010/main" val="15073360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endParaRPr lang="en-US"/>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fld id="{C1FF6DA9-008F-8B48-92A6-B652298478BF}" type="slidenum">
              <a:rPr lang="en-US" smtClean="0"/>
              <a:t>‹#›</a:t>
            </a:fld>
            <a:endParaRPr lang="en-US"/>
          </a:p>
        </p:txBody>
      </p:sp>
    </p:spTree>
    <p:extLst>
      <p:ext uri="{BB962C8B-B14F-4D97-AF65-F5344CB8AC3E}">
        <p14:creationId xmlns:p14="http://schemas.microsoft.com/office/powerpoint/2010/main" val="4142352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endParaRPr lang="en-US"/>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fld id="{C1FF6DA9-008F-8B48-92A6-B652298478BF}" type="slidenum">
              <a:rPr lang="en-US" smtClean="0"/>
              <a:t>‹#›</a:t>
            </a:fld>
            <a:endParaRPr lang="en-US"/>
          </a:p>
        </p:txBody>
      </p:sp>
    </p:spTree>
    <p:extLst>
      <p:ext uri="{BB962C8B-B14F-4D97-AF65-F5344CB8AC3E}">
        <p14:creationId xmlns:p14="http://schemas.microsoft.com/office/powerpoint/2010/main" val="8496467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endParaRPr lang="en-US"/>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fld id="{5BCAD085-E8A6-8845-BD4E-CB4CCA059FC4}" type="datetimeFigureOut">
              <a:rPr lang="en-US" smtClean="0"/>
              <a:t>9/1/2026</a:t>
            </a:fld>
            <a:endParaRPr lang="en-US"/>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fld id="{C1FF6DA9-008F-8B48-92A6-B652298478BF}" type="slidenum">
              <a:rPr lang="en-US" smtClean="0"/>
              <a:t>‹#›</a:t>
            </a:fld>
            <a:endParaRPr lang="en-US"/>
          </a:p>
        </p:txBody>
      </p:sp>
    </p:spTree>
    <p:extLst>
      <p:ext uri="{BB962C8B-B14F-4D97-AF65-F5344CB8AC3E}">
        <p14:creationId xmlns:p14="http://schemas.microsoft.com/office/powerpoint/2010/main" val="1306886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a:t>Click to edit Master title style</a:t>
            </a:r>
            <a:endParaRPr lang="en-US" dirty="0"/>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endParaRPr lang="en-US"/>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fld id="{C1FF6DA9-008F-8B48-92A6-B652298478BF}" type="slidenum">
              <a:rPr lang="en-US" smtClean="0"/>
              <a:t>‹#›</a:t>
            </a:fld>
            <a:endParaRPr lang="en-US"/>
          </a:p>
        </p:txBody>
      </p:sp>
    </p:spTree>
    <p:extLst>
      <p:ext uri="{BB962C8B-B14F-4D97-AF65-F5344CB8AC3E}">
        <p14:creationId xmlns:p14="http://schemas.microsoft.com/office/powerpoint/2010/main" val="23950229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anchor="t" anchorCtr="0">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02183" y="644000"/>
            <a:ext cx="7183078"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545926" y="6438284"/>
            <a:ext cx="5276852" cy="365125"/>
          </a:xfrm>
        </p:spPr>
        <p:txBody>
          <a:bodyPr anchor="b"/>
          <a:lstStyle/>
          <a:p>
            <a:endParaRPr lang="en-US"/>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190488" y="6432496"/>
            <a:ext cx="2544079" cy="365125"/>
          </a:xfrm>
        </p:spPr>
        <p:txBody>
          <a:bodyPr anchor="b"/>
          <a:lstStyle/>
          <a:p>
            <a:fld id="{5BCAD085-E8A6-8845-BD4E-CB4CCA059FC4}" type="datetimeFigureOut">
              <a:rPr lang="en-US" smtClean="0"/>
              <a:t>9/1/2026</a:t>
            </a:fld>
            <a:endParaRPr lang="en-US"/>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1099128" y="6438284"/>
            <a:ext cx="429207" cy="365125"/>
          </a:xfrm>
        </p:spPr>
        <p:txBody>
          <a:bodyPr anchor="b"/>
          <a:lstStyle/>
          <a:p>
            <a:fld id="{C1FF6DA9-008F-8B48-92A6-B652298478BF}" type="slidenum">
              <a:rPr lang="en-US" smtClean="0"/>
              <a:t>‹#›</a:t>
            </a:fld>
            <a:endParaRPr lang="en-US"/>
          </a:p>
        </p:txBody>
      </p:sp>
    </p:spTree>
    <p:extLst>
      <p:ext uri="{BB962C8B-B14F-4D97-AF65-F5344CB8AC3E}">
        <p14:creationId xmlns:p14="http://schemas.microsoft.com/office/powerpoint/2010/main" val="42102040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100701"/>
            <a:ext cx="42920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3685492"/>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fld id="{5BCAD085-E8A6-8845-BD4E-CB4CCA059FC4}" type="datetimeFigureOut">
              <a:rPr lang="en-US" smtClean="0"/>
              <a:t>9/1/2026</a:t>
            </a:fld>
            <a:endParaRPr lang="en-US"/>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82430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fld id="{C1FF6DA9-008F-8B48-92A6-B652298478BF}" type="slidenum">
              <a:rPr lang="en-US" smtClean="0"/>
              <a:t>‹#›</a:t>
            </a:fld>
            <a:endParaRPr lang="en-US"/>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endParaRPr lang="en-US"/>
          </a:p>
        </p:txBody>
      </p:sp>
    </p:spTree>
    <p:extLst>
      <p:ext uri="{BB962C8B-B14F-4D97-AF65-F5344CB8AC3E}">
        <p14:creationId xmlns:p14="http://schemas.microsoft.com/office/powerpoint/2010/main" val="664674023"/>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512064" y="987552"/>
            <a:ext cx="3465576" cy="294436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530353" y="110364"/>
            <a:ext cx="3474720" cy="365125"/>
          </a:xfrm>
        </p:spPr>
        <p:txBody>
          <a:bodyPr/>
          <a:lstStyle/>
          <a:p>
            <a:endParaRPr lang="en-US"/>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4315968" y="104576"/>
            <a:ext cx="4836883" cy="365125"/>
          </a:xfrm>
        </p:spPr>
        <p:txBody>
          <a:bodyPr/>
          <a:lstStyle/>
          <a:p>
            <a:fld id="{5BCAD085-E8A6-8845-BD4E-CB4CCA059FC4}" type="datetimeFigureOut">
              <a:rPr lang="en-US" smtClean="0"/>
              <a:t>9/1/2026</a:t>
            </a:fld>
            <a:endParaRPr lang="en-US"/>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4315966" y="987552"/>
            <a:ext cx="7446825"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4315967" y="3931920"/>
            <a:ext cx="7446824"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898558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512064" y="630936"/>
            <a:ext cx="11018520"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530352" y="110364"/>
            <a:ext cx="5276852" cy="365125"/>
          </a:xfrm>
        </p:spPr>
        <p:txBody>
          <a:bodyPr/>
          <a:lstStyle/>
          <a:p>
            <a:endParaRPr lang="en-US"/>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6190488" y="104576"/>
            <a:ext cx="4836883" cy="365125"/>
          </a:xfrm>
        </p:spPr>
        <p:txBody>
          <a:bodyPr/>
          <a:lstStyle/>
          <a:p>
            <a:fld id="{5BCAD085-E8A6-8845-BD4E-CB4CCA059FC4}" type="datetimeFigureOut">
              <a:rPr lang="en-US" smtClean="0"/>
              <a:t>9/1/2026</a:t>
            </a:fld>
            <a:endParaRPr lang="en-US"/>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530352" y="2286000"/>
            <a:ext cx="5184648" cy="534033"/>
          </a:xfrm>
        </p:spPr>
        <p:txBody>
          <a:bodyPr/>
          <a:lstStyle/>
          <a:p>
            <a:pPr lvl="0"/>
            <a:r>
              <a:rPr lang="en-US"/>
              <a:t>Click to edit Master text styles</a:t>
            </a:r>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530351" y="2980943"/>
            <a:ext cx="5183188" cy="35861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6190488" y="2286000"/>
            <a:ext cx="5183188" cy="534033"/>
          </a:xfrm>
        </p:spPr>
        <p:txBody>
          <a:bodyPr/>
          <a:lstStyle/>
          <a:p>
            <a:pPr lvl="0"/>
            <a:r>
              <a:rPr lang="en-US"/>
              <a:t>Click to edit Master text styles</a:t>
            </a:r>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6190488" y="2980944"/>
            <a:ext cx="5183188" cy="3586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004763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BCAD085-E8A6-8845-BD4E-CB4CCA059FC4}" type="datetimeFigureOut">
              <a:rPr lang="en-US" smtClean="0"/>
              <a:t>9/1/2026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373278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1"/>
            <a:ext cx="5898630" cy="365125"/>
          </a:xfrm>
        </p:spPr>
        <p:txBody>
          <a:bodyPr/>
          <a:lstStyle/>
          <a:p>
            <a:endParaRPr lang="en-US"/>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217920" y="100701"/>
            <a:ext cx="5332001" cy="365125"/>
          </a:xfrm>
        </p:spPr>
        <p:txBody>
          <a:bodyPr/>
          <a:lstStyle/>
          <a:p>
            <a:fld id="{5BCAD085-E8A6-8845-BD4E-CB4CCA059FC4}" type="datetimeFigureOut">
              <a:rPr lang="en-US" smtClean="0"/>
              <a:t>9/1/2026</a:t>
            </a:fld>
            <a:endParaRPr lang="en-US"/>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1762793" y="100701"/>
            <a:ext cx="42920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363779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anchor="t">
            <a:noAutofit/>
          </a:bodyPr>
          <a:lstStyle>
            <a:lvl1pPr>
              <a:defRPr sz="5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545926" y="6438284"/>
            <a:ext cx="5276852" cy="365125"/>
          </a:xfrm>
        </p:spPr>
        <p:txBody>
          <a:bodyPr/>
          <a:lstStyle/>
          <a:p>
            <a:endParaRPr lang="en-US"/>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190488" y="6432496"/>
            <a:ext cx="2544079" cy="365125"/>
          </a:xfrm>
        </p:spPr>
        <p:txBody>
          <a:bodyPr/>
          <a:lstStyle/>
          <a:p>
            <a:fld id="{5BCAD085-E8A6-8845-BD4E-CB4CCA059FC4}" type="datetimeFigureOut">
              <a:rPr lang="en-US" smtClean="0"/>
              <a:t>9/1/2026</a:t>
            </a:fld>
            <a:endParaRPr lang="en-US"/>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1099128" y="6438284"/>
            <a:ext cx="42920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27817385"/>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anchor="b">
            <a:noAutofit/>
          </a:bodyPr>
          <a:lstStyle>
            <a:lvl1pPr>
              <a:defRPr sz="5600"/>
            </a:lvl1pPr>
          </a:lstStyle>
          <a:p>
            <a:r>
              <a:rPr lang="en-US"/>
              <a:t>Click to edit Master title style</a:t>
            </a:r>
            <a:endParaRPr lang="en-US" dirty="0"/>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536906" y="100701"/>
            <a:ext cx="5361724" cy="365125"/>
          </a:xfrm>
        </p:spPr>
        <p:txBody>
          <a:bodyPr/>
          <a:lstStyle/>
          <a:p>
            <a:endParaRPr lang="en-US"/>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217921" y="100701"/>
            <a:ext cx="2526030" cy="365125"/>
          </a:xfrm>
        </p:spPr>
        <p:txBody>
          <a:bodyPr/>
          <a:lstStyle/>
          <a:p>
            <a:fld id="{5BCAD085-E8A6-8845-BD4E-CB4CCA059FC4}" type="datetimeFigureOut">
              <a:rPr lang="en-US" smtClean="0"/>
              <a:t>9/1/2026</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762793" y="6392174"/>
            <a:ext cx="429207" cy="365125"/>
          </a:xfrm>
        </p:spPr>
        <p:txBody>
          <a:bodyPr anchor="b"/>
          <a:lstStyle/>
          <a:p>
            <a:fld id="{C1FF6DA9-008F-8B48-92A6-B652298478BF}" type="slidenum">
              <a:rPr lang="en-US" smtClean="0"/>
              <a:t>‹#›</a:t>
            </a:fld>
            <a:endParaRPr lang="en-US"/>
          </a:p>
        </p:txBody>
      </p:sp>
      <p:sp>
        <p:nvSpPr>
          <p:cNvPr id="3" name="Oval 2">
            <a:extLst>
              <a:ext uri="{FF2B5EF4-FFF2-40B4-BE49-F238E27FC236}">
                <a16:creationId xmlns:a16="http://schemas.microsoft.com/office/drawing/2014/main" id="{D3CF16D9-01F3-6CE6-7291-C344E099BBD0}"/>
              </a:ext>
            </a:extLst>
          </p:cNvPr>
          <p:cNvSpPr/>
          <p:nvPr/>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446202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fld id="{5BCAD085-E8A6-8845-BD4E-CB4CCA059FC4}" type="datetimeFigureOut">
              <a:rPr lang="en-US" smtClean="0"/>
              <a:t>9/1/2026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fld id="{C1FF6DA9-008F-8B48-92A6-B652298478BF}" type="slidenum">
              <a:rPr lang="en-US" smtClean="0"/>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81968168"/>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 id="2147483709" r:id="rId20"/>
    <p:sldLayoutId id="2147483710" r:id="rId21"/>
    <p:sldLayoutId id="2147483711" r:id="rId22"/>
    <p:sldLayoutId id="2147483712" r:id="rId23"/>
    <p:sldLayoutId id="2147483713" r:id="rId24"/>
    <p:sldLayoutId id="2147483714" r:id="rId25"/>
    <p:sldLayoutId id="2147483715" r:id="rId26"/>
    <p:sldLayoutId id="2147483716" r:id="rId27"/>
  </p:sldLayoutIdLst>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6032" y="0"/>
            <a:ext cx="109728" cy="6858000"/>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731520"/>
            <a:ext cx="4572000" cy="274320"/>
          </a:xfrm>
          <a:prstGeom prst="rect">
            <a:avLst/>
          </a:prstGeom>
          <a:noFill/>
        </p:spPr>
        <p:txBody>
          <a:bodyPr wrap="square" lIns="54864" tIns="54864" rIns="54864" bIns="54864" anchor="t">
            <a:spAutoFit/>
          </a:bodyPr>
          <a:lstStyle/>
          <a:p>
            <a:pPr algn="l"/>
            <a:r>
              <a:rPr sz="1100" b="1">
                <a:solidFill>
                  <a:srgbClr val="E9C46A"/>
                </a:solidFill>
                <a:latin typeface="Aptos"/>
              </a:rPr>
              <a:t>M1  /  DATA EXPLORATION</a:t>
            </a:r>
          </a:p>
        </p:txBody>
      </p:sp>
      <p:sp>
        <p:nvSpPr>
          <p:cNvPr id="5" name="TextBox 4"/>
          <p:cNvSpPr txBox="1"/>
          <p:nvPr/>
        </p:nvSpPr>
        <p:spPr>
          <a:xfrm>
            <a:off x="731520" y="1417320"/>
            <a:ext cx="7955279" cy="685800"/>
          </a:xfrm>
          <a:prstGeom prst="rect">
            <a:avLst/>
          </a:prstGeom>
          <a:noFill/>
        </p:spPr>
        <p:txBody>
          <a:bodyPr wrap="square" lIns="54864" tIns="54864" rIns="54864" bIns="54864" anchor="t">
            <a:spAutoFit/>
          </a:bodyPr>
          <a:lstStyle/>
          <a:p>
            <a:pPr algn="l"/>
            <a:r>
              <a:rPr sz="3800" b="1" dirty="0">
                <a:solidFill>
                  <a:srgbClr val="FFFFFF"/>
                </a:solidFill>
                <a:latin typeface="Aptos Display"/>
              </a:rPr>
              <a:t>From EHR to evidence</a:t>
            </a:r>
          </a:p>
        </p:txBody>
      </p:sp>
      <p:sp>
        <p:nvSpPr>
          <p:cNvPr id="6" name="TextBox 5"/>
          <p:cNvSpPr txBox="1"/>
          <p:nvPr/>
        </p:nvSpPr>
        <p:spPr>
          <a:xfrm>
            <a:off x="768096" y="2240280"/>
            <a:ext cx="10052304" cy="541687"/>
          </a:xfrm>
          <a:prstGeom prst="rect">
            <a:avLst/>
          </a:prstGeom>
          <a:noFill/>
        </p:spPr>
        <p:txBody>
          <a:bodyPr wrap="square" lIns="54864" tIns="54864" rIns="54864" bIns="54864" anchor="t">
            <a:spAutoFit/>
          </a:bodyPr>
          <a:lstStyle/>
          <a:p>
            <a:pPr algn="l"/>
            <a:r>
              <a:rPr sz="2800" b="0" dirty="0">
                <a:solidFill>
                  <a:srgbClr val="E4EBEA"/>
                </a:solidFill>
                <a:latin typeface="Aptos"/>
              </a:rPr>
              <a:t>A visual guide to the MIMIC-IV-ED dataset exploration notebook</a:t>
            </a:r>
          </a:p>
        </p:txBody>
      </p:sp>
      <p:sp>
        <p:nvSpPr>
          <p:cNvPr id="7" name="Rectangle 6"/>
          <p:cNvSpPr/>
          <p:nvPr/>
        </p:nvSpPr>
        <p:spPr>
          <a:xfrm>
            <a:off x="768096" y="3063240"/>
            <a:ext cx="1005840" cy="54864"/>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 y="3749039"/>
            <a:ext cx="3108960" cy="357021"/>
          </a:xfrm>
          <a:prstGeom prst="rect">
            <a:avLst/>
          </a:prstGeom>
          <a:noFill/>
        </p:spPr>
        <p:txBody>
          <a:bodyPr wrap="square" lIns="54864" tIns="54864" rIns="54864" bIns="54864" anchor="t">
            <a:spAutoFit/>
          </a:bodyPr>
          <a:lstStyle/>
          <a:p>
            <a:pPr algn="l"/>
            <a:r>
              <a:rPr sz="1600" b="1" dirty="0">
                <a:solidFill>
                  <a:srgbClr val="E9C46A"/>
                </a:solidFill>
                <a:latin typeface="Aptos"/>
              </a:rPr>
              <a:t>What students will learn</a:t>
            </a:r>
          </a:p>
        </p:txBody>
      </p:sp>
      <p:sp>
        <p:nvSpPr>
          <p:cNvPr id="9" name="Oval 8"/>
          <p:cNvSpPr/>
          <p:nvPr/>
        </p:nvSpPr>
        <p:spPr>
          <a:xfrm>
            <a:off x="768096" y="4242816"/>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32688" y="4160520"/>
            <a:ext cx="6784848" cy="357021"/>
          </a:xfrm>
          <a:prstGeom prst="rect">
            <a:avLst/>
          </a:prstGeom>
          <a:noFill/>
        </p:spPr>
        <p:txBody>
          <a:bodyPr wrap="square" lIns="54864" tIns="54864" rIns="54864" bIns="54864" anchor="t">
            <a:spAutoFit/>
          </a:bodyPr>
          <a:lstStyle/>
          <a:p>
            <a:pPr algn="l"/>
            <a:r>
              <a:rPr sz="1600" b="0" dirty="0">
                <a:solidFill>
                  <a:srgbClr val="FFFFFF"/>
                </a:solidFill>
                <a:latin typeface="Aptos"/>
              </a:rPr>
              <a:t>How an emergency-department stay becomes one analysis row</a:t>
            </a:r>
          </a:p>
        </p:txBody>
      </p:sp>
      <p:sp>
        <p:nvSpPr>
          <p:cNvPr id="11" name="Oval 10"/>
          <p:cNvSpPr/>
          <p:nvPr/>
        </p:nvSpPr>
        <p:spPr>
          <a:xfrm>
            <a:off x="768096" y="4590288"/>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4507992"/>
            <a:ext cx="6784848" cy="357021"/>
          </a:xfrm>
          <a:prstGeom prst="rect">
            <a:avLst/>
          </a:prstGeom>
          <a:noFill/>
        </p:spPr>
        <p:txBody>
          <a:bodyPr wrap="square" lIns="54864" tIns="54864" rIns="54864" bIns="54864" anchor="t">
            <a:spAutoFit/>
          </a:bodyPr>
          <a:lstStyle/>
          <a:p>
            <a:pPr algn="l"/>
            <a:r>
              <a:rPr sz="1600" b="0" dirty="0">
                <a:solidFill>
                  <a:srgbClr val="FFFFFF"/>
                </a:solidFill>
                <a:latin typeface="Aptos"/>
              </a:rPr>
              <a:t>How to read variables, distributions, frequencies, and missingness</a:t>
            </a:r>
          </a:p>
        </p:txBody>
      </p:sp>
      <p:sp>
        <p:nvSpPr>
          <p:cNvPr id="13" name="Oval 12"/>
          <p:cNvSpPr/>
          <p:nvPr/>
        </p:nvSpPr>
        <p:spPr>
          <a:xfrm>
            <a:off x="768096" y="4937759"/>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2688" y="4855464"/>
            <a:ext cx="6784848" cy="357021"/>
          </a:xfrm>
          <a:prstGeom prst="rect">
            <a:avLst/>
          </a:prstGeom>
          <a:noFill/>
        </p:spPr>
        <p:txBody>
          <a:bodyPr wrap="square" lIns="54864" tIns="54864" rIns="54864" bIns="54864" anchor="t">
            <a:spAutoFit/>
          </a:bodyPr>
          <a:lstStyle/>
          <a:p>
            <a:pPr algn="l"/>
            <a:r>
              <a:rPr sz="1600" b="0" dirty="0">
                <a:solidFill>
                  <a:srgbClr val="FFFFFF"/>
                </a:solidFill>
                <a:latin typeface="Aptos"/>
              </a:rPr>
              <a:t>How imputation and correlation support, but do not replace, judgment</a:t>
            </a:r>
          </a:p>
        </p:txBody>
      </p:sp>
      <p:sp>
        <p:nvSpPr>
          <p:cNvPr id="15" name="TextBox 14"/>
          <p:cNvSpPr txBox="1"/>
          <p:nvPr/>
        </p:nvSpPr>
        <p:spPr>
          <a:xfrm>
            <a:off x="768096" y="6236208"/>
            <a:ext cx="6217920" cy="295466"/>
          </a:xfrm>
          <a:prstGeom prst="rect">
            <a:avLst/>
          </a:prstGeom>
          <a:noFill/>
        </p:spPr>
        <p:txBody>
          <a:bodyPr wrap="square" lIns="54864" tIns="54864" rIns="54864" bIns="54864" anchor="t">
            <a:spAutoFit/>
          </a:bodyPr>
          <a:lstStyle/>
          <a:p>
            <a:pPr algn="l"/>
            <a:r>
              <a:rPr sz="1200" b="0" dirty="0">
                <a:solidFill>
                  <a:srgbClr val="E4EBEA"/>
                </a:solidFill>
                <a:latin typeface="Aptos"/>
              </a:rPr>
              <a:t>|  425,087 rows  |  120 columns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206240" cy="228600"/>
          </a:xfrm>
          <a:prstGeom prst="rect">
            <a:avLst/>
          </a:prstGeom>
          <a:noFill/>
        </p:spPr>
        <p:txBody>
          <a:bodyPr wrap="square" lIns="54864" tIns="54864" rIns="54864" bIns="54864" anchor="t">
            <a:spAutoFit/>
          </a:bodyPr>
          <a:lstStyle/>
          <a:p>
            <a:pPr algn="l"/>
            <a:r>
              <a:rPr sz="1000" b="1">
                <a:solidFill>
                  <a:srgbClr val="0F766E"/>
                </a:solidFill>
                <a:latin typeface="Aptos"/>
              </a:rPr>
              <a:t>THE ROUTE</a:t>
            </a:r>
          </a:p>
        </p:txBody>
      </p:sp>
      <p:sp>
        <p:nvSpPr>
          <p:cNvPr id="3" name="TextBox 2"/>
          <p:cNvSpPr txBox="1"/>
          <p:nvPr/>
        </p:nvSpPr>
        <p:spPr>
          <a:xfrm>
            <a:off x="548640" y="566928"/>
            <a:ext cx="10424160" cy="541687"/>
          </a:xfrm>
          <a:prstGeom prst="rect">
            <a:avLst/>
          </a:prstGeom>
          <a:noFill/>
        </p:spPr>
        <p:txBody>
          <a:bodyPr wrap="square" lIns="54864" tIns="54864" rIns="54864" bIns="54864" anchor="t">
            <a:spAutoFit/>
          </a:bodyPr>
          <a:lstStyle/>
          <a:p>
            <a:pPr algn="l"/>
            <a:r>
              <a:rPr sz="2800" b="1" dirty="0">
                <a:solidFill>
                  <a:srgbClr val="0B1F33"/>
                </a:solidFill>
                <a:latin typeface="Aptos Display"/>
              </a:rPr>
              <a:t>A notebook is a chain of questions</a:t>
            </a:r>
          </a:p>
        </p:txBody>
      </p:sp>
      <p:sp>
        <p:nvSpPr>
          <p:cNvPr id="4" name="TextBox 3"/>
          <p:cNvSpPr txBox="1"/>
          <p:nvPr/>
        </p:nvSpPr>
        <p:spPr>
          <a:xfrm>
            <a:off x="10652760" y="310896"/>
            <a:ext cx="914400" cy="201168"/>
          </a:xfrm>
          <a:prstGeom prst="rect">
            <a:avLst/>
          </a:prstGeom>
          <a:noFill/>
        </p:spPr>
        <p:txBody>
          <a:bodyPr wrap="square" lIns="54864" tIns="54864" rIns="54864" bIns="54864" anchor="t">
            <a:spAutoFit/>
          </a:bodyPr>
          <a:lstStyle/>
          <a:p>
            <a:pPr algn="r"/>
            <a:r>
              <a:rPr sz="1000" b="1">
                <a:solidFill>
                  <a:srgbClr val="5B6971"/>
                </a:solidFill>
                <a:latin typeface="Aptos"/>
              </a:rPr>
              <a:t>M1  /  02</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31520" y="1874519"/>
            <a:ext cx="621792" cy="621792"/>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029968"/>
            <a:ext cx="621792" cy="182880"/>
          </a:xfrm>
          <a:prstGeom prst="rect">
            <a:avLst/>
          </a:prstGeom>
          <a:noFill/>
        </p:spPr>
        <p:txBody>
          <a:bodyPr wrap="square" lIns="54864" tIns="54864" rIns="54864" bIns="54864" anchor="t">
            <a:spAutoFit/>
          </a:bodyPr>
          <a:lstStyle/>
          <a:p>
            <a:pPr algn="ctr"/>
            <a:r>
              <a:rPr sz="1400" b="1">
                <a:solidFill>
                  <a:srgbClr val="FFFFFF"/>
                </a:solidFill>
                <a:latin typeface="Aptos"/>
              </a:rPr>
              <a:t>01</a:t>
            </a:r>
          </a:p>
        </p:txBody>
      </p:sp>
      <p:sp>
        <p:nvSpPr>
          <p:cNvPr id="8" name="TextBox 7"/>
          <p:cNvSpPr txBox="1"/>
          <p:nvPr/>
        </p:nvSpPr>
        <p:spPr>
          <a:xfrm>
            <a:off x="731520" y="2743200"/>
            <a:ext cx="2103120" cy="418576"/>
          </a:xfrm>
          <a:prstGeom prst="rect">
            <a:avLst/>
          </a:prstGeom>
          <a:noFill/>
        </p:spPr>
        <p:txBody>
          <a:bodyPr wrap="square" lIns="54864" tIns="54864" rIns="54864" bIns="54864" anchor="t">
            <a:spAutoFit/>
          </a:bodyPr>
          <a:lstStyle/>
          <a:p>
            <a:pPr algn="l"/>
            <a:r>
              <a:rPr sz="2000" b="1" dirty="0">
                <a:solidFill>
                  <a:srgbClr val="0B1F33"/>
                </a:solidFill>
                <a:latin typeface="Aptos Display"/>
              </a:rPr>
              <a:t>Context</a:t>
            </a:r>
          </a:p>
        </p:txBody>
      </p:sp>
      <p:sp>
        <p:nvSpPr>
          <p:cNvPr id="9" name="TextBox 8"/>
          <p:cNvSpPr txBox="1"/>
          <p:nvPr/>
        </p:nvSpPr>
        <p:spPr>
          <a:xfrm>
            <a:off x="731520" y="3154680"/>
            <a:ext cx="2331720" cy="603242"/>
          </a:xfrm>
          <a:prstGeom prst="rect">
            <a:avLst/>
          </a:prstGeom>
          <a:noFill/>
        </p:spPr>
        <p:txBody>
          <a:bodyPr wrap="square" lIns="54864" tIns="54864" rIns="54864" bIns="54864" anchor="t">
            <a:spAutoFit/>
          </a:bodyPr>
          <a:lstStyle/>
          <a:p>
            <a:pPr algn="l"/>
            <a:r>
              <a:rPr sz="1600" b="0" dirty="0">
                <a:solidFill>
                  <a:srgbClr val="23303A"/>
                </a:solidFill>
                <a:latin typeface="Aptos"/>
              </a:rPr>
              <a:t>What is an EHR, and why does it matter?</a:t>
            </a:r>
          </a:p>
        </p:txBody>
      </p:sp>
      <p:cxnSp>
        <p:nvCxnSpPr>
          <p:cNvPr id="10" name="Connector 9"/>
          <p:cNvCxnSpPr/>
          <p:nvPr/>
        </p:nvCxnSpPr>
        <p:spPr>
          <a:xfrm>
            <a:off x="1463040" y="2185416"/>
            <a:ext cx="1783080" cy="0"/>
          </a:xfrm>
          <a:prstGeom prst="line">
            <a:avLst/>
          </a:prstGeom>
          <a:ln w="25400">
            <a:solidFill>
              <a:srgbClr val="E4EBEA"/>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566160" y="1874519"/>
            <a:ext cx="621792" cy="6217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66160" y="2029968"/>
            <a:ext cx="621792" cy="182880"/>
          </a:xfrm>
          <a:prstGeom prst="rect">
            <a:avLst/>
          </a:prstGeom>
          <a:noFill/>
        </p:spPr>
        <p:txBody>
          <a:bodyPr wrap="square" lIns="54864" tIns="54864" rIns="54864" bIns="54864" anchor="t">
            <a:spAutoFit/>
          </a:bodyPr>
          <a:lstStyle/>
          <a:p>
            <a:pPr algn="ctr"/>
            <a:r>
              <a:rPr sz="1400" b="1">
                <a:solidFill>
                  <a:srgbClr val="FFFFFF"/>
                </a:solidFill>
                <a:latin typeface="Aptos"/>
              </a:rPr>
              <a:t>02</a:t>
            </a:r>
          </a:p>
        </p:txBody>
      </p:sp>
      <p:sp>
        <p:nvSpPr>
          <p:cNvPr id="13" name="TextBox 12"/>
          <p:cNvSpPr txBox="1"/>
          <p:nvPr/>
        </p:nvSpPr>
        <p:spPr>
          <a:xfrm>
            <a:off x="3566160" y="2743200"/>
            <a:ext cx="2103120" cy="418576"/>
          </a:xfrm>
          <a:prstGeom prst="rect">
            <a:avLst/>
          </a:prstGeom>
          <a:noFill/>
        </p:spPr>
        <p:txBody>
          <a:bodyPr wrap="square" lIns="54864" tIns="54864" rIns="54864" bIns="54864" anchor="t">
            <a:spAutoFit/>
          </a:bodyPr>
          <a:lstStyle/>
          <a:p>
            <a:pPr algn="l"/>
            <a:r>
              <a:rPr sz="2000" b="1" dirty="0">
                <a:solidFill>
                  <a:srgbClr val="0B1F33"/>
                </a:solidFill>
                <a:latin typeface="Aptos Display"/>
              </a:rPr>
              <a:t>Construction</a:t>
            </a:r>
          </a:p>
        </p:txBody>
      </p:sp>
      <p:sp>
        <p:nvSpPr>
          <p:cNvPr id="14" name="TextBox 13"/>
          <p:cNvSpPr txBox="1"/>
          <p:nvPr/>
        </p:nvSpPr>
        <p:spPr>
          <a:xfrm>
            <a:off x="3566160" y="3154680"/>
            <a:ext cx="2331720" cy="603242"/>
          </a:xfrm>
          <a:prstGeom prst="rect">
            <a:avLst/>
          </a:prstGeom>
          <a:noFill/>
        </p:spPr>
        <p:txBody>
          <a:bodyPr wrap="square" lIns="54864" tIns="54864" rIns="54864" bIns="54864" anchor="t">
            <a:spAutoFit/>
          </a:bodyPr>
          <a:lstStyle/>
          <a:p>
            <a:pPr algn="l"/>
            <a:r>
              <a:rPr sz="1600" b="0" dirty="0">
                <a:solidFill>
                  <a:srgbClr val="23303A"/>
                </a:solidFill>
                <a:latin typeface="Aptos"/>
              </a:rPr>
              <a:t>How did MIMIC-IV-ED become this table?</a:t>
            </a:r>
          </a:p>
        </p:txBody>
      </p:sp>
      <p:cxnSp>
        <p:nvCxnSpPr>
          <p:cNvPr id="15" name="Connector 14"/>
          <p:cNvCxnSpPr/>
          <p:nvPr/>
        </p:nvCxnSpPr>
        <p:spPr>
          <a:xfrm>
            <a:off x="4297680" y="2185416"/>
            <a:ext cx="1783080" cy="0"/>
          </a:xfrm>
          <a:prstGeom prst="line">
            <a:avLst/>
          </a:prstGeom>
          <a:ln w="25400">
            <a:solidFill>
              <a:srgbClr val="E4EBEA"/>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6400800" y="1874519"/>
            <a:ext cx="621792" cy="621792"/>
          </a:xfrm>
          <a:prstGeom prst="ellipse">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2029968"/>
            <a:ext cx="621792" cy="182880"/>
          </a:xfrm>
          <a:prstGeom prst="rect">
            <a:avLst/>
          </a:prstGeom>
          <a:noFill/>
        </p:spPr>
        <p:txBody>
          <a:bodyPr wrap="square" lIns="54864" tIns="54864" rIns="54864" bIns="54864" anchor="t">
            <a:spAutoFit/>
          </a:bodyPr>
          <a:lstStyle/>
          <a:p>
            <a:pPr algn="ctr"/>
            <a:r>
              <a:rPr sz="1400" b="1">
                <a:solidFill>
                  <a:srgbClr val="FFFFFF"/>
                </a:solidFill>
                <a:latin typeface="Aptos"/>
              </a:rPr>
              <a:t>03</a:t>
            </a:r>
          </a:p>
        </p:txBody>
      </p:sp>
      <p:sp>
        <p:nvSpPr>
          <p:cNvPr id="18" name="TextBox 17"/>
          <p:cNvSpPr txBox="1"/>
          <p:nvPr/>
        </p:nvSpPr>
        <p:spPr>
          <a:xfrm>
            <a:off x="6400800" y="2743200"/>
            <a:ext cx="2103120" cy="418576"/>
          </a:xfrm>
          <a:prstGeom prst="rect">
            <a:avLst/>
          </a:prstGeom>
          <a:noFill/>
        </p:spPr>
        <p:txBody>
          <a:bodyPr wrap="square" lIns="54864" tIns="54864" rIns="54864" bIns="54864" anchor="t">
            <a:spAutoFit/>
          </a:bodyPr>
          <a:lstStyle/>
          <a:p>
            <a:pPr algn="l"/>
            <a:r>
              <a:rPr sz="2000" b="1" dirty="0">
                <a:solidFill>
                  <a:srgbClr val="0B1F33"/>
                </a:solidFill>
                <a:latin typeface="Aptos Display"/>
              </a:rPr>
              <a:t>Inspection</a:t>
            </a:r>
          </a:p>
        </p:txBody>
      </p:sp>
      <p:sp>
        <p:nvSpPr>
          <p:cNvPr id="19" name="TextBox 18"/>
          <p:cNvSpPr txBox="1"/>
          <p:nvPr/>
        </p:nvSpPr>
        <p:spPr>
          <a:xfrm>
            <a:off x="6400800" y="3154680"/>
            <a:ext cx="2331720" cy="849463"/>
          </a:xfrm>
          <a:prstGeom prst="rect">
            <a:avLst/>
          </a:prstGeom>
          <a:noFill/>
        </p:spPr>
        <p:txBody>
          <a:bodyPr wrap="square" lIns="54864" tIns="54864" rIns="54864" bIns="54864" anchor="t">
            <a:spAutoFit/>
          </a:bodyPr>
          <a:lstStyle/>
          <a:p>
            <a:pPr algn="l"/>
            <a:r>
              <a:rPr sz="1600" b="0" dirty="0">
                <a:solidFill>
                  <a:srgbClr val="23303A"/>
                </a:solidFill>
                <a:latin typeface="Aptos"/>
              </a:rPr>
              <a:t>What do the fields, distributions, and gaps say?</a:t>
            </a:r>
          </a:p>
        </p:txBody>
      </p:sp>
      <p:cxnSp>
        <p:nvCxnSpPr>
          <p:cNvPr id="20" name="Connector 19"/>
          <p:cNvCxnSpPr/>
          <p:nvPr/>
        </p:nvCxnSpPr>
        <p:spPr>
          <a:xfrm>
            <a:off x="7132320" y="2185416"/>
            <a:ext cx="1783080" cy="0"/>
          </a:xfrm>
          <a:prstGeom prst="line">
            <a:avLst/>
          </a:prstGeom>
          <a:ln w="25400">
            <a:solidFill>
              <a:srgbClr val="E4EBEA"/>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9235440" y="1874519"/>
            <a:ext cx="621792" cy="621792"/>
          </a:xfrm>
          <a:prstGeom prst="ellipse">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35440" y="2029968"/>
            <a:ext cx="621792" cy="182880"/>
          </a:xfrm>
          <a:prstGeom prst="rect">
            <a:avLst/>
          </a:prstGeom>
          <a:noFill/>
        </p:spPr>
        <p:txBody>
          <a:bodyPr wrap="square" lIns="54864" tIns="54864" rIns="54864" bIns="54864" anchor="t">
            <a:spAutoFit/>
          </a:bodyPr>
          <a:lstStyle/>
          <a:p>
            <a:pPr algn="ctr"/>
            <a:r>
              <a:rPr sz="1400" b="1">
                <a:solidFill>
                  <a:srgbClr val="0B1F33"/>
                </a:solidFill>
                <a:latin typeface="Aptos"/>
              </a:rPr>
              <a:t>04</a:t>
            </a:r>
          </a:p>
        </p:txBody>
      </p:sp>
      <p:sp>
        <p:nvSpPr>
          <p:cNvPr id="23" name="TextBox 22"/>
          <p:cNvSpPr txBox="1"/>
          <p:nvPr/>
        </p:nvSpPr>
        <p:spPr>
          <a:xfrm>
            <a:off x="9235440" y="2743200"/>
            <a:ext cx="2103120" cy="418576"/>
          </a:xfrm>
          <a:prstGeom prst="rect">
            <a:avLst/>
          </a:prstGeom>
          <a:noFill/>
        </p:spPr>
        <p:txBody>
          <a:bodyPr wrap="square" lIns="54864" tIns="54864" rIns="54864" bIns="54864" anchor="t">
            <a:spAutoFit/>
          </a:bodyPr>
          <a:lstStyle/>
          <a:p>
            <a:pPr algn="l"/>
            <a:r>
              <a:rPr sz="2000" b="1" dirty="0">
                <a:solidFill>
                  <a:srgbClr val="0B1F33"/>
                </a:solidFill>
                <a:latin typeface="Aptos Display"/>
              </a:rPr>
              <a:t>Preparation</a:t>
            </a:r>
            <a:endParaRPr sz="1900" b="1" dirty="0">
              <a:solidFill>
                <a:srgbClr val="0B1F33"/>
              </a:solidFill>
              <a:latin typeface="Aptos Display"/>
            </a:endParaRPr>
          </a:p>
        </p:txBody>
      </p:sp>
      <p:sp>
        <p:nvSpPr>
          <p:cNvPr id="24" name="TextBox 23"/>
          <p:cNvSpPr txBox="1"/>
          <p:nvPr/>
        </p:nvSpPr>
        <p:spPr>
          <a:xfrm>
            <a:off x="9235440" y="3154680"/>
            <a:ext cx="2331720" cy="849463"/>
          </a:xfrm>
          <a:prstGeom prst="rect">
            <a:avLst/>
          </a:prstGeom>
          <a:noFill/>
        </p:spPr>
        <p:txBody>
          <a:bodyPr wrap="square" lIns="54864" tIns="54864" rIns="54864" bIns="54864" anchor="t">
            <a:spAutoFit/>
          </a:bodyPr>
          <a:lstStyle/>
          <a:p>
            <a:pPr algn="l"/>
            <a:r>
              <a:rPr sz="1600" b="0" dirty="0">
                <a:solidFill>
                  <a:srgbClr val="23303A"/>
                </a:solidFill>
                <a:latin typeface="Aptos"/>
              </a:rPr>
              <a:t>What is cleaned, imputed, audited, and exported?</a:t>
            </a:r>
          </a:p>
        </p:txBody>
      </p:sp>
      <p:sp>
        <p:nvSpPr>
          <p:cNvPr id="25" name="Rounded Rectangle 24"/>
          <p:cNvSpPr/>
          <p:nvPr/>
        </p:nvSpPr>
        <p:spPr>
          <a:xfrm>
            <a:off x="731520" y="4800600"/>
            <a:ext cx="10607040" cy="82296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05840" y="5065776"/>
            <a:ext cx="10058400" cy="418576"/>
          </a:xfrm>
          <a:prstGeom prst="rect">
            <a:avLst/>
          </a:prstGeom>
          <a:noFill/>
        </p:spPr>
        <p:txBody>
          <a:bodyPr wrap="square" lIns="54864" tIns="54864" rIns="54864" bIns="54864" anchor="t">
            <a:spAutoFit/>
          </a:bodyPr>
          <a:lstStyle/>
          <a:p>
            <a:pPr algn="ctr"/>
            <a:r>
              <a:rPr sz="2000" b="1" dirty="0">
                <a:solidFill>
                  <a:srgbClr val="0B1F33"/>
                </a:solidFill>
                <a:latin typeface="Aptos"/>
              </a:rPr>
              <a:t>The habit: every number should have a definition, a time window, and a provenance.</a:t>
            </a:r>
          </a:p>
        </p:txBody>
      </p:sp>
      <p:sp>
        <p:nvSpPr>
          <p:cNvPr id="27" name="Rectangle 26"/>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206240" cy="228600"/>
          </a:xfrm>
          <a:prstGeom prst="rect">
            <a:avLst/>
          </a:prstGeom>
          <a:noFill/>
        </p:spPr>
        <p:txBody>
          <a:bodyPr wrap="square" lIns="54864" tIns="54864" rIns="54864" bIns="54864" anchor="t">
            <a:spAutoFit/>
          </a:bodyPr>
          <a:lstStyle/>
          <a:p>
            <a:pPr algn="l"/>
            <a:r>
              <a:rPr sz="1000" b="1">
                <a:solidFill>
                  <a:srgbClr val="0F766E"/>
                </a:solidFill>
                <a:latin typeface="Aptos"/>
              </a:rPr>
              <a:t>01  /  CONTEXT</a:t>
            </a:r>
          </a:p>
        </p:txBody>
      </p:sp>
      <p:sp>
        <p:nvSpPr>
          <p:cNvPr id="3" name="TextBox 2"/>
          <p:cNvSpPr txBox="1"/>
          <p:nvPr/>
        </p:nvSpPr>
        <p:spPr>
          <a:xfrm>
            <a:off x="548640" y="566928"/>
            <a:ext cx="10424160" cy="541687"/>
          </a:xfrm>
          <a:prstGeom prst="rect">
            <a:avLst/>
          </a:prstGeom>
          <a:noFill/>
        </p:spPr>
        <p:txBody>
          <a:bodyPr wrap="square" lIns="54864" tIns="54864" rIns="54864" bIns="54864" anchor="t">
            <a:spAutoFit/>
          </a:bodyPr>
          <a:lstStyle/>
          <a:p>
            <a:pPr algn="l"/>
            <a:r>
              <a:rPr sz="2800" b="1" dirty="0">
                <a:solidFill>
                  <a:srgbClr val="0B1F33"/>
                </a:solidFill>
                <a:latin typeface="Aptos Display"/>
              </a:rPr>
              <a:t>What is an electronic health record?</a:t>
            </a:r>
          </a:p>
        </p:txBody>
      </p:sp>
      <p:sp>
        <p:nvSpPr>
          <p:cNvPr id="4" name="TextBox 3"/>
          <p:cNvSpPr txBox="1"/>
          <p:nvPr/>
        </p:nvSpPr>
        <p:spPr>
          <a:xfrm>
            <a:off x="10652760" y="310896"/>
            <a:ext cx="914400" cy="201168"/>
          </a:xfrm>
          <a:prstGeom prst="rect">
            <a:avLst/>
          </a:prstGeom>
          <a:noFill/>
        </p:spPr>
        <p:txBody>
          <a:bodyPr wrap="square" lIns="54864" tIns="54864" rIns="54864" bIns="54864" anchor="t">
            <a:spAutoFit/>
          </a:bodyPr>
          <a:lstStyle/>
          <a:p>
            <a:pPr algn="r"/>
            <a:r>
              <a:rPr sz="1000" b="1">
                <a:solidFill>
                  <a:srgbClr val="5B6971"/>
                </a:solidFill>
                <a:latin typeface="Aptos"/>
              </a:rPr>
              <a:t>M1  /  03</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54480"/>
            <a:ext cx="6492240" cy="1218795"/>
          </a:xfrm>
          <a:prstGeom prst="rect">
            <a:avLst/>
          </a:prstGeom>
          <a:noFill/>
        </p:spPr>
        <p:txBody>
          <a:bodyPr wrap="square" lIns="54864" tIns="54864" rIns="54864" bIns="54864" anchor="t">
            <a:spAutoFit/>
          </a:bodyPr>
          <a:lstStyle/>
          <a:p>
            <a:pPr algn="l"/>
            <a:r>
              <a:rPr sz="2400" b="1" dirty="0">
                <a:solidFill>
                  <a:srgbClr val="0B1F33"/>
                </a:solidFill>
                <a:latin typeface="Aptos Display"/>
              </a:rPr>
              <a:t>An EHR is a longitudinal digital record of care: observations, actions, decisions, and outcomes captured across clinical workflows.</a:t>
            </a:r>
          </a:p>
        </p:txBody>
      </p:sp>
      <p:sp>
        <p:nvSpPr>
          <p:cNvPr id="7" name="Oval 6"/>
          <p:cNvSpPr/>
          <p:nvPr/>
        </p:nvSpPr>
        <p:spPr>
          <a:xfrm>
            <a:off x="822960" y="2971800"/>
            <a:ext cx="914400" cy="914400"/>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4069080"/>
            <a:ext cx="1371600" cy="357021"/>
          </a:xfrm>
          <a:prstGeom prst="rect">
            <a:avLst/>
          </a:prstGeom>
          <a:noFill/>
        </p:spPr>
        <p:txBody>
          <a:bodyPr wrap="square" lIns="54864" tIns="54864" rIns="54864" bIns="54864" anchor="t">
            <a:spAutoFit/>
          </a:bodyPr>
          <a:lstStyle/>
          <a:p>
            <a:pPr algn="ctr"/>
            <a:r>
              <a:rPr sz="1600" b="1" dirty="0">
                <a:solidFill>
                  <a:srgbClr val="0B1F33"/>
                </a:solidFill>
                <a:latin typeface="Aptos"/>
              </a:rPr>
              <a:t>Patient</a:t>
            </a:r>
          </a:p>
        </p:txBody>
      </p:sp>
      <p:sp>
        <p:nvSpPr>
          <p:cNvPr id="9" name="TextBox 8"/>
          <p:cNvSpPr txBox="1"/>
          <p:nvPr/>
        </p:nvSpPr>
        <p:spPr>
          <a:xfrm>
            <a:off x="365760" y="4370832"/>
            <a:ext cx="1828800" cy="326243"/>
          </a:xfrm>
          <a:prstGeom prst="rect">
            <a:avLst/>
          </a:prstGeom>
          <a:noFill/>
        </p:spPr>
        <p:txBody>
          <a:bodyPr wrap="square" lIns="54864" tIns="54864" rIns="54864" bIns="54864" anchor="t">
            <a:spAutoFit/>
          </a:bodyPr>
          <a:lstStyle/>
          <a:p>
            <a:pPr algn="ctr"/>
            <a:r>
              <a:rPr sz="1400" b="0" dirty="0">
                <a:solidFill>
                  <a:srgbClr val="5B6971"/>
                </a:solidFill>
                <a:latin typeface="Aptos"/>
              </a:rPr>
              <a:t>identity and history</a:t>
            </a:r>
          </a:p>
        </p:txBody>
      </p:sp>
      <p:cxnSp>
        <p:nvCxnSpPr>
          <p:cNvPr id="10" name="Connector 9"/>
          <p:cNvCxnSpPr/>
          <p:nvPr/>
        </p:nvCxnSpPr>
        <p:spPr>
          <a:xfrm>
            <a:off x="1783080" y="3429000"/>
            <a:ext cx="1508760" cy="0"/>
          </a:xfrm>
          <a:prstGeom prst="line">
            <a:avLst/>
          </a:prstGeom>
          <a:ln w="19050">
            <a:solidFill>
              <a:srgbClr val="5B6971"/>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520440" y="2971800"/>
            <a:ext cx="914400" cy="914400"/>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91840" y="4069080"/>
            <a:ext cx="1371600" cy="357021"/>
          </a:xfrm>
          <a:prstGeom prst="rect">
            <a:avLst/>
          </a:prstGeom>
          <a:noFill/>
        </p:spPr>
        <p:txBody>
          <a:bodyPr wrap="square" lIns="54864" tIns="54864" rIns="54864" bIns="54864" anchor="t">
            <a:spAutoFit/>
          </a:bodyPr>
          <a:lstStyle/>
          <a:p>
            <a:pPr algn="ctr"/>
            <a:r>
              <a:rPr sz="1600" b="1" dirty="0">
                <a:solidFill>
                  <a:srgbClr val="0B1F33"/>
                </a:solidFill>
                <a:latin typeface="Aptos"/>
              </a:rPr>
              <a:t>Encounter</a:t>
            </a:r>
          </a:p>
        </p:txBody>
      </p:sp>
      <p:sp>
        <p:nvSpPr>
          <p:cNvPr id="13" name="TextBox 12"/>
          <p:cNvSpPr txBox="1"/>
          <p:nvPr/>
        </p:nvSpPr>
        <p:spPr>
          <a:xfrm>
            <a:off x="3063240" y="4370832"/>
            <a:ext cx="1828800" cy="326243"/>
          </a:xfrm>
          <a:prstGeom prst="rect">
            <a:avLst/>
          </a:prstGeom>
          <a:noFill/>
        </p:spPr>
        <p:txBody>
          <a:bodyPr wrap="square" lIns="54864" tIns="54864" rIns="54864" bIns="54864" anchor="t">
            <a:spAutoFit/>
          </a:bodyPr>
          <a:lstStyle/>
          <a:p>
            <a:pPr algn="ctr"/>
            <a:r>
              <a:rPr sz="1400" b="0" dirty="0">
                <a:solidFill>
                  <a:srgbClr val="5B6971"/>
                </a:solidFill>
                <a:latin typeface="Aptos"/>
              </a:rPr>
              <a:t>arrival and location</a:t>
            </a:r>
          </a:p>
        </p:txBody>
      </p:sp>
      <p:cxnSp>
        <p:nvCxnSpPr>
          <p:cNvPr id="14" name="Connector 13"/>
          <p:cNvCxnSpPr/>
          <p:nvPr/>
        </p:nvCxnSpPr>
        <p:spPr>
          <a:xfrm>
            <a:off x="4480560" y="3429000"/>
            <a:ext cx="1508760" cy="0"/>
          </a:xfrm>
          <a:prstGeom prst="line">
            <a:avLst/>
          </a:prstGeom>
          <a:ln w="19050">
            <a:solidFill>
              <a:srgbClr val="5B6971"/>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217920" y="2971800"/>
            <a:ext cx="914400" cy="914400"/>
          </a:xfrm>
          <a:prstGeom prst="ellipse">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89320" y="4069080"/>
            <a:ext cx="1371600" cy="357021"/>
          </a:xfrm>
          <a:prstGeom prst="rect">
            <a:avLst/>
          </a:prstGeom>
          <a:noFill/>
        </p:spPr>
        <p:txBody>
          <a:bodyPr wrap="square" lIns="54864" tIns="54864" rIns="54864" bIns="54864" anchor="t">
            <a:spAutoFit/>
          </a:bodyPr>
          <a:lstStyle/>
          <a:p>
            <a:pPr algn="ctr"/>
            <a:r>
              <a:rPr sz="1600" b="1" dirty="0">
                <a:solidFill>
                  <a:srgbClr val="0B1F33"/>
                </a:solidFill>
                <a:latin typeface="Aptos"/>
              </a:rPr>
              <a:t>Observation</a:t>
            </a:r>
          </a:p>
        </p:txBody>
      </p:sp>
      <p:sp>
        <p:nvSpPr>
          <p:cNvPr id="17" name="TextBox 16"/>
          <p:cNvSpPr txBox="1"/>
          <p:nvPr/>
        </p:nvSpPr>
        <p:spPr>
          <a:xfrm>
            <a:off x="5760720" y="4370832"/>
            <a:ext cx="1828800" cy="326243"/>
          </a:xfrm>
          <a:prstGeom prst="rect">
            <a:avLst/>
          </a:prstGeom>
          <a:noFill/>
        </p:spPr>
        <p:txBody>
          <a:bodyPr wrap="square" lIns="54864" tIns="54864" rIns="54864" bIns="54864" anchor="t">
            <a:spAutoFit/>
          </a:bodyPr>
          <a:lstStyle/>
          <a:p>
            <a:pPr algn="ctr"/>
            <a:r>
              <a:rPr sz="1400" b="0" dirty="0">
                <a:solidFill>
                  <a:srgbClr val="5B6971"/>
                </a:solidFill>
                <a:latin typeface="Aptos"/>
              </a:rPr>
              <a:t>vitals, labs, notes</a:t>
            </a:r>
          </a:p>
        </p:txBody>
      </p:sp>
      <p:cxnSp>
        <p:nvCxnSpPr>
          <p:cNvPr id="18" name="Connector 17"/>
          <p:cNvCxnSpPr/>
          <p:nvPr/>
        </p:nvCxnSpPr>
        <p:spPr>
          <a:xfrm>
            <a:off x="7178040" y="3429000"/>
            <a:ext cx="1508760" cy="0"/>
          </a:xfrm>
          <a:prstGeom prst="line">
            <a:avLst/>
          </a:prstGeom>
          <a:ln w="19050">
            <a:solidFill>
              <a:srgbClr val="5B6971"/>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8915400" y="2971800"/>
            <a:ext cx="914400" cy="914400"/>
          </a:xfrm>
          <a:prstGeom prst="ellipse">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p:cNvSpPr txBox="1"/>
          <p:nvPr/>
        </p:nvSpPr>
        <p:spPr>
          <a:xfrm>
            <a:off x="8686800" y="4069080"/>
            <a:ext cx="1371600" cy="357021"/>
          </a:xfrm>
          <a:prstGeom prst="rect">
            <a:avLst/>
          </a:prstGeom>
          <a:noFill/>
        </p:spPr>
        <p:txBody>
          <a:bodyPr wrap="square" lIns="54864" tIns="54864" rIns="54864" bIns="54864" anchor="t">
            <a:spAutoFit/>
          </a:bodyPr>
          <a:lstStyle/>
          <a:p>
            <a:pPr algn="ctr"/>
            <a:r>
              <a:rPr sz="1600" b="1">
                <a:solidFill>
                  <a:srgbClr val="0B1F33"/>
                </a:solidFill>
                <a:latin typeface="Aptos"/>
              </a:rPr>
              <a:t>Outcome</a:t>
            </a:r>
          </a:p>
        </p:txBody>
      </p:sp>
      <p:sp>
        <p:nvSpPr>
          <p:cNvPr id="21" name="TextBox 20"/>
          <p:cNvSpPr txBox="1"/>
          <p:nvPr/>
        </p:nvSpPr>
        <p:spPr>
          <a:xfrm>
            <a:off x="8458200" y="4370832"/>
            <a:ext cx="1828800" cy="411480"/>
          </a:xfrm>
          <a:prstGeom prst="rect">
            <a:avLst/>
          </a:prstGeom>
          <a:noFill/>
        </p:spPr>
        <p:txBody>
          <a:bodyPr wrap="square" lIns="54864" tIns="54864" rIns="54864" bIns="54864" anchor="t">
            <a:spAutoFit/>
          </a:bodyPr>
          <a:lstStyle/>
          <a:p>
            <a:pPr algn="ctr"/>
            <a:r>
              <a:rPr sz="1100" b="0">
                <a:solidFill>
                  <a:srgbClr val="5B6971"/>
                </a:solidFill>
                <a:latin typeface="Aptos"/>
              </a:rPr>
              <a:t>disposition and events</a:t>
            </a:r>
          </a:p>
        </p:txBody>
      </p:sp>
      <p:sp>
        <p:nvSpPr>
          <p:cNvPr id="22" name="Rounded Rectangle 21"/>
          <p:cNvSpPr/>
          <p:nvPr/>
        </p:nvSpPr>
        <p:spPr>
          <a:xfrm>
            <a:off x="7818120" y="1572768"/>
            <a:ext cx="3474720" cy="3977639"/>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83879" y="1938528"/>
            <a:ext cx="2743200" cy="320040"/>
          </a:xfrm>
          <a:prstGeom prst="rect">
            <a:avLst/>
          </a:prstGeom>
          <a:noFill/>
        </p:spPr>
        <p:txBody>
          <a:bodyPr wrap="square" lIns="54864" tIns="54864" rIns="54864" bIns="54864" anchor="t">
            <a:spAutoFit/>
          </a:bodyPr>
          <a:lstStyle/>
          <a:p>
            <a:pPr algn="l"/>
            <a:r>
              <a:rPr sz="1800" b="1">
                <a:solidFill>
                  <a:srgbClr val="0F766E"/>
                </a:solidFill>
                <a:latin typeface="Aptos Display"/>
              </a:rPr>
              <a:t>Why the structure matters</a:t>
            </a:r>
          </a:p>
        </p:txBody>
      </p:sp>
      <p:sp>
        <p:nvSpPr>
          <p:cNvPr id="24" name="Oval 23"/>
          <p:cNvSpPr/>
          <p:nvPr/>
        </p:nvSpPr>
        <p:spPr>
          <a:xfrm>
            <a:off x="8183879" y="2642615"/>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5" name="TextBox 24"/>
          <p:cNvSpPr txBox="1"/>
          <p:nvPr/>
        </p:nvSpPr>
        <p:spPr>
          <a:xfrm>
            <a:off x="8348471" y="2560320"/>
            <a:ext cx="2532888" cy="603242"/>
          </a:xfrm>
          <a:prstGeom prst="rect">
            <a:avLst/>
          </a:prstGeom>
          <a:noFill/>
        </p:spPr>
        <p:txBody>
          <a:bodyPr wrap="square" lIns="54864" tIns="54864" rIns="54864" bIns="54864" anchor="t">
            <a:spAutoFit/>
          </a:bodyPr>
          <a:lstStyle/>
          <a:p>
            <a:pPr algn="l"/>
            <a:r>
              <a:rPr sz="1600" b="0" dirty="0">
                <a:solidFill>
                  <a:srgbClr val="23303A"/>
                </a:solidFill>
                <a:latin typeface="Aptos"/>
              </a:rPr>
              <a:t>The same person can have many encounters.</a:t>
            </a:r>
          </a:p>
        </p:txBody>
      </p:sp>
      <p:sp>
        <p:nvSpPr>
          <p:cNvPr id="26" name="Oval 25"/>
          <p:cNvSpPr/>
          <p:nvPr/>
        </p:nvSpPr>
        <p:spPr>
          <a:xfrm>
            <a:off x="8193992" y="3324758"/>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7" name="TextBox 26"/>
          <p:cNvSpPr txBox="1"/>
          <p:nvPr/>
        </p:nvSpPr>
        <p:spPr>
          <a:xfrm>
            <a:off x="8348471" y="3035808"/>
            <a:ext cx="2532888" cy="603242"/>
          </a:xfrm>
          <a:prstGeom prst="rect">
            <a:avLst/>
          </a:prstGeom>
          <a:noFill/>
        </p:spPr>
        <p:txBody>
          <a:bodyPr wrap="square" lIns="54864" tIns="54864" rIns="54864" bIns="54864" anchor="t">
            <a:spAutoFit/>
          </a:bodyPr>
          <a:lstStyle/>
          <a:p>
            <a:pPr algn="l"/>
            <a:r>
              <a:rPr sz="1600" b="0" dirty="0">
                <a:solidFill>
                  <a:srgbClr val="23303A"/>
                </a:solidFill>
                <a:latin typeface="Aptos"/>
              </a:rPr>
              <a:t>A value has meaning only with time and units.</a:t>
            </a:r>
          </a:p>
        </p:txBody>
      </p:sp>
      <p:sp>
        <p:nvSpPr>
          <p:cNvPr id="28" name="Oval 27"/>
          <p:cNvSpPr/>
          <p:nvPr/>
        </p:nvSpPr>
        <p:spPr>
          <a:xfrm>
            <a:off x="8183879" y="3803904"/>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9" name="TextBox 28"/>
          <p:cNvSpPr txBox="1"/>
          <p:nvPr/>
        </p:nvSpPr>
        <p:spPr>
          <a:xfrm>
            <a:off x="8348471" y="3576638"/>
            <a:ext cx="2532888" cy="849463"/>
          </a:xfrm>
          <a:prstGeom prst="rect">
            <a:avLst/>
          </a:prstGeom>
          <a:noFill/>
        </p:spPr>
        <p:txBody>
          <a:bodyPr wrap="square" lIns="54864" tIns="54864" rIns="54864" bIns="54864" anchor="t">
            <a:spAutoFit/>
          </a:bodyPr>
          <a:lstStyle/>
          <a:p>
            <a:pPr algn="l"/>
            <a:r>
              <a:rPr sz="1600" b="0" dirty="0">
                <a:solidFill>
                  <a:srgbClr val="23303A"/>
                </a:solidFill>
                <a:latin typeface="Aptos"/>
              </a:rPr>
              <a:t>Documentation reflects workflow, not just physiology.</a:t>
            </a:r>
          </a:p>
        </p:txBody>
      </p:sp>
      <p:sp>
        <p:nvSpPr>
          <p:cNvPr id="30" name="Oval 29"/>
          <p:cNvSpPr/>
          <p:nvPr/>
        </p:nvSpPr>
        <p:spPr>
          <a:xfrm>
            <a:off x="8183879" y="4489703"/>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1" name="TextBox 30"/>
          <p:cNvSpPr txBox="1"/>
          <p:nvPr/>
        </p:nvSpPr>
        <p:spPr>
          <a:xfrm>
            <a:off x="8348471" y="4316230"/>
            <a:ext cx="2532888" cy="603242"/>
          </a:xfrm>
          <a:prstGeom prst="rect">
            <a:avLst/>
          </a:prstGeom>
          <a:noFill/>
        </p:spPr>
        <p:txBody>
          <a:bodyPr wrap="square" lIns="54864" tIns="54864" rIns="54864" bIns="54864" anchor="t">
            <a:spAutoFit/>
          </a:bodyPr>
          <a:lstStyle/>
          <a:p>
            <a:pPr algn="l"/>
            <a:r>
              <a:rPr sz="1600" b="0" dirty="0">
                <a:solidFill>
                  <a:srgbClr val="23303A"/>
                </a:solidFill>
                <a:latin typeface="Aptos"/>
              </a:rPr>
              <a:t>Labels can be defined after the encounter ends.</a:t>
            </a:r>
          </a:p>
        </p:txBody>
      </p:sp>
      <p:sp>
        <p:nvSpPr>
          <p:cNvPr id="32" name="Rectangle 31"/>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48640" y="6583680"/>
            <a:ext cx="8229600" cy="146304"/>
          </a:xfrm>
          <a:prstGeom prst="rect">
            <a:avLst/>
          </a:prstGeom>
          <a:noFill/>
        </p:spPr>
        <p:txBody>
          <a:bodyPr wrap="square" lIns="54864" tIns="54864" rIns="54864" bIns="54864" anchor="t">
            <a:spAutoFit/>
          </a:bodyPr>
          <a:lstStyle/>
          <a:p>
            <a:pPr algn="l"/>
            <a:r>
              <a:rPr sz="800" b="0">
                <a:solidFill>
                  <a:srgbClr val="5B6971"/>
                </a:solidFill>
                <a:latin typeface="Aptos"/>
              </a:rPr>
              <a:t>EHR -&gt; MIMIC-IV-ED -&gt; reproducible notebook evidence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3657600" cy="182880"/>
          </a:xfrm>
          <a:prstGeom prst="rect">
            <a:avLst/>
          </a:prstGeom>
          <a:noFill/>
        </p:spPr>
        <p:txBody>
          <a:bodyPr wrap="square" lIns="54864" tIns="54864" rIns="54864" bIns="54864" anchor="t">
            <a:spAutoFit/>
          </a:bodyPr>
          <a:lstStyle/>
          <a:p>
            <a:pPr algn="l"/>
            <a:r>
              <a:rPr sz="1000" b="1">
                <a:solidFill>
                  <a:srgbClr val="E9C46A"/>
                </a:solidFill>
                <a:latin typeface="Aptos"/>
              </a:rPr>
              <a:t>01  /  context</a:t>
            </a:r>
          </a:p>
        </p:txBody>
      </p:sp>
      <p:sp>
        <p:nvSpPr>
          <p:cNvPr id="3" name="TextBox 2"/>
          <p:cNvSpPr txBox="1"/>
          <p:nvPr/>
        </p:nvSpPr>
        <p:spPr>
          <a:xfrm>
            <a:off x="548640" y="658368"/>
            <a:ext cx="8046720" cy="541687"/>
          </a:xfrm>
          <a:prstGeom prst="rect">
            <a:avLst/>
          </a:prstGeom>
          <a:noFill/>
        </p:spPr>
        <p:txBody>
          <a:bodyPr wrap="square" lIns="54864" tIns="54864" rIns="54864" bIns="54864" anchor="t">
            <a:spAutoFit/>
          </a:bodyPr>
          <a:lstStyle/>
          <a:p>
            <a:pPr algn="l"/>
            <a:r>
              <a:rPr sz="2800" b="1" dirty="0">
                <a:solidFill>
                  <a:srgbClr val="FFFFFF"/>
                </a:solidFill>
                <a:latin typeface="Aptos Display"/>
              </a:rPr>
              <a:t>Why EHR data is powerful - and difficult</a:t>
            </a:r>
          </a:p>
        </p:txBody>
      </p:sp>
      <p:sp>
        <p:nvSpPr>
          <p:cNvPr id="4" name="Rectangle 3"/>
          <p:cNvSpPr/>
          <p:nvPr/>
        </p:nvSpPr>
        <p:spPr>
          <a:xfrm>
            <a:off x="731520" y="1737360"/>
            <a:ext cx="109728" cy="100584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783080"/>
            <a:ext cx="1828800" cy="480131"/>
          </a:xfrm>
          <a:prstGeom prst="rect">
            <a:avLst/>
          </a:prstGeom>
          <a:noFill/>
        </p:spPr>
        <p:txBody>
          <a:bodyPr wrap="square" lIns="54864" tIns="54864" rIns="54864" bIns="54864" anchor="t">
            <a:spAutoFit/>
          </a:bodyPr>
          <a:lstStyle/>
          <a:p>
            <a:pPr algn="l"/>
            <a:r>
              <a:rPr sz="2400" b="1" dirty="0">
                <a:solidFill>
                  <a:srgbClr val="FFFFFF"/>
                </a:solidFill>
                <a:latin typeface="Aptos Display"/>
              </a:rPr>
              <a:t>Scale</a:t>
            </a:r>
            <a:endParaRPr sz="2000" b="1" dirty="0">
              <a:solidFill>
                <a:srgbClr val="FFFFFF"/>
              </a:solidFill>
              <a:latin typeface="Aptos Display"/>
            </a:endParaRPr>
          </a:p>
        </p:txBody>
      </p:sp>
      <p:sp>
        <p:nvSpPr>
          <p:cNvPr id="6" name="TextBox 5"/>
          <p:cNvSpPr txBox="1"/>
          <p:nvPr/>
        </p:nvSpPr>
        <p:spPr>
          <a:xfrm>
            <a:off x="1051560" y="2212848"/>
            <a:ext cx="4434840" cy="603242"/>
          </a:xfrm>
          <a:prstGeom prst="rect">
            <a:avLst/>
          </a:prstGeom>
          <a:noFill/>
        </p:spPr>
        <p:txBody>
          <a:bodyPr wrap="square" lIns="54864" tIns="54864" rIns="54864" bIns="54864" anchor="t">
            <a:spAutoFit/>
          </a:bodyPr>
          <a:lstStyle/>
          <a:p>
            <a:pPr algn="l"/>
            <a:r>
              <a:rPr sz="1600" b="0" dirty="0">
                <a:solidFill>
                  <a:srgbClr val="E4EBEA"/>
                </a:solidFill>
                <a:latin typeface="Aptos"/>
              </a:rPr>
              <a:t>Many encounters and measurements make patterns visible.</a:t>
            </a:r>
          </a:p>
        </p:txBody>
      </p:sp>
      <p:sp>
        <p:nvSpPr>
          <p:cNvPr id="7" name="Rectangle 6"/>
          <p:cNvSpPr/>
          <p:nvPr/>
        </p:nvSpPr>
        <p:spPr>
          <a:xfrm>
            <a:off x="6217920" y="1737360"/>
            <a:ext cx="109728" cy="1005840"/>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7959" y="1783080"/>
            <a:ext cx="1828800" cy="480131"/>
          </a:xfrm>
          <a:prstGeom prst="rect">
            <a:avLst/>
          </a:prstGeom>
          <a:noFill/>
        </p:spPr>
        <p:txBody>
          <a:bodyPr wrap="square" lIns="54864" tIns="54864" rIns="54864" bIns="54864" anchor="t">
            <a:spAutoFit/>
          </a:bodyPr>
          <a:lstStyle/>
          <a:p>
            <a:pPr algn="l"/>
            <a:r>
              <a:rPr sz="2400" b="1" dirty="0">
                <a:solidFill>
                  <a:srgbClr val="FFFFFF"/>
                </a:solidFill>
                <a:latin typeface="Aptos Display"/>
              </a:rPr>
              <a:t>Realism</a:t>
            </a:r>
          </a:p>
        </p:txBody>
      </p:sp>
      <p:sp>
        <p:nvSpPr>
          <p:cNvPr id="9" name="TextBox 8"/>
          <p:cNvSpPr txBox="1"/>
          <p:nvPr/>
        </p:nvSpPr>
        <p:spPr>
          <a:xfrm>
            <a:off x="6537959" y="2212848"/>
            <a:ext cx="4434840" cy="603242"/>
          </a:xfrm>
          <a:prstGeom prst="rect">
            <a:avLst/>
          </a:prstGeom>
          <a:noFill/>
        </p:spPr>
        <p:txBody>
          <a:bodyPr wrap="square" lIns="54864" tIns="54864" rIns="54864" bIns="54864" anchor="t">
            <a:spAutoFit/>
          </a:bodyPr>
          <a:lstStyle/>
          <a:p>
            <a:pPr algn="l"/>
            <a:r>
              <a:rPr sz="1600" b="0" dirty="0">
                <a:solidFill>
                  <a:srgbClr val="E4EBEA"/>
                </a:solidFill>
                <a:latin typeface="Aptos"/>
              </a:rPr>
              <a:t>Data reflects actual workflows, missingness, and operational choices.</a:t>
            </a:r>
          </a:p>
        </p:txBody>
      </p:sp>
      <p:sp>
        <p:nvSpPr>
          <p:cNvPr id="10" name="Rectangle 9"/>
          <p:cNvSpPr/>
          <p:nvPr/>
        </p:nvSpPr>
        <p:spPr>
          <a:xfrm>
            <a:off x="731520" y="3703320"/>
            <a:ext cx="109728" cy="1005840"/>
          </a:xfrm>
          <a:prstGeom prst="rect">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3749039"/>
            <a:ext cx="1828800" cy="480131"/>
          </a:xfrm>
          <a:prstGeom prst="rect">
            <a:avLst/>
          </a:prstGeom>
          <a:noFill/>
        </p:spPr>
        <p:txBody>
          <a:bodyPr wrap="square" lIns="54864" tIns="54864" rIns="54864" bIns="54864" anchor="t">
            <a:spAutoFit/>
          </a:bodyPr>
          <a:lstStyle/>
          <a:p>
            <a:pPr algn="l"/>
            <a:r>
              <a:rPr sz="2400" b="1" dirty="0">
                <a:solidFill>
                  <a:srgbClr val="FFFFFF"/>
                </a:solidFill>
                <a:latin typeface="Aptos Display"/>
              </a:rPr>
              <a:t>Timing</a:t>
            </a:r>
            <a:endParaRPr sz="2000" b="1" dirty="0">
              <a:solidFill>
                <a:srgbClr val="FFFFFF"/>
              </a:solidFill>
              <a:latin typeface="Aptos Display"/>
            </a:endParaRPr>
          </a:p>
        </p:txBody>
      </p:sp>
      <p:sp>
        <p:nvSpPr>
          <p:cNvPr id="12" name="TextBox 11"/>
          <p:cNvSpPr txBox="1"/>
          <p:nvPr/>
        </p:nvSpPr>
        <p:spPr>
          <a:xfrm>
            <a:off x="1051560" y="4178808"/>
            <a:ext cx="4434840" cy="603242"/>
          </a:xfrm>
          <a:prstGeom prst="rect">
            <a:avLst/>
          </a:prstGeom>
          <a:noFill/>
        </p:spPr>
        <p:txBody>
          <a:bodyPr wrap="square" lIns="54864" tIns="54864" rIns="54864" bIns="54864" anchor="t">
            <a:spAutoFit/>
          </a:bodyPr>
          <a:lstStyle/>
          <a:p>
            <a:pPr algn="l"/>
            <a:r>
              <a:rPr sz="1600" b="0" dirty="0">
                <a:solidFill>
                  <a:srgbClr val="E4EBEA"/>
                </a:solidFill>
                <a:latin typeface="Aptos"/>
              </a:rPr>
              <a:t>The same value can be valid for description but invalid for triage prediction.</a:t>
            </a:r>
          </a:p>
        </p:txBody>
      </p:sp>
      <p:sp>
        <p:nvSpPr>
          <p:cNvPr id="13" name="Rectangle 12"/>
          <p:cNvSpPr/>
          <p:nvPr/>
        </p:nvSpPr>
        <p:spPr>
          <a:xfrm>
            <a:off x="6217920" y="3703320"/>
            <a:ext cx="109728" cy="1005840"/>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7958" y="3749039"/>
            <a:ext cx="2057401" cy="480131"/>
          </a:xfrm>
          <a:prstGeom prst="rect">
            <a:avLst/>
          </a:prstGeom>
          <a:noFill/>
        </p:spPr>
        <p:txBody>
          <a:bodyPr wrap="square" lIns="54864" tIns="54864" rIns="54864" bIns="54864" anchor="t">
            <a:spAutoFit/>
          </a:bodyPr>
          <a:lstStyle/>
          <a:p>
            <a:pPr algn="l"/>
            <a:r>
              <a:rPr sz="2400" b="1" dirty="0">
                <a:solidFill>
                  <a:srgbClr val="FFFFFF"/>
                </a:solidFill>
                <a:latin typeface="Aptos Display"/>
              </a:rPr>
              <a:t>Responsibility</a:t>
            </a:r>
          </a:p>
        </p:txBody>
      </p:sp>
      <p:sp>
        <p:nvSpPr>
          <p:cNvPr id="15" name="TextBox 14"/>
          <p:cNvSpPr txBox="1"/>
          <p:nvPr/>
        </p:nvSpPr>
        <p:spPr>
          <a:xfrm>
            <a:off x="6537959" y="4178808"/>
            <a:ext cx="4434840" cy="603242"/>
          </a:xfrm>
          <a:prstGeom prst="rect">
            <a:avLst/>
          </a:prstGeom>
          <a:noFill/>
        </p:spPr>
        <p:txBody>
          <a:bodyPr wrap="square" lIns="54864" tIns="54864" rIns="54864" bIns="54864" anchor="t">
            <a:spAutoFit/>
          </a:bodyPr>
          <a:lstStyle/>
          <a:p>
            <a:pPr algn="l"/>
            <a:r>
              <a:rPr sz="1600" b="0" dirty="0">
                <a:solidFill>
                  <a:srgbClr val="E4EBEA"/>
                </a:solidFill>
                <a:latin typeface="Aptos"/>
              </a:rPr>
              <a:t>Privacy, bias, leakage, and clinical interpretation stay in scope.</a:t>
            </a:r>
          </a:p>
        </p:txBody>
      </p:sp>
      <p:sp>
        <p:nvSpPr>
          <p:cNvPr id="16" name="TextBox 15"/>
          <p:cNvSpPr txBox="1"/>
          <p:nvPr/>
        </p:nvSpPr>
        <p:spPr>
          <a:xfrm>
            <a:off x="731520" y="5897880"/>
            <a:ext cx="9784080" cy="418576"/>
          </a:xfrm>
          <a:prstGeom prst="rect">
            <a:avLst/>
          </a:prstGeom>
          <a:noFill/>
        </p:spPr>
        <p:txBody>
          <a:bodyPr wrap="square" lIns="54864" tIns="54864" rIns="54864" bIns="54864" anchor="t">
            <a:spAutoFit/>
          </a:bodyPr>
          <a:lstStyle/>
          <a:p>
            <a:pPr algn="l"/>
            <a:r>
              <a:rPr sz="2000" b="1" dirty="0">
                <a:solidFill>
                  <a:srgbClr val="E9C46A"/>
                </a:solidFill>
                <a:latin typeface="Aptos"/>
              </a:rPr>
              <a:t>The data is valuable because it is close to care. That is also why definitions matter.</a:t>
            </a:r>
          </a:p>
        </p:txBody>
      </p:sp>
      <p:sp>
        <p:nvSpPr>
          <p:cNvPr id="18" name="Rectangle 17">
            <a:extLst>
              <a:ext uri="{FF2B5EF4-FFF2-40B4-BE49-F238E27FC236}">
                <a16:creationId xmlns:a16="http://schemas.microsoft.com/office/drawing/2014/main" id="{09A4F9B3-E55A-9818-5860-7BFDE45617FC}"/>
              </a:ext>
            </a:extLst>
          </p:cNvPr>
          <p:cNvSpPr/>
          <p:nvPr/>
        </p:nvSpPr>
        <p:spPr>
          <a:xfrm>
            <a:off x="731520" y="1737360"/>
            <a:ext cx="4922522" cy="113140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
        <p:nvSpPr>
          <p:cNvPr id="20" name="Rectangle 19">
            <a:extLst>
              <a:ext uri="{FF2B5EF4-FFF2-40B4-BE49-F238E27FC236}">
                <a16:creationId xmlns:a16="http://schemas.microsoft.com/office/drawing/2014/main" id="{AE0013FD-70AB-BEE3-42BA-01549CE5C7F8}"/>
              </a:ext>
            </a:extLst>
          </p:cNvPr>
          <p:cNvSpPr/>
          <p:nvPr/>
        </p:nvSpPr>
        <p:spPr>
          <a:xfrm>
            <a:off x="701038" y="3692055"/>
            <a:ext cx="4922522" cy="113140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
        <p:nvSpPr>
          <p:cNvPr id="22" name="Rectangle 21">
            <a:extLst>
              <a:ext uri="{FF2B5EF4-FFF2-40B4-BE49-F238E27FC236}">
                <a16:creationId xmlns:a16="http://schemas.microsoft.com/office/drawing/2014/main" id="{3096AC85-B338-DC7B-DA5E-302B827F2AF8}"/>
              </a:ext>
            </a:extLst>
          </p:cNvPr>
          <p:cNvSpPr/>
          <p:nvPr/>
        </p:nvSpPr>
        <p:spPr>
          <a:xfrm>
            <a:off x="6217918" y="1737360"/>
            <a:ext cx="4922522" cy="113140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
        <p:nvSpPr>
          <p:cNvPr id="25" name="Rectangle 24">
            <a:extLst>
              <a:ext uri="{FF2B5EF4-FFF2-40B4-BE49-F238E27FC236}">
                <a16:creationId xmlns:a16="http://schemas.microsoft.com/office/drawing/2014/main" id="{DDCB6600-6BDB-DDB8-41A9-FBFF55A9ED74}"/>
              </a:ext>
            </a:extLst>
          </p:cNvPr>
          <p:cNvSpPr/>
          <p:nvPr/>
        </p:nvSpPr>
        <p:spPr>
          <a:xfrm>
            <a:off x="6217918" y="3703320"/>
            <a:ext cx="4922522" cy="113140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206240" cy="228600"/>
          </a:xfrm>
          <a:prstGeom prst="rect">
            <a:avLst/>
          </a:prstGeom>
          <a:noFill/>
        </p:spPr>
        <p:txBody>
          <a:bodyPr wrap="square" lIns="54864" tIns="54864" rIns="54864" bIns="54864" anchor="t">
            <a:spAutoFit/>
          </a:bodyPr>
          <a:lstStyle/>
          <a:p>
            <a:pPr algn="l"/>
            <a:r>
              <a:rPr sz="1000" b="1">
                <a:solidFill>
                  <a:srgbClr val="0F766E"/>
                </a:solidFill>
                <a:latin typeface="Aptos"/>
              </a:rPr>
              <a:t>01  /  CONTEXT</a:t>
            </a:r>
          </a:p>
        </p:txBody>
      </p:sp>
      <p:sp>
        <p:nvSpPr>
          <p:cNvPr id="3" name="TextBox 2"/>
          <p:cNvSpPr txBox="1"/>
          <p:nvPr/>
        </p:nvSpPr>
        <p:spPr>
          <a:xfrm>
            <a:off x="548640" y="566928"/>
            <a:ext cx="10424160" cy="541687"/>
          </a:xfrm>
          <a:prstGeom prst="rect">
            <a:avLst/>
          </a:prstGeom>
          <a:noFill/>
        </p:spPr>
        <p:txBody>
          <a:bodyPr wrap="square" lIns="54864" tIns="54864" rIns="54864" bIns="54864" anchor="t">
            <a:spAutoFit/>
          </a:bodyPr>
          <a:lstStyle/>
          <a:p>
            <a:pPr algn="l"/>
            <a:r>
              <a:rPr sz="2800" b="1" dirty="0">
                <a:solidFill>
                  <a:srgbClr val="0B1F33"/>
                </a:solidFill>
                <a:latin typeface="Aptos Display"/>
              </a:rPr>
              <a:t>MIMIC-IV-ED: a clinical data resource</a:t>
            </a:r>
          </a:p>
        </p:txBody>
      </p:sp>
      <p:sp>
        <p:nvSpPr>
          <p:cNvPr id="4" name="TextBox 3"/>
          <p:cNvSpPr txBox="1"/>
          <p:nvPr/>
        </p:nvSpPr>
        <p:spPr>
          <a:xfrm>
            <a:off x="10652760" y="310896"/>
            <a:ext cx="914400" cy="201168"/>
          </a:xfrm>
          <a:prstGeom prst="rect">
            <a:avLst/>
          </a:prstGeom>
          <a:noFill/>
        </p:spPr>
        <p:txBody>
          <a:bodyPr wrap="square" lIns="54864" tIns="54864" rIns="54864" bIns="54864" anchor="t">
            <a:spAutoFit/>
          </a:bodyPr>
          <a:lstStyle/>
          <a:p>
            <a:pPr algn="r"/>
            <a:r>
              <a:rPr sz="1000" b="1">
                <a:solidFill>
                  <a:srgbClr val="5B6971"/>
                </a:solidFill>
                <a:latin typeface="Aptos"/>
              </a:rPr>
              <a:t>M1  /  05</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72768"/>
            <a:ext cx="6675120" cy="849463"/>
          </a:xfrm>
          <a:prstGeom prst="rect">
            <a:avLst/>
          </a:prstGeom>
          <a:noFill/>
        </p:spPr>
        <p:txBody>
          <a:bodyPr wrap="square" lIns="54864" tIns="54864" rIns="54864" bIns="54864" anchor="t">
            <a:spAutoFit/>
          </a:bodyPr>
          <a:lstStyle/>
          <a:p>
            <a:pPr algn="l"/>
            <a:r>
              <a:rPr sz="2400" b="1" dirty="0">
                <a:solidFill>
                  <a:srgbClr val="0B1F33"/>
                </a:solidFill>
                <a:latin typeface="Aptos Display"/>
              </a:rPr>
              <a:t>MIMIC is a large, de-identified database designed for reproducible clinical research and education.</a:t>
            </a:r>
          </a:p>
        </p:txBody>
      </p:sp>
      <p:sp>
        <p:nvSpPr>
          <p:cNvPr id="7" name="TextBox 6"/>
          <p:cNvSpPr txBox="1"/>
          <p:nvPr/>
        </p:nvSpPr>
        <p:spPr>
          <a:xfrm>
            <a:off x="822960" y="2514600"/>
            <a:ext cx="2377440" cy="541687"/>
          </a:xfrm>
          <a:prstGeom prst="rect">
            <a:avLst/>
          </a:prstGeom>
          <a:noFill/>
        </p:spPr>
        <p:txBody>
          <a:bodyPr wrap="square" lIns="54864" tIns="54864" rIns="54864" bIns="54864" anchor="t">
            <a:spAutoFit/>
          </a:bodyPr>
          <a:lstStyle/>
          <a:p>
            <a:pPr algn="l"/>
            <a:r>
              <a:rPr sz="2800" b="1" dirty="0">
                <a:solidFill>
                  <a:srgbClr val="E76F51"/>
                </a:solidFill>
                <a:latin typeface="Aptos Display"/>
              </a:rPr>
              <a:t>ED</a:t>
            </a:r>
          </a:p>
        </p:txBody>
      </p:sp>
      <p:sp>
        <p:nvSpPr>
          <p:cNvPr id="8" name="TextBox 7"/>
          <p:cNvSpPr txBox="1"/>
          <p:nvPr/>
        </p:nvSpPr>
        <p:spPr>
          <a:xfrm>
            <a:off x="822960" y="2990088"/>
            <a:ext cx="2377440" cy="541687"/>
          </a:xfrm>
          <a:prstGeom prst="rect">
            <a:avLst/>
          </a:prstGeom>
          <a:noFill/>
        </p:spPr>
        <p:txBody>
          <a:bodyPr wrap="square" lIns="54864" tIns="54864" rIns="54864" bIns="54864" anchor="t">
            <a:spAutoFit/>
          </a:bodyPr>
          <a:lstStyle/>
          <a:p>
            <a:pPr algn="l"/>
            <a:r>
              <a:rPr sz="1400" b="0" dirty="0">
                <a:solidFill>
                  <a:srgbClr val="5B6971"/>
                </a:solidFill>
                <a:latin typeface="Aptos"/>
              </a:rPr>
              <a:t>emergency-department encounters</a:t>
            </a:r>
          </a:p>
        </p:txBody>
      </p:sp>
      <p:sp>
        <p:nvSpPr>
          <p:cNvPr id="9" name="TextBox 8"/>
          <p:cNvSpPr txBox="1"/>
          <p:nvPr/>
        </p:nvSpPr>
        <p:spPr>
          <a:xfrm>
            <a:off x="3246120" y="2514600"/>
            <a:ext cx="2377440" cy="541687"/>
          </a:xfrm>
          <a:prstGeom prst="rect">
            <a:avLst/>
          </a:prstGeom>
          <a:noFill/>
        </p:spPr>
        <p:txBody>
          <a:bodyPr wrap="square" lIns="54864" tIns="54864" rIns="54864" bIns="54864" anchor="t">
            <a:spAutoFit/>
          </a:bodyPr>
          <a:lstStyle/>
          <a:p>
            <a:pPr algn="l"/>
            <a:r>
              <a:rPr sz="2800" b="1" dirty="0">
                <a:solidFill>
                  <a:srgbClr val="0F766E"/>
                </a:solidFill>
                <a:latin typeface="Aptos Display"/>
              </a:rPr>
              <a:t>IV</a:t>
            </a:r>
          </a:p>
        </p:txBody>
      </p:sp>
      <p:sp>
        <p:nvSpPr>
          <p:cNvPr id="10" name="TextBox 9"/>
          <p:cNvSpPr txBox="1"/>
          <p:nvPr/>
        </p:nvSpPr>
        <p:spPr>
          <a:xfrm>
            <a:off x="3246120" y="2990088"/>
            <a:ext cx="2377440" cy="326243"/>
          </a:xfrm>
          <a:prstGeom prst="rect">
            <a:avLst/>
          </a:prstGeom>
          <a:noFill/>
        </p:spPr>
        <p:txBody>
          <a:bodyPr wrap="square" lIns="54864" tIns="54864" rIns="54864" bIns="54864" anchor="t">
            <a:spAutoFit/>
          </a:bodyPr>
          <a:lstStyle/>
          <a:p>
            <a:pPr algn="l"/>
            <a:r>
              <a:rPr sz="1400" b="0" dirty="0">
                <a:solidFill>
                  <a:srgbClr val="5B6971"/>
                </a:solidFill>
                <a:latin typeface="Aptos"/>
              </a:rPr>
              <a:t>major MIMIC data release</a:t>
            </a:r>
          </a:p>
        </p:txBody>
      </p:sp>
      <p:sp>
        <p:nvSpPr>
          <p:cNvPr id="11" name="TextBox 10"/>
          <p:cNvSpPr txBox="1"/>
          <p:nvPr/>
        </p:nvSpPr>
        <p:spPr>
          <a:xfrm>
            <a:off x="5669280" y="2514600"/>
            <a:ext cx="2377440" cy="541687"/>
          </a:xfrm>
          <a:prstGeom prst="rect">
            <a:avLst/>
          </a:prstGeom>
          <a:noFill/>
        </p:spPr>
        <p:txBody>
          <a:bodyPr wrap="square" lIns="54864" tIns="54864" rIns="54864" bIns="54864" anchor="t">
            <a:spAutoFit/>
          </a:bodyPr>
          <a:lstStyle/>
          <a:p>
            <a:pPr algn="l"/>
            <a:r>
              <a:rPr sz="2800" b="1" dirty="0">
                <a:solidFill>
                  <a:srgbClr val="599DB5"/>
                </a:solidFill>
                <a:latin typeface="Aptos Display"/>
              </a:rPr>
              <a:t>ED stay</a:t>
            </a:r>
          </a:p>
        </p:txBody>
      </p:sp>
      <p:sp>
        <p:nvSpPr>
          <p:cNvPr id="12" name="TextBox 11"/>
          <p:cNvSpPr txBox="1"/>
          <p:nvPr/>
        </p:nvSpPr>
        <p:spPr>
          <a:xfrm>
            <a:off x="5669280" y="2990088"/>
            <a:ext cx="2377440" cy="326243"/>
          </a:xfrm>
          <a:prstGeom prst="rect">
            <a:avLst/>
          </a:prstGeom>
          <a:noFill/>
        </p:spPr>
        <p:txBody>
          <a:bodyPr wrap="square" lIns="54864" tIns="54864" rIns="54864" bIns="54864" anchor="t">
            <a:spAutoFit/>
          </a:bodyPr>
          <a:lstStyle/>
          <a:p>
            <a:pPr algn="l"/>
            <a:r>
              <a:rPr sz="1400" b="0" dirty="0">
                <a:solidFill>
                  <a:srgbClr val="5B6971"/>
                </a:solidFill>
                <a:latin typeface="Aptos"/>
              </a:rPr>
              <a:t>the row grain used in M1</a:t>
            </a:r>
          </a:p>
        </p:txBody>
      </p:sp>
      <p:sp>
        <p:nvSpPr>
          <p:cNvPr id="13" name="Rounded Rectangle 12"/>
          <p:cNvSpPr/>
          <p:nvPr/>
        </p:nvSpPr>
        <p:spPr>
          <a:xfrm>
            <a:off x="8366760" y="1645920"/>
            <a:ext cx="3017520" cy="388620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799" y="1993392"/>
            <a:ext cx="2576945" cy="480131"/>
          </a:xfrm>
          <a:prstGeom prst="rect">
            <a:avLst/>
          </a:prstGeom>
          <a:noFill/>
        </p:spPr>
        <p:txBody>
          <a:bodyPr wrap="square" lIns="54864" tIns="54864" rIns="54864" bIns="54864" anchor="t">
            <a:spAutoFit/>
          </a:bodyPr>
          <a:lstStyle/>
          <a:p>
            <a:pPr algn="l"/>
            <a:r>
              <a:rPr lang="en-US" sz="2400" b="1" dirty="0">
                <a:solidFill>
                  <a:srgbClr val="0F766E"/>
                </a:solidFill>
                <a:latin typeface="Aptos Display"/>
              </a:rPr>
              <a:t>M1</a:t>
            </a:r>
            <a:r>
              <a:rPr sz="2400" b="1" dirty="0">
                <a:solidFill>
                  <a:srgbClr val="0F766E"/>
                </a:solidFill>
                <a:latin typeface="Aptos Display"/>
              </a:rPr>
              <a:t> notebook</a:t>
            </a:r>
          </a:p>
        </p:txBody>
      </p:sp>
      <p:sp>
        <p:nvSpPr>
          <p:cNvPr id="15" name="Oval 14"/>
          <p:cNvSpPr/>
          <p:nvPr/>
        </p:nvSpPr>
        <p:spPr>
          <a:xfrm>
            <a:off x="8686800" y="2734056"/>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51392" y="2651760"/>
            <a:ext cx="2075688" cy="541687"/>
          </a:xfrm>
          <a:prstGeom prst="rect">
            <a:avLst/>
          </a:prstGeom>
          <a:noFill/>
        </p:spPr>
        <p:txBody>
          <a:bodyPr wrap="square" lIns="54864" tIns="54864" rIns="54864" bIns="54864" anchor="t">
            <a:spAutoFit/>
          </a:bodyPr>
          <a:lstStyle/>
          <a:p>
            <a:pPr algn="l"/>
            <a:r>
              <a:rPr sz="1400" b="0" dirty="0">
                <a:solidFill>
                  <a:srgbClr val="23303A"/>
                </a:solidFill>
                <a:latin typeface="Aptos"/>
              </a:rPr>
              <a:t>Use</a:t>
            </a:r>
            <a:r>
              <a:rPr lang="en-US" sz="1400" b="0" dirty="0">
                <a:solidFill>
                  <a:srgbClr val="23303A"/>
                </a:solidFill>
                <a:latin typeface="Aptos"/>
              </a:rPr>
              <a:t>s</a:t>
            </a:r>
            <a:r>
              <a:rPr sz="1400" b="0" dirty="0">
                <a:solidFill>
                  <a:srgbClr val="23303A"/>
                </a:solidFill>
                <a:latin typeface="Aptos"/>
              </a:rPr>
              <a:t> the extracted teaching table.</a:t>
            </a:r>
          </a:p>
        </p:txBody>
      </p:sp>
      <p:sp>
        <p:nvSpPr>
          <p:cNvPr id="17" name="Oval 16"/>
          <p:cNvSpPr/>
          <p:nvPr/>
        </p:nvSpPr>
        <p:spPr>
          <a:xfrm>
            <a:off x="8686800" y="3500522"/>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51392" y="3226616"/>
            <a:ext cx="2075688" cy="541687"/>
          </a:xfrm>
          <a:prstGeom prst="rect">
            <a:avLst/>
          </a:prstGeom>
          <a:noFill/>
        </p:spPr>
        <p:txBody>
          <a:bodyPr wrap="square" lIns="54864" tIns="54864" rIns="54864" bIns="54864" anchor="t">
            <a:spAutoFit/>
          </a:bodyPr>
          <a:lstStyle/>
          <a:p>
            <a:pPr algn="l"/>
            <a:r>
              <a:rPr sz="1400" b="0" dirty="0">
                <a:solidFill>
                  <a:srgbClr val="23303A"/>
                </a:solidFill>
                <a:latin typeface="Aptos"/>
              </a:rPr>
              <a:t>Recompute</a:t>
            </a:r>
            <a:r>
              <a:rPr lang="en-US" sz="1400" b="0" dirty="0">
                <a:solidFill>
                  <a:srgbClr val="23303A"/>
                </a:solidFill>
                <a:latin typeface="Aptos"/>
              </a:rPr>
              <a:t>s</a:t>
            </a:r>
            <a:r>
              <a:rPr sz="1400" b="0" dirty="0">
                <a:solidFill>
                  <a:srgbClr val="23303A"/>
                </a:solidFill>
                <a:latin typeface="Aptos"/>
              </a:rPr>
              <a:t> claims from the local</a:t>
            </a:r>
            <a:r>
              <a:rPr lang="en-US" sz="1400" b="0" dirty="0">
                <a:solidFill>
                  <a:srgbClr val="23303A"/>
                </a:solidFill>
                <a:latin typeface="Aptos"/>
              </a:rPr>
              <a:t> generated</a:t>
            </a:r>
            <a:r>
              <a:rPr sz="1400" b="0" dirty="0">
                <a:solidFill>
                  <a:srgbClr val="23303A"/>
                </a:solidFill>
                <a:latin typeface="Aptos"/>
              </a:rPr>
              <a:t> CSV.</a:t>
            </a:r>
          </a:p>
        </p:txBody>
      </p:sp>
      <p:sp>
        <p:nvSpPr>
          <p:cNvPr id="19" name="Oval 18"/>
          <p:cNvSpPr/>
          <p:nvPr/>
        </p:nvSpPr>
        <p:spPr>
          <a:xfrm>
            <a:off x="8686800" y="4096954"/>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51392" y="3795578"/>
            <a:ext cx="2075688" cy="757130"/>
          </a:xfrm>
          <a:prstGeom prst="rect">
            <a:avLst/>
          </a:prstGeom>
          <a:noFill/>
        </p:spPr>
        <p:txBody>
          <a:bodyPr wrap="square" lIns="54864" tIns="54864" rIns="54864" bIns="54864" anchor="t">
            <a:spAutoFit/>
          </a:bodyPr>
          <a:lstStyle/>
          <a:p>
            <a:pPr algn="l"/>
            <a:r>
              <a:rPr sz="1400" b="0" dirty="0">
                <a:solidFill>
                  <a:srgbClr val="23303A"/>
                </a:solidFill>
                <a:latin typeface="Aptos"/>
              </a:rPr>
              <a:t>Treat</a:t>
            </a:r>
            <a:r>
              <a:rPr lang="en-US" sz="1400" b="0" dirty="0">
                <a:solidFill>
                  <a:srgbClr val="23303A"/>
                </a:solidFill>
                <a:latin typeface="Aptos"/>
              </a:rPr>
              <a:t>s</a:t>
            </a:r>
            <a:r>
              <a:rPr sz="1400" b="0" dirty="0">
                <a:solidFill>
                  <a:srgbClr val="23303A"/>
                </a:solidFill>
                <a:latin typeface="Aptos"/>
              </a:rPr>
              <a:t> the table as a research artifact, not a clinical tool.</a:t>
            </a:r>
          </a:p>
        </p:txBody>
      </p:sp>
      <p:sp>
        <p:nvSpPr>
          <p:cNvPr id="21" name="Oval 20"/>
          <p:cNvSpPr/>
          <p:nvPr/>
        </p:nvSpPr>
        <p:spPr>
          <a:xfrm>
            <a:off x="8686383" y="4728916"/>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51392" y="4541650"/>
            <a:ext cx="2075688" cy="541687"/>
          </a:xfrm>
          <a:prstGeom prst="rect">
            <a:avLst/>
          </a:prstGeom>
          <a:noFill/>
        </p:spPr>
        <p:txBody>
          <a:bodyPr wrap="square" lIns="54864" tIns="54864" rIns="54864" bIns="54864" anchor="t">
            <a:spAutoFit/>
          </a:bodyPr>
          <a:lstStyle/>
          <a:p>
            <a:pPr algn="l"/>
            <a:r>
              <a:rPr sz="1400" b="0" dirty="0">
                <a:solidFill>
                  <a:srgbClr val="23303A"/>
                </a:solidFill>
                <a:latin typeface="Aptos"/>
              </a:rPr>
              <a:t>Keep</a:t>
            </a:r>
            <a:r>
              <a:rPr lang="en-US" sz="1400" b="0" dirty="0">
                <a:solidFill>
                  <a:srgbClr val="23303A"/>
                </a:solidFill>
                <a:latin typeface="Aptos"/>
              </a:rPr>
              <a:t>s</a:t>
            </a:r>
            <a:r>
              <a:rPr sz="1400" b="0" dirty="0">
                <a:solidFill>
                  <a:srgbClr val="23303A"/>
                </a:solidFill>
                <a:latin typeface="Aptos"/>
              </a:rPr>
              <a:t> provenance and limitations visible.</a:t>
            </a:r>
          </a:p>
        </p:txBody>
      </p:sp>
      <p:sp>
        <p:nvSpPr>
          <p:cNvPr id="23" name="TextBox 22"/>
          <p:cNvSpPr txBox="1"/>
          <p:nvPr/>
        </p:nvSpPr>
        <p:spPr>
          <a:xfrm>
            <a:off x="731520" y="4604697"/>
            <a:ext cx="6949440" cy="726353"/>
          </a:xfrm>
          <a:prstGeom prst="rect">
            <a:avLst/>
          </a:prstGeom>
          <a:noFill/>
        </p:spPr>
        <p:txBody>
          <a:bodyPr wrap="square" lIns="54864" tIns="54864" rIns="54864" bIns="54864" anchor="t">
            <a:spAutoFit/>
          </a:bodyPr>
          <a:lstStyle/>
          <a:p>
            <a:pPr algn="l"/>
            <a:r>
              <a:rPr sz="2000" b="0" dirty="0">
                <a:solidFill>
                  <a:srgbClr val="23303A"/>
                </a:solidFill>
                <a:latin typeface="Aptos"/>
              </a:rPr>
              <a:t>MIMIC context is important, but the notebook's immediate object is the locally extracted master table.</a:t>
            </a:r>
          </a:p>
        </p:txBody>
      </p:sp>
      <p:sp>
        <p:nvSpPr>
          <p:cNvPr id="24" name="Rectangle 23"/>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a:extLst>
              <a:ext uri="{FF2B5EF4-FFF2-40B4-BE49-F238E27FC236}">
                <a16:creationId xmlns:a16="http://schemas.microsoft.com/office/drawing/2014/main" id="{0D928EB0-C203-443C-E672-158698126099}"/>
              </a:ext>
            </a:extLst>
          </p:cNvPr>
          <p:cNvSpPr/>
          <p:nvPr/>
        </p:nvSpPr>
        <p:spPr>
          <a:xfrm>
            <a:off x="784859" y="2582284"/>
            <a:ext cx="2263141" cy="949491"/>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
        <p:nvSpPr>
          <p:cNvPr id="29" name="Rectangle 28">
            <a:extLst>
              <a:ext uri="{FF2B5EF4-FFF2-40B4-BE49-F238E27FC236}">
                <a16:creationId xmlns:a16="http://schemas.microsoft.com/office/drawing/2014/main" id="{5E659D86-130A-756C-D26F-817C1AEFE9D1}"/>
              </a:ext>
            </a:extLst>
          </p:cNvPr>
          <p:cNvSpPr/>
          <p:nvPr/>
        </p:nvSpPr>
        <p:spPr>
          <a:xfrm>
            <a:off x="3163824" y="2592179"/>
            <a:ext cx="2263141" cy="949491"/>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
        <p:nvSpPr>
          <p:cNvPr id="31" name="Rectangle 30">
            <a:extLst>
              <a:ext uri="{FF2B5EF4-FFF2-40B4-BE49-F238E27FC236}">
                <a16:creationId xmlns:a16="http://schemas.microsoft.com/office/drawing/2014/main" id="{116841DF-999F-6BA9-64EC-B3E948743E45}"/>
              </a:ext>
            </a:extLst>
          </p:cNvPr>
          <p:cNvSpPr/>
          <p:nvPr/>
        </p:nvSpPr>
        <p:spPr>
          <a:xfrm>
            <a:off x="5574515" y="2582284"/>
            <a:ext cx="2263141" cy="949491"/>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206240" cy="228600"/>
          </a:xfrm>
          <a:prstGeom prst="rect">
            <a:avLst/>
          </a:prstGeom>
          <a:noFill/>
        </p:spPr>
        <p:txBody>
          <a:bodyPr wrap="square" lIns="54864" tIns="54864" rIns="54864" bIns="54864" anchor="t">
            <a:spAutoFit/>
          </a:bodyPr>
          <a:lstStyle/>
          <a:p>
            <a:pPr algn="l"/>
            <a:r>
              <a:rPr sz="1000" b="1" dirty="0">
                <a:solidFill>
                  <a:srgbClr val="0F766E"/>
                </a:solidFill>
                <a:latin typeface="Aptos"/>
              </a:rPr>
              <a:t>02  /  CONSTRUCTION</a:t>
            </a:r>
          </a:p>
        </p:txBody>
      </p:sp>
      <p:sp>
        <p:nvSpPr>
          <p:cNvPr id="3" name="TextBox 2"/>
          <p:cNvSpPr txBox="1"/>
          <p:nvPr/>
        </p:nvSpPr>
        <p:spPr>
          <a:xfrm>
            <a:off x="548640" y="566928"/>
            <a:ext cx="10424160" cy="541687"/>
          </a:xfrm>
          <a:prstGeom prst="rect">
            <a:avLst/>
          </a:prstGeom>
          <a:noFill/>
        </p:spPr>
        <p:txBody>
          <a:bodyPr wrap="square" lIns="54864" tIns="54864" rIns="54864" bIns="54864" anchor="t">
            <a:spAutoFit/>
          </a:bodyPr>
          <a:lstStyle/>
          <a:p>
            <a:pPr algn="l"/>
            <a:r>
              <a:rPr sz="2800" b="1" dirty="0">
                <a:solidFill>
                  <a:srgbClr val="0B1F33"/>
                </a:solidFill>
                <a:latin typeface="Aptos Display"/>
              </a:rPr>
              <a:t>How the dataset becomes one analysis table</a:t>
            </a:r>
          </a:p>
        </p:txBody>
      </p:sp>
      <p:sp>
        <p:nvSpPr>
          <p:cNvPr id="4" name="TextBox 3"/>
          <p:cNvSpPr txBox="1"/>
          <p:nvPr/>
        </p:nvSpPr>
        <p:spPr>
          <a:xfrm>
            <a:off x="10652760" y="310896"/>
            <a:ext cx="914400" cy="201168"/>
          </a:xfrm>
          <a:prstGeom prst="rect">
            <a:avLst/>
          </a:prstGeom>
          <a:noFill/>
        </p:spPr>
        <p:txBody>
          <a:bodyPr wrap="square" lIns="54864" tIns="54864" rIns="54864" bIns="54864" anchor="t">
            <a:spAutoFit/>
          </a:bodyPr>
          <a:lstStyle/>
          <a:p>
            <a:pPr algn="r"/>
            <a:r>
              <a:rPr sz="1000" b="1">
                <a:solidFill>
                  <a:srgbClr val="5B6971"/>
                </a:solidFill>
                <a:latin typeface="Aptos"/>
              </a:rPr>
              <a:t>M1  /  06</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965960"/>
            <a:ext cx="2194560" cy="150876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32104" y="2176272"/>
            <a:ext cx="438912" cy="438912"/>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5479" y="2258685"/>
            <a:ext cx="438912" cy="326243"/>
          </a:xfrm>
          <a:prstGeom prst="rect">
            <a:avLst/>
          </a:prstGeom>
          <a:noFill/>
        </p:spPr>
        <p:txBody>
          <a:bodyPr wrap="square" lIns="54864" tIns="54864" rIns="54864" bIns="54864" anchor="t">
            <a:spAutoFit/>
          </a:bodyPr>
          <a:lstStyle/>
          <a:p>
            <a:pPr algn="ctr"/>
            <a:r>
              <a:rPr sz="1400" b="1" dirty="0">
                <a:solidFill>
                  <a:srgbClr val="FFFFFF"/>
                </a:solidFill>
                <a:latin typeface="Aptos"/>
              </a:rPr>
              <a:t>1</a:t>
            </a:r>
          </a:p>
        </p:txBody>
      </p:sp>
      <p:sp>
        <p:nvSpPr>
          <p:cNvPr id="9" name="TextBox 8"/>
          <p:cNvSpPr txBox="1"/>
          <p:nvPr/>
        </p:nvSpPr>
        <p:spPr>
          <a:xfrm>
            <a:off x="1399032" y="2139696"/>
            <a:ext cx="1280160" cy="664797"/>
          </a:xfrm>
          <a:prstGeom prst="rect">
            <a:avLst/>
          </a:prstGeom>
          <a:noFill/>
        </p:spPr>
        <p:txBody>
          <a:bodyPr wrap="square" lIns="54864" tIns="54864" rIns="54864" bIns="54864" anchor="t">
            <a:spAutoFit/>
          </a:bodyPr>
          <a:lstStyle/>
          <a:p>
            <a:pPr algn="l"/>
            <a:r>
              <a:rPr b="1" dirty="0">
                <a:solidFill>
                  <a:srgbClr val="0B1F33"/>
                </a:solidFill>
                <a:latin typeface="Aptos Display"/>
              </a:rPr>
              <a:t>Source events</a:t>
            </a:r>
          </a:p>
        </p:txBody>
      </p:sp>
      <p:sp>
        <p:nvSpPr>
          <p:cNvPr id="10" name="TextBox 9"/>
          <p:cNvSpPr txBox="1"/>
          <p:nvPr/>
        </p:nvSpPr>
        <p:spPr>
          <a:xfrm>
            <a:off x="868680" y="2743200"/>
            <a:ext cx="1828800" cy="757130"/>
          </a:xfrm>
          <a:prstGeom prst="rect">
            <a:avLst/>
          </a:prstGeom>
          <a:noFill/>
        </p:spPr>
        <p:txBody>
          <a:bodyPr wrap="square" lIns="54864" tIns="54864" rIns="54864" bIns="54864" anchor="t">
            <a:spAutoFit/>
          </a:bodyPr>
          <a:lstStyle/>
          <a:p>
            <a:pPr algn="ctr"/>
            <a:r>
              <a:rPr sz="1400" b="0" dirty="0">
                <a:solidFill>
                  <a:srgbClr val="23303A"/>
                </a:solidFill>
                <a:latin typeface="Aptos"/>
              </a:rPr>
              <a:t>ED, hospital, patient, medication, and outcome records</a:t>
            </a:r>
          </a:p>
        </p:txBody>
      </p:sp>
      <p:cxnSp>
        <p:nvCxnSpPr>
          <p:cNvPr id="11" name="Connector 10"/>
          <p:cNvCxnSpPr/>
          <p:nvPr/>
        </p:nvCxnSpPr>
        <p:spPr>
          <a:xfrm>
            <a:off x="2926080" y="2724912"/>
            <a:ext cx="502920" cy="0"/>
          </a:xfrm>
          <a:prstGeom prst="line">
            <a:avLst/>
          </a:prstGeom>
          <a:ln w="25400">
            <a:solidFill>
              <a:srgbClr val="5B697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520440" y="1965960"/>
            <a:ext cx="2194560" cy="150876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66744" y="2176272"/>
            <a:ext cx="438912" cy="43891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66744" y="2286000"/>
            <a:ext cx="438912" cy="326243"/>
          </a:xfrm>
          <a:prstGeom prst="rect">
            <a:avLst/>
          </a:prstGeom>
          <a:noFill/>
        </p:spPr>
        <p:txBody>
          <a:bodyPr wrap="square" lIns="54864" tIns="54864" rIns="54864" bIns="54864" anchor="t">
            <a:spAutoFit/>
          </a:bodyPr>
          <a:lstStyle/>
          <a:p>
            <a:pPr algn="ctr"/>
            <a:r>
              <a:rPr sz="1400" b="1" dirty="0">
                <a:solidFill>
                  <a:srgbClr val="FFFFFF"/>
                </a:solidFill>
                <a:latin typeface="Aptos"/>
              </a:rPr>
              <a:t>2</a:t>
            </a:r>
            <a:endParaRPr sz="1100" b="1" dirty="0">
              <a:solidFill>
                <a:srgbClr val="FFFFFF"/>
              </a:solidFill>
              <a:latin typeface="Aptos"/>
            </a:endParaRPr>
          </a:p>
        </p:txBody>
      </p:sp>
      <p:sp>
        <p:nvSpPr>
          <p:cNvPr id="15" name="TextBox 14"/>
          <p:cNvSpPr txBox="1"/>
          <p:nvPr/>
        </p:nvSpPr>
        <p:spPr>
          <a:xfrm>
            <a:off x="4178808" y="2222719"/>
            <a:ext cx="1280160" cy="387798"/>
          </a:xfrm>
          <a:prstGeom prst="rect">
            <a:avLst/>
          </a:prstGeom>
          <a:noFill/>
        </p:spPr>
        <p:txBody>
          <a:bodyPr wrap="square" lIns="54864" tIns="54864" rIns="54864" bIns="54864" anchor="t">
            <a:spAutoFit/>
          </a:bodyPr>
          <a:lstStyle/>
          <a:p>
            <a:pPr algn="l"/>
            <a:r>
              <a:rPr b="1" dirty="0">
                <a:solidFill>
                  <a:srgbClr val="0B1F33"/>
                </a:solidFill>
                <a:latin typeface="Aptos Display"/>
              </a:rPr>
              <a:t>Link keys</a:t>
            </a:r>
          </a:p>
        </p:txBody>
      </p:sp>
      <p:sp>
        <p:nvSpPr>
          <p:cNvPr id="16" name="TextBox 15"/>
          <p:cNvSpPr txBox="1"/>
          <p:nvPr/>
        </p:nvSpPr>
        <p:spPr>
          <a:xfrm>
            <a:off x="3703320" y="2743200"/>
            <a:ext cx="1828800" cy="541687"/>
          </a:xfrm>
          <a:prstGeom prst="rect">
            <a:avLst/>
          </a:prstGeom>
          <a:noFill/>
        </p:spPr>
        <p:txBody>
          <a:bodyPr wrap="square" lIns="54864" tIns="54864" rIns="54864" bIns="54864" anchor="t">
            <a:spAutoFit/>
          </a:bodyPr>
          <a:lstStyle/>
          <a:p>
            <a:pPr algn="ctr"/>
            <a:r>
              <a:rPr sz="1400" b="0" dirty="0" err="1">
                <a:solidFill>
                  <a:srgbClr val="23303A"/>
                </a:solidFill>
                <a:latin typeface="Aptos"/>
              </a:rPr>
              <a:t>subject_id</a:t>
            </a:r>
            <a:r>
              <a:rPr sz="1400" b="0" dirty="0">
                <a:solidFill>
                  <a:srgbClr val="23303A"/>
                </a:solidFill>
                <a:latin typeface="Aptos"/>
              </a:rPr>
              <a:t> | </a:t>
            </a:r>
            <a:r>
              <a:rPr sz="1400" b="0" dirty="0" err="1">
                <a:solidFill>
                  <a:srgbClr val="23303A"/>
                </a:solidFill>
                <a:latin typeface="Aptos"/>
              </a:rPr>
              <a:t>hadm_id</a:t>
            </a:r>
            <a:r>
              <a:rPr sz="1400" b="0" dirty="0">
                <a:solidFill>
                  <a:srgbClr val="23303A"/>
                </a:solidFill>
                <a:latin typeface="Aptos"/>
              </a:rPr>
              <a:t> | </a:t>
            </a:r>
            <a:r>
              <a:rPr sz="1400" b="0" dirty="0" err="1">
                <a:solidFill>
                  <a:srgbClr val="23303A"/>
                </a:solidFill>
                <a:latin typeface="Aptos"/>
              </a:rPr>
              <a:t>stay_id</a:t>
            </a:r>
            <a:endParaRPr sz="1400" b="0" dirty="0">
              <a:solidFill>
                <a:srgbClr val="23303A"/>
              </a:solidFill>
              <a:latin typeface="Aptos"/>
            </a:endParaRPr>
          </a:p>
        </p:txBody>
      </p:sp>
      <p:cxnSp>
        <p:nvCxnSpPr>
          <p:cNvPr id="17" name="Connector 16"/>
          <p:cNvCxnSpPr/>
          <p:nvPr/>
        </p:nvCxnSpPr>
        <p:spPr>
          <a:xfrm>
            <a:off x="5760720" y="2724912"/>
            <a:ext cx="502920" cy="0"/>
          </a:xfrm>
          <a:prstGeom prst="line">
            <a:avLst/>
          </a:prstGeom>
          <a:ln w="25400">
            <a:solidFill>
              <a:srgbClr val="5B6971"/>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55080" y="1965960"/>
            <a:ext cx="2194560" cy="150876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501384" y="2176272"/>
            <a:ext cx="438912" cy="438912"/>
          </a:xfrm>
          <a:prstGeom prst="ellipse">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84759" y="2258685"/>
            <a:ext cx="438912" cy="326243"/>
          </a:xfrm>
          <a:prstGeom prst="rect">
            <a:avLst/>
          </a:prstGeom>
          <a:noFill/>
        </p:spPr>
        <p:txBody>
          <a:bodyPr wrap="square" lIns="54864" tIns="54864" rIns="54864" bIns="54864" anchor="t">
            <a:spAutoFit/>
          </a:bodyPr>
          <a:lstStyle/>
          <a:p>
            <a:pPr algn="ctr"/>
            <a:r>
              <a:rPr sz="1400" b="1">
                <a:solidFill>
                  <a:srgbClr val="FFFFFF"/>
                </a:solidFill>
                <a:latin typeface="Aptos"/>
              </a:rPr>
              <a:t>3</a:t>
            </a:r>
          </a:p>
        </p:txBody>
      </p:sp>
      <p:sp>
        <p:nvSpPr>
          <p:cNvPr id="21" name="TextBox 20"/>
          <p:cNvSpPr txBox="1"/>
          <p:nvPr/>
        </p:nvSpPr>
        <p:spPr>
          <a:xfrm>
            <a:off x="7068312" y="2139696"/>
            <a:ext cx="1280160" cy="664797"/>
          </a:xfrm>
          <a:prstGeom prst="rect">
            <a:avLst/>
          </a:prstGeom>
          <a:noFill/>
        </p:spPr>
        <p:txBody>
          <a:bodyPr wrap="square" lIns="54864" tIns="54864" rIns="54864" bIns="54864" anchor="t">
            <a:spAutoFit/>
          </a:bodyPr>
          <a:lstStyle/>
          <a:p>
            <a:pPr algn="l"/>
            <a:r>
              <a:rPr b="1" dirty="0">
                <a:solidFill>
                  <a:srgbClr val="0B1F33"/>
                </a:solidFill>
                <a:latin typeface="Aptos Display"/>
              </a:rPr>
              <a:t>Time windows</a:t>
            </a:r>
          </a:p>
        </p:txBody>
      </p:sp>
      <p:sp>
        <p:nvSpPr>
          <p:cNvPr id="22" name="TextBox 21"/>
          <p:cNvSpPr txBox="1"/>
          <p:nvPr/>
        </p:nvSpPr>
        <p:spPr>
          <a:xfrm>
            <a:off x="6537960" y="2743200"/>
            <a:ext cx="1828800" cy="757130"/>
          </a:xfrm>
          <a:prstGeom prst="rect">
            <a:avLst/>
          </a:prstGeom>
          <a:noFill/>
        </p:spPr>
        <p:txBody>
          <a:bodyPr wrap="square" lIns="54864" tIns="54864" rIns="54864" bIns="54864" anchor="t">
            <a:spAutoFit/>
          </a:bodyPr>
          <a:lstStyle/>
          <a:p>
            <a:pPr algn="ctr"/>
            <a:r>
              <a:rPr sz="1400" b="0" dirty="0">
                <a:solidFill>
                  <a:srgbClr val="23303A"/>
                </a:solidFill>
                <a:latin typeface="Aptos"/>
              </a:rPr>
              <a:t>triage, first hour, later ED, after-stay outcome</a:t>
            </a:r>
          </a:p>
        </p:txBody>
      </p:sp>
      <p:cxnSp>
        <p:nvCxnSpPr>
          <p:cNvPr id="23" name="Connector 22"/>
          <p:cNvCxnSpPr/>
          <p:nvPr/>
        </p:nvCxnSpPr>
        <p:spPr>
          <a:xfrm>
            <a:off x="8595360" y="2724912"/>
            <a:ext cx="502920" cy="0"/>
          </a:xfrm>
          <a:prstGeom prst="line">
            <a:avLst/>
          </a:prstGeom>
          <a:ln w="25400">
            <a:solidFill>
              <a:srgbClr val="5B6971"/>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189720" y="1965960"/>
            <a:ext cx="2194560" cy="150876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336024" y="2176272"/>
            <a:ext cx="438912" cy="438912"/>
          </a:xfrm>
          <a:prstGeom prst="ellipse">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336024" y="2286000"/>
            <a:ext cx="438912" cy="326243"/>
          </a:xfrm>
          <a:prstGeom prst="rect">
            <a:avLst/>
          </a:prstGeom>
          <a:noFill/>
        </p:spPr>
        <p:txBody>
          <a:bodyPr wrap="square" lIns="54864" tIns="54864" rIns="54864" bIns="54864" anchor="t">
            <a:spAutoFit/>
          </a:bodyPr>
          <a:lstStyle/>
          <a:p>
            <a:pPr algn="ctr"/>
            <a:r>
              <a:rPr sz="1400" b="1">
                <a:solidFill>
                  <a:srgbClr val="0B1F33"/>
                </a:solidFill>
                <a:latin typeface="Aptos"/>
              </a:rPr>
              <a:t>4</a:t>
            </a:r>
          </a:p>
        </p:txBody>
      </p:sp>
      <p:sp>
        <p:nvSpPr>
          <p:cNvPr id="27" name="TextBox 26"/>
          <p:cNvSpPr txBox="1"/>
          <p:nvPr/>
        </p:nvSpPr>
        <p:spPr>
          <a:xfrm>
            <a:off x="9902952" y="2139696"/>
            <a:ext cx="1280160" cy="664797"/>
          </a:xfrm>
          <a:prstGeom prst="rect">
            <a:avLst/>
          </a:prstGeom>
          <a:noFill/>
        </p:spPr>
        <p:txBody>
          <a:bodyPr wrap="square" lIns="54864" tIns="54864" rIns="54864" bIns="54864" anchor="t">
            <a:spAutoFit/>
          </a:bodyPr>
          <a:lstStyle/>
          <a:p>
            <a:pPr algn="l"/>
            <a:r>
              <a:rPr b="1" dirty="0">
                <a:solidFill>
                  <a:srgbClr val="0B1F33"/>
                </a:solidFill>
                <a:latin typeface="Aptos Display"/>
              </a:rPr>
              <a:t>Master table</a:t>
            </a:r>
          </a:p>
        </p:txBody>
      </p:sp>
      <p:sp>
        <p:nvSpPr>
          <p:cNvPr id="28" name="TextBox 27"/>
          <p:cNvSpPr txBox="1"/>
          <p:nvPr/>
        </p:nvSpPr>
        <p:spPr>
          <a:xfrm>
            <a:off x="9372600" y="2743200"/>
            <a:ext cx="1828800" cy="326243"/>
          </a:xfrm>
          <a:prstGeom prst="rect">
            <a:avLst/>
          </a:prstGeom>
          <a:noFill/>
        </p:spPr>
        <p:txBody>
          <a:bodyPr wrap="square" lIns="54864" tIns="54864" rIns="54864" bIns="54864" anchor="t">
            <a:spAutoFit/>
          </a:bodyPr>
          <a:lstStyle/>
          <a:p>
            <a:pPr algn="ctr"/>
            <a:r>
              <a:rPr sz="1400" b="0" dirty="0">
                <a:solidFill>
                  <a:srgbClr val="23303A"/>
                </a:solidFill>
                <a:latin typeface="Aptos"/>
              </a:rPr>
              <a:t>one row per ED stay</a:t>
            </a:r>
          </a:p>
        </p:txBody>
      </p:sp>
      <p:sp>
        <p:nvSpPr>
          <p:cNvPr id="29" name="Rectangle 28"/>
          <p:cNvSpPr/>
          <p:nvPr/>
        </p:nvSpPr>
        <p:spPr>
          <a:xfrm>
            <a:off x="731520" y="4251960"/>
            <a:ext cx="10698480" cy="36576"/>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4400" y="4754880"/>
            <a:ext cx="10241280" cy="480131"/>
          </a:xfrm>
          <a:prstGeom prst="rect">
            <a:avLst/>
          </a:prstGeom>
          <a:noFill/>
        </p:spPr>
        <p:txBody>
          <a:bodyPr wrap="square" lIns="54864" tIns="54864" rIns="54864" bIns="54864" anchor="t">
            <a:spAutoFit/>
          </a:bodyPr>
          <a:lstStyle/>
          <a:p>
            <a:pPr algn="ctr"/>
            <a:r>
              <a:rPr sz="2400" b="1" dirty="0">
                <a:solidFill>
                  <a:srgbClr val="0B1F33"/>
                </a:solidFill>
                <a:latin typeface="Aptos Display"/>
              </a:rPr>
              <a:t>Join logic is part of the data. A row is a constructed claim about an encounter.</a:t>
            </a:r>
          </a:p>
        </p:txBody>
      </p:sp>
      <p:sp>
        <p:nvSpPr>
          <p:cNvPr id="31" name="TextBox 30"/>
          <p:cNvSpPr txBox="1"/>
          <p:nvPr/>
        </p:nvSpPr>
        <p:spPr>
          <a:xfrm>
            <a:off x="1371600" y="5349240"/>
            <a:ext cx="9326880" cy="603242"/>
          </a:xfrm>
          <a:prstGeom prst="rect">
            <a:avLst/>
          </a:prstGeom>
          <a:noFill/>
        </p:spPr>
        <p:txBody>
          <a:bodyPr wrap="square" lIns="54864" tIns="54864" rIns="54864" bIns="54864" anchor="t">
            <a:spAutoFit/>
          </a:bodyPr>
          <a:lstStyle/>
          <a:p>
            <a:pPr algn="ctr"/>
            <a:r>
              <a:rPr sz="1600" b="0" dirty="0">
                <a:solidFill>
                  <a:srgbClr val="5B6971"/>
                </a:solidFill>
                <a:latin typeface="Aptos"/>
              </a:rPr>
              <a:t>The notebook verifies row counts, unique </a:t>
            </a:r>
            <a:r>
              <a:rPr sz="1600" b="0" dirty="0" err="1">
                <a:solidFill>
                  <a:srgbClr val="5B6971"/>
                </a:solidFill>
                <a:latin typeface="Aptos"/>
              </a:rPr>
              <a:t>stay_id</a:t>
            </a:r>
            <a:r>
              <a:rPr sz="1600" b="0" dirty="0">
                <a:solidFill>
                  <a:srgbClr val="5B6971"/>
                </a:solidFill>
                <a:latin typeface="Aptos"/>
              </a:rPr>
              <a:t> values, repeat subjects, column families, and timing boundaries before analysis.</a:t>
            </a:r>
          </a:p>
        </p:txBody>
      </p:sp>
      <p:sp>
        <p:nvSpPr>
          <p:cNvPr id="32" name="Rectangle 31"/>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206240" cy="228600"/>
          </a:xfrm>
          <a:prstGeom prst="rect">
            <a:avLst/>
          </a:prstGeom>
          <a:noFill/>
        </p:spPr>
        <p:txBody>
          <a:bodyPr wrap="square" lIns="54864" tIns="54864" rIns="54864" bIns="54864" anchor="t">
            <a:spAutoFit/>
          </a:bodyPr>
          <a:lstStyle/>
          <a:p>
            <a:pPr algn="l"/>
            <a:r>
              <a:rPr sz="1000" b="1">
                <a:solidFill>
                  <a:srgbClr val="0F766E"/>
                </a:solidFill>
                <a:latin typeface="Aptos"/>
              </a:rPr>
              <a:t>02  /  CONSTRUCTION</a:t>
            </a:r>
          </a:p>
        </p:txBody>
      </p:sp>
      <p:sp>
        <p:nvSpPr>
          <p:cNvPr id="3" name="TextBox 2"/>
          <p:cNvSpPr txBox="1"/>
          <p:nvPr/>
        </p:nvSpPr>
        <p:spPr>
          <a:xfrm>
            <a:off x="548640" y="566928"/>
            <a:ext cx="10424160" cy="541687"/>
          </a:xfrm>
          <a:prstGeom prst="rect">
            <a:avLst/>
          </a:prstGeom>
          <a:noFill/>
        </p:spPr>
        <p:txBody>
          <a:bodyPr wrap="square" lIns="54864" tIns="54864" rIns="54864" bIns="54864" anchor="t">
            <a:spAutoFit/>
          </a:bodyPr>
          <a:lstStyle/>
          <a:p>
            <a:pPr algn="l"/>
            <a:r>
              <a:rPr sz="2800" b="1" dirty="0">
                <a:solidFill>
                  <a:srgbClr val="0B1F33"/>
                </a:solidFill>
                <a:latin typeface="Aptos Display"/>
              </a:rPr>
              <a:t>Read every variable against the encounter timeline</a:t>
            </a:r>
          </a:p>
        </p:txBody>
      </p:sp>
      <p:sp>
        <p:nvSpPr>
          <p:cNvPr id="4" name="TextBox 3"/>
          <p:cNvSpPr txBox="1"/>
          <p:nvPr/>
        </p:nvSpPr>
        <p:spPr>
          <a:xfrm>
            <a:off x="10652760" y="310896"/>
            <a:ext cx="914400" cy="201168"/>
          </a:xfrm>
          <a:prstGeom prst="rect">
            <a:avLst/>
          </a:prstGeom>
          <a:noFill/>
        </p:spPr>
        <p:txBody>
          <a:bodyPr wrap="square" lIns="54864" tIns="54864" rIns="54864" bIns="54864" anchor="t">
            <a:spAutoFit/>
          </a:bodyPr>
          <a:lstStyle/>
          <a:p>
            <a:pPr algn="r"/>
            <a:r>
              <a:rPr sz="1000" b="1">
                <a:solidFill>
                  <a:srgbClr val="5B6971"/>
                </a:solidFill>
                <a:latin typeface="Aptos"/>
              </a:rPr>
              <a:t>M1  /  07</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14400" y="2926080"/>
            <a:ext cx="10241280" cy="45720"/>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2615184"/>
            <a:ext cx="658368" cy="658368"/>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1" y="3429000"/>
            <a:ext cx="1234440" cy="357021"/>
          </a:xfrm>
          <a:prstGeom prst="rect">
            <a:avLst/>
          </a:prstGeom>
          <a:noFill/>
        </p:spPr>
        <p:txBody>
          <a:bodyPr wrap="square" lIns="54864" tIns="54864" rIns="54864" bIns="54864" anchor="t">
            <a:spAutoFit/>
          </a:bodyPr>
          <a:lstStyle/>
          <a:p>
            <a:pPr algn="ctr"/>
            <a:r>
              <a:rPr sz="1600" b="1" dirty="0">
                <a:solidFill>
                  <a:srgbClr val="0B1F33"/>
                </a:solidFill>
                <a:latin typeface="Aptos"/>
              </a:rPr>
              <a:t>arrival</a:t>
            </a:r>
          </a:p>
        </p:txBody>
      </p:sp>
      <p:sp>
        <p:nvSpPr>
          <p:cNvPr id="9" name="TextBox 8"/>
          <p:cNvSpPr txBox="1"/>
          <p:nvPr/>
        </p:nvSpPr>
        <p:spPr>
          <a:xfrm>
            <a:off x="594359" y="3767328"/>
            <a:ext cx="1554480" cy="295466"/>
          </a:xfrm>
          <a:prstGeom prst="rect">
            <a:avLst/>
          </a:prstGeom>
          <a:noFill/>
        </p:spPr>
        <p:txBody>
          <a:bodyPr wrap="square" lIns="54864" tIns="54864" rIns="54864" bIns="54864" anchor="t">
            <a:spAutoFit/>
          </a:bodyPr>
          <a:lstStyle/>
          <a:p>
            <a:pPr algn="ctr"/>
            <a:r>
              <a:rPr sz="1200" b="0" dirty="0" err="1">
                <a:solidFill>
                  <a:srgbClr val="5B6971"/>
                </a:solidFill>
                <a:latin typeface="Aptos"/>
              </a:rPr>
              <a:t>edregtime</a:t>
            </a:r>
            <a:endParaRPr sz="1200" b="0" dirty="0">
              <a:solidFill>
                <a:srgbClr val="5B6971"/>
              </a:solidFill>
              <a:latin typeface="Aptos"/>
            </a:endParaRPr>
          </a:p>
        </p:txBody>
      </p:sp>
      <p:sp>
        <p:nvSpPr>
          <p:cNvPr id="10" name="Oval 9"/>
          <p:cNvSpPr/>
          <p:nvPr/>
        </p:nvSpPr>
        <p:spPr>
          <a:xfrm>
            <a:off x="2926080" y="2615184"/>
            <a:ext cx="658368" cy="65836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633472" y="3429000"/>
            <a:ext cx="1234440" cy="357021"/>
          </a:xfrm>
          <a:prstGeom prst="rect">
            <a:avLst/>
          </a:prstGeom>
          <a:noFill/>
        </p:spPr>
        <p:txBody>
          <a:bodyPr wrap="square" lIns="54864" tIns="54864" rIns="54864" bIns="54864" anchor="t">
            <a:spAutoFit/>
          </a:bodyPr>
          <a:lstStyle/>
          <a:p>
            <a:pPr algn="ctr"/>
            <a:r>
              <a:rPr sz="1600" b="1" dirty="0">
                <a:solidFill>
                  <a:srgbClr val="0B1F33"/>
                </a:solidFill>
                <a:latin typeface="Aptos"/>
              </a:rPr>
              <a:t>triage</a:t>
            </a:r>
          </a:p>
        </p:txBody>
      </p:sp>
      <p:sp>
        <p:nvSpPr>
          <p:cNvPr id="12" name="TextBox 11"/>
          <p:cNvSpPr txBox="1"/>
          <p:nvPr/>
        </p:nvSpPr>
        <p:spPr>
          <a:xfrm>
            <a:off x="2468880" y="3767328"/>
            <a:ext cx="1554480" cy="295466"/>
          </a:xfrm>
          <a:prstGeom prst="rect">
            <a:avLst/>
          </a:prstGeom>
          <a:noFill/>
        </p:spPr>
        <p:txBody>
          <a:bodyPr wrap="square" lIns="54864" tIns="54864" rIns="54864" bIns="54864" anchor="t">
            <a:spAutoFit/>
          </a:bodyPr>
          <a:lstStyle/>
          <a:p>
            <a:pPr algn="ctr"/>
            <a:r>
              <a:rPr sz="1200" b="0" dirty="0">
                <a:solidFill>
                  <a:srgbClr val="5B6971"/>
                </a:solidFill>
                <a:latin typeface="Aptos"/>
              </a:rPr>
              <a:t>triage_*</a:t>
            </a:r>
          </a:p>
        </p:txBody>
      </p:sp>
      <p:sp>
        <p:nvSpPr>
          <p:cNvPr id="13" name="Oval 12"/>
          <p:cNvSpPr/>
          <p:nvPr/>
        </p:nvSpPr>
        <p:spPr>
          <a:xfrm>
            <a:off x="4846320" y="2615184"/>
            <a:ext cx="658368" cy="658368"/>
          </a:xfrm>
          <a:prstGeom prst="ellipse">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53712" y="3429000"/>
            <a:ext cx="1234440" cy="357021"/>
          </a:xfrm>
          <a:prstGeom prst="rect">
            <a:avLst/>
          </a:prstGeom>
          <a:noFill/>
        </p:spPr>
        <p:txBody>
          <a:bodyPr wrap="square" lIns="54864" tIns="54864" rIns="54864" bIns="54864" anchor="t">
            <a:spAutoFit/>
          </a:bodyPr>
          <a:lstStyle/>
          <a:p>
            <a:pPr algn="ctr"/>
            <a:r>
              <a:rPr sz="1600" b="1" dirty="0">
                <a:solidFill>
                  <a:srgbClr val="0B1F33"/>
                </a:solidFill>
                <a:latin typeface="Aptos"/>
              </a:rPr>
              <a:t>first hour</a:t>
            </a:r>
          </a:p>
        </p:txBody>
      </p:sp>
      <p:sp>
        <p:nvSpPr>
          <p:cNvPr id="15" name="TextBox 14"/>
          <p:cNvSpPr txBox="1"/>
          <p:nvPr/>
        </p:nvSpPr>
        <p:spPr>
          <a:xfrm>
            <a:off x="4389120" y="3767328"/>
            <a:ext cx="1554480" cy="295466"/>
          </a:xfrm>
          <a:prstGeom prst="rect">
            <a:avLst/>
          </a:prstGeom>
          <a:noFill/>
        </p:spPr>
        <p:txBody>
          <a:bodyPr wrap="square" lIns="54864" tIns="54864" rIns="54864" bIns="54864" anchor="t">
            <a:spAutoFit/>
          </a:bodyPr>
          <a:lstStyle/>
          <a:p>
            <a:pPr algn="ctr"/>
            <a:r>
              <a:rPr sz="1200" b="0" dirty="0">
                <a:solidFill>
                  <a:srgbClr val="5B6971"/>
                </a:solidFill>
                <a:latin typeface="Aptos"/>
              </a:rPr>
              <a:t>early measurements</a:t>
            </a:r>
          </a:p>
        </p:txBody>
      </p:sp>
      <p:sp>
        <p:nvSpPr>
          <p:cNvPr id="16" name="Oval 15"/>
          <p:cNvSpPr/>
          <p:nvPr/>
        </p:nvSpPr>
        <p:spPr>
          <a:xfrm>
            <a:off x="6903720" y="2615184"/>
            <a:ext cx="658368" cy="658368"/>
          </a:xfrm>
          <a:prstGeom prst="ellipse">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11112" y="3429000"/>
            <a:ext cx="1234440" cy="357021"/>
          </a:xfrm>
          <a:prstGeom prst="rect">
            <a:avLst/>
          </a:prstGeom>
          <a:noFill/>
        </p:spPr>
        <p:txBody>
          <a:bodyPr wrap="square" lIns="54864" tIns="54864" rIns="54864" bIns="54864" anchor="t">
            <a:spAutoFit/>
          </a:bodyPr>
          <a:lstStyle/>
          <a:p>
            <a:pPr algn="ctr"/>
            <a:r>
              <a:rPr sz="1600" b="1" dirty="0">
                <a:solidFill>
                  <a:srgbClr val="0B1F33"/>
                </a:solidFill>
                <a:latin typeface="Aptos"/>
              </a:rPr>
              <a:t>later ED</a:t>
            </a:r>
          </a:p>
        </p:txBody>
      </p:sp>
      <p:sp>
        <p:nvSpPr>
          <p:cNvPr id="18" name="TextBox 17"/>
          <p:cNvSpPr txBox="1"/>
          <p:nvPr/>
        </p:nvSpPr>
        <p:spPr>
          <a:xfrm>
            <a:off x="6446520" y="3767328"/>
            <a:ext cx="1554480" cy="295466"/>
          </a:xfrm>
          <a:prstGeom prst="rect">
            <a:avLst/>
          </a:prstGeom>
          <a:noFill/>
        </p:spPr>
        <p:txBody>
          <a:bodyPr wrap="square" lIns="54864" tIns="54864" rIns="54864" bIns="54864" anchor="t">
            <a:spAutoFit/>
          </a:bodyPr>
          <a:lstStyle/>
          <a:p>
            <a:pPr algn="ctr"/>
            <a:r>
              <a:rPr sz="1200" b="0" dirty="0">
                <a:solidFill>
                  <a:srgbClr val="5B6971"/>
                </a:solidFill>
                <a:latin typeface="Aptos"/>
              </a:rPr>
              <a:t>ed_*_last</a:t>
            </a:r>
          </a:p>
        </p:txBody>
      </p:sp>
      <p:sp>
        <p:nvSpPr>
          <p:cNvPr id="19" name="Oval 18"/>
          <p:cNvSpPr/>
          <p:nvPr/>
        </p:nvSpPr>
        <p:spPr>
          <a:xfrm>
            <a:off x="9326880" y="2615184"/>
            <a:ext cx="658368" cy="658368"/>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34272" y="3429000"/>
            <a:ext cx="1234440" cy="357021"/>
          </a:xfrm>
          <a:prstGeom prst="rect">
            <a:avLst/>
          </a:prstGeom>
          <a:noFill/>
        </p:spPr>
        <p:txBody>
          <a:bodyPr wrap="square" lIns="54864" tIns="54864" rIns="54864" bIns="54864" anchor="t">
            <a:spAutoFit/>
          </a:bodyPr>
          <a:lstStyle/>
          <a:p>
            <a:pPr algn="ctr"/>
            <a:r>
              <a:rPr sz="1600" b="1" dirty="0">
                <a:solidFill>
                  <a:srgbClr val="0B1F33"/>
                </a:solidFill>
                <a:latin typeface="Aptos"/>
              </a:rPr>
              <a:t>departure</a:t>
            </a:r>
          </a:p>
        </p:txBody>
      </p:sp>
      <p:sp>
        <p:nvSpPr>
          <p:cNvPr id="21" name="TextBox 20"/>
          <p:cNvSpPr txBox="1"/>
          <p:nvPr/>
        </p:nvSpPr>
        <p:spPr>
          <a:xfrm>
            <a:off x="8869680" y="3767328"/>
            <a:ext cx="1554480" cy="295466"/>
          </a:xfrm>
          <a:prstGeom prst="rect">
            <a:avLst/>
          </a:prstGeom>
          <a:noFill/>
        </p:spPr>
        <p:txBody>
          <a:bodyPr wrap="square" lIns="54864" tIns="54864" rIns="54864" bIns="54864" anchor="t">
            <a:spAutoFit/>
          </a:bodyPr>
          <a:lstStyle/>
          <a:p>
            <a:pPr algn="ctr"/>
            <a:r>
              <a:rPr sz="1200" b="0" dirty="0" err="1">
                <a:solidFill>
                  <a:srgbClr val="5B6971"/>
                </a:solidFill>
                <a:latin typeface="Aptos"/>
              </a:rPr>
              <a:t>edouttime</a:t>
            </a:r>
            <a:endParaRPr sz="1200" b="0" dirty="0">
              <a:solidFill>
                <a:srgbClr val="5B6971"/>
              </a:solidFill>
              <a:latin typeface="Aptos"/>
            </a:endParaRPr>
          </a:p>
        </p:txBody>
      </p:sp>
      <p:sp>
        <p:nvSpPr>
          <p:cNvPr id="22" name="Rounded Rectangle 21"/>
          <p:cNvSpPr/>
          <p:nvPr/>
        </p:nvSpPr>
        <p:spPr>
          <a:xfrm>
            <a:off x="777240" y="1554479"/>
            <a:ext cx="2423160" cy="893397"/>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4691" y="1699897"/>
            <a:ext cx="2057400" cy="664797"/>
          </a:xfrm>
          <a:prstGeom prst="rect">
            <a:avLst/>
          </a:prstGeom>
          <a:noFill/>
        </p:spPr>
        <p:txBody>
          <a:bodyPr wrap="square" lIns="54864" tIns="54864" rIns="54864" bIns="54864" anchor="t">
            <a:spAutoFit/>
          </a:bodyPr>
          <a:lstStyle/>
          <a:p>
            <a:pPr algn="ctr"/>
            <a:r>
              <a:rPr b="1" dirty="0">
                <a:solidFill>
                  <a:srgbClr val="0B1F33"/>
                </a:solidFill>
                <a:latin typeface="Aptos"/>
              </a:rPr>
              <a:t>One row = one ED stay</a:t>
            </a:r>
          </a:p>
        </p:txBody>
      </p:sp>
      <p:sp>
        <p:nvSpPr>
          <p:cNvPr id="24" name="Rounded Rectangle 23"/>
          <p:cNvSpPr/>
          <p:nvPr/>
        </p:nvSpPr>
        <p:spPr>
          <a:xfrm>
            <a:off x="8458200" y="4800600"/>
            <a:ext cx="2743200" cy="77724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36647" y="4951476"/>
            <a:ext cx="2377440" cy="603242"/>
          </a:xfrm>
          <a:prstGeom prst="rect">
            <a:avLst/>
          </a:prstGeom>
          <a:noFill/>
        </p:spPr>
        <p:txBody>
          <a:bodyPr wrap="square" lIns="54864" tIns="54864" rIns="54864" bIns="54864" anchor="t">
            <a:spAutoFit/>
          </a:bodyPr>
          <a:lstStyle/>
          <a:p>
            <a:pPr algn="ctr"/>
            <a:r>
              <a:rPr sz="1600" b="1" dirty="0">
                <a:solidFill>
                  <a:srgbClr val="0B1F33"/>
                </a:solidFill>
                <a:latin typeface="Aptos"/>
              </a:rPr>
              <a:t>One subject can have multiple stays</a:t>
            </a:r>
          </a:p>
        </p:txBody>
      </p:sp>
      <p:sp>
        <p:nvSpPr>
          <p:cNvPr id="26" name="TextBox 25"/>
          <p:cNvSpPr txBox="1"/>
          <p:nvPr/>
        </p:nvSpPr>
        <p:spPr>
          <a:xfrm>
            <a:off x="868680" y="4892040"/>
            <a:ext cx="7040880" cy="664797"/>
          </a:xfrm>
          <a:prstGeom prst="rect">
            <a:avLst/>
          </a:prstGeom>
          <a:noFill/>
        </p:spPr>
        <p:txBody>
          <a:bodyPr wrap="square" lIns="54864" tIns="54864" rIns="54864" bIns="54864" anchor="t">
            <a:spAutoFit/>
          </a:bodyPr>
          <a:lstStyle/>
          <a:p>
            <a:pPr algn="l"/>
            <a:r>
              <a:rPr b="1" dirty="0">
                <a:solidFill>
                  <a:srgbClr val="23303A"/>
                </a:solidFill>
                <a:latin typeface="Aptos"/>
              </a:rPr>
              <a:t>Availability is a modeling decision: a later ED measurement may be descriptive but outside a triage-time prediction boundary.</a:t>
            </a:r>
          </a:p>
        </p:txBody>
      </p:sp>
      <p:sp>
        <p:nvSpPr>
          <p:cNvPr id="27" name="Rectangle 26"/>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206240" cy="228600"/>
          </a:xfrm>
          <a:prstGeom prst="rect">
            <a:avLst/>
          </a:prstGeom>
          <a:noFill/>
        </p:spPr>
        <p:txBody>
          <a:bodyPr wrap="square" lIns="54864" tIns="54864" rIns="54864" bIns="54864" anchor="t">
            <a:spAutoFit/>
          </a:bodyPr>
          <a:lstStyle/>
          <a:p>
            <a:pPr algn="l"/>
            <a:r>
              <a:rPr sz="1000" b="1">
                <a:solidFill>
                  <a:srgbClr val="0F766E"/>
                </a:solidFill>
                <a:latin typeface="Aptos"/>
              </a:rPr>
              <a:t>03  /  INSPECTION</a:t>
            </a:r>
          </a:p>
        </p:txBody>
      </p:sp>
      <p:sp>
        <p:nvSpPr>
          <p:cNvPr id="3" name="TextBox 2"/>
          <p:cNvSpPr txBox="1"/>
          <p:nvPr/>
        </p:nvSpPr>
        <p:spPr>
          <a:xfrm>
            <a:off x="548640" y="566928"/>
            <a:ext cx="10424160" cy="502920"/>
          </a:xfrm>
          <a:prstGeom prst="rect">
            <a:avLst/>
          </a:prstGeom>
          <a:noFill/>
        </p:spPr>
        <p:txBody>
          <a:bodyPr wrap="square" lIns="54864" tIns="54864" rIns="54864" bIns="54864" anchor="t">
            <a:spAutoFit/>
          </a:bodyPr>
          <a:lstStyle/>
          <a:p>
            <a:pPr algn="l"/>
            <a:r>
              <a:rPr sz="2700" b="1">
                <a:solidFill>
                  <a:srgbClr val="0B1F33"/>
                </a:solidFill>
                <a:latin typeface="Aptos Display"/>
              </a:rPr>
              <a:t>The variable dictionary is a map of meaning</a:t>
            </a:r>
          </a:p>
        </p:txBody>
      </p:sp>
      <p:sp>
        <p:nvSpPr>
          <p:cNvPr id="4" name="TextBox 3"/>
          <p:cNvSpPr txBox="1"/>
          <p:nvPr/>
        </p:nvSpPr>
        <p:spPr>
          <a:xfrm>
            <a:off x="10652760" y="310896"/>
            <a:ext cx="914400" cy="201168"/>
          </a:xfrm>
          <a:prstGeom prst="rect">
            <a:avLst/>
          </a:prstGeom>
          <a:noFill/>
        </p:spPr>
        <p:txBody>
          <a:bodyPr wrap="square" lIns="54864" tIns="54864" rIns="54864" bIns="54864" anchor="t">
            <a:spAutoFit/>
          </a:bodyPr>
          <a:lstStyle/>
          <a:p>
            <a:pPr algn="r"/>
            <a:r>
              <a:rPr sz="1000" b="1">
                <a:solidFill>
                  <a:srgbClr val="5B6971"/>
                </a:solidFill>
                <a:latin typeface="Aptos"/>
              </a:rPr>
              <a:t>M1  /  08</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600200"/>
            <a:ext cx="91440" cy="804672"/>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645920"/>
            <a:ext cx="2651760" cy="387798"/>
          </a:xfrm>
          <a:prstGeom prst="rect">
            <a:avLst/>
          </a:prstGeom>
          <a:noFill/>
        </p:spPr>
        <p:txBody>
          <a:bodyPr wrap="square" lIns="54864" tIns="54864" rIns="54864" bIns="54864" anchor="t">
            <a:spAutoFit/>
          </a:bodyPr>
          <a:lstStyle/>
          <a:p>
            <a:pPr algn="l"/>
            <a:r>
              <a:rPr b="1" dirty="0">
                <a:solidFill>
                  <a:srgbClr val="0B1F33"/>
                </a:solidFill>
                <a:latin typeface="Aptos Display"/>
              </a:rPr>
              <a:t>Identifiers &amp; timing</a:t>
            </a:r>
          </a:p>
        </p:txBody>
      </p:sp>
      <p:sp>
        <p:nvSpPr>
          <p:cNvPr id="8" name="TextBox 7"/>
          <p:cNvSpPr txBox="1"/>
          <p:nvPr/>
        </p:nvSpPr>
        <p:spPr>
          <a:xfrm>
            <a:off x="920219" y="2013965"/>
            <a:ext cx="3834661" cy="326243"/>
          </a:xfrm>
          <a:prstGeom prst="rect">
            <a:avLst/>
          </a:prstGeom>
          <a:noFill/>
        </p:spPr>
        <p:txBody>
          <a:bodyPr wrap="square" lIns="54864" tIns="54864" rIns="54864" bIns="54864" anchor="t">
            <a:spAutoFit/>
          </a:bodyPr>
          <a:lstStyle/>
          <a:p>
            <a:pPr algn="l"/>
            <a:r>
              <a:rPr sz="1400" b="0" dirty="0" err="1">
                <a:solidFill>
                  <a:srgbClr val="23303A"/>
                </a:solidFill>
                <a:latin typeface="Aptos"/>
              </a:rPr>
              <a:t>stay_id</a:t>
            </a:r>
            <a:r>
              <a:rPr sz="1400" b="0" dirty="0">
                <a:solidFill>
                  <a:srgbClr val="23303A"/>
                </a:solidFill>
                <a:latin typeface="Aptos"/>
              </a:rPr>
              <a:t>, </a:t>
            </a:r>
            <a:r>
              <a:rPr sz="1400" b="0" dirty="0" err="1">
                <a:solidFill>
                  <a:srgbClr val="23303A"/>
                </a:solidFill>
                <a:latin typeface="Aptos"/>
              </a:rPr>
              <a:t>subject_id</a:t>
            </a:r>
            <a:r>
              <a:rPr sz="1400" b="0" dirty="0">
                <a:solidFill>
                  <a:srgbClr val="23303A"/>
                </a:solidFill>
                <a:latin typeface="Aptos"/>
              </a:rPr>
              <a:t>, </a:t>
            </a:r>
            <a:r>
              <a:rPr sz="1400" b="0" dirty="0" err="1">
                <a:solidFill>
                  <a:srgbClr val="23303A"/>
                </a:solidFill>
                <a:latin typeface="Aptos"/>
              </a:rPr>
              <a:t>hadm_id</a:t>
            </a:r>
            <a:r>
              <a:rPr sz="1400" b="0" dirty="0">
                <a:solidFill>
                  <a:srgbClr val="23303A"/>
                </a:solidFill>
                <a:latin typeface="Aptos"/>
              </a:rPr>
              <a:t>, intime, </a:t>
            </a:r>
            <a:r>
              <a:rPr sz="1400" b="0" dirty="0" err="1">
                <a:solidFill>
                  <a:srgbClr val="23303A"/>
                </a:solidFill>
                <a:latin typeface="Aptos"/>
              </a:rPr>
              <a:t>outtime</a:t>
            </a:r>
            <a:endParaRPr sz="1400" b="0" dirty="0">
              <a:solidFill>
                <a:srgbClr val="23303A"/>
              </a:solidFill>
              <a:latin typeface="Aptos"/>
            </a:endParaRPr>
          </a:p>
        </p:txBody>
      </p:sp>
      <p:sp>
        <p:nvSpPr>
          <p:cNvPr id="9" name="Rectangle 8"/>
          <p:cNvSpPr/>
          <p:nvPr/>
        </p:nvSpPr>
        <p:spPr>
          <a:xfrm>
            <a:off x="6217920" y="1600200"/>
            <a:ext cx="91440" cy="804672"/>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73952" y="1645920"/>
            <a:ext cx="2651760" cy="387798"/>
          </a:xfrm>
          <a:prstGeom prst="rect">
            <a:avLst/>
          </a:prstGeom>
          <a:noFill/>
        </p:spPr>
        <p:txBody>
          <a:bodyPr wrap="square" lIns="54864" tIns="54864" rIns="54864" bIns="54864" anchor="t">
            <a:spAutoFit/>
          </a:bodyPr>
          <a:lstStyle/>
          <a:p>
            <a:pPr algn="l"/>
            <a:r>
              <a:rPr b="1" dirty="0">
                <a:solidFill>
                  <a:srgbClr val="0B1F33"/>
                </a:solidFill>
                <a:latin typeface="Aptos Display"/>
              </a:rPr>
              <a:t>Demographics &amp; arrival</a:t>
            </a:r>
          </a:p>
        </p:txBody>
      </p:sp>
      <p:sp>
        <p:nvSpPr>
          <p:cNvPr id="11" name="TextBox 10"/>
          <p:cNvSpPr txBox="1"/>
          <p:nvPr/>
        </p:nvSpPr>
        <p:spPr>
          <a:xfrm>
            <a:off x="6473952" y="1984248"/>
            <a:ext cx="4754880" cy="326243"/>
          </a:xfrm>
          <a:prstGeom prst="rect">
            <a:avLst/>
          </a:prstGeom>
          <a:noFill/>
        </p:spPr>
        <p:txBody>
          <a:bodyPr wrap="square" lIns="54864" tIns="54864" rIns="54864" bIns="54864" anchor="t">
            <a:spAutoFit/>
          </a:bodyPr>
          <a:lstStyle/>
          <a:p>
            <a:pPr algn="l"/>
            <a:r>
              <a:rPr sz="1400" b="0" dirty="0">
                <a:solidFill>
                  <a:srgbClr val="23303A"/>
                </a:solidFill>
                <a:latin typeface="Aptos"/>
              </a:rPr>
              <a:t>age, gender, race, insurance, transport</a:t>
            </a:r>
          </a:p>
        </p:txBody>
      </p:sp>
      <p:sp>
        <p:nvSpPr>
          <p:cNvPr id="12" name="Rectangle 11"/>
          <p:cNvSpPr/>
          <p:nvPr/>
        </p:nvSpPr>
        <p:spPr>
          <a:xfrm>
            <a:off x="731520" y="3017520"/>
            <a:ext cx="91440" cy="804672"/>
          </a:xfrm>
          <a:prstGeom prst="rect">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87552" y="3063239"/>
            <a:ext cx="2651760" cy="387798"/>
          </a:xfrm>
          <a:prstGeom prst="rect">
            <a:avLst/>
          </a:prstGeom>
          <a:noFill/>
        </p:spPr>
        <p:txBody>
          <a:bodyPr wrap="square" lIns="54864" tIns="54864" rIns="54864" bIns="54864" anchor="t">
            <a:spAutoFit/>
          </a:bodyPr>
          <a:lstStyle/>
          <a:p>
            <a:pPr algn="l"/>
            <a:r>
              <a:rPr b="1" dirty="0">
                <a:solidFill>
                  <a:srgbClr val="0B1F33"/>
                </a:solidFill>
                <a:latin typeface="Aptos Display"/>
              </a:rPr>
              <a:t>Triage measurements</a:t>
            </a:r>
          </a:p>
        </p:txBody>
      </p:sp>
      <p:sp>
        <p:nvSpPr>
          <p:cNvPr id="14" name="TextBox 13"/>
          <p:cNvSpPr txBox="1"/>
          <p:nvPr/>
        </p:nvSpPr>
        <p:spPr>
          <a:xfrm>
            <a:off x="949313" y="3361512"/>
            <a:ext cx="4754880" cy="541687"/>
          </a:xfrm>
          <a:prstGeom prst="rect">
            <a:avLst/>
          </a:prstGeom>
          <a:noFill/>
        </p:spPr>
        <p:txBody>
          <a:bodyPr wrap="square" lIns="54864" tIns="54864" rIns="54864" bIns="54864" anchor="t">
            <a:spAutoFit/>
          </a:bodyPr>
          <a:lstStyle/>
          <a:p>
            <a:pPr algn="l"/>
            <a:r>
              <a:rPr sz="1400" b="0" dirty="0">
                <a:solidFill>
                  <a:srgbClr val="23303A"/>
                </a:solidFill>
                <a:latin typeface="Aptos"/>
              </a:rPr>
              <a:t>temperature, heart rate, oxygen saturation,</a:t>
            </a:r>
            <a:endParaRPr lang="en-US" sz="1400" b="0" dirty="0">
              <a:solidFill>
                <a:srgbClr val="23303A"/>
              </a:solidFill>
              <a:latin typeface="Aptos"/>
            </a:endParaRPr>
          </a:p>
          <a:p>
            <a:pPr algn="l"/>
            <a:r>
              <a:rPr sz="1400" b="0" dirty="0">
                <a:solidFill>
                  <a:srgbClr val="23303A"/>
                </a:solidFill>
                <a:latin typeface="Aptos"/>
              </a:rPr>
              <a:t> acuity</a:t>
            </a:r>
          </a:p>
        </p:txBody>
      </p:sp>
      <p:sp>
        <p:nvSpPr>
          <p:cNvPr id="15" name="Rectangle 14"/>
          <p:cNvSpPr/>
          <p:nvPr/>
        </p:nvSpPr>
        <p:spPr>
          <a:xfrm>
            <a:off x="6217920" y="3017520"/>
            <a:ext cx="91440" cy="804672"/>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73952" y="3063239"/>
            <a:ext cx="2651760" cy="387798"/>
          </a:xfrm>
          <a:prstGeom prst="rect">
            <a:avLst/>
          </a:prstGeom>
          <a:noFill/>
        </p:spPr>
        <p:txBody>
          <a:bodyPr wrap="square" lIns="54864" tIns="54864" rIns="54864" bIns="54864" anchor="t">
            <a:spAutoFit/>
          </a:bodyPr>
          <a:lstStyle/>
          <a:p>
            <a:pPr algn="l"/>
            <a:r>
              <a:rPr b="1" dirty="0">
                <a:solidFill>
                  <a:srgbClr val="0B1F33"/>
                </a:solidFill>
                <a:latin typeface="Aptos Display"/>
              </a:rPr>
              <a:t>Prior utilization</a:t>
            </a:r>
          </a:p>
        </p:txBody>
      </p:sp>
      <p:sp>
        <p:nvSpPr>
          <p:cNvPr id="17" name="TextBox 16"/>
          <p:cNvSpPr txBox="1"/>
          <p:nvPr/>
        </p:nvSpPr>
        <p:spPr>
          <a:xfrm>
            <a:off x="6449568" y="3347657"/>
            <a:ext cx="4754880" cy="541687"/>
          </a:xfrm>
          <a:prstGeom prst="rect">
            <a:avLst/>
          </a:prstGeom>
          <a:noFill/>
        </p:spPr>
        <p:txBody>
          <a:bodyPr wrap="square" lIns="54864" tIns="54864" rIns="54864" bIns="54864" anchor="t">
            <a:spAutoFit/>
          </a:bodyPr>
          <a:lstStyle/>
          <a:p>
            <a:pPr algn="l"/>
            <a:r>
              <a:rPr sz="1400" b="0" dirty="0">
                <a:solidFill>
                  <a:srgbClr val="23303A"/>
                </a:solidFill>
                <a:latin typeface="Aptos"/>
              </a:rPr>
              <a:t>ED, hospital, and ICU counts over </a:t>
            </a:r>
            <a:endParaRPr lang="en-US" sz="1400" b="0" dirty="0">
              <a:solidFill>
                <a:srgbClr val="23303A"/>
              </a:solidFill>
              <a:latin typeface="Aptos"/>
            </a:endParaRPr>
          </a:p>
          <a:p>
            <a:pPr algn="l"/>
            <a:r>
              <a:rPr sz="1400" b="0" dirty="0">
                <a:solidFill>
                  <a:srgbClr val="23303A"/>
                </a:solidFill>
                <a:latin typeface="Aptos"/>
              </a:rPr>
              <a:t>30/90/365 days</a:t>
            </a:r>
          </a:p>
        </p:txBody>
      </p:sp>
      <p:sp>
        <p:nvSpPr>
          <p:cNvPr id="18" name="Rectangle 17"/>
          <p:cNvSpPr/>
          <p:nvPr/>
        </p:nvSpPr>
        <p:spPr>
          <a:xfrm>
            <a:off x="731520" y="4434840"/>
            <a:ext cx="91440" cy="804672"/>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87552" y="4480559"/>
            <a:ext cx="2651760" cy="387798"/>
          </a:xfrm>
          <a:prstGeom prst="rect">
            <a:avLst/>
          </a:prstGeom>
          <a:noFill/>
        </p:spPr>
        <p:txBody>
          <a:bodyPr wrap="square" lIns="54864" tIns="54864" rIns="54864" bIns="54864" anchor="t">
            <a:spAutoFit/>
          </a:bodyPr>
          <a:lstStyle/>
          <a:p>
            <a:pPr algn="l"/>
            <a:r>
              <a:rPr b="1" dirty="0">
                <a:solidFill>
                  <a:srgbClr val="0B1F33"/>
                </a:solidFill>
                <a:latin typeface="Aptos Display"/>
              </a:rPr>
              <a:t>Later ED measurements</a:t>
            </a:r>
          </a:p>
        </p:txBody>
      </p:sp>
      <p:sp>
        <p:nvSpPr>
          <p:cNvPr id="20" name="TextBox 19"/>
          <p:cNvSpPr txBox="1"/>
          <p:nvPr/>
        </p:nvSpPr>
        <p:spPr>
          <a:xfrm>
            <a:off x="987552" y="4818888"/>
            <a:ext cx="4754880" cy="329184"/>
          </a:xfrm>
          <a:prstGeom prst="rect">
            <a:avLst/>
          </a:prstGeom>
          <a:noFill/>
        </p:spPr>
        <p:txBody>
          <a:bodyPr wrap="square" lIns="54864" tIns="54864" rIns="54864" bIns="54864" anchor="t">
            <a:spAutoFit/>
          </a:bodyPr>
          <a:lstStyle/>
          <a:p>
            <a:pPr algn="l"/>
            <a:r>
              <a:rPr sz="1400" b="0" dirty="0">
                <a:solidFill>
                  <a:srgbClr val="23303A"/>
                </a:solidFill>
                <a:latin typeface="Aptos"/>
              </a:rPr>
              <a:t>ed_*_last and medication counts</a:t>
            </a:r>
          </a:p>
        </p:txBody>
      </p:sp>
      <p:sp>
        <p:nvSpPr>
          <p:cNvPr id="21" name="Rectangle 20"/>
          <p:cNvSpPr/>
          <p:nvPr/>
        </p:nvSpPr>
        <p:spPr>
          <a:xfrm>
            <a:off x="6217920" y="4434840"/>
            <a:ext cx="91440" cy="804672"/>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73952" y="4480559"/>
            <a:ext cx="2651760" cy="387798"/>
          </a:xfrm>
          <a:prstGeom prst="rect">
            <a:avLst/>
          </a:prstGeom>
          <a:noFill/>
        </p:spPr>
        <p:txBody>
          <a:bodyPr wrap="square" lIns="54864" tIns="54864" rIns="54864" bIns="54864" anchor="t">
            <a:spAutoFit/>
          </a:bodyPr>
          <a:lstStyle/>
          <a:p>
            <a:pPr algn="l"/>
            <a:r>
              <a:rPr b="1" dirty="0">
                <a:solidFill>
                  <a:srgbClr val="0B1F33"/>
                </a:solidFill>
                <a:latin typeface="Aptos Display"/>
              </a:rPr>
              <a:t>Outcomes</a:t>
            </a:r>
          </a:p>
        </p:txBody>
      </p:sp>
      <p:sp>
        <p:nvSpPr>
          <p:cNvPr id="23" name="TextBox 22"/>
          <p:cNvSpPr txBox="1"/>
          <p:nvPr/>
        </p:nvSpPr>
        <p:spPr>
          <a:xfrm>
            <a:off x="6473952" y="4791178"/>
            <a:ext cx="4754880" cy="541687"/>
          </a:xfrm>
          <a:prstGeom prst="rect">
            <a:avLst/>
          </a:prstGeom>
          <a:noFill/>
        </p:spPr>
        <p:txBody>
          <a:bodyPr wrap="square" lIns="54864" tIns="54864" rIns="54864" bIns="54864" anchor="t">
            <a:spAutoFit/>
          </a:bodyPr>
          <a:lstStyle/>
          <a:p>
            <a:pPr algn="l"/>
            <a:r>
              <a:rPr sz="1400" b="0" dirty="0">
                <a:solidFill>
                  <a:srgbClr val="23303A"/>
                </a:solidFill>
                <a:latin typeface="Aptos"/>
              </a:rPr>
              <a:t>LOS, hospitalization, critical outcome,</a:t>
            </a:r>
            <a:endParaRPr lang="en-US" sz="1400" b="0" dirty="0">
              <a:solidFill>
                <a:srgbClr val="23303A"/>
              </a:solidFill>
              <a:latin typeface="Aptos"/>
            </a:endParaRPr>
          </a:p>
          <a:p>
            <a:pPr algn="l"/>
            <a:r>
              <a:rPr sz="1400" b="0" dirty="0">
                <a:solidFill>
                  <a:srgbClr val="23303A"/>
                </a:solidFill>
                <a:latin typeface="Aptos"/>
              </a:rPr>
              <a:t> revisit</a:t>
            </a:r>
          </a:p>
        </p:txBody>
      </p:sp>
      <p:sp>
        <p:nvSpPr>
          <p:cNvPr id="24" name="Rounded Rectangle 23"/>
          <p:cNvSpPr/>
          <p:nvPr/>
        </p:nvSpPr>
        <p:spPr>
          <a:xfrm>
            <a:off x="731520" y="5989320"/>
            <a:ext cx="10698480" cy="384048"/>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6089904"/>
            <a:ext cx="10332720" cy="326243"/>
          </a:xfrm>
          <a:prstGeom prst="rect">
            <a:avLst/>
          </a:prstGeom>
          <a:noFill/>
        </p:spPr>
        <p:txBody>
          <a:bodyPr wrap="square" lIns="54864" tIns="54864" rIns="54864" bIns="54864" anchor="t">
            <a:spAutoFit/>
          </a:bodyPr>
          <a:lstStyle/>
          <a:p>
            <a:pPr algn="ctr"/>
            <a:r>
              <a:rPr sz="1400" b="1" dirty="0">
                <a:solidFill>
                  <a:srgbClr val="0B1F33"/>
                </a:solidFill>
                <a:latin typeface="Aptos"/>
              </a:rPr>
              <a:t>A plausible name is not a definition. Read the generated dictionary and the extraction contract.</a:t>
            </a:r>
          </a:p>
        </p:txBody>
      </p:sp>
      <p:sp>
        <p:nvSpPr>
          <p:cNvPr id="26" name="Rectangle 25"/>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a:extLst>
              <a:ext uri="{FF2B5EF4-FFF2-40B4-BE49-F238E27FC236}">
                <a16:creationId xmlns:a16="http://schemas.microsoft.com/office/drawing/2014/main" id="{3A456F44-AEE0-60B5-07C1-DFC7B3F1DC4A}"/>
              </a:ext>
            </a:extLst>
          </p:cNvPr>
          <p:cNvSpPr/>
          <p:nvPr/>
        </p:nvSpPr>
        <p:spPr>
          <a:xfrm>
            <a:off x="731520" y="1612861"/>
            <a:ext cx="3771207" cy="835903"/>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
        <p:nvSpPr>
          <p:cNvPr id="31" name="Rectangle 30">
            <a:extLst>
              <a:ext uri="{FF2B5EF4-FFF2-40B4-BE49-F238E27FC236}">
                <a16:creationId xmlns:a16="http://schemas.microsoft.com/office/drawing/2014/main" id="{D91D2447-DD77-3A7F-A064-A17B499892DC}"/>
              </a:ext>
            </a:extLst>
          </p:cNvPr>
          <p:cNvSpPr/>
          <p:nvPr/>
        </p:nvSpPr>
        <p:spPr>
          <a:xfrm>
            <a:off x="731520" y="3009149"/>
            <a:ext cx="3771207" cy="813043"/>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
        <p:nvSpPr>
          <p:cNvPr id="33" name="Rectangle 32">
            <a:extLst>
              <a:ext uri="{FF2B5EF4-FFF2-40B4-BE49-F238E27FC236}">
                <a16:creationId xmlns:a16="http://schemas.microsoft.com/office/drawing/2014/main" id="{51157A7E-C0CB-D665-8B4F-9A8252C692BE}"/>
              </a:ext>
            </a:extLst>
          </p:cNvPr>
          <p:cNvSpPr/>
          <p:nvPr/>
        </p:nvSpPr>
        <p:spPr>
          <a:xfrm>
            <a:off x="731520" y="4426082"/>
            <a:ext cx="3771207" cy="813043"/>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
        <p:nvSpPr>
          <p:cNvPr id="37" name="Rectangle 36">
            <a:extLst>
              <a:ext uri="{FF2B5EF4-FFF2-40B4-BE49-F238E27FC236}">
                <a16:creationId xmlns:a16="http://schemas.microsoft.com/office/drawing/2014/main" id="{A80D3363-1CC2-EA18-CB27-A50B12284B64}"/>
              </a:ext>
            </a:extLst>
          </p:cNvPr>
          <p:cNvSpPr/>
          <p:nvPr/>
        </p:nvSpPr>
        <p:spPr>
          <a:xfrm>
            <a:off x="6217920" y="1612861"/>
            <a:ext cx="3604953" cy="813043"/>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
        <p:nvSpPr>
          <p:cNvPr id="39" name="Rectangle 38">
            <a:extLst>
              <a:ext uri="{FF2B5EF4-FFF2-40B4-BE49-F238E27FC236}">
                <a16:creationId xmlns:a16="http://schemas.microsoft.com/office/drawing/2014/main" id="{23D9CC80-417B-4BA9-43A8-7DCDD6818405}"/>
              </a:ext>
            </a:extLst>
          </p:cNvPr>
          <p:cNvSpPr/>
          <p:nvPr/>
        </p:nvSpPr>
        <p:spPr>
          <a:xfrm>
            <a:off x="6204060" y="2998317"/>
            <a:ext cx="3618813" cy="813043"/>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dirty="0"/>
          </a:p>
        </p:txBody>
      </p:sp>
      <p:sp>
        <p:nvSpPr>
          <p:cNvPr id="41" name="Rectangle 40">
            <a:extLst>
              <a:ext uri="{FF2B5EF4-FFF2-40B4-BE49-F238E27FC236}">
                <a16:creationId xmlns:a16="http://schemas.microsoft.com/office/drawing/2014/main" id="{CC34E9A4-F79A-EF51-294D-ECC662EE394D}"/>
              </a:ext>
            </a:extLst>
          </p:cNvPr>
          <p:cNvSpPr/>
          <p:nvPr/>
        </p:nvSpPr>
        <p:spPr>
          <a:xfrm>
            <a:off x="6231773" y="4439186"/>
            <a:ext cx="3604953" cy="813043"/>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3657600" cy="182880"/>
          </a:xfrm>
          <a:prstGeom prst="rect">
            <a:avLst/>
          </a:prstGeom>
          <a:noFill/>
        </p:spPr>
        <p:txBody>
          <a:bodyPr wrap="square" lIns="54864" tIns="54864" rIns="54864" bIns="54864" anchor="t">
            <a:spAutoFit/>
          </a:bodyPr>
          <a:lstStyle/>
          <a:p>
            <a:pPr algn="l"/>
            <a:r>
              <a:rPr sz="1000" b="1">
                <a:solidFill>
                  <a:srgbClr val="E9C46A"/>
                </a:solidFill>
                <a:latin typeface="Aptos"/>
              </a:rPr>
              <a:t>03  /  inspection</a:t>
            </a:r>
          </a:p>
        </p:txBody>
      </p:sp>
      <p:sp>
        <p:nvSpPr>
          <p:cNvPr id="3" name="TextBox 2"/>
          <p:cNvSpPr txBox="1"/>
          <p:nvPr/>
        </p:nvSpPr>
        <p:spPr>
          <a:xfrm>
            <a:off x="548640" y="658368"/>
            <a:ext cx="8046720" cy="541687"/>
          </a:xfrm>
          <a:prstGeom prst="rect">
            <a:avLst/>
          </a:prstGeom>
          <a:noFill/>
        </p:spPr>
        <p:txBody>
          <a:bodyPr wrap="square" lIns="54864" tIns="54864" rIns="54864" bIns="54864" anchor="t">
            <a:spAutoFit/>
          </a:bodyPr>
          <a:lstStyle/>
          <a:p>
            <a:pPr algn="l"/>
            <a:r>
              <a:rPr sz="2800" b="1" dirty="0">
                <a:solidFill>
                  <a:srgbClr val="FFFFFF"/>
                </a:solidFill>
                <a:latin typeface="Aptos Display"/>
              </a:rPr>
              <a:t>How to read the symbols and suffixes</a:t>
            </a:r>
          </a:p>
        </p:txBody>
      </p:sp>
      <p:sp>
        <p:nvSpPr>
          <p:cNvPr id="4" name="Rounded Rectangle 3"/>
          <p:cNvSpPr/>
          <p:nvPr/>
        </p:nvSpPr>
        <p:spPr>
          <a:xfrm>
            <a:off x="777240" y="1572768"/>
            <a:ext cx="4983480" cy="896112"/>
          </a:xfrm>
          <a:prstGeom prst="roundRect">
            <a:avLst>
              <a:gd name="adj" fmla="val 8000"/>
            </a:avLst>
          </a:prstGeom>
          <a:solidFill>
            <a:schemeClr val="bg1"/>
          </a:solidFill>
          <a:ln>
            <a:solidFill>
              <a:srgbClr val="1831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78408" y="1737360"/>
            <a:ext cx="1965960" cy="418576"/>
          </a:xfrm>
          <a:prstGeom prst="rect">
            <a:avLst/>
          </a:prstGeom>
          <a:noFill/>
        </p:spPr>
        <p:txBody>
          <a:bodyPr wrap="square" lIns="54864" tIns="54864" rIns="54864" bIns="54864" anchor="t">
            <a:spAutoFit/>
          </a:bodyPr>
          <a:lstStyle/>
          <a:p>
            <a:pPr algn="l"/>
            <a:r>
              <a:rPr sz="2000" b="1" dirty="0" err="1">
                <a:solidFill>
                  <a:srgbClr val="E76F51"/>
                </a:solidFill>
                <a:latin typeface="Aptos Display"/>
              </a:rPr>
              <a:t>NaN</a:t>
            </a:r>
            <a:endParaRPr sz="2000" b="1" dirty="0">
              <a:solidFill>
                <a:srgbClr val="E76F51"/>
              </a:solidFill>
              <a:latin typeface="Aptos Display"/>
            </a:endParaRPr>
          </a:p>
        </p:txBody>
      </p:sp>
      <p:sp>
        <p:nvSpPr>
          <p:cNvPr id="6" name="TextBox 5"/>
          <p:cNvSpPr txBox="1"/>
          <p:nvPr/>
        </p:nvSpPr>
        <p:spPr>
          <a:xfrm>
            <a:off x="2834640" y="1737360"/>
            <a:ext cx="2697480" cy="603242"/>
          </a:xfrm>
          <a:prstGeom prst="rect">
            <a:avLst/>
          </a:prstGeom>
          <a:noFill/>
        </p:spPr>
        <p:txBody>
          <a:bodyPr wrap="square" lIns="54864" tIns="54864" rIns="54864" bIns="54864" anchor="t">
            <a:spAutoFit/>
          </a:bodyPr>
          <a:lstStyle/>
          <a:p>
            <a:pPr algn="l"/>
            <a:r>
              <a:rPr sz="1600" b="0" dirty="0">
                <a:latin typeface="Aptos"/>
              </a:rPr>
              <a:t>missing value; not automatically zero or normal</a:t>
            </a:r>
          </a:p>
        </p:txBody>
      </p:sp>
      <p:sp>
        <p:nvSpPr>
          <p:cNvPr id="7" name="Rounded Rectangle 6"/>
          <p:cNvSpPr/>
          <p:nvPr/>
        </p:nvSpPr>
        <p:spPr>
          <a:xfrm>
            <a:off x="6263640" y="1572768"/>
            <a:ext cx="4983480" cy="896112"/>
          </a:xfrm>
          <a:prstGeom prst="roundRect">
            <a:avLst>
              <a:gd name="adj" fmla="val 8000"/>
            </a:avLst>
          </a:prstGeom>
          <a:solidFill>
            <a:schemeClr val="bg1"/>
          </a:solidFill>
          <a:ln>
            <a:solidFill>
              <a:srgbClr val="1831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64807" y="1737360"/>
            <a:ext cx="1965960" cy="387798"/>
          </a:xfrm>
          <a:prstGeom prst="rect">
            <a:avLst/>
          </a:prstGeom>
          <a:noFill/>
        </p:spPr>
        <p:txBody>
          <a:bodyPr wrap="square" lIns="54864" tIns="54864" rIns="54864" bIns="54864" anchor="t">
            <a:spAutoFit/>
          </a:bodyPr>
          <a:lstStyle/>
          <a:p>
            <a:pPr algn="l"/>
            <a:r>
              <a:rPr b="1" dirty="0">
                <a:solidFill>
                  <a:srgbClr val="599DB5"/>
                </a:solidFill>
                <a:latin typeface="Aptos Display"/>
              </a:rPr>
              <a:t>*_last</a:t>
            </a:r>
          </a:p>
        </p:txBody>
      </p:sp>
      <p:sp>
        <p:nvSpPr>
          <p:cNvPr id="9" name="TextBox 8"/>
          <p:cNvSpPr txBox="1"/>
          <p:nvPr/>
        </p:nvSpPr>
        <p:spPr>
          <a:xfrm>
            <a:off x="8321040" y="1737360"/>
            <a:ext cx="2926080" cy="603242"/>
          </a:xfrm>
          <a:prstGeom prst="rect">
            <a:avLst/>
          </a:prstGeom>
          <a:noFill/>
        </p:spPr>
        <p:txBody>
          <a:bodyPr wrap="square" lIns="54864" tIns="54864" rIns="54864" bIns="54864" anchor="t">
            <a:spAutoFit/>
          </a:bodyPr>
          <a:lstStyle/>
          <a:p>
            <a:pPr algn="l"/>
            <a:r>
              <a:rPr sz="1600" b="0" dirty="0">
                <a:latin typeface="Aptos"/>
              </a:rPr>
              <a:t>last recorded ED measurement in the defined window</a:t>
            </a:r>
          </a:p>
        </p:txBody>
      </p:sp>
      <p:sp>
        <p:nvSpPr>
          <p:cNvPr id="10" name="Rounded Rectangle 9"/>
          <p:cNvSpPr/>
          <p:nvPr/>
        </p:nvSpPr>
        <p:spPr>
          <a:xfrm>
            <a:off x="777240" y="2898648"/>
            <a:ext cx="4983480" cy="896112"/>
          </a:xfrm>
          <a:prstGeom prst="roundRect">
            <a:avLst>
              <a:gd name="adj" fmla="val 8000"/>
            </a:avLst>
          </a:prstGeom>
          <a:solidFill>
            <a:schemeClr val="bg1"/>
          </a:solidFill>
          <a:ln>
            <a:solidFill>
              <a:srgbClr val="1831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063240"/>
            <a:ext cx="1965960" cy="664797"/>
          </a:xfrm>
          <a:prstGeom prst="rect">
            <a:avLst/>
          </a:prstGeom>
          <a:noFill/>
        </p:spPr>
        <p:txBody>
          <a:bodyPr wrap="square" lIns="54864" tIns="54864" rIns="54864" bIns="54864" anchor="t">
            <a:spAutoFit/>
          </a:bodyPr>
          <a:lstStyle/>
          <a:p>
            <a:pPr algn="l"/>
            <a:r>
              <a:rPr b="1" dirty="0">
                <a:solidFill>
                  <a:srgbClr val="E9C46A"/>
                </a:solidFill>
                <a:latin typeface="Aptos Display"/>
              </a:rPr>
              <a:t>n_*_30d / 90d / 365d</a:t>
            </a:r>
          </a:p>
        </p:txBody>
      </p:sp>
      <p:sp>
        <p:nvSpPr>
          <p:cNvPr id="12" name="TextBox 11"/>
          <p:cNvSpPr txBox="1"/>
          <p:nvPr/>
        </p:nvSpPr>
        <p:spPr>
          <a:xfrm>
            <a:off x="2834640" y="3063240"/>
            <a:ext cx="2697480" cy="603242"/>
          </a:xfrm>
          <a:prstGeom prst="rect">
            <a:avLst/>
          </a:prstGeom>
          <a:noFill/>
        </p:spPr>
        <p:txBody>
          <a:bodyPr wrap="square" lIns="54864" tIns="54864" rIns="54864" bIns="54864" anchor="t">
            <a:spAutoFit/>
          </a:bodyPr>
          <a:lstStyle/>
          <a:p>
            <a:pPr algn="l"/>
            <a:r>
              <a:rPr sz="1600" b="0" dirty="0">
                <a:latin typeface="Aptos"/>
              </a:rPr>
              <a:t>count over a prior utilization window</a:t>
            </a:r>
          </a:p>
        </p:txBody>
      </p:sp>
      <p:sp>
        <p:nvSpPr>
          <p:cNvPr id="13" name="Rounded Rectangle 12"/>
          <p:cNvSpPr/>
          <p:nvPr/>
        </p:nvSpPr>
        <p:spPr>
          <a:xfrm>
            <a:off x="6263640" y="2898648"/>
            <a:ext cx="4983480" cy="896112"/>
          </a:xfrm>
          <a:prstGeom prst="roundRect">
            <a:avLst>
              <a:gd name="adj" fmla="val 8000"/>
            </a:avLst>
          </a:prstGeom>
          <a:solidFill>
            <a:schemeClr val="bg1"/>
          </a:solidFill>
          <a:ln>
            <a:solidFill>
              <a:srgbClr val="1831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807" y="3063240"/>
            <a:ext cx="1965960" cy="387798"/>
          </a:xfrm>
          <a:prstGeom prst="rect">
            <a:avLst/>
          </a:prstGeom>
          <a:noFill/>
        </p:spPr>
        <p:txBody>
          <a:bodyPr wrap="square" lIns="54864" tIns="54864" rIns="54864" bIns="54864" anchor="t">
            <a:spAutoFit/>
          </a:bodyPr>
          <a:lstStyle/>
          <a:p>
            <a:pPr algn="l"/>
            <a:r>
              <a:rPr b="1" dirty="0">
                <a:solidFill>
                  <a:srgbClr val="0F766E"/>
                </a:solidFill>
                <a:latin typeface="Aptos Display"/>
              </a:rPr>
              <a:t>outcome_*</a:t>
            </a:r>
          </a:p>
        </p:txBody>
      </p:sp>
      <p:sp>
        <p:nvSpPr>
          <p:cNvPr id="15" name="TextBox 14"/>
          <p:cNvSpPr txBox="1"/>
          <p:nvPr/>
        </p:nvSpPr>
        <p:spPr>
          <a:xfrm>
            <a:off x="8321040" y="3063240"/>
            <a:ext cx="2697480" cy="603242"/>
          </a:xfrm>
          <a:prstGeom prst="rect">
            <a:avLst/>
          </a:prstGeom>
          <a:noFill/>
        </p:spPr>
        <p:txBody>
          <a:bodyPr wrap="square" lIns="54864" tIns="54864" rIns="54864" bIns="54864" anchor="t">
            <a:spAutoFit/>
          </a:bodyPr>
          <a:lstStyle/>
          <a:p>
            <a:pPr algn="l"/>
            <a:r>
              <a:rPr sz="1600" b="0" dirty="0">
                <a:latin typeface="Aptos"/>
              </a:rPr>
              <a:t>label or downstream event, not a triage observation</a:t>
            </a:r>
          </a:p>
        </p:txBody>
      </p:sp>
      <p:sp>
        <p:nvSpPr>
          <p:cNvPr id="16" name="Rounded Rectangle 15"/>
          <p:cNvSpPr/>
          <p:nvPr/>
        </p:nvSpPr>
        <p:spPr>
          <a:xfrm>
            <a:off x="777240" y="4224528"/>
            <a:ext cx="4983480" cy="896112"/>
          </a:xfrm>
          <a:prstGeom prst="roundRect">
            <a:avLst>
              <a:gd name="adj" fmla="val 8000"/>
            </a:avLst>
          </a:prstGeom>
          <a:solidFill>
            <a:schemeClr val="bg1"/>
          </a:solidFill>
          <a:ln>
            <a:solidFill>
              <a:srgbClr val="1831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8408" y="4389120"/>
            <a:ext cx="1965960" cy="387798"/>
          </a:xfrm>
          <a:prstGeom prst="rect">
            <a:avLst/>
          </a:prstGeom>
          <a:noFill/>
        </p:spPr>
        <p:txBody>
          <a:bodyPr wrap="square" lIns="54864" tIns="54864" rIns="54864" bIns="54864" anchor="t">
            <a:spAutoFit/>
          </a:bodyPr>
          <a:lstStyle/>
          <a:p>
            <a:pPr algn="l"/>
            <a:r>
              <a:rPr b="1" dirty="0">
                <a:solidFill>
                  <a:srgbClr val="E76F51"/>
                </a:solidFill>
                <a:latin typeface="Aptos Display"/>
              </a:rPr>
              <a:t>_iterative</a:t>
            </a:r>
          </a:p>
        </p:txBody>
      </p:sp>
      <p:sp>
        <p:nvSpPr>
          <p:cNvPr id="18" name="TextBox 17"/>
          <p:cNvSpPr txBox="1"/>
          <p:nvPr/>
        </p:nvSpPr>
        <p:spPr>
          <a:xfrm>
            <a:off x="2834640" y="4389120"/>
            <a:ext cx="2926080" cy="603242"/>
          </a:xfrm>
          <a:prstGeom prst="rect">
            <a:avLst/>
          </a:prstGeom>
          <a:noFill/>
        </p:spPr>
        <p:txBody>
          <a:bodyPr wrap="square" lIns="54864" tIns="54864" rIns="54864" bIns="54864" anchor="t">
            <a:spAutoFit/>
          </a:bodyPr>
          <a:lstStyle/>
          <a:p>
            <a:pPr algn="l"/>
            <a:r>
              <a:rPr sz="1600" b="0" dirty="0">
                <a:latin typeface="Aptos"/>
              </a:rPr>
              <a:t>a new imputed analysis column; raw field is preserved</a:t>
            </a:r>
          </a:p>
        </p:txBody>
      </p:sp>
      <p:sp>
        <p:nvSpPr>
          <p:cNvPr id="19" name="Rounded Rectangle 18"/>
          <p:cNvSpPr/>
          <p:nvPr/>
        </p:nvSpPr>
        <p:spPr>
          <a:xfrm>
            <a:off x="6263640" y="4224528"/>
            <a:ext cx="4983480" cy="896112"/>
          </a:xfrm>
          <a:prstGeom prst="roundRect">
            <a:avLst>
              <a:gd name="adj" fmla="val 8000"/>
            </a:avLst>
          </a:prstGeom>
          <a:solidFill>
            <a:schemeClr val="bg1"/>
          </a:solidFill>
          <a:ln>
            <a:solidFill>
              <a:srgbClr val="1831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64807" y="4389120"/>
            <a:ext cx="1965960" cy="387798"/>
          </a:xfrm>
          <a:prstGeom prst="rect">
            <a:avLst/>
          </a:prstGeom>
          <a:noFill/>
        </p:spPr>
        <p:txBody>
          <a:bodyPr wrap="square" lIns="54864" tIns="54864" rIns="54864" bIns="54864" anchor="t">
            <a:spAutoFit/>
          </a:bodyPr>
          <a:lstStyle/>
          <a:p>
            <a:pPr algn="l"/>
            <a:r>
              <a:rPr b="1" dirty="0">
                <a:solidFill>
                  <a:srgbClr val="599DB5"/>
                </a:solidFill>
                <a:latin typeface="Aptos Display"/>
              </a:rPr>
              <a:t>%</a:t>
            </a:r>
          </a:p>
        </p:txBody>
      </p:sp>
      <p:sp>
        <p:nvSpPr>
          <p:cNvPr id="21" name="TextBox 20"/>
          <p:cNvSpPr txBox="1"/>
          <p:nvPr/>
        </p:nvSpPr>
        <p:spPr>
          <a:xfrm>
            <a:off x="8321040" y="4389120"/>
            <a:ext cx="2697480" cy="603242"/>
          </a:xfrm>
          <a:prstGeom prst="rect">
            <a:avLst/>
          </a:prstGeom>
          <a:noFill/>
        </p:spPr>
        <p:txBody>
          <a:bodyPr wrap="square" lIns="54864" tIns="54864" rIns="54864" bIns="54864" anchor="t">
            <a:spAutoFit/>
          </a:bodyPr>
          <a:lstStyle/>
          <a:p>
            <a:pPr algn="l"/>
            <a:r>
              <a:rPr sz="1600" b="0" dirty="0">
                <a:latin typeface="Aptos"/>
              </a:rPr>
              <a:t>a proportion expressed per 100 rows</a:t>
            </a:r>
          </a:p>
        </p:txBody>
      </p:sp>
      <p:sp>
        <p:nvSpPr>
          <p:cNvPr id="22" name="TextBox 21"/>
          <p:cNvSpPr txBox="1"/>
          <p:nvPr/>
        </p:nvSpPr>
        <p:spPr>
          <a:xfrm>
            <a:off x="777240" y="5870448"/>
            <a:ext cx="9875520" cy="418576"/>
          </a:xfrm>
          <a:prstGeom prst="rect">
            <a:avLst/>
          </a:prstGeom>
          <a:noFill/>
        </p:spPr>
        <p:txBody>
          <a:bodyPr wrap="square" lIns="54864" tIns="54864" rIns="54864" bIns="54864" anchor="t">
            <a:spAutoFit/>
          </a:bodyPr>
          <a:lstStyle/>
          <a:p>
            <a:pPr algn="l"/>
            <a:r>
              <a:rPr sz="2000" b="1" dirty="0">
                <a:highlight>
                  <a:srgbClr val="FFFF00"/>
                </a:highlight>
                <a:latin typeface="Aptos"/>
              </a:rPr>
              <a:t>The same column name carries both a data type and a time meaning.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206240" cy="228600"/>
          </a:xfrm>
          <a:prstGeom prst="rect">
            <a:avLst/>
          </a:prstGeom>
          <a:noFill/>
        </p:spPr>
        <p:txBody>
          <a:bodyPr wrap="square" lIns="54864" tIns="54864" rIns="54864" bIns="54864" anchor="t">
            <a:spAutoFit/>
          </a:bodyPr>
          <a:lstStyle/>
          <a:p>
            <a:pPr algn="l"/>
            <a:r>
              <a:rPr sz="1000" b="1">
                <a:solidFill>
                  <a:srgbClr val="0F766E"/>
                </a:solidFill>
                <a:latin typeface="Aptos"/>
              </a:rPr>
              <a:t>03  /  INSPECTION</a:t>
            </a:r>
          </a:p>
        </p:txBody>
      </p:sp>
      <p:sp>
        <p:nvSpPr>
          <p:cNvPr id="3" name="TextBox 2"/>
          <p:cNvSpPr txBox="1"/>
          <p:nvPr/>
        </p:nvSpPr>
        <p:spPr>
          <a:xfrm>
            <a:off x="548640" y="566928"/>
            <a:ext cx="10424160" cy="541687"/>
          </a:xfrm>
          <a:prstGeom prst="rect">
            <a:avLst/>
          </a:prstGeom>
          <a:noFill/>
        </p:spPr>
        <p:txBody>
          <a:bodyPr wrap="square" lIns="54864" tIns="54864" rIns="54864" bIns="54864" anchor="t">
            <a:spAutoFit/>
          </a:bodyPr>
          <a:lstStyle/>
          <a:p>
            <a:pPr algn="l"/>
            <a:r>
              <a:rPr sz="2800" b="1" dirty="0">
                <a:solidFill>
                  <a:srgbClr val="0B1F33"/>
                </a:solidFill>
                <a:latin typeface="Aptos Display"/>
              </a:rPr>
              <a:t>Summary statistics are compact descriptions, not verdicts</a:t>
            </a:r>
          </a:p>
        </p:txBody>
      </p:sp>
      <p:sp>
        <p:nvSpPr>
          <p:cNvPr id="4" name="TextBox 3"/>
          <p:cNvSpPr txBox="1"/>
          <p:nvPr/>
        </p:nvSpPr>
        <p:spPr>
          <a:xfrm>
            <a:off x="10652760" y="310896"/>
            <a:ext cx="914400" cy="201168"/>
          </a:xfrm>
          <a:prstGeom prst="rect">
            <a:avLst/>
          </a:prstGeom>
          <a:noFill/>
        </p:spPr>
        <p:txBody>
          <a:bodyPr wrap="square" lIns="54864" tIns="54864" rIns="54864" bIns="54864" anchor="t">
            <a:spAutoFit/>
          </a:bodyPr>
          <a:lstStyle/>
          <a:p>
            <a:pPr algn="r"/>
            <a:r>
              <a:rPr sz="1000" b="1">
                <a:solidFill>
                  <a:srgbClr val="5B6971"/>
                </a:solidFill>
                <a:latin typeface="Aptos"/>
              </a:rPr>
              <a:t>M1  /  10</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600200"/>
            <a:ext cx="3108960" cy="11430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600200"/>
            <a:ext cx="91440" cy="1143000"/>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653802"/>
            <a:ext cx="2468880" cy="418576"/>
          </a:xfrm>
          <a:prstGeom prst="rect">
            <a:avLst/>
          </a:prstGeom>
          <a:noFill/>
        </p:spPr>
        <p:txBody>
          <a:bodyPr wrap="square" lIns="54864" tIns="54864" rIns="54864" bIns="54864" anchor="t">
            <a:spAutoFit/>
          </a:bodyPr>
          <a:lstStyle/>
          <a:p>
            <a:pPr algn="l"/>
            <a:r>
              <a:rPr sz="2000" b="1" dirty="0">
                <a:solidFill>
                  <a:srgbClr val="0B1F33"/>
                </a:solidFill>
                <a:latin typeface="Aptos Display"/>
              </a:rPr>
              <a:t>Mean</a:t>
            </a:r>
          </a:p>
        </p:txBody>
      </p:sp>
      <p:sp>
        <p:nvSpPr>
          <p:cNvPr id="9" name="TextBox 8"/>
          <p:cNvSpPr txBox="1"/>
          <p:nvPr/>
        </p:nvSpPr>
        <p:spPr>
          <a:xfrm>
            <a:off x="1005840" y="1994818"/>
            <a:ext cx="2606040" cy="541687"/>
          </a:xfrm>
          <a:prstGeom prst="rect">
            <a:avLst/>
          </a:prstGeom>
          <a:noFill/>
        </p:spPr>
        <p:txBody>
          <a:bodyPr wrap="square" lIns="54864" tIns="54864" rIns="54864" bIns="54864" anchor="t">
            <a:spAutoFit/>
          </a:bodyPr>
          <a:lstStyle/>
          <a:p>
            <a:pPr algn="l"/>
            <a:r>
              <a:rPr sz="1400" b="0" dirty="0">
                <a:solidFill>
                  <a:srgbClr val="23303A"/>
                </a:solidFill>
                <a:latin typeface="Aptos"/>
              </a:rPr>
              <a:t>arithmetic average; sensitive to extreme values</a:t>
            </a:r>
          </a:p>
        </p:txBody>
      </p:sp>
      <p:sp>
        <p:nvSpPr>
          <p:cNvPr id="10" name="TextBox 9"/>
          <p:cNvSpPr txBox="1"/>
          <p:nvPr/>
        </p:nvSpPr>
        <p:spPr>
          <a:xfrm>
            <a:off x="1005840" y="2438654"/>
            <a:ext cx="2560320" cy="326243"/>
          </a:xfrm>
          <a:prstGeom prst="rect">
            <a:avLst/>
          </a:prstGeom>
          <a:noFill/>
        </p:spPr>
        <p:txBody>
          <a:bodyPr wrap="square" lIns="54864" tIns="54864" rIns="54864" bIns="54864" anchor="t">
            <a:spAutoFit/>
          </a:bodyPr>
          <a:lstStyle/>
          <a:p>
            <a:pPr algn="l"/>
            <a:r>
              <a:rPr sz="1400" b="1" dirty="0">
                <a:solidFill>
                  <a:srgbClr val="E76F51"/>
                </a:solidFill>
                <a:latin typeface="Aptos"/>
              </a:rPr>
              <a:t>sum(x) / n</a:t>
            </a:r>
          </a:p>
        </p:txBody>
      </p:sp>
      <p:sp>
        <p:nvSpPr>
          <p:cNvPr id="11" name="Rectangle 10"/>
          <p:cNvSpPr/>
          <p:nvPr/>
        </p:nvSpPr>
        <p:spPr>
          <a:xfrm>
            <a:off x="4480559" y="1600200"/>
            <a:ext cx="3108960" cy="11430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80559" y="1600200"/>
            <a:ext cx="91440" cy="114300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54879" y="1709928"/>
            <a:ext cx="2468880" cy="418576"/>
          </a:xfrm>
          <a:prstGeom prst="rect">
            <a:avLst/>
          </a:prstGeom>
          <a:noFill/>
        </p:spPr>
        <p:txBody>
          <a:bodyPr wrap="square" lIns="54864" tIns="54864" rIns="54864" bIns="54864" anchor="t">
            <a:spAutoFit/>
          </a:bodyPr>
          <a:lstStyle/>
          <a:p>
            <a:pPr algn="l"/>
            <a:r>
              <a:rPr sz="2000" b="1" dirty="0">
                <a:solidFill>
                  <a:srgbClr val="0B1F33"/>
                </a:solidFill>
                <a:latin typeface="Aptos Display"/>
              </a:rPr>
              <a:t>Standard deviation</a:t>
            </a:r>
          </a:p>
        </p:txBody>
      </p:sp>
      <p:sp>
        <p:nvSpPr>
          <p:cNvPr id="14" name="TextBox 13"/>
          <p:cNvSpPr txBox="1"/>
          <p:nvPr/>
        </p:nvSpPr>
        <p:spPr>
          <a:xfrm>
            <a:off x="4754879" y="2065966"/>
            <a:ext cx="2606040" cy="326243"/>
          </a:xfrm>
          <a:prstGeom prst="rect">
            <a:avLst/>
          </a:prstGeom>
          <a:noFill/>
        </p:spPr>
        <p:txBody>
          <a:bodyPr wrap="square" lIns="54864" tIns="54864" rIns="54864" bIns="54864" anchor="t">
            <a:spAutoFit/>
          </a:bodyPr>
          <a:lstStyle/>
          <a:p>
            <a:pPr algn="l"/>
            <a:r>
              <a:rPr sz="1400" b="0" dirty="0">
                <a:solidFill>
                  <a:srgbClr val="23303A"/>
                </a:solidFill>
                <a:latin typeface="Aptos"/>
              </a:rPr>
              <a:t>typical spread around the mean</a:t>
            </a:r>
          </a:p>
        </p:txBody>
      </p:sp>
      <p:sp>
        <p:nvSpPr>
          <p:cNvPr id="15" name="TextBox 14"/>
          <p:cNvSpPr txBox="1"/>
          <p:nvPr/>
        </p:nvSpPr>
        <p:spPr>
          <a:xfrm>
            <a:off x="4754879" y="2478024"/>
            <a:ext cx="2560320" cy="326243"/>
          </a:xfrm>
          <a:prstGeom prst="rect">
            <a:avLst/>
          </a:prstGeom>
          <a:noFill/>
        </p:spPr>
        <p:txBody>
          <a:bodyPr wrap="square" lIns="54864" tIns="54864" rIns="54864" bIns="54864" anchor="t">
            <a:spAutoFit/>
          </a:bodyPr>
          <a:lstStyle/>
          <a:p>
            <a:pPr algn="l"/>
            <a:r>
              <a:rPr sz="1400" b="1" dirty="0">
                <a:solidFill>
                  <a:srgbClr val="0F766E"/>
                </a:solidFill>
                <a:latin typeface="Aptos"/>
              </a:rPr>
              <a:t>sqrt(variance)</a:t>
            </a:r>
          </a:p>
        </p:txBody>
      </p:sp>
      <p:sp>
        <p:nvSpPr>
          <p:cNvPr id="16" name="Rectangle 15"/>
          <p:cNvSpPr/>
          <p:nvPr/>
        </p:nvSpPr>
        <p:spPr>
          <a:xfrm>
            <a:off x="8229600" y="1600200"/>
            <a:ext cx="3108960" cy="11430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229600" y="1600200"/>
            <a:ext cx="91440" cy="1143000"/>
          </a:xfrm>
          <a:prstGeom prst="rect">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20" y="1709928"/>
            <a:ext cx="2468880" cy="418576"/>
          </a:xfrm>
          <a:prstGeom prst="rect">
            <a:avLst/>
          </a:prstGeom>
          <a:noFill/>
        </p:spPr>
        <p:txBody>
          <a:bodyPr wrap="square" lIns="54864" tIns="54864" rIns="54864" bIns="54864" anchor="t">
            <a:spAutoFit/>
          </a:bodyPr>
          <a:lstStyle/>
          <a:p>
            <a:pPr algn="l"/>
            <a:r>
              <a:rPr sz="2000" b="1" dirty="0">
                <a:solidFill>
                  <a:srgbClr val="0B1F33"/>
                </a:solidFill>
                <a:latin typeface="Aptos Display"/>
              </a:rPr>
              <a:t>Median</a:t>
            </a:r>
          </a:p>
        </p:txBody>
      </p:sp>
      <p:sp>
        <p:nvSpPr>
          <p:cNvPr id="19" name="TextBox 18"/>
          <p:cNvSpPr txBox="1"/>
          <p:nvPr/>
        </p:nvSpPr>
        <p:spPr>
          <a:xfrm>
            <a:off x="8503920" y="2039112"/>
            <a:ext cx="2606040" cy="541687"/>
          </a:xfrm>
          <a:prstGeom prst="rect">
            <a:avLst/>
          </a:prstGeom>
          <a:noFill/>
        </p:spPr>
        <p:txBody>
          <a:bodyPr wrap="square" lIns="54864" tIns="54864" rIns="54864" bIns="54864" anchor="t">
            <a:spAutoFit/>
          </a:bodyPr>
          <a:lstStyle/>
          <a:p>
            <a:pPr algn="l"/>
            <a:r>
              <a:rPr sz="1400" b="0" dirty="0">
                <a:solidFill>
                  <a:srgbClr val="23303A"/>
                </a:solidFill>
                <a:latin typeface="Aptos"/>
              </a:rPr>
              <a:t>middle ordered value; robust to skew</a:t>
            </a:r>
          </a:p>
        </p:txBody>
      </p:sp>
      <p:sp>
        <p:nvSpPr>
          <p:cNvPr id="20" name="TextBox 19"/>
          <p:cNvSpPr txBox="1"/>
          <p:nvPr/>
        </p:nvSpPr>
        <p:spPr>
          <a:xfrm>
            <a:off x="8503920" y="2478024"/>
            <a:ext cx="2560320" cy="326243"/>
          </a:xfrm>
          <a:prstGeom prst="rect">
            <a:avLst/>
          </a:prstGeom>
          <a:noFill/>
        </p:spPr>
        <p:txBody>
          <a:bodyPr wrap="square" lIns="54864" tIns="54864" rIns="54864" bIns="54864" anchor="t">
            <a:spAutoFit/>
          </a:bodyPr>
          <a:lstStyle/>
          <a:p>
            <a:pPr algn="l"/>
            <a:r>
              <a:rPr sz="1400" b="1" dirty="0">
                <a:solidFill>
                  <a:srgbClr val="599DB5"/>
                </a:solidFill>
                <a:latin typeface="Aptos"/>
              </a:rPr>
              <a:t>50th percentile</a:t>
            </a:r>
          </a:p>
        </p:txBody>
      </p:sp>
      <p:sp>
        <p:nvSpPr>
          <p:cNvPr id="21" name="Rectangle 20"/>
          <p:cNvSpPr/>
          <p:nvPr/>
        </p:nvSpPr>
        <p:spPr>
          <a:xfrm>
            <a:off x="731520" y="3429000"/>
            <a:ext cx="3108960" cy="11430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31520" y="3429000"/>
            <a:ext cx="91440" cy="1143000"/>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05840" y="3538728"/>
            <a:ext cx="2468880" cy="418576"/>
          </a:xfrm>
          <a:prstGeom prst="rect">
            <a:avLst/>
          </a:prstGeom>
          <a:noFill/>
        </p:spPr>
        <p:txBody>
          <a:bodyPr wrap="square" lIns="54864" tIns="54864" rIns="54864" bIns="54864" anchor="t">
            <a:spAutoFit/>
          </a:bodyPr>
          <a:lstStyle/>
          <a:p>
            <a:pPr algn="l"/>
            <a:r>
              <a:rPr sz="2000" b="1" dirty="0">
                <a:solidFill>
                  <a:srgbClr val="0B1F33"/>
                </a:solidFill>
                <a:latin typeface="Aptos Display"/>
              </a:rPr>
              <a:t>IQR</a:t>
            </a:r>
          </a:p>
        </p:txBody>
      </p:sp>
      <p:sp>
        <p:nvSpPr>
          <p:cNvPr id="24" name="TextBox 23"/>
          <p:cNvSpPr txBox="1"/>
          <p:nvPr/>
        </p:nvSpPr>
        <p:spPr>
          <a:xfrm>
            <a:off x="1005840" y="3867912"/>
            <a:ext cx="2606040" cy="326243"/>
          </a:xfrm>
          <a:prstGeom prst="rect">
            <a:avLst/>
          </a:prstGeom>
          <a:noFill/>
        </p:spPr>
        <p:txBody>
          <a:bodyPr wrap="square" lIns="54864" tIns="54864" rIns="54864" bIns="54864" anchor="t">
            <a:spAutoFit/>
          </a:bodyPr>
          <a:lstStyle/>
          <a:p>
            <a:pPr algn="l"/>
            <a:r>
              <a:rPr sz="1400" b="0" dirty="0">
                <a:solidFill>
                  <a:srgbClr val="23303A"/>
                </a:solidFill>
                <a:latin typeface="Aptos"/>
              </a:rPr>
              <a:t>middle 50% of the distribution</a:t>
            </a:r>
          </a:p>
        </p:txBody>
      </p:sp>
      <p:sp>
        <p:nvSpPr>
          <p:cNvPr id="25" name="TextBox 24"/>
          <p:cNvSpPr txBox="1"/>
          <p:nvPr/>
        </p:nvSpPr>
        <p:spPr>
          <a:xfrm>
            <a:off x="1005840" y="4306824"/>
            <a:ext cx="2560320" cy="326243"/>
          </a:xfrm>
          <a:prstGeom prst="rect">
            <a:avLst/>
          </a:prstGeom>
          <a:noFill/>
        </p:spPr>
        <p:txBody>
          <a:bodyPr wrap="square" lIns="54864" tIns="54864" rIns="54864" bIns="54864" anchor="t">
            <a:spAutoFit/>
          </a:bodyPr>
          <a:lstStyle/>
          <a:p>
            <a:pPr algn="l"/>
            <a:r>
              <a:rPr sz="1400" b="1" dirty="0">
                <a:latin typeface="Aptos"/>
              </a:rPr>
              <a:t>75th - 25th percentile</a:t>
            </a:r>
          </a:p>
        </p:txBody>
      </p:sp>
      <p:sp>
        <p:nvSpPr>
          <p:cNvPr id="26" name="Rectangle 25"/>
          <p:cNvSpPr/>
          <p:nvPr/>
        </p:nvSpPr>
        <p:spPr>
          <a:xfrm>
            <a:off x="4480559" y="3429000"/>
            <a:ext cx="3108960" cy="11430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480559" y="3429000"/>
            <a:ext cx="91440" cy="1143000"/>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754879" y="3538728"/>
            <a:ext cx="2468880" cy="418576"/>
          </a:xfrm>
          <a:prstGeom prst="rect">
            <a:avLst/>
          </a:prstGeom>
          <a:noFill/>
        </p:spPr>
        <p:txBody>
          <a:bodyPr wrap="square" lIns="54864" tIns="54864" rIns="54864" bIns="54864" anchor="t">
            <a:spAutoFit/>
          </a:bodyPr>
          <a:lstStyle/>
          <a:p>
            <a:pPr algn="l"/>
            <a:r>
              <a:rPr sz="2000" b="1" dirty="0">
                <a:solidFill>
                  <a:srgbClr val="0B1F33"/>
                </a:solidFill>
                <a:latin typeface="Aptos Display"/>
              </a:rPr>
              <a:t>Percentiles</a:t>
            </a:r>
          </a:p>
        </p:txBody>
      </p:sp>
      <p:sp>
        <p:nvSpPr>
          <p:cNvPr id="29" name="TextBox 28"/>
          <p:cNvSpPr txBox="1"/>
          <p:nvPr/>
        </p:nvSpPr>
        <p:spPr>
          <a:xfrm>
            <a:off x="4732019" y="3827842"/>
            <a:ext cx="2606040" cy="603242"/>
          </a:xfrm>
          <a:prstGeom prst="rect">
            <a:avLst/>
          </a:prstGeom>
          <a:noFill/>
        </p:spPr>
        <p:txBody>
          <a:bodyPr wrap="square" lIns="54864" tIns="54864" rIns="54864" bIns="54864" anchor="t">
            <a:spAutoFit/>
          </a:bodyPr>
          <a:lstStyle/>
          <a:p>
            <a:pPr algn="l"/>
            <a:r>
              <a:rPr sz="1600" b="0" dirty="0">
                <a:solidFill>
                  <a:srgbClr val="23303A"/>
                </a:solidFill>
                <a:latin typeface="Aptos"/>
              </a:rPr>
              <a:t>locate values in the ordered distribution</a:t>
            </a:r>
          </a:p>
        </p:txBody>
      </p:sp>
      <p:sp>
        <p:nvSpPr>
          <p:cNvPr id="30" name="TextBox 29"/>
          <p:cNvSpPr txBox="1"/>
          <p:nvPr/>
        </p:nvSpPr>
        <p:spPr>
          <a:xfrm>
            <a:off x="4754879" y="4330369"/>
            <a:ext cx="2560320" cy="326243"/>
          </a:xfrm>
          <a:prstGeom prst="rect">
            <a:avLst/>
          </a:prstGeom>
          <a:noFill/>
        </p:spPr>
        <p:txBody>
          <a:bodyPr wrap="square" lIns="54864" tIns="54864" rIns="54864" bIns="54864" anchor="t">
            <a:spAutoFit/>
          </a:bodyPr>
          <a:lstStyle/>
          <a:p>
            <a:pPr algn="l"/>
            <a:r>
              <a:rPr sz="1400" b="1" dirty="0">
                <a:solidFill>
                  <a:srgbClr val="E76F51"/>
                </a:solidFill>
                <a:latin typeface="Aptos"/>
              </a:rPr>
              <a:t>p01, p25, p50, p75, p99</a:t>
            </a:r>
          </a:p>
        </p:txBody>
      </p:sp>
      <p:sp>
        <p:nvSpPr>
          <p:cNvPr id="31" name="Rectangle 30"/>
          <p:cNvSpPr/>
          <p:nvPr/>
        </p:nvSpPr>
        <p:spPr>
          <a:xfrm>
            <a:off x="8229600" y="3429000"/>
            <a:ext cx="3108960" cy="11430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229600" y="3429000"/>
            <a:ext cx="91440" cy="114300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503920" y="3538728"/>
            <a:ext cx="2468880" cy="418576"/>
          </a:xfrm>
          <a:prstGeom prst="rect">
            <a:avLst/>
          </a:prstGeom>
          <a:noFill/>
        </p:spPr>
        <p:txBody>
          <a:bodyPr wrap="square" lIns="54864" tIns="54864" rIns="54864" bIns="54864" anchor="t">
            <a:spAutoFit/>
          </a:bodyPr>
          <a:lstStyle/>
          <a:p>
            <a:pPr algn="l"/>
            <a:r>
              <a:rPr sz="2000" b="1" dirty="0">
                <a:solidFill>
                  <a:srgbClr val="0B1F33"/>
                </a:solidFill>
                <a:latin typeface="Aptos Display"/>
              </a:rPr>
              <a:t>Missing %</a:t>
            </a:r>
          </a:p>
        </p:txBody>
      </p:sp>
      <p:sp>
        <p:nvSpPr>
          <p:cNvPr id="34" name="TextBox 33"/>
          <p:cNvSpPr txBox="1"/>
          <p:nvPr/>
        </p:nvSpPr>
        <p:spPr>
          <a:xfrm>
            <a:off x="8503920" y="3867912"/>
            <a:ext cx="2606040" cy="326243"/>
          </a:xfrm>
          <a:prstGeom prst="rect">
            <a:avLst/>
          </a:prstGeom>
          <a:noFill/>
        </p:spPr>
        <p:txBody>
          <a:bodyPr wrap="square" lIns="54864" tIns="54864" rIns="54864" bIns="54864" anchor="t">
            <a:spAutoFit/>
          </a:bodyPr>
          <a:lstStyle/>
          <a:p>
            <a:pPr algn="l"/>
            <a:r>
              <a:rPr sz="1400" b="0" dirty="0">
                <a:solidFill>
                  <a:srgbClr val="23303A"/>
                </a:solidFill>
                <a:latin typeface="Aptos"/>
              </a:rPr>
              <a:t>how much of a column is absent</a:t>
            </a:r>
          </a:p>
        </p:txBody>
      </p:sp>
      <p:sp>
        <p:nvSpPr>
          <p:cNvPr id="35" name="TextBox 34"/>
          <p:cNvSpPr txBox="1"/>
          <p:nvPr/>
        </p:nvSpPr>
        <p:spPr>
          <a:xfrm>
            <a:off x="8503920" y="4306824"/>
            <a:ext cx="2560320" cy="326243"/>
          </a:xfrm>
          <a:prstGeom prst="rect">
            <a:avLst/>
          </a:prstGeom>
          <a:noFill/>
        </p:spPr>
        <p:txBody>
          <a:bodyPr wrap="square" lIns="54864" tIns="54864" rIns="54864" bIns="54864" anchor="t">
            <a:spAutoFit/>
          </a:bodyPr>
          <a:lstStyle/>
          <a:p>
            <a:pPr algn="l"/>
            <a:r>
              <a:rPr sz="1400" b="1" dirty="0">
                <a:solidFill>
                  <a:srgbClr val="0F766E"/>
                </a:solidFill>
                <a:latin typeface="Aptos"/>
              </a:rPr>
              <a:t>missing / total * 100</a:t>
            </a:r>
          </a:p>
        </p:txBody>
      </p:sp>
      <p:sp>
        <p:nvSpPr>
          <p:cNvPr id="36" name="TextBox 35"/>
          <p:cNvSpPr txBox="1"/>
          <p:nvPr/>
        </p:nvSpPr>
        <p:spPr>
          <a:xfrm>
            <a:off x="868680" y="5687568"/>
            <a:ext cx="10424160" cy="365760"/>
          </a:xfrm>
          <a:prstGeom prst="rect">
            <a:avLst/>
          </a:prstGeom>
          <a:noFill/>
        </p:spPr>
        <p:txBody>
          <a:bodyPr wrap="square" lIns="54864" tIns="54864" rIns="54864" bIns="54864" anchor="t">
            <a:spAutoFit/>
          </a:bodyPr>
          <a:lstStyle/>
          <a:p>
            <a:pPr algn="ctr"/>
            <a:r>
              <a:rPr sz="1800" b="1" dirty="0">
                <a:solidFill>
                  <a:srgbClr val="0B1F33"/>
                </a:solidFill>
                <a:latin typeface="Aptos"/>
              </a:rPr>
              <a:t>For skewed clinical variables, show the median and IQR alongside the mean and standard deviation.</a:t>
            </a:r>
          </a:p>
        </p:txBody>
      </p:sp>
      <p:sp>
        <p:nvSpPr>
          <p:cNvPr id="37" name="Rectangle 36"/>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206240" cy="228600"/>
          </a:xfrm>
          <a:prstGeom prst="rect">
            <a:avLst/>
          </a:prstGeom>
          <a:noFill/>
        </p:spPr>
        <p:txBody>
          <a:bodyPr wrap="square" lIns="54864" tIns="54864" rIns="54864" bIns="54864" anchor="t">
            <a:spAutoFit/>
          </a:bodyPr>
          <a:lstStyle/>
          <a:p>
            <a:pPr algn="l"/>
            <a:r>
              <a:rPr sz="1000" b="1">
                <a:solidFill>
                  <a:srgbClr val="0F766E"/>
                </a:solidFill>
                <a:latin typeface="Aptos"/>
              </a:rPr>
              <a:t>03  /  INSPECTION</a:t>
            </a:r>
          </a:p>
        </p:txBody>
      </p:sp>
      <p:sp>
        <p:nvSpPr>
          <p:cNvPr id="3" name="TextBox 2"/>
          <p:cNvSpPr txBox="1"/>
          <p:nvPr/>
        </p:nvSpPr>
        <p:spPr>
          <a:xfrm>
            <a:off x="548640" y="566928"/>
            <a:ext cx="10424160" cy="541687"/>
          </a:xfrm>
          <a:prstGeom prst="rect">
            <a:avLst/>
          </a:prstGeom>
          <a:noFill/>
        </p:spPr>
        <p:txBody>
          <a:bodyPr wrap="square" lIns="54864" tIns="54864" rIns="54864" bIns="54864" anchor="t">
            <a:spAutoFit/>
          </a:bodyPr>
          <a:lstStyle/>
          <a:p>
            <a:pPr algn="l"/>
            <a:r>
              <a:rPr sz="2800" b="1" dirty="0">
                <a:solidFill>
                  <a:srgbClr val="0B1F33"/>
                </a:solidFill>
                <a:latin typeface="Aptos Display"/>
              </a:rPr>
              <a:t>What the current M1 table says at a glance</a:t>
            </a:r>
          </a:p>
        </p:txBody>
      </p:sp>
      <p:sp>
        <p:nvSpPr>
          <p:cNvPr id="4" name="TextBox 3"/>
          <p:cNvSpPr txBox="1"/>
          <p:nvPr/>
        </p:nvSpPr>
        <p:spPr>
          <a:xfrm>
            <a:off x="10652760" y="310896"/>
            <a:ext cx="914400" cy="201168"/>
          </a:xfrm>
          <a:prstGeom prst="rect">
            <a:avLst/>
          </a:prstGeom>
          <a:noFill/>
        </p:spPr>
        <p:txBody>
          <a:bodyPr wrap="square" lIns="54864" tIns="54864" rIns="54864" bIns="54864" anchor="t">
            <a:spAutoFit/>
          </a:bodyPr>
          <a:lstStyle/>
          <a:p>
            <a:pPr algn="r"/>
            <a:r>
              <a:rPr sz="1000" b="1">
                <a:solidFill>
                  <a:srgbClr val="5B6971"/>
                </a:solidFill>
                <a:latin typeface="Aptos"/>
              </a:rPr>
              <a:t>M1  /  11</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72768"/>
            <a:ext cx="2286000" cy="541687"/>
          </a:xfrm>
          <a:prstGeom prst="rect">
            <a:avLst/>
          </a:prstGeom>
          <a:noFill/>
        </p:spPr>
        <p:txBody>
          <a:bodyPr wrap="square" lIns="54864" tIns="54864" rIns="54864" bIns="54864" anchor="t">
            <a:spAutoFit/>
          </a:bodyPr>
          <a:lstStyle/>
          <a:p>
            <a:pPr algn="l"/>
            <a:r>
              <a:rPr sz="2800" b="1">
                <a:solidFill>
                  <a:srgbClr val="E76F51"/>
                </a:solidFill>
                <a:latin typeface="Aptos Display"/>
              </a:rPr>
              <a:t>425,087</a:t>
            </a:r>
          </a:p>
        </p:txBody>
      </p:sp>
      <p:sp>
        <p:nvSpPr>
          <p:cNvPr id="7" name="TextBox 6"/>
          <p:cNvSpPr txBox="1"/>
          <p:nvPr/>
        </p:nvSpPr>
        <p:spPr>
          <a:xfrm>
            <a:off x="777240" y="2048256"/>
            <a:ext cx="2286000" cy="357021"/>
          </a:xfrm>
          <a:prstGeom prst="rect">
            <a:avLst/>
          </a:prstGeom>
          <a:noFill/>
        </p:spPr>
        <p:txBody>
          <a:bodyPr wrap="square" lIns="54864" tIns="54864" rIns="54864" bIns="54864" anchor="t">
            <a:spAutoFit/>
          </a:bodyPr>
          <a:lstStyle/>
          <a:p>
            <a:pPr algn="l"/>
            <a:r>
              <a:rPr sz="1600" b="0">
                <a:solidFill>
                  <a:srgbClr val="5B6971"/>
                </a:solidFill>
                <a:latin typeface="Aptos"/>
              </a:rPr>
              <a:t>ED-stay rows</a:t>
            </a:r>
          </a:p>
        </p:txBody>
      </p:sp>
      <p:sp>
        <p:nvSpPr>
          <p:cNvPr id="8" name="TextBox 7"/>
          <p:cNvSpPr txBox="1"/>
          <p:nvPr/>
        </p:nvSpPr>
        <p:spPr>
          <a:xfrm>
            <a:off x="3063240" y="1572768"/>
            <a:ext cx="2286000" cy="541687"/>
          </a:xfrm>
          <a:prstGeom prst="rect">
            <a:avLst/>
          </a:prstGeom>
          <a:noFill/>
        </p:spPr>
        <p:txBody>
          <a:bodyPr wrap="square" lIns="54864" tIns="54864" rIns="54864" bIns="54864" anchor="t">
            <a:spAutoFit/>
          </a:bodyPr>
          <a:lstStyle/>
          <a:p>
            <a:pPr algn="l"/>
            <a:r>
              <a:rPr sz="2800" b="1">
                <a:solidFill>
                  <a:srgbClr val="0F766E"/>
                </a:solidFill>
                <a:latin typeface="Aptos Display"/>
              </a:rPr>
              <a:t>120</a:t>
            </a:r>
          </a:p>
        </p:txBody>
      </p:sp>
      <p:sp>
        <p:nvSpPr>
          <p:cNvPr id="9" name="TextBox 8"/>
          <p:cNvSpPr txBox="1"/>
          <p:nvPr/>
        </p:nvSpPr>
        <p:spPr>
          <a:xfrm>
            <a:off x="3063240" y="2048256"/>
            <a:ext cx="2286000" cy="357021"/>
          </a:xfrm>
          <a:prstGeom prst="rect">
            <a:avLst/>
          </a:prstGeom>
          <a:noFill/>
        </p:spPr>
        <p:txBody>
          <a:bodyPr wrap="square" lIns="54864" tIns="54864" rIns="54864" bIns="54864" anchor="t">
            <a:spAutoFit/>
          </a:bodyPr>
          <a:lstStyle/>
          <a:p>
            <a:pPr algn="l"/>
            <a:r>
              <a:rPr sz="1600" b="0">
                <a:solidFill>
                  <a:srgbClr val="5B6971"/>
                </a:solidFill>
                <a:latin typeface="Aptos"/>
              </a:rPr>
              <a:t>variables in the CSV</a:t>
            </a:r>
          </a:p>
        </p:txBody>
      </p:sp>
      <p:sp>
        <p:nvSpPr>
          <p:cNvPr id="10" name="TextBox 9"/>
          <p:cNvSpPr txBox="1"/>
          <p:nvPr/>
        </p:nvSpPr>
        <p:spPr>
          <a:xfrm>
            <a:off x="5349240" y="1572768"/>
            <a:ext cx="2286000" cy="541687"/>
          </a:xfrm>
          <a:prstGeom prst="rect">
            <a:avLst/>
          </a:prstGeom>
          <a:noFill/>
        </p:spPr>
        <p:txBody>
          <a:bodyPr wrap="square" lIns="54864" tIns="54864" rIns="54864" bIns="54864" anchor="t">
            <a:spAutoFit/>
          </a:bodyPr>
          <a:lstStyle/>
          <a:p>
            <a:pPr algn="l"/>
            <a:r>
              <a:rPr sz="2800" b="1">
                <a:solidFill>
                  <a:srgbClr val="599DB5"/>
                </a:solidFill>
                <a:latin typeface="Aptos Display"/>
              </a:rPr>
              <a:t>205,504</a:t>
            </a:r>
          </a:p>
        </p:txBody>
      </p:sp>
      <p:sp>
        <p:nvSpPr>
          <p:cNvPr id="11" name="TextBox 10"/>
          <p:cNvSpPr txBox="1"/>
          <p:nvPr/>
        </p:nvSpPr>
        <p:spPr>
          <a:xfrm>
            <a:off x="5349240" y="2048256"/>
            <a:ext cx="2286000" cy="357021"/>
          </a:xfrm>
          <a:prstGeom prst="rect">
            <a:avLst/>
          </a:prstGeom>
          <a:noFill/>
        </p:spPr>
        <p:txBody>
          <a:bodyPr wrap="square" lIns="54864" tIns="54864" rIns="54864" bIns="54864" anchor="t">
            <a:spAutoFit/>
          </a:bodyPr>
          <a:lstStyle/>
          <a:p>
            <a:pPr algn="l"/>
            <a:r>
              <a:rPr sz="1600" b="0">
                <a:solidFill>
                  <a:srgbClr val="5B6971"/>
                </a:solidFill>
                <a:latin typeface="Aptos"/>
              </a:rPr>
              <a:t>unique subjects</a:t>
            </a:r>
          </a:p>
        </p:txBody>
      </p:sp>
      <p:sp>
        <p:nvSpPr>
          <p:cNvPr id="12" name="TextBox 11"/>
          <p:cNvSpPr txBox="1"/>
          <p:nvPr/>
        </p:nvSpPr>
        <p:spPr>
          <a:xfrm>
            <a:off x="7635240" y="1572768"/>
            <a:ext cx="2743200" cy="541687"/>
          </a:xfrm>
          <a:prstGeom prst="rect">
            <a:avLst/>
          </a:prstGeom>
          <a:noFill/>
        </p:spPr>
        <p:txBody>
          <a:bodyPr wrap="square" lIns="54864" tIns="54864" rIns="54864" bIns="54864" anchor="t">
            <a:spAutoFit/>
          </a:bodyPr>
          <a:lstStyle/>
          <a:p>
            <a:pPr algn="l"/>
            <a:r>
              <a:rPr sz="2800" b="1" dirty="0">
                <a:latin typeface="Aptos Display"/>
              </a:rPr>
              <a:t>69,952</a:t>
            </a:r>
          </a:p>
        </p:txBody>
      </p:sp>
      <p:sp>
        <p:nvSpPr>
          <p:cNvPr id="13" name="TextBox 12"/>
          <p:cNvSpPr txBox="1"/>
          <p:nvPr/>
        </p:nvSpPr>
        <p:spPr>
          <a:xfrm>
            <a:off x="7635240" y="2048256"/>
            <a:ext cx="2743200" cy="357021"/>
          </a:xfrm>
          <a:prstGeom prst="rect">
            <a:avLst/>
          </a:prstGeom>
          <a:noFill/>
        </p:spPr>
        <p:txBody>
          <a:bodyPr wrap="square" lIns="54864" tIns="54864" rIns="54864" bIns="54864" anchor="t">
            <a:spAutoFit/>
          </a:bodyPr>
          <a:lstStyle/>
          <a:p>
            <a:pPr algn="l"/>
            <a:r>
              <a:rPr sz="1600" b="0">
                <a:solidFill>
                  <a:srgbClr val="5B6971"/>
                </a:solidFill>
                <a:latin typeface="Aptos"/>
              </a:rPr>
              <a:t>subjects with multiple stays</a:t>
            </a:r>
          </a:p>
        </p:txBody>
      </p:sp>
      <p:sp>
        <p:nvSpPr>
          <p:cNvPr id="14" name="Rectangle 13"/>
          <p:cNvSpPr/>
          <p:nvPr/>
        </p:nvSpPr>
        <p:spPr>
          <a:xfrm>
            <a:off x="822960" y="2816352"/>
            <a:ext cx="2880360" cy="347472"/>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TextBox 14"/>
          <p:cNvSpPr txBox="1"/>
          <p:nvPr/>
        </p:nvSpPr>
        <p:spPr>
          <a:xfrm>
            <a:off x="868680" y="2898648"/>
            <a:ext cx="2788920" cy="326243"/>
          </a:xfrm>
          <a:prstGeom prst="rect">
            <a:avLst/>
          </a:prstGeom>
          <a:noFill/>
        </p:spPr>
        <p:txBody>
          <a:bodyPr wrap="square" lIns="54864" tIns="54864" rIns="54864" bIns="54864" anchor="t">
            <a:spAutoFit/>
          </a:bodyPr>
          <a:lstStyle/>
          <a:p>
            <a:pPr algn="ctr"/>
            <a:r>
              <a:rPr sz="1400" b="1">
                <a:solidFill>
                  <a:srgbClr val="FFFFFF"/>
                </a:solidFill>
                <a:latin typeface="Aptos"/>
              </a:rPr>
              <a:t>Variable</a:t>
            </a:r>
          </a:p>
        </p:txBody>
      </p:sp>
      <p:sp>
        <p:nvSpPr>
          <p:cNvPr id="16" name="Rectangle 15"/>
          <p:cNvSpPr/>
          <p:nvPr/>
        </p:nvSpPr>
        <p:spPr>
          <a:xfrm>
            <a:off x="3703320" y="2816352"/>
            <a:ext cx="1325880" cy="347472"/>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3749039" y="2898648"/>
            <a:ext cx="1234439" cy="326243"/>
          </a:xfrm>
          <a:prstGeom prst="rect">
            <a:avLst/>
          </a:prstGeom>
          <a:noFill/>
        </p:spPr>
        <p:txBody>
          <a:bodyPr wrap="square" lIns="54864" tIns="54864" rIns="54864" bIns="54864" anchor="t">
            <a:spAutoFit/>
          </a:bodyPr>
          <a:lstStyle/>
          <a:p>
            <a:pPr algn="ctr"/>
            <a:r>
              <a:rPr sz="1400" b="1">
                <a:solidFill>
                  <a:srgbClr val="FFFFFF"/>
                </a:solidFill>
                <a:latin typeface="Aptos"/>
              </a:rPr>
              <a:t>Median</a:t>
            </a:r>
          </a:p>
        </p:txBody>
      </p:sp>
      <p:sp>
        <p:nvSpPr>
          <p:cNvPr id="18" name="Rectangle 17"/>
          <p:cNvSpPr/>
          <p:nvPr/>
        </p:nvSpPr>
        <p:spPr>
          <a:xfrm>
            <a:off x="5029200" y="2816352"/>
            <a:ext cx="1325880" cy="347472"/>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9" name="TextBox 18"/>
          <p:cNvSpPr txBox="1"/>
          <p:nvPr/>
        </p:nvSpPr>
        <p:spPr>
          <a:xfrm>
            <a:off x="5074920" y="2898648"/>
            <a:ext cx="1234439" cy="326243"/>
          </a:xfrm>
          <a:prstGeom prst="rect">
            <a:avLst/>
          </a:prstGeom>
          <a:noFill/>
        </p:spPr>
        <p:txBody>
          <a:bodyPr wrap="square" lIns="54864" tIns="54864" rIns="54864" bIns="54864" anchor="t">
            <a:spAutoFit/>
          </a:bodyPr>
          <a:lstStyle/>
          <a:p>
            <a:pPr algn="ctr"/>
            <a:r>
              <a:rPr sz="1400" b="1">
                <a:solidFill>
                  <a:srgbClr val="FFFFFF"/>
                </a:solidFill>
                <a:latin typeface="Aptos"/>
              </a:rPr>
              <a:t>IQR</a:t>
            </a:r>
          </a:p>
        </p:txBody>
      </p:sp>
      <p:sp>
        <p:nvSpPr>
          <p:cNvPr id="20" name="Rectangle 19"/>
          <p:cNvSpPr/>
          <p:nvPr/>
        </p:nvSpPr>
        <p:spPr>
          <a:xfrm>
            <a:off x="6355080" y="2816352"/>
            <a:ext cx="1325880" cy="347472"/>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TextBox 20"/>
          <p:cNvSpPr txBox="1"/>
          <p:nvPr/>
        </p:nvSpPr>
        <p:spPr>
          <a:xfrm>
            <a:off x="6400800" y="2898648"/>
            <a:ext cx="1234439" cy="326243"/>
          </a:xfrm>
          <a:prstGeom prst="rect">
            <a:avLst/>
          </a:prstGeom>
          <a:noFill/>
        </p:spPr>
        <p:txBody>
          <a:bodyPr wrap="square" lIns="54864" tIns="54864" rIns="54864" bIns="54864" anchor="t">
            <a:spAutoFit/>
          </a:bodyPr>
          <a:lstStyle/>
          <a:p>
            <a:pPr algn="ctr"/>
            <a:r>
              <a:rPr sz="1400" b="1">
                <a:solidFill>
                  <a:srgbClr val="FFFFFF"/>
                </a:solidFill>
                <a:latin typeface="Aptos"/>
              </a:rPr>
              <a:t>99th pct</a:t>
            </a:r>
          </a:p>
        </p:txBody>
      </p:sp>
      <p:sp>
        <p:nvSpPr>
          <p:cNvPr id="22" name="Rectangle 21"/>
          <p:cNvSpPr/>
          <p:nvPr/>
        </p:nvSpPr>
        <p:spPr>
          <a:xfrm>
            <a:off x="7680960" y="2816352"/>
            <a:ext cx="1417320" cy="347472"/>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3" name="TextBox 22"/>
          <p:cNvSpPr txBox="1"/>
          <p:nvPr/>
        </p:nvSpPr>
        <p:spPr>
          <a:xfrm>
            <a:off x="7726680" y="2898648"/>
            <a:ext cx="1325880" cy="326243"/>
          </a:xfrm>
          <a:prstGeom prst="rect">
            <a:avLst/>
          </a:prstGeom>
          <a:noFill/>
        </p:spPr>
        <p:txBody>
          <a:bodyPr wrap="square" lIns="54864" tIns="54864" rIns="54864" bIns="54864" anchor="t">
            <a:spAutoFit/>
          </a:bodyPr>
          <a:lstStyle/>
          <a:p>
            <a:pPr algn="ctr"/>
            <a:r>
              <a:rPr sz="1400" b="1">
                <a:solidFill>
                  <a:srgbClr val="FFFFFF"/>
                </a:solidFill>
                <a:latin typeface="Aptos"/>
              </a:rPr>
              <a:t>Missing %</a:t>
            </a:r>
          </a:p>
        </p:txBody>
      </p:sp>
      <p:sp>
        <p:nvSpPr>
          <p:cNvPr id="24" name="Rectangle 23"/>
          <p:cNvSpPr/>
          <p:nvPr/>
        </p:nvSpPr>
        <p:spPr>
          <a:xfrm>
            <a:off x="822960" y="3200400"/>
            <a:ext cx="288036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8680" y="3282696"/>
            <a:ext cx="2788920" cy="326243"/>
          </a:xfrm>
          <a:prstGeom prst="rect">
            <a:avLst/>
          </a:prstGeom>
          <a:noFill/>
        </p:spPr>
        <p:txBody>
          <a:bodyPr wrap="square" lIns="54864" tIns="54864" rIns="54864" bIns="54864" anchor="t">
            <a:spAutoFit/>
          </a:bodyPr>
          <a:lstStyle/>
          <a:p>
            <a:pPr algn="l"/>
            <a:r>
              <a:rPr sz="1400" b="1">
                <a:solidFill>
                  <a:srgbClr val="23303A"/>
                </a:solidFill>
                <a:latin typeface="Aptos"/>
              </a:rPr>
              <a:t>age</a:t>
            </a:r>
          </a:p>
        </p:txBody>
      </p:sp>
      <p:sp>
        <p:nvSpPr>
          <p:cNvPr id="26" name="Rectangle 25"/>
          <p:cNvSpPr/>
          <p:nvPr/>
        </p:nvSpPr>
        <p:spPr>
          <a:xfrm>
            <a:off x="3703320" y="3200400"/>
            <a:ext cx="132588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749039" y="3282696"/>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53.00</a:t>
            </a:r>
          </a:p>
        </p:txBody>
      </p:sp>
      <p:sp>
        <p:nvSpPr>
          <p:cNvPr id="28" name="Rectangle 27"/>
          <p:cNvSpPr/>
          <p:nvPr/>
        </p:nvSpPr>
        <p:spPr>
          <a:xfrm>
            <a:off x="5029200" y="3200400"/>
            <a:ext cx="132588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74920" y="3282696"/>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34.00</a:t>
            </a:r>
          </a:p>
        </p:txBody>
      </p:sp>
      <p:sp>
        <p:nvSpPr>
          <p:cNvPr id="30" name="Rectangle 29"/>
          <p:cNvSpPr/>
          <p:nvPr/>
        </p:nvSpPr>
        <p:spPr>
          <a:xfrm>
            <a:off x="6355080" y="3200400"/>
            <a:ext cx="132588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282696"/>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93.00</a:t>
            </a:r>
          </a:p>
        </p:txBody>
      </p:sp>
      <p:sp>
        <p:nvSpPr>
          <p:cNvPr id="32" name="Rectangle 31"/>
          <p:cNvSpPr/>
          <p:nvPr/>
        </p:nvSpPr>
        <p:spPr>
          <a:xfrm>
            <a:off x="7680960" y="3200400"/>
            <a:ext cx="141732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726680" y="3282696"/>
            <a:ext cx="1325880" cy="326243"/>
          </a:xfrm>
          <a:prstGeom prst="rect">
            <a:avLst/>
          </a:prstGeom>
          <a:noFill/>
        </p:spPr>
        <p:txBody>
          <a:bodyPr wrap="square" lIns="54864" tIns="54864" rIns="54864" bIns="54864" anchor="t">
            <a:spAutoFit/>
          </a:bodyPr>
          <a:lstStyle/>
          <a:p>
            <a:pPr algn="ctr"/>
            <a:r>
              <a:rPr sz="1400" b="0">
                <a:solidFill>
                  <a:srgbClr val="23303A"/>
                </a:solidFill>
                <a:latin typeface="Aptos"/>
              </a:rPr>
              <a:t>0.02%</a:t>
            </a:r>
          </a:p>
        </p:txBody>
      </p:sp>
      <p:sp>
        <p:nvSpPr>
          <p:cNvPr id="34" name="Rectangle 33"/>
          <p:cNvSpPr/>
          <p:nvPr/>
        </p:nvSpPr>
        <p:spPr>
          <a:xfrm>
            <a:off x="822960" y="3584448"/>
            <a:ext cx="2880360" cy="3474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TextBox 34"/>
          <p:cNvSpPr txBox="1"/>
          <p:nvPr/>
        </p:nvSpPr>
        <p:spPr>
          <a:xfrm>
            <a:off x="868680" y="3666744"/>
            <a:ext cx="2788920" cy="326243"/>
          </a:xfrm>
          <a:prstGeom prst="rect">
            <a:avLst/>
          </a:prstGeom>
          <a:noFill/>
        </p:spPr>
        <p:txBody>
          <a:bodyPr wrap="square" lIns="54864" tIns="54864" rIns="54864" bIns="54864" anchor="t">
            <a:spAutoFit/>
          </a:bodyPr>
          <a:lstStyle/>
          <a:p>
            <a:pPr algn="l"/>
            <a:r>
              <a:rPr sz="1400" b="1">
                <a:solidFill>
                  <a:srgbClr val="23303A"/>
                </a:solidFill>
                <a:latin typeface="Aptos"/>
              </a:rPr>
              <a:t>triage_acuity</a:t>
            </a:r>
          </a:p>
        </p:txBody>
      </p:sp>
      <p:sp>
        <p:nvSpPr>
          <p:cNvPr id="36" name="Rectangle 35"/>
          <p:cNvSpPr/>
          <p:nvPr/>
        </p:nvSpPr>
        <p:spPr>
          <a:xfrm>
            <a:off x="3703320" y="3584448"/>
            <a:ext cx="1325880" cy="3474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7" name="TextBox 36"/>
          <p:cNvSpPr txBox="1"/>
          <p:nvPr/>
        </p:nvSpPr>
        <p:spPr>
          <a:xfrm>
            <a:off x="3749039" y="3666744"/>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3.00</a:t>
            </a:r>
          </a:p>
        </p:txBody>
      </p:sp>
      <p:sp>
        <p:nvSpPr>
          <p:cNvPr id="38" name="Rectangle 37"/>
          <p:cNvSpPr/>
          <p:nvPr/>
        </p:nvSpPr>
        <p:spPr>
          <a:xfrm>
            <a:off x="5029200" y="3584448"/>
            <a:ext cx="1325880" cy="3474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9" name="TextBox 38"/>
          <p:cNvSpPr txBox="1"/>
          <p:nvPr/>
        </p:nvSpPr>
        <p:spPr>
          <a:xfrm>
            <a:off x="5074920" y="3666744"/>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1.00</a:t>
            </a:r>
          </a:p>
        </p:txBody>
      </p:sp>
      <p:sp>
        <p:nvSpPr>
          <p:cNvPr id="40" name="Rectangle 39"/>
          <p:cNvSpPr/>
          <p:nvPr/>
        </p:nvSpPr>
        <p:spPr>
          <a:xfrm>
            <a:off x="6355080" y="3584448"/>
            <a:ext cx="1325880" cy="3474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1" name="TextBox 40"/>
          <p:cNvSpPr txBox="1"/>
          <p:nvPr/>
        </p:nvSpPr>
        <p:spPr>
          <a:xfrm>
            <a:off x="6400800" y="3666744"/>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4.00</a:t>
            </a:r>
          </a:p>
        </p:txBody>
      </p:sp>
      <p:sp>
        <p:nvSpPr>
          <p:cNvPr id="42" name="Rectangle 41"/>
          <p:cNvSpPr/>
          <p:nvPr/>
        </p:nvSpPr>
        <p:spPr>
          <a:xfrm>
            <a:off x="7680960" y="3584448"/>
            <a:ext cx="1417320" cy="3474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3" name="TextBox 42"/>
          <p:cNvSpPr txBox="1"/>
          <p:nvPr/>
        </p:nvSpPr>
        <p:spPr>
          <a:xfrm>
            <a:off x="7726680" y="3666744"/>
            <a:ext cx="1325880" cy="326243"/>
          </a:xfrm>
          <a:prstGeom prst="rect">
            <a:avLst/>
          </a:prstGeom>
          <a:noFill/>
        </p:spPr>
        <p:txBody>
          <a:bodyPr wrap="square" lIns="54864" tIns="54864" rIns="54864" bIns="54864" anchor="t">
            <a:spAutoFit/>
          </a:bodyPr>
          <a:lstStyle/>
          <a:p>
            <a:pPr algn="ctr"/>
            <a:r>
              <a:rPr sz="1400" b="0">
                <a:solidFill>
                  <a:srgbClr val="23303A"/>
                </a:solidFill>
                <a:latin typeface="Aptos"/>
              </a:rPr>
              <a:t>1.64%</a:t>
            </a:r>
          </a:p>
        </p:txBody>
      </p:sp>
      <p:sp>
        <p:nvSpPr>
          <p:cNvPr id="44" name="Rectangle 43"/>
          <p:cNvSpPr/>
          <p:nvPr/>
        </p:nvSpPr>
        <p:spPr>
          <a:xfrm>
            <a:off x="822960" y="3968496"/>
            <a:ext cx="288036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5" name="TextBox 44"/>
          <p:cNvSpPr txBox="1"/>
          <p:nvPr/>
        </p:nvSpPr>
        <p:spPr>
          <a:xfrm>
            <a:off x="868680" y="4050791"/>
            <a:ext cx="2788920" cy="326243"/>
          </a:xfrm>
          <a:prstGeom prst="rect">
            <a:avLst/>
          </a:prstGeom>
          <a:noFill/>
        </p:spPr>
        <p:txBody>
          <a:bodyPr wrap="square" lIns="54864" tIns="54864" rIns="54864" bIns="54864" anchor="t">
            <a:spAutoFit/>
          </a:bodyPr>
          <a:lstStyle/>
          <a:p>
            <a:pPr algn="l"/>
            <a:r>
              <a:rPr sz="1400" b="1">
                <a:solidFill>
                  <a:srgbClr val="23303A"/>
                </a:solidFill>
                <a:latin typeface="Aptos"/>
              </a:rPr>
              <a:t>triage_temperature</a:t>
            </a:r>
          </a:p>
        </p:txBody>
      </p:sp>
      <p:sp>
        <p:nvSpPr>
          <p:cNvPr id="46" name="Rectangle 45"/>
          <p:cNvSpPr/>
          <p:nvPr/>
        </p:nvSpPr>
        <p:spPr>
          <a:xfrm>
            <a:off x="3703320" y="3968496"/>
            <a:ext cx="132588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7" name="TextBox 46"/>
          <p:cNvSpPr txBox="1"/>
          <p:nvPr/>
        </p:nvSpPr>
        <p:spPr>
          <a:xfrm>
            <a:off x="3749039" y="4050791"/>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98.00</a:t>
            </a:r>
          </a:p>
        </p:txBody>
      </p:sp>
      <p:sp>
        <p:nvSpPr>
          <p:cNvPr id="48" name="Rectangle 47"/>
          <p:cNvSpPr/>
          <p:nvPr/>
        </p:nvSpPr>
        <p:spPr>
          <a:xfrm>
            <a:off x="5029200" y="3968496"/>
            <a:ext cx="132588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9" name="TextBox 48"/>
          <p:cNvSpPr txBox="1"/>
          <p:nvPr/>
        </p:nvSpPr>
        <p:spPr>
          <a:xfrm>
            <a:off x="5074920" y="4050791"/>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1.10</a:t>
            </a:r>
          </a:p>
        </p:txBody>
      </p:sp>
      <p:sp>
        <p:nvSpPr>
          <p:cNvPr id="50" name="Rectangle 49"/>
          <p:cNvSpPr/>
          <p:nvPr/>
        </p:nvSpPr>
        <p:spPr>
          <a:xfrm>
            <a:off x="6355080" y="3968496"/>
            <a:ext cx="132588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1" name="TextBox 50"/>
          <p:cNvSpPr txBox="1"/>
          <p:nvPr/>
        </p:nvSpPr>
        <p:spPr>
          <a:xfrm>
            <a:off x="6400800" y="4050791"/>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101.30</a:t>
            </a:r>
          </a:p>
        </p:txBody>
      </p:sp>
      <p:sp>
        <p:nvSpPr>
          <p:cNvPr id="52" name="Rectangle 51"/>
          <p:cNvSpPr/>
          <p:nvPr/>
        </p:nvSpPr>
        <p:spPr>
          <a:xfrm>
            <a:off x="7680960" y="3968496"/>
            <a:ext cx="141732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3" name="TextBox 52"/>
          <p:cNvSpPr txBox="1"/>
          <p:nvPr/>
        </p:nvSpPr>
        <p:spPr>
          <a:xfrm>
            <a:off x="7726680" y="4050791"/>
            <a:ext cx="1325880" cy="326243"/>
          </a:xfrm>
          <a:prstGeom prst="rect">
            <a:avLst/>
          </a:prstGeom>
          <a:noFill/>
        </p:spPr>
        <p:txBody>
          <a:bodyPr wrap="square" lIns="54864" tIns="54864" rIns="54864" bIns="54864" anchor="t">
            <a:spAutoFit/>
          </a:bodyPr>
          <a:lstStyle/>
          <a:p>
            <a:pPr algn="ctr"/>
            <a:r>
              <a:rPr sz="1400" b="0">
                <a:solidFill>
                  <a:srgbClr val="23303A"/>
                </a:solidFill>
                <a:latin typeface="Aptos"/>
              </a:rPr>
              <a:t>5.51%</a:t>
            </a:r>
          </a:p>
        </p:txBody>
      </p:sp>
      <p:sp>
        <p:nvSpPr>
          <p:cNvPr id="54" name="Rectangle 53"/>
          <p:cNvSpPr/>
          <p:nvPr/>
        </p:nvSpPr>
        <p:spPr>
          <a:xfrm>
            <a:off x="822960" y="4352544"/>
            <a:ext cx="2880360" cy="3474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5" name="TextBox 54"/>
          <p:cNvSpPr txBox="1"/>
          <p:nvPr/>
        </p:nvSpPr>
        <p:spPr>
          <a:xfrm>
            <a:off x="868680" y="4434840"/>
            <a:ext cx="2788920" cy="326243"/>
          </a:xfrm>
          <a:prstGeom prst="rect">
            <a:avLst/>
          </a:prstGeom>
          <a:noFill/>
        </p:spPr>
        <p:txBody>
          <a:bodyPr wrap="square" lIns="54864" tIns="54864" rIns="54864" bIns="54864" anchor="t">
            <a:spAutoFit/>
          </a:bodyPr>
          <a:lstStyle/>
          <a:p>
            <a:pPr algn="l"/>
            <a:r>
              <a:rPr sz="1400" b="1">
                <a:solidFill>
                  <a:srgbClr val="23303A"/>
                </a:solidFill>
                <a:latin typeface="Aptos"/>
              </a:rPr>
              <a:t>triage_heartrate</a:t>
            </a:r>
          </a:p>
        </p:txBody>
      </p:sp>
      <p:sp>
        <p:nvSpPr>
          <p:cNvPr id="56" name="Rectangle 55"/>
          <p:cNvSpPr/>
          <p:nvPr/>
        </p:nvSpPr>
        <p:spPr>
          <a:xfrm>
            <a:off x="3703320" y="4352544"/>
            <a:ext cx="1325880" cy="3474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7" name="TextBox 56"/>
          <p:cNvSpPr txBox="1"/>
          <p:nvPr/>
        </p:nvSpPr>
        <p:spPr>
          <a:xfrm>
            <a:off x="3749039" y="4434840"/>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84.00</a:t>
            </a:r>
          </a:p>
        </p:txBody>
      </p:sp>
      <p:sp>
        <p:nvSpPr>
          <p:cNvPr id="58" name="Rectangle 57"/>
          <p:cNvSpPr/>
          <p:nvPr/>
        </p:nvSpPr>
        <p:spPr>
          <a:xfrm>
            <a:off x="5029200" y="4352544"/>
            <a:ext cx="1325880" cy="3474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9" name="TextBox 58"/>
          <p:cNvSpPr txBox="1"/>
          <p:nvPr/>
        </p:nvSpPr>
        <p:spPr>
          <a:xfrm>
            <a:off x="5074920" y="4434840"/>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24.00</a:t>
            </a:r>
          </a:p>
        </p:txBody>
      </p:sp>
      <p:sp>
        <p:nvSpPr>
          <p:cNvPr id="60" name="Rectangle 59"/>
          <p:cNvSpPr/>
          <p:nvPr/>
        </p:nvSpPr>
        <p:spPr>
          <a:xfrm>
            <a:off x="6355080" y="4352544"/>
            <a:ext cx="1325880" cy="3474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1" name="TextBox 60"/>
          <p:cNvSpPr txBox="1"/>
          <p:nvPr/>
        </p:nvSpPr>
        <p:spPr>
          <a:xfrm>
            <a:off x="6400800" y="4434840"/>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134.00</a:t>
            </a:r>
          </a:p>
        </p:txBody>
      </p:sp>
      <p:sp>
        <p:nvSpPr>
          <p:cNvPr id="62" name="Rectangle 61"/>
          <p:cNvSpPr/>
          <p:nvPr/>
        </p:nvSpPr>
        <p:spPr>
          <a:xfrm>
            <a:off x="7680960" y="4352544"/>
            <a:ext cx="1417320" cy="3474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3" name="TextBox 62"/>
          <p:cNvSpPr txBox="1"/>
          <p:nvPr/>
        </p:nvSpPr>
        <p:spPr>
          <a:xfrm>
            <a:off x="7726680" y="4434840"/>
            <a:ext cx="1325880" cy="326243"/>
          </a:xfrm>
          <a:prstGeom prst="rect">
            <a:avLst/>
          </a:prstGeom>
          <a:noFill/>
        </p:spPr>
        <p:txBody>
          <a:bodyPr wrap="square" lIns="54864" tIns="54864" rIns="54864" bIns="54864" anchor="t">
            <a:spAutoFit/>
          </a:bodyPr>
          <a:lstStyle/>
          <a:p>
            <a:pPr algn="ctr"/>
            <a:r>
              <a:rPr sz="1400" b="0">
                <a:solidFill>
                  <a:srgbClr val="23303A"/>
                </a:solidFill>
                <a:latin typeface="Aptos"/>
              </a:rPr>
              <a:t>4.02%</a:t>
            </a:r>
          </a:p>
        </p:txBody>
      </p:sp>
      <p:sp>
        <p:nvSpPr>
          <p:cNvPr id="64" name="Rectangle 63"/>
          <p:cNvSpPr/>
          <p:nvPr/>
        </p:nvSpPr>
        <p:spPr>
          <a:xfrm>
            <a:off x="822960" y="4736592"/>
            <a:ext cx="288036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5" name="TextBox 64"/>
          <p:cNvSpPr txBox="1"/>
          <p:nvPr/>
        </p:nvSpPr>
        <p:spPr>
          <a:xfrm>
            <a:off x="868680" y="4818888"/>
            <a:ext cx="2788920" cy="326243"/>
          </a:xfrm>
          <a:prstGeom prst="rect">
            <a:avLst/>
          </a:prstGeom>
          <a:noFill/>
        </p:spPr>
        <p:txBody>
          <a:bodyPr wrap="square" lIns="54864" tIns="54864" rIns="54864" bIns="54864" anchor="t">
            <a:spAutoFit/>
          </a:bodyPr>
          <a:lstStyle/>
          <a:p>
            <a:pPr algn="l"/>
            <a:r>
              <a:rPr sz="1400" b="1">
                <a:solidFill>
                  <a:srgbClr val="23303A"/>
                </a:solidFill>
                <a:latin typeface="Aptos"/>
              </a:rPr>
              <a:t>triage_o2sat</a:t>
            </a:r>
          </a:p>
        </p:txBody>
      </p:sp>
      <p:sp>
        <p:nvSpPr>
          <p:cNvPr id="66" name="Rectangle 65"/>
          <p:cNvSpPr/>
          <p:nvPr/>
        </p:nvSpPr>
        <p:spPr>
          <a:xfrm>
            <a:off x="3703320" y="4736592"/>
            <a:ext cx="132588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7" name="TextBox 66"/>
          <p:cNvSpPr txBox="1"/>
          <p:nvPr/>
        </p:nvSpPr>
        <p:spPr>
          <a:xfrm>
            <a:off x="3749039" y="4818888"/>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99.00</a:t>
            </a:r>
          </a:p>
        </p:txBody>
      </p:sp>
      <p:sp>
        <p:nvSpPr>
          <p:cNvPr id="68" name="Rectangle 67"/>
          <p:cNvSpPr/>
          <p:nvPr/>
        </p:nvSpPr>
        <p:spPr>
          <a:xfrm>
            <a:off x="5029200" y="4736592"/>
            <a:ext cx="132588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9" name="TextBox 68"/>
          <p:cNvSpPr txBox="1"/>
          <p:nvPr/>
        </p:nvSpPr>
        <p:spPr>
          <a:xfrm>
            <a:off x="5074920" y="4818888"/>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3.00</a:t>
            </a:r>
          </a:p>
        </p:txBody>
      </p:sp>
      <p:sp>
        <p:nvSpPr>
          <p:cNvPr id="70" name="Rectangle 69"/>
          <p:cNvSpPr/>
          <p:nvPr/>
        </p:nvSpPr>
        <p:spPr>
          <a:xfrm>
            <a:off x="6355080" y="4736592"/>
            <a:ext cx="132588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71" name="TextBox 70"/>
          <p:cNvSpPr txBox="1"/>
          <p:nvPr/>
        </p:nvSpPr>
        <p:spPr>
          <a:xfrm>
            <a:off x="6400800" y="4818888"/>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100.00</a:t>
            </a:r>
          </a:p>
        </p:txBody>
      </p:sp>
      <p:sp>
        <p:nvSpPr>
          <p:cNvPr id="72" name="Rectangle 71"/>
          <p:cNvSpPr/>
          <p:nvPr/>
        </p:nvSpPr>
        <p:spPr>
          <a:xfrm>
            <a:off x="7680960" y="4736592"/>
            <a:ext cx="141732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73" name="TextBox 72"/>
          <p:cNvSpPr txBox="1"/>
          <p:nvPr/>
        </p:nvSpPr>
        <p:spPr>
          <a:xfrm>
            <a:off x="7726680" y="4818888"/>
            <a:ext cx="1325880" cy="326243"/>
          </a:xfrm>
          <a:prstGeom prst="rect">
            <a:avLst/>
          </a:prstGeom>
          <a:noFill/>
        </p:spPr>
        <p:txBody>
          <a:bodyPr wrap="square" lIns="54864" tIns="54864" rIns="54864" bIns="54864" anchor="t">
            <a:spAutoFit/>
          </a:bodyPr>
          <a:lstStyle/>
          <a:p>
            <a:pPr algn="ctr"/>
            <a:r>
              <a:rPr sz="1400" b="0">
                <a:solidFill>
                  <a:srgbClr val="23303A"/>
                </a:solidFill>
                <a:latin typeface="Aptos"/>
              </a:rPr>
              <a:t>4.85%</a:t>
            </a:r>
          </a:p>
        </p:txBody>
      </p:sp>
      <p:sp>
        <p:nvSpPr>
          <p:cNvPr id="74" name="Rectangle 73"/>
          <p:cNvSpPr/>
          <p:nvPr/>
        </p:nvSpPr>
        <p:spPr>
          <a:xfrm>
            <a:off x="822960" y="5120640"/>
            <a:ext cx="2880360" cy="3474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75" name="TextBox 74"/>
          <p:cNvSpPr txBox="1"/>
          <p:nvPr/>
        </p:nvSpPr>
        <p:spPr>
          <a:xfrm>
            <a:off x="868680" y="5202936"/>
            <a:ext cx="2788920" cy="326243"/>
          </a:xfrm>
          <a:prstGeom prst="rect">
            <a:avLst/>
          </a:prstGeom>
          <a:noFill/>
        </p:spPr>
        <p:txBody>
          <a:bodyPr wrap="square" lIns="54864" tIns="54864" rIns="54864" bIns="54864" anchor="t">
            <a:spAutoFit/>
          </a:bodyPr>
          <a:lstStyle/>
          <a:p>
            <a:pPr algn="l"/>
            <a:r>
              <a:rPr sz="1400" b="1">
                <a:solidFill>
                  <a:srgbClr val="23303A"/>
                </a:solidFill>
                <a:latin typeface="Aptos"/>
              </a:rPr>
              <a:t>triage_sbp</a:t>
            </a:r>
          </a:p>
        </p:txBody>
      </p:sp>
      <p:sp>
        <p:nvSpPr>
          <p:cNvPr id="76" name="Rectangle 75"/>
          <p:cNvSpPr/>
          <p:nvPr/>
        </p:nvSpPr>
        <p:spPr>
          <a:xfrm>
            <a:off x="3703320" y="5120640"/>
            <a:ext cx="1325880" cy="3474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77" name="TextBox 76"/>
          <p:cNvSpPr txBox="1"/>
          <p:nvPr/>
        </p:nvSpPr>
        <p:spPr>
          <a:xfrm>
            <a:off x="3749039" y="5202936"/>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133.00</a:t>
            </a:r>
          </a:p>
        </p:txBody>
      </p:sp>
      <p:sp>
        <p:nvSpPr>
          <p:cNvPr id="78" name="Rectangle 77"/>
          <p:cNvSpPr/>
          <p:nvPr/>
        </p:nvSpPr>
        <p:spPr>
          <a:xfrm>
            <a:off x="5029200" y="5120640"/>
            <a:ext cx="1325880" cy="3474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79" name="TextBox 78"/>
          <p:cNvSpPr txBox="1"/>
          <p:nvPr/>
        </p:nvSpPr>
        <p:spPr>
          <a:xfrm>
            <a:off x="5074920" y="5202936"/>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28.00</a:t>
            </a:r>
          </a:p>
        </p:txBody>
      </p:sp>
      <p:sp>
        <p:nvSpPr>
          <p:cNvPr id="80" name="Rectangle 79"/>
          <p:cNvSpPr/>
          <p:nvPr/>
        </p:nvSpPr>
        <p:spPr>
          <a:xfrm>
            <a:off x="6355080" y="5120640"/>
            <a:ext cx="1325880" cy="3474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81" name="TextBox 80"/>
          <p:cNvSpPr txBox="1"/>
          <p:nvPr/>
        </p:nvSpPr>
        <p:spPr>
          <a:xfrm>
            <a:off x="6400800" y="5202936"/>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198.00</a:t>
            </a:r>
          </a:p>
        </p:txBody>
      </p:sp>
      <p:sp>
        <p:nvSpPr>
          <p:cNvPr id="82" name="Rectangle 81"/>
          <p:cNvSpPr/>
          <p:nvPr/>
        </p:nvSpPr>
        <p:spPr>
          <a:xfrm>
            <a:off x="7680960" y="5120640"/>
            <a:ext cx="1417320" cy="3474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83" name="TextBox 82"/>
          <p:cNvSpPr txBox="1"/>
          <p:nvPr/>
        </p:nvSpPr>
        <p:spPr>
          <a:xfrm>
            <a:off x="7726680" y="5202936"/>
            <a:ext cx="1325880" cy="326243"/>
          </a:xfrm>
          <a:prstGeom prst="rect">
            <a:avLst/>
          </a:prstGeom>
          <a:noFill/>
        </p:spPr>
        <p:txBody>
          <a:bodyPr wrap="square" lIns="54864" tIns="54864" rIns="54864" bIns="54864" anchor="t">
            <a:spAutoFit/>
          </a:bodyPr>
          <a:lstStyle/>
          <a:p>
            <a:pPr algn="ctr"/>
            <a:r>
              <a:rPr sz="1400" b="0">
                <a:solidFill>
                  <a:srgbClr val="23303A"/>
                </a:solidFill>
                <a:latin typeface="Aptos"/>
              </a:rPr>
              <a:t>4.30%</a:t>
            </a:r>
          </a:p>
        </p:txBody>
      </p:sp>
      <p:sp>
        <p:nvSpPr>
          <p:cNvPr id="84" name="Rectangle 83"/>
          <p:cNvSpPr/>
          <p:nvPr/>
        </p:nvSpPr>
        <p:spPr>
          <a:xfrm>
            <a:off x="822960" y="5504688"/>
            <a:ext cx="288036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85" name="TextBox 84"/>
          <p:cNvSpPr txBox="1"/>
          <p:nvPr/>
        </p:nvSpPr>
        <p:spPr>
          <a:xfrm>
            <a:off x="868680" y="5586983"/>
            <a:ext cx="2788920" cy="326243"/>
          </a:xfrm>
          <a:prstGeom prst="rect">
            <a:avLst/>
          </a:prstGeom>
          <a:noFill/>
        </p:spPr>
        <p:txBody>
          <a:bodyPr wrap="square" lIns="54864" tIns="54864" rIns="54864" bIns="54864" anchor="t">
            <a:spAutoFit/>
          </a:bodyPr>
          <a:lstStyle/>
          <a:p>
            <a:pPr algn="l"/>
            <a:r>
              <a:rPr sz="1400" b="1">
                <a:solidFill>
                  <a:srgbClr val="23303A"/>
                </a:solidFill>
                <a:latin typeface="Aptos"/>
              </a:rPr>
              <a:t>ed_los_hours</a:t>
            </a:r>
          </a:p>
        </p:txBody>
      </p:sp>
      <p:sp>
        <p:nvSpPr>
          <p:cNvPr id="86" name="Rectangle 85"/>
          <p:cNvSpPr/>
          <p:nvPr/>
        </p:nvSpPr>
        <p:spPr>
          <a:xfrm>
            <a:off x="3703320" y="5504688"/>
            <a:ext cx="132588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87" name="TextBox 86"/>
          <p:cNvSpPr txBox="1"/>
          <p:nvPr/>
        </p:nvSpPr>
        <p:spPr>
          <a:xfrm>
            <a:off x="3749039" y="5586983"/>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5.47</a:t>
            </a:r>
          </a:p>
        </p:txBody>
      </p:sp>
      <p:sp>
        <p:nvSpPr>
          <p:cNvPr id="88" name="Rectangle 87"/>
          <p:cNvSpPr/>
          <p:nvPr/>
        </p:nvSpPr>
        <p:spPr>
          <a:xfrm>
            <a:off x="5029200" y="5504688"/>
            <a:ext cx="132588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89" name="TextBox 88"/>
          <p:cNvSpPr txBox="1"/>
          <p:nvPr/>
        </p:nvSpPr>
        <p:spPr>
          <a:xfrm>
            <a:off x="5074920" y="5586983"/>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4.79</a:t>
            </a:r>
          </a:p>
        </p:txBody>
      </p:sp>
      <p:sp>
        <p:nvSpPr>
          <p:cNvPr id="90" name="Rectangle 89"/>
          <p:cNvSpPr/>
          <p:nvPr/>
        </p:nvSpPr>
        <p:spPr>
          <a:xfrm>
            <a:off x="6355080" y="5504688"/>
            <a:ext cx="132588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1" name="TextBox 90"/>
          <p:cNvSpPr txBox="1"/>
          <p:nvPr/>
        </p:nvSpPr>
        <p:spPr>
          <a:xfrm>
            <a:off x="6400800" y="5586983"/>
            <a:ext cx="1234439" cy="326243"/>
          </a:xfrm>
          <a:prstGeom prst="rect">
            <a:avLst/>
          </a:prstGeom>
          <a:noFill/>
        </p:spPr>
        <p:txBody>
          <a:bodyPr wrap="square" lIns="54864" tIns="54864" rIns="54864" bIns="54864" anchor="t">
            <a:spAutoFit/>
          </a:bodyPr>
          <a:lstStyle/>
          <a:p>
            <a:pPr algn="ctr"/>
            <a:r>
              <a:rPr sz="1400" b="0">
                <a:solidFill>
                  <a:srgbClr val="23303A"/>
                </a:solidFill>
                <a:latin typeface="Aptos"/>
              </a:rPr>
              <a:t>30.48</a:t>
            </a:r>
          </a:p>
        </p:txBody>
      </p:sp>
      <p:sp>
        <p:nvSpPr>
          <p:cNvPr id="92" name="Rectangle 91"/>
          <p:cNvSpPr/>
          <p:nvPr/>
        </p:nvSpPr>
        <p:spPr>
          <a:xfrm>
            <a:off x="7680960" y="5504688"/>
            <a:ext cx="141732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3" name="TextBox 92"/>
          <p:cNvSpPr txBox="1"/>
          <p:nvPr/>
        </p:nvSpPr>
        <p:spPr>
          <a:xfrm>
            <a:off x="7726680" y="5586983"/>
            <a:ext cx="1325880" cy="326243"/>
          </a:xfrm>
          <a:prstGeom prst="rect">
            <a:avLst/>
          </a:prstGeom>
          <a:noFill/>
        </p:spPr>
        <p:txBody>
          <a:bodyPr wrap="square" lIns="54864" tIns="54864" rIns="54864" bIns="54864" anchor="t">
            <a:spAutoFit/>
          </a:bodyPr>
          <a:lstStyle/>
          <a:p>
            <a:pPr algn="ctr"/>
            <a:r>
              <a:rPr sz="1400" b="0">
                <a:solidFill>
                  <a:srgbClr val="23303A"/>
                </a:solidFill>
                <a:latin typeface="Aptos"/>
              </a:rPr>
              <a:t>0.00%</a:t>
            </a:r>
          </a:p>
        </p:txBody>
      </p:sp>
      <p:sp>
        <p:nvSpPr>
          <p:cNvPr id="94" name="TextBox 93"/>
          <p:cNvSpPr txBox="1"/>
          <p:nvPr/>
        </p:nvSpPr>
        <p:spPr>
          <a:xfrm>
            <a:off x="777240" y="6007331"/>
            <a:ext cx="10424160" cy="326243"/>
          </a:xfrm>
          <a:prstGeom prst="rect">
            <a:avLst/>
          </a:prstGeom>
          <a:noFill/>
        </p:spPr>
        <p:txBody>
          <a:bodyPr wrap="square" lIns="54864" tIns="54864" rIns="54864" bIns="54864" anchor="t">
            <a:spAutoFit/>
          </a:bodyPr>
          <a:lstStyle/>
          <a:p>
            <a:pPr algn="ctr"/>
            <a:r>
              <a:rPr sz="1400" b="0" dirty="0">
                <a:solidFill>
                  <a:srgbClr val="5B6971"/>
                </a:solidFill>
                <a:latin typeface="Aptos"/>
              </a:rPr>
              <a:t>Interpretation requires units: temperature is stored in Fahrenheit-like values when detected; ED LOS is in hours; acuity is ordinal 1-5.</a:t>
            </a:r>
          </a:p>
        </p:txBody>
      </p:sp>
      <p:sp>
        <p:nvSpPr>
          <p:cNvPr id="95" name="Rectangle 94"/>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206240" cy="228600"/>
          </a:xfrm>
          <a:prstGeom prst="rect">
            <a:avLst/>
          </a:prstGeom>
          <a:noFill/>
        </p:spPr>
        <p:txBody>
          <a:bodyPr wrap="square" lIns="54864" tIns="54864" rIns="54864" bIns="54864" anchor="t">
            <a:spAutoFit/>
          </a:bodyPr>
          <a:lstStyle/>
          <a:p>
            <a:pPr algn="l"/>
            <a:r>
              <a:rPr sz="1000" b="1">
                <a:solidFill>
                  <a:srgbClr val="0F766E"/>
                </a:solidFill>
                <a:latin typeface="Aptos"/>
              </a:rPr>
              <a:t>03  /  INSPECTION</a:t>
            </a:r>
          </a:p>
        </p:txBody>
      </p:sp>
      <p:sp>
        <p:nvSpPr>
          <p:cNvPr id="3" name="TextBox 2"/>
          <p:cNvSpPr txBox="1"/>
          <p:nvPr/>
        </p:nvSpPr>
        <p:spPr>
          <a:xfrm>
            <a:off x="548640" y="566928"/>
            <a:ext cx="10424160" cy="541687"/>
          </a:xfrm>
          <a:prstGeom prst="rect">
            <a:avLst/>
          </a:prstGeom>
          <a:noFill/>
        </p:spPr>
        <p:txBody>
          <a:bodyPr wrap="square" lIns="54864" tIns="54864" rIns="54864" bIns="54864" anchor="t">
            <a:spAutoFit/>
          </a:bodyPr>
          <a:lstStyle/>
          <a:p>
            <a:pPr algn="l"/>
            <a:r>
              <a:rPr sz="2800" b="1" dirty="0">
                <a:solidFill>
                  <a:srgbClr val="0B1F33"/>
                </a:solidFill>
                <a:latin typeface="Aptos Display"/>
              </a:rPr>
              <a:t>Categorical</a:t>
            </a:r>
            <a:r>
              <a:rPr sz="2700" b="1" dirty="0">
                <a:solidFill>
                  <a:srgbClr val="0B1F33"/>
                </a:solidFill>
                <a:latin typeface="Aptos Display"/>
              </a:rPr>
              <a:t> frequencies describe representation</a:t>
            </a:r>
          </a:p>
        </p:txBody>
      </p:sp>
      <p:sp>
        <p:nvSpPr>
          <p:cNvPr id="4" name="TextBox 3"/>
          <p:cNvSpPr txBox="1"/>
          <p:nvPr/>
        </p:nvSpPr>
        <p:spPr>
          <a:xfrm>
            <a:off x="10652760" y="310896"/>
            <a:ext cx="914400" cy="201168"/>
          </a:xfrm>
          <a:prstGeom prst="rect">
            <a:avLst/>
          </a:prstGeom>
          <a:noFill/>
        </p:spPr>
        <p:txBody>
          <a:bodyPr wrap="square" lIns="54864" tIns="54864" rIns="54864" bIns="54864" anchor="t">
            <a:spAutoFit/>
          </a:bodyPr>
          <a:lstStyle/>
          <a:p>
            <a:pPr algn="r"/>
            <a:r>
              <a:rPr sz="1000" b="1">
                <a:solidFill>
                  <a:srgbClr val="5B6971"/>
                </a:solidFill>
                <a:latin typeface="Aptos"/>
              </a:rPr>
              <a:t>M1  /  12</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396746"/>
            <a:ext cx="7955279" cy="787908"/>
          </a:xfrm>
          <a:prstGeom prst="rect">
            <a:avLst/>
          </a:prstGeom>
          <a:noFill/>
        </p:spPr>
        <p:txBody>
          <a:bodyPr wrap="square" lIns="54864" tIns="54864" rIns="54864" bIns="54864" anchor="t">
            <a:spAutoFit/>
          </a:bodyPr>
          <a:lstStyle/>
          <a:p>
            <a:pPr algn="l"/>
            <a:r>
              <a:rPr sz="2200" b="1" dirty="0">
                <a:solidFill>
                  <a:srgbClr val="0B1F33"/>
                </a:solidFill>
                <a:latin typeface="Aptos Display"/>
              </a:rPr>
              <a:t>A frequency table answers: which labels appear, how often, and how much of the table do they cover?</a:t>
            </a:r>
          </a:p>
        </p:txBody>
      </p:sp>
      <p:sp>
        <p:nvSpPr>
          <p:cNvPr id="7" name="Rectangle 6"/>
          <p:cNvSpPr/>
          <p:nvPr/>
        </p:nvSpPr>
        <p:spPr>
          <a:xfrm>
            <a:off x="777240" y="2240280"/>
            <a:ext cx="91440" cy="10515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2286000"/>
            <a:ext cx="2651760" cy="387798"/>
          </a:xfrm>
          <a:prstGeom prst="rect">
            <a:avLst/>
          </a:prstGeom>
          <a:noFill/>
        </p:spPr>
        <p:txBody>
          <a:bodyPr wrap="square" lIns="54864" tIns="54864" rIns="54864" bIns="54864" anchor="t">
            <a:spAutoFit/>
          </a:bodyPr>
          <a:lstStyle/>
          <a:p>
            <a:pPr algn="l"/>
            <a:r>
              <a:rPr b="1" dirty="0" err="1">
                <a:solidFill>
                  <a:srgbClr val="0B1F33"/>
                </a:solidFill>
                <a:latin typeface="Aptos Display"/>
              </a:rPr>
              <a:t>triage_acuity</a:t>
            </a:r>
            <a:endParaRPr b="1" dirty="0">
              <a:solidFill>
                <a:srgbClr val="0B1F33"/>
              </a:solidFill>
              <a:latin typeface="Aptos Display"/>
            </a:endParaRPr>
          </a:p>
        </p:txBody>
      </p:sp>
      <p:sp>
        <p:nvSpPr>
          <p:cNvPr id="9" name="TextBox 8"/>
          <p:cNvSpPr txBox="1"/>
          <p:nvPr/>
        </p:nvSpPr>
        <p:spPr>
          <a:xfrm>
            <a:off x="1051560" y="2624328"/>
            <a:ext cx="1097280" cy="326243"/>
          </a:xfrm>
          <a:prstGeom prst="rect">
            <a:avLst/>
          </a:prstGeom>
          <a:noFill/>
        </p:spPr>
        <p:txBody>
          <a:bodyPr wrap="square" lIns="54864" tIns="54864" rIns="54864" bIns="54864" anchor="t">
            <a:spAutoFit/>
          </a:bodyPr>
          <a:lstStyle/>
          <a:p>
            <a:pPr algn="l"/>
            <a:r>
              <a:rPr sz="1400" b="1">
                <a:solidFill>
                  <a:srgbClr val="0F766E"/>
                </a:solidFill>
                <a:latin typeface="Aptos"/>
              </a:rPr>
              <a:t>ordinal</a:t>
            </a:r>
          </a:p>
        </p:txBody>
      </p:sp>
      <p:sp>
        <p:nvSpPr>
          <p:cNvPr id="10" name="TextBox 9"/>
          <p:cNvSpPr txBox="1"/>
          <p:nvPr/>
        </p:nvSpPr>
        <p:spPr>
          <a:xfrm>
            <a:off x="1051560" y="2916936"/>
            <a:ext cx="4617720" cy="326243"/>
          </a:xfrm>
          <a:prstGeom prst="rect">
            <a:avLst/>
          </a:prstGeom>
          <a:noFill/>
        </p:spPr>
        <p:txBody>
          <a:bodyPr wrap="square" lIns="54864" tIns="54864" rIns="54864" bIns="54864" anchor="t">
            <a:spAutoFit/>
          </a:bodyPr>
          <a:lstStyle/>
          <a:p>
            <a:pPr algn="l"/>
            <a:r>
              <a:rPr sz="1400" b="0">
                <a:solidFill>
                  <a:srgbClr val="23303A"/>
                </a:solidFill>
                <a:latin typeface="Aptos"/>
              </a:rPr>
              <a:t>3.0: 225,066  |  2.0: 139,411  |  4.0: 28,504</a:t>
            </a:r>
          </a:p>
        </p:txBody>
      </p:sp>
      <p:sp>
        <p:nvSpPr>
          <p:cNvPr id="11" name="Rectangle 10"/>
          <p:cNvSpPr/>
          <p:nvPr/>
        </p:nvSpPr>
        <p:spPr>
          <a:xfrm>
            <a:off x="6263640" y="2240280"/>
            <a:ext cx="91440" cy="1051560"/>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59" y="2286000"/>
            <a:ext cx="2651760" cy="387798"/>
          </a:xfrm>
          <a:prstGeom prst="rect">
            <a:avLst/>
          </a:prstGeom>
          <a:noFill/>
        </p:spPr>
        <p:txBody>
          <a:bodyPr wrap="square" lIns="54864" tIns="54864" rIns="54864" bIns="54864" anchor="t">
            <a:spAutoFit/>
          </a:bodyPr>
          <a:lstStyle/>
          <a:p>
            <a:pPr algn="l"/>
            <a:r>
              <a:rPr b="1">
                <a:solidFill>
                  <a:srgbClr val="0B1F33"/>
                </a:solidFill>
                <a:latin typeface="Aptos Display"/>
              </a:rPr>
              <a:t>gender</a:t>
            </a:r>
          </a:p>
        </p:txBody>
      </p:sp>
      <p:sp>
        <p:nvSpPr>
          <p:cNvPr id="13" name="TextBox 12"/>
          <p:cNvSpPr txBox="1"/>
          <p:nvPr/>
        </p:nvSpPr>
        <p:spPr>
          <a:xfrm>
            <a:off x="6537959" y="2624328"/>
            <a:ext cx="1097280" cy="326243"/>
          </a:xfrm>
          <a:prstGeom prst="rect">
            <a:avLst/>
          </a:prstGeom>
          <a:noFill/>
        </p:spPr>
        <p:txBody>
          <a:bodyPr wrap="square" lIns="54864" tIns="54864" rIns="54864" bIns="54864" anchor="t">
            <a:spAutoFit/>
          </a:bodyPr>
          <a:lstStyle/>
          <a:p>
            <a:pPr algn="l"/>
            <a:r>
              <a:rPr sz="1400" b="1">
                <a:solidFill>
                  <a:srgbClr val="E76F51"/>
                </a:solidFill>
                <a:latin typeface="Aptos"/>
              </a:rPr>
              <a:t>nominal</a:t>
            </a:r>
          </a:p>
        </p:txBody>
      </p:sp>
      <p:sp>
        <p:nvSpPr>
          <p:cNvPr id="14" name="TextBox 13"/>
          <p:cNvSpPr txBox="1"/>
          <p:nvPr/>
        </p:nvSpPr>
        <p:spPr>
          <a:xfrm>
            <a:off x="6537959" y="2916936"/>
            <a:ext cx="4617720" cy="326243"/>
          </a:xfrm>
          <a:prstGeom prst="rect">
            <a:avLst/>
          </a:prstGeom>
          <a:noFill/>
        </p:spPr>
        <p:txBody>
          <a:bodyPr wrap="square" lIns="54864" tIns="54864" rIns="54864" bIns="54864" anchor="t">
            <a:spAutoFit/>
          </a:bodyPr>
          <a:lstStyle/>
          <a:p>
            <a:pPr algn="l"/>
            <a:r>
              <a:rPr sz="1400" b="0">
                <a:solidFill>
                  <a:srgbClr val="23303A"/>
                </a:solidFill>
                <a:latin typeface="Aptos"/>
              </a:rPr>
              <a:t>F: 229,898  |  M: 195,189</a:t>
            </a:r>
          </a:p>
        </p:txBody>
      </p:sp>
      <p:sp>
        <p:nvSpPr>
          <p:cNvPr id="15" name="Rectangle 14"/>
          <p:cNvSpPr/>
          <p:nvPr/>
        </p:nvSpPr>
        <p:spPr>
          <a:xfrm>
            <a:off x="777240" y="3931920"/>
            <a:ext cx="91440" cy="1165678"/>
          </a:xfrm>
          <a:prstGeom prst="rect">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51560" y="3977640"/>
            <a:ext cx="2651760" cy="387798"/>
          </a:xfrm>
          <a:prstGeom prst="rect">
            <a:avLst/>
          </a:prstGeom>
          <a:noFill/>
        </p:spPr>
        <p:txBody>
          <a:bodyPr wrap="square" lIns="54864" tIns="54864" rIns="54864" bIns="54864" anchor="t">
            <a:spAutoFit/>
          </a:bodyPr>
          <a:lstStyle/>
          <a:p>
            <a:pPr algn="l"/>
            <a:r>
              <a:rPr b="1" dirty="0">
                <a:solidFill>
                  <a:srgbClr val="0B1F33"/>
                </a:solidFill>
                <a:latin typeface="Aptos Display"/>
              </a:rPr>
              <a:t>race</a:t>
            </a:r>
            <a:endParaRPr sz="1600" b="1" dirty="0">
              <a:solidFill>
                <a:srgbClr val="0B1F33"/>
              </a:solidFill>
              <a:latin typeface="Aptos Display"/>
            </a:endParaRPr>
          </a:p>
        </p:txBody>
      </p:sp>
      <p:sp>
        <p:nvSpPr>
          <p:cNvPr id="17" name="TextBox 16"/>
          <p:cNvSpPr txBox="1"/>
          <p:nvPr/>
        </p:nvSpPr>
        <p:spPr>
          <a:xfrm>
            <a:off x="1051560" y="4315968"/>
            <a:ext cx="1097280" cy="326243"/>
          </a:xfrm>
          <a:prstGeom prst="rect">
            <a:avLst/>
          </a:prstGeom>
          <a:noFill/>
        </p:spPr>
        <p:txBody>
          <a:bodyPr wrap="square" lIns="54864" tIns="54864" rIns="54864" bIns="54864" anchor="t">
            <a:spAutoFit/>
          </a:bodyPr>
          <a:lstStyle/>
          <a:p>
            <a:pPr algn="l"/>
            <a:r>
              <a:rPr sz="1400" b="1">
                <a:solidFill>
                  <a:srgbClr val="599DB5"/>
                </a:solidFill>
                <a:latin typeface="Aptos"/>
              </a:rPr>
              <a:t>nominal</a:t>
            </a:r>
          </a:p>
        </p:txBody>
      </p:sp>
      <p:sp>
        <p:nvSpPr>
          <p:cNvPr id="18" name="TextBox 17"/>
          <p:cNvSpPr txBox="1"/>
          <p:nvPr/>
        </p:nvSpPr>
        <p:spPr>
          <a:xfrm>
            <a:off x="1051560" y="4608576"/>
            <a:ext cx="4617720" cy="541687"/>
          </a:xfrm>
          <a:prstGeom prst="rect">
            <a:avLst/>
          </a:prstGeom>
          <a:noFill/>
        </p:spPr>
        <p:txBody>
          <a:bodyPr wrap="square" lIns="54864" tIns="54864" rIns="54864" bIns="54864" anchor="t">
            <a:spAutoFit/>
          </a:bodyPr>
          <a:lstStyle/>
          <a:p>
            <a:pPr algn="l"/>
            <a:r>
              <a:rPr sz="1400" b="0" dirty="0">
                <a:solidFill>
                  <a:srgbClr val="23303A"/>
                </a:solidFill>
                <a:latin typeface="Aptos"/>
              </a:rPr>
              <a:t>WHITE: 228,123  |  BLACK/AFRICAN AMERICAN: 76,798  |  OTHER: 20,752</a:t>
            </a:r>
          </a:p>
        </p:txBody>
      </p:sp>
      <p:sp>
        <p:nvSpPr>
          <p:cNvPr id="19" name="Rectangle 18"/>
          <p:cNvSpPr/>
          <p:nvPr/>
        </p:nvSpPr>
        <p:spPr>
          <a:xfrm>
            <a:off x="6249785" y="3986103"/>
            <a:ext cx="59575" cy="1103681"/>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59" y="3977640"/>
            <a:ext cx="2651760" cy="387798"/>
          </a:xfrm>
          <a:prstGeom prst="rect">
            <a:avLst/>
          </a:prstGeom>
          <a:noFill/>
        </p:spPr>
        <p:txBody>
          <a:bodyPr wrap="square" lIns="54864" tIns="54864" rIns="54864" bIns="54864" anchor="t">
            <a:spAutoFit/>
          </a:bodyPr>
          <a:lstStyle/>
          <a:p>
            <a:pPr algn="l"/>
            <a:r>
              <a:rPr b="1" dirty="0" err="1">
                <a:solidFill>
                  <a:srgbClr val="0B1F33"/>
                </a:solidFill>
                <a:latin typeface="Aptos Display"/>
              </a:rPr>
              <a:t>arrival</a:t>
            </a:r>
            <a:r>
              <a:rPr sz="1600" b="1" dirty="0" err="1">
                <a:solidFill>
                  <a:srgbClr val="0B1F33"/>
                </a:solidFill>
                <a:latin typeface="Aptos Display"/>
              </a:rPr>
              <a:t>_transport</a:t>
            </a:r>
            <a:endParaRPr sz="1600" b="1" dirty="0">
              <a:solidFill>
                <a:srgbClr val="0B1F33"/>
              </a:solidFill>
              <a:latin typeface="Aptos Display"/>
            </a:endParaRPr>
          </a:p>
        </p:txBody>
      </p:sp>
      <p:sp>
        <p:nvSpPr>
          <p:cNvPr id="21" name="TextBox 20"/>
          <p:cNvSpPr txBox="1"/>
          <p:nvPr/>
        </p:nvSpPr>
        <p:spPr>
          <a:xfrm>
            <a:off x="6537959" y="4315968"/>
            <a:ext cx="1097280" cy="326243"/>
          </a:xfrm>
          <a:prstGeom prst="rect">
            <a:avLst/>
          </a:prstGeom>
          <a:noFill/>
        </p:spPr>
        <p:txBody>
          <a:bodyPr wrap="square" lIns="54864" tIns="54864" rIns="54864" bIns="54864" anchor="t">
            <a:spAutoFit/>
          </a:bodyPr>
          <a:lstStyle/>
          <a:p>
            <a:pPr algn="l"/>
            <a:r>
              <a:rPr sz="1400" b="1">
                <a:solidFill>
                  <a:srgbClr val="E9C46A"/>
                </a:solidFill>
                <a:latin typeface="Aptos"/>
              </a:rPr>
              <a:t>nominal</a:t>
            </a:r>
          </a:p>
        </p:txBody>
      </p:sp>
      <p:sp>
        <p:nvSpPr>
          <p:cNvPr id="22" name="TextBox 21"/>
          <p:cNvSpPr txBox="1"/>
          <p:nvPr/>
        </p:nvSpPr>
        <p:spPr>
          <a:xfrm>
            <a:off x="6537959" y="4608576"/>
            <a:ext cx="4617720" cy="541687"/>
          </a:xfrm>
          <a:prstGeom prst="rect">
            <a:avLst/>
          </a:prstGeom>
          <a:noFill/>
        </p:spPr>
        <p:txBody>
          <a:bodyPr wrap="square" lIns="54864" tIns="54864" rIns="54864" bIns="54864" anchor="t">
            <a:spAutoFit/>
          </a:bodyPr>
          <a:lstStyle/>
          <a:p>
            <a:pPr algn="l"/>
            <a:r>
              <a:rPr sz="1400" b="0" dirty="0">
                <a:solidFill>
                  <a:srgbClr val="23303A"/>
                </a:solidFill>
                <a:latin typeface="Aptos"/>
              </a:rPr>
              <a:t>WALK IN: 251,849  |  AMBULANCE: 155,752  |  </a:t>
            </a:r>
            <a:endParaRPr lang="en-US" sz="1400" b="0" dirty="0">
              <a:solidFill>
                <a:srgbClr val="23303A"/>
              </a:solidFill>
              <a:latin typeface="Aptos"/>
            </a:endParaRPr>
          </a:p>
          <a:p>
            <a:pPr algn="l"/>
            <a:r>
              <a:rPr sz="1400" b="0" dirty="0">
                <a:solidFill>
                  <a:srgbClr val="23303A"/>
                </a:solidFill>
                <a:latin typeface="Aptos"/>
              </a:rPr>
              <a:t>UNKNOWN: 15,352</a:t>
            </a:r>
          </a:p>
        </p:txBody>
      </p:sp>
      <p:sp>
        <p:nvSpPr>
          <p:cNvPr id="23" name="Rounded Rectangle 22"/>
          <p:cNvSpPr/>
          <p:nvPr/>
        </p:nvSpPr>
        <p:spPr>
          <a:xfrm>
            <a:off x="777240" y="5623560"/>
            <a:ext cx="10607040" cy="530352"/>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5632704"/>
            <a:ext cx="11064240" cy="603242"/>
          </a:xfrm>
          <a:prstGeom prst="rect">
            <a:avLst/>
          </a:prstGeom>
          <a:noFill/>
        </p:spPr>
        <p:txBody>
          <a:bodyPr wrap="square" lIns="54864" tIns="54864" rIns="54864" bIns="54864" anchor="t">
            <a:spAutoFit/>
          </a:bodyPr>
          <a:lstStyle/>
          <a:p>
            <a:pPr algn="ctr"/>
            <a:r>
              <a:rPr sz="1600" b="1" dirty="0">
                <a:solidFill>
                  <a:srgbClr val="0B1F33"/>
                </a:solidFill>
                <a:latin typeface="Aptos"/>
              </a:rPr>
              <a:t>Frequency is not causality, quality, fairness, or clinical meaning. Rare and missing categories need review before encoding.</a:t>
            </a:r>
          </a:p>
        </p:txBody>
      </p:sp>
      <p:sp>
        <p:nvSpPr>
          <p:cNvPr id="25" name="Rectangle 24"/>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a:extLst>
              <a:ext uri="{FF2B5EF4-FFF2-40B4-BE49-F238E27FC236}">
                <a16:creationId xmlns:a16="http://schemas.microsoft.com/office/drawing/2014/main" id="{C583CD52-9F69-FB42-5D42-294F8264D706}"/>
              </a:ext>
            </a:extLst>
          </p:cNvPr>
          <p:cNvSpPr/>
          <p:nvPr/>
        </p:nvSpPr>
        <p:spPr>
          <a:xfrm>
            <a:off x="777240" y="2236928"/>
            <a:ext cx="4617720" cy="1054912"/>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
        <p:nvSpPr>
          <p:cNvPr id="30" name="Rectangle 29">
            <a:extLst>
              <a:ext uri="{FF2B5EF4-FFF2-40B4-BE49-F238E27FC236}">
                <a16:creationId xmlns:a16="http://schemas.microsoft.com/office/drawing/2014/main" id="{A72B3616-23F1-5DAB-546F-1D3A22DEEEFB}"/>
              </a:ext>
            </a:extLst>
          </p:cNvPr>
          <p:cNvSpPr/>
          <p:nvPr/>
        </p:nvSpPr>
        <p:spPr>
          <a:xfrm>
            <a:off x="791095" y="3968738"/>
            <a:ext cx="4617720" cy="1165678"/>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
        <p:nvSpPr>
          <p:cNvPr id="33" name="Rectangle 32">
            <a:extLst>
              <a:ext uri="{FF2B5EF4-FFF2-40B4-BE49-F238E27FC236}">
                <a16:creationId xmlns:a16="http://schemas.microsoft.com/office/drawing/2014/main" id="{4A12302B-FA38-8582-49AE-E1AA3545CA90}"/>
              </a:ext>
            </a:extLst>
          </p:cNvPr>
          <p:cNvSpPr/>
          <p:nvPr/>
        </p:nvSpPr>
        <p:spPr>
          <a:xfrm>
            <a:off x="6249785" y="2250783"/>
            <a:ext cx="4617720" cy="1054912"/>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
        <p:nvSpPr>
          <p:cNvPr id="35" name="Rectangle 34">
            <a:extLst>
              <a:ext uri="{FF2B5EF4-FFF2-40B4-BE49-F238E27FC236}">
                <a16:creationId xmlns:a16="http://schemas.microsoft.com/office/drawing/2014/main" id="{CB3538CA-CBF7-04FF-55E8-EE83838C5C67}"/>
              </a:ext>
            </a:extLst>
          </p:cNvPr>
          <p:cNvSpPr/>
          <p:nvPr/>
        </p:nvSpPr>
        <p:spPr>
          <a:xfrm>
            <a:off x="6249783" y="3982598"/>
            <a:ext cx="4617720" cy="1114999"/>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206240" cy="228600"/>
          </a:xfrm>
          <a:prstGeom prst="rect">
            <a:avLst/>
          </a:prstGeom>
          <a:noFill/>
        </p:spPr>
        <p:txBody>
          <a:bodyPr wrap="square" lIns="54864" tIns="54864" rIns="54864" bIns="54864" anchor="t">
            <a:spAutoFit/>
          </a:bodyPr>
          <a:lstStyle/>
          <a:p>
            <a:pPr algn="l"/>
            <a:r>
              <a:rPr sz="1000" b="1">
                <a:solidFill>
                  <a:srgbClr val="0F766E"/>
                </a:solidFill>
                <a:latin typeface="Aptos"/>
              </a:rPr>
              <a:t>04  /  PREPARATION</a:t>
            </a:r>
          </a:p>
        </p:txBody>
      </p:sp>
      <p:sp>
        <p:nvSpPr>
          <p:cNvPr id="3" name="TextBox 2"/>
          <p:cNvSpPr txBox="1"/>
          <p:nvPr/>
        </p:nvSpPr>
        <p:spPr>
          <a:xfrm>
            <a:off x="548640" y="566928"/>
            <a:ext cx="10424160" cy="541687"/>
          </a:xfrm>
          <a:prstGeom prst="rect">
            <a:avLst/>
          </a:prstGeom>
          <a:noFill/>
        </p:spPr>
        <p:txBody>
          <a:bodyPr wrap="square" lIns="54864" tIns="54864" rIns="54864" bIns="54864" anchor="t">
            <a:spAutoFit/>
          </a:bodyPr>
          <a:lstStyle/>
          <a:p>
            <a:pPr algn="l"/>
            <a:r>
              <a:rPr sz="2800" b="1" dirty="0">
                <a:solidFill>
                  <a:srgbClr val="0B1F33"/>
                </a:solidFill>
                <a:latin typeface="Aptos Display"/>
              </a:rPr>
              <a:t>Missingness is part of the data-generating process</a:t>
            </a:r>
          </a:p>
        </p:txBody>
      </p:sp>
      <p:sp>
        <p:nvSpPr>
          <p:cNvPr id="4" name="TextBox 3"/>
          <p:cNvSpPr txBox="1"/>
          <p:nvPr/>
        </p:nvSpPr>
        <p:spPr>
          <a:xfrm>
            <a:off x="10652760" y="310896"/>
            <a:ext cx="914400" cy="201168"/>
          </a:xfrm>
          <a:prstGeom prst="rect">
            <a:avLst/>
          </a:prstGeom>
          <a:noFill/>
        </p:spPr>
        <p:txBody>
          <a:bodyPr wrap="square" lIns="54864" tIns="54864" rIns="54864" bIns="54864" anchor="t">
            <a:spAutoFit/>
          </a:bodyPr>
          <a:lstStyle/>
          <a:p>
            <a:pPr algn="r"/>
            <a:r>
              <a:rPr sz="1000" b="1">
                <a:solidFill>
                  <a:srgbClr val="5B6971"/>
                </a:solidFill>
                <a:latin typeface="Aptos"/>
              </a:rPr>
              <a:t>M1  /  13</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685800" y="1536192"/>
            <a:ext cx="6217920" cy="4434840"/>
          </a:xfrm>
          <a:prstGeom prst="rect">
            <a:avLst/>
          </a:prstGeom>
        </p:spPr>
      </p:pic>
      <p:sp>
        <p:nvSpPr>
          <p:cNvPr id="7" name="Rounded Rectangle 6"/>
          <p:cNvSpPr/>
          <p:nvPr/>
        </p:nvSpPr>
        <p:spPr>
          <a:xfrm>
            <a:off x="7315200" y="1664208"/>
            <a:ext cx="3977639" cy="379476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949922"/>
            <a:ext cx="3108960" cy="480131"/>
          </a:xfrm>
          <a:prstGeom prst="rect">
            <a:avLst/>
          </a:prstGeom>
          <a:noFill/>
        </p:spPr>
        <p:txBody>
          <a:bodyPr wrap="square" lIns="54864" tIns="54864" rIns="54864" bIns="54864" anchor="t">
            <a:spAutoFit/>
          </a:bodyPr>
          <a:lstStyle/>
          <a:p>
            <a:pPr algn="l"/>
            <a:r>
              <a:rPr sz="2400" b="1" dirty="0">
                <a:solidFill>
                  <a:srgbClr val="0F766E"/>
                </a:solidFill>
                <a:latin typeface="Aptos Display"/>
              </a:rPr>
              <a:t>A blank can mean</a:t>
            </a:r>
          </a:p>
        </p:txBody>
      </p:sp>
      <p:sp>
        <p:nvSpPr>
          <p:cNvPr id="9" name="Oval 8"/>
          <p:cNvSpPr/>
          <p:nvPr/>
        </p:nvSpPr>
        <p:spPr>
          <a:xfrm>
            <a:off x="7680960" y="2688336"/>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7845552" y="2550640"/>
            <a:ext cx="2761488" cy="357021"/>
          </a:xfrm>
          <a:prstGeom prst="rect">
            <a:avLst/>
          </a:prstGeom>
          <a:noFill/>
        </p:spPr>
        <p:txBody>
          <a:bodyPr wrap="square" lIns="54864" tIns="54864" rIns="54864" bIns="54864" anchor="t">
            <a:spAutoFit/>
          </a:bodyPr>
          <a:lstStyle/>
          <a:p>
            <a:pPr algn="l"/>
            <a:r>
              <a:rPr sz="1600" b="0" dirty="0">
                <a:solidFill>
                  <a:srgbClr val="23303A"/>
                </a:solidFill>
                <a:latin typeface="Aptos"/>
              </a:rPr>
              <a:t>the test was not ordered</a:t>
            </a:r>
          </a:p>
        </p:txBody>
      </p:sp>
      <p:sp>
        <p:nvSpPr>
          <p:cNvPr id="11" name="Oval 10"/>
          <p:cNvSpPr/>
          <p:nvPr/>
        </p:nvSpPr>
        <p:spPr>
          <a:xfrm>
            <a:off x="7680960" y="3118104"/>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7854696" y="2968535"/>
            <a:ext cx="2761488" cy="603242"/>
          </a:xfrm>
          <a:prstGeom prst="rect">
            <a:avLst/>
          </a:prstGeom>
          <a:noFill/>
        </p:spPr>
        <p:txBody>
          <a:bodyPr wrap="square" lIns="54864" tIns="54864" rIns="54864" bIns="54864" anchor="t">
            <a:spAutoFit/>
          </a:bodyPr>
          <a:lstStyle/>
          <a:p>
            <a:pPr algn="l"/>
            <a:r>
              <a:rPr sz="1600" b="0" dirty="0">
                <a:solidFill>
                  <a:srgbClr val="23303A"/>
                </a:solidFill>
                <a:latin typeface="Aptos"/>
              </a:rPr>
              <a:t>the value was not documented</a:t>
            </a:r>
          </a:p>
        </p:txBody>
      </p:sp>
      <p:sp>
        <p:nvSpPr>
          <p:cNvPr id="13" name="Oval 12"/>
          <p:cNvSpPr/>
          <p:nvPr/>
        </p:nvSpPr>
        <p:spPr>
          <a:xfrm>
            <a:off x="7680960" y="3547872"/>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7845552" y="3465576"/>
            <a:ext cx="2761488" cy="603242"/>
          </a:xfrm>
          <a:prstGeom prst="rect">
            <a:avLst/>
          </a:prstGeom>
          <a:noFill/>
        </p:spPr>
        <p:txBody>
          <a:bodyPr wrap="square" lIns="54864" tIns="54864" rIns="54864" bIns="54864" anchor="t">
            <a:spAutoFit/>
          </a:bodyPr>
          <a:lstStyle/>
          <a:p>
            <a:pPr algn="l"/>
            <a:r>
              <a:rPr sz="1600" b="0" dirty="0">
                <a:solidFill>
                  <a:srgbClr val="23303A"/>
                </a:solidFill>
                <a:latin typeface="Aptos"/>
              </a:rPr>
              <a:t>the event fell outside the time window</a:t>
            </a:r>
          </a:p>
        </p:txBody>
      </p:sp>
      <p:sp>
        <p:nvSpPr>
          <p:cNvPr id="15" name="Oval 14"/>
          <p:cNvSpPr/>
          <p:nvPr/>
        </p:nvSpPr>
        <p:spPr>
          <a:xfrm>
            <a:off x="7680960" y="3977639"/>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7845552" y="3895344"/>
            <a:ext cx="2761488" cy="603242"/>
          </a:xfrm>
          <a:prstGeom prst="rect">
            <a:avLst/>
          </a:prstGeom>
          <a:noFill/>
        </p:spPr>
        <p:txBody>
          <a:bodyPr wrap="square" lIns="54864" tIns="54864" rIns="54864" bIns="54864" anchor="t">
            <a:spAutoFit/>
          </a:bodyPr>
          <a:lstStyle/>
          <a:p>
            <a:pPr algn="l"/>
            <a:r>
              <a:rPr sz="1600" b="0">
                <a:solidFill>
                  <a:srgbClr val="23303A"/>
                </a:solidFill>
                <a:latin typeface="Aptos"/>
              </a:rPr>
              <a:t>the extraction did not find a match</a:t>
            </a:r>
          </a:p>
        </p:txBody>
      </p:sp>
      <p:sp>
        <p:nvSpPr>
          <p:cNvPr id="17" name="Oval 16"/>
          <p:cNvSpPr/>
          <p:nvPr/>
        </p:nvSpPr>
        <p:spPr>
          <a:xfrm>
            <a:off x="7680960" y="4407407"/>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7845552" y="4325112"/>
            <a:ext cx="2761488" cy="603242"/>
          </a:xfrm>
          <a:prstGeom prst="rect">
            <a:avLst/>
          </a:prstGeom>
          <a:noFill/>
        </p:spPr>
        <p:txBody>
          <a:bodyPr wrap="square" lIns="54864" tIns="54864" rIns="54864" bIns="54864" anchor="t">
            <a:spAutoFit/>
          </a:bodyPr>
          <a:lstStyle/>
          <a:p>
            <a:pPr algn="l"/>
            <a:r>
              <a:rPr sz="1600" b="0" dirty="0">
                <a:solidFill>
                  <a:srgbClr val="23303A"/>
                </a:solidFill>
                <a:latin typeface="Aptos"/>
              </a:rPr>
              <a:t>the measurement was removed as implausible</a:t>
            </a:r>
          </a:p>
        </p:txBody>
      </p:sp>
      <p:sp>
        <p:nvSpPr>
          <p:cNvPr id="19" name="TextBox 18"/>
          <p:cNvSpPr txBox="1"/>
          <p:nvPr/>
        </p:nvSpPr>
        <p:spPr>
          <a:xfrm>
            <a:off x="868680" y="6035040"/>
            <a:ext cx="10424160" cy="387798"/>
          </a:xfrm>
          <a:prstGeom prst="rect">
            <a:avLst/>
          </a:prstGeom>
          <a:noFill/>
        </p:spPr>
        <p:txBody>
          <a:bodyPr wrap="square" lIns="54864" tIns="54864" rIns="54864" bIns="54864" anchor="t">
            <a:spAutoFit/>
          </a:bodyPr>
          <a:lstStyle/>
          <a:p>
            <a:pPr algn="ctr"/>
            <a:r>
              <a:rPr b="1" dirty="0">
                <a:solidFill>
                  <a:srgbClr val="0B1F33"/>
                </a:solidFill>
                <a:latin typeface="Aptos"/>
              </a:rPr>
              <a:t>M1 inspects missingness before choosing an imputation strategy.</a:t>
            </a:r>
          </a:p>
        </p:txBody>
      </p:sp>
      <p:sp>
        <p:nvSpPr>
          <p:cNvPr id="20" name="Rectangle 19"/>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3657600" cy="182880"/>
          </a:xfrm>
          <a:prstGeom prst="rect">
            <a:avLst/>
          </a:prstGeom>
          <a:noFill/>
        </p:spPr>
        <p:txBody>
          <a:bodyPr wrap="square" lIns="54864" tIns="54864" rIns="54864" bIns="54864" anchor="t">
            <a:spAutoFit/>
          </a:bodyPr>
          <a:lstStyle/>
          <a:p>
            <a:pPr algn="l"/>
            <a:r>
              <a:rPr sz="1000" b="1">
                <a:solidFill>
                  <a:srgbClr val="E9C46A"/>
                </a:solidFill>
                <a:latin typeface="Aptos"/>
              </a:rPr>
              <a:t>04  /  preparation</a:t>
            </a:r>
          </a:p>
        </p:txBody>
      </p:sp>
      <p:sp>
        <p:nvSpPr>
          <p:cNvPr id="3" name="TextBox 2"/>
          <p:cNvSpPr txBox="1"/>
          <p:nvPr/>
        </p:nvSpPr>
        <p:spPr>
          <a:xfrm>
            <a:off x="548640" y="658368"/>
            <a:ext cx="8229600" cy="541687"/>
          </a:xfrm>
          <a:prstGeom prst="rect">
            <a:avLst/>
          </a:prstGeom>
          <a:noFill/>
        </p:spPr>
        <p:txBody>
          <a:bodyPr wrap="square" lIns="54864" tIns="54864" rIns="54864" bIns="54864" anchor="t">
            <a:spAutoFit/>
          </a:bodyPr>
          <a:lstStyle/>
          <a:p>
            <a:pPr algn="l"/>
            <a:r>
              <a:rPr sz="2800" b="1" dirty="0">
                <a:solidFill>
                  <a:srgbClr val="FFFFFF"/>
                </a:solidFill>
                <a:latin typeface="Aptos Display"/>
              </a:rPr>
              <a:t>Imputation: estimate carefully, validate honestly</a:t>
            </a:r>
          </a:p>
        </p:txBody>
      </p:sp>
      <p:sp>
        <p:nvSpPr>
          <p:cNvPr id="4" name="TextBox 3"/>
          <p:cNvSpPr txBox="1"/>
          <p:nvPr/>
        </p:nvSpPr>
        <p:spPr>
          <a:xfrm>
            <a:off x="731520" y="1417320"/>
            <a:ext cx="9509760" cy="387798"/>
          </a:xfrm>
          <a:prstGeom prst="rect">
            <a:avLst/>
          </a:prstGeom>
          <a:noFill/>
        </p:spPr>
        <p:txBody>
          <a:bodyPr wrap="square" lIns="54864" tIns="54864" rIns="54864" bIns="54864" anchor="t">
            <a:spAutoFit/>
          </a:bodyPr>
          <a:lstStyle/>
          <a:p>
            <a:pPr algn="l"/>
            <a:r>
              <a:rPr b="0" dirty="0">
                <a:solidFill>
                  <a:srgbClr val="E4EBEA"/>
                </a:solidFill>
                <a:latin typeface="Aptos"/>
              </a:rPr>
              <a:t>The notebook creates a known test by hiding 20% of cells in rows that were originally complete.</a:t>
            </a:r>
          </a:p>
        </p:txBody>
      </p:sp>
      <p:sp>
        <p:nvSpPr>
          <p:cNvPr id="5" name="Oval 4"/>
          <p:cNvSpPr/>
          <p:nvPr/>
        </p:nvSpPr>
        <p:spPr>
          <a:xfrm>
            <a:off x="822960" y="2194560"/>
            <a:ext cx="566928" cy="566928"/>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359152"/>
            <a:ext cx="566928" cy="357021"/>
          </a:xfrm>
          <a:prstGeom prst="rect">
            <a:avLst/>
          </a:prstGeom>
          <a:noFill/>
        </p:spPr>
        <p:txBody>
          <a:bodyPr wrap="square" lIns="54864" tIns="54864" rIns="54864" bIns="54864" anchor="t">
            <a:spAutoFit/>
          </a:bodyPr>
          <a:lstStyle/>
          <a:p>
            <a:pPr algn="ctr"/>
            <a:r>
              <a:rPr sz="1600" b="1">
                <a:solidFill>
                  <a:srgbClr val="FFFFFF"/>
                </a:solidFill>
                <a:latin typeface="Aptos"/>
              </a:rPr>
              <a:t>1</a:t>
            </a:r>
          </a:p>
        </p:txBody>
      </p:sp>
      <p:sp>
        <p:nvSpPr>
          <p:cNvPr id="7" name="TextBox 6"/>
          <p:cNvSpPr txBox="1"/>
          <p:nvPr/>
        </p:nvSpPr>
        <p:spPr>
          <a:xfrm>
            <a:off x="411480" y="2944368"/>
            <a:ext cx="1417320" cy="603242"/>
          </a:xfrm>
          <a:prstGeom prst="rect">
            <a:avLst/>
          </a:prstGeom>
          <a:noFill/>
        </p:spPr>
        <p:txBody>
          <a:bodyPr wrap="square" lIns="54864" tIns="54864" rIns="54864" bIns="54864" anchor="t">
            <a:spAutoFit/>
          </a:bodyPr>
          <a:lstStyle/>
          <a:p>
            <a:pPr algn="ctr"/>
            <a:r>
              <a:rPr sz="1600" b="1">
                <a:solidFill>
                  <a:srgbClr val="FFFFFF"/>
                </a:solidFill>
                <a:latin typeface="Aptos"/>
              </a:rPr>
              <a:t>complete rows</a:t>
            </a:r>
          </a:p>
        </p:txBody>
      </p:sp>
      <p:cxnSp>
        <p:nvCxnSpPr>
          <p:cNvPr id="8" name="Connector 7"/>
          <p:cNvCxnSpPr/>
          <p:nvPr/>
        </p:nvCxnSpPr>
        <p:spPr>
          <a:xfrm>
            <a:off x="1508760" y="2468880"/>
            <a:ext cx="1645919" cy="0"/>
          </a:xfrm>
          <a:prstGeom prst="line">
            <a:avLst/>
          </a:prstGeom>
          <a:ln w="19050">
            <a:solidFill>
              <a:srgbClr val="E4EBEA"/>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3566160" y="2194560"/>
            <a:ext cx="566928" cy="566928"/>
          </a:xfrm>
          <a:prstGeom prst="ellipse">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66160" y="2359152"/>
            <a:ext cx="566928" cy="357021"/>
          </a:xfrm>
          <a:prstGeom prst="rect">
            <a:avLst/>
          </a:prstGeom>
          <a:noFill/>
        </p:spPr>
        <p:txBody>
          <a:bodyPr wrap="square" lIns="54864" tIns="54864" rIns="54864" bIns="54864" anchor="t">
            <a:spAutoFit/>
          </a:bodyPr>
          <a:lstStyle/>
          <a:p>
            <a:pPr algn="ctr"/>
            <a:r>
              <a:rPr sz="1600" b="1">
                <a:solidFill>
                  <a:srgbClr val="0B1F33"/>
                </a:solidFill>
                <a:latin typeface="Aptos"/>
              </a:rPr>
              <a:t>2</a:t>
            </a:r>
          </a:p>
        </p:txBody>
      </p:sp>
      <p:sp>
        <p:nvSpPr>
          <p:cNvPr id="11" name="TextBox 10"/>
          <p:cNvSpPr txBox="1"/>
          <p:nvPr/>
        </p:nvSpPr>
        <p:spPr>
          <a:xfrm>
            <a:off x="3154679" y="2944368"/>
            <a:ext cx="1417320" cy="357021"/>
          </a:xfrm>
          <a:prstGeom prst="rect">
            <a:avLst/>
          </a:prstGeom>
          <a:noFill/>
        </p:spPr>
        <p:txBody>
          <a:bodyPr wrap="square" lIns="54864" tIns="54864" rIns="54864" bIns="54864" anchor="t">
            <a:spAutoFit/>
          </a:bodyPr>
          <a:lstStyle/>
          <a:p>
            <a:pPr algn="ctr"/>
            <a:r>
              <a:rPr sz="1600" b="1">
                <a:solidFill>
                  <a:srgbClr val="FFFFFF"/>
                </a:solidFill>
                <a:latin typeface="Aptos"/>
              </a:rPr>
              <a:t>mask 20%</a:t>
            </a:r>
          </a:p>
        </p:txBody>
      </p:sp>
      <p:cxnSp>
        <p:nvCxnSpPr>
          <p:cNvPr id="12" name="Connector 11"/>
          <p:cNvCxnSpPr/>
          <p:nvPr/>
        </p:nvCxnSpPr>
        <p:spPr>
          <a:xfrm>
            <a:off x="4251960" y="2468880"/>
            <a:ext cx="1645919" cy="0"/>
          </a:xfrm>
          <a:prstGeom prst="line">
            <a:avLst/>
          </a:prstGeom>
          <a:ln w="19050">
            <a:solidFill>
              <a:srgbClr val="E4EBEA"/>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309360" y="2194560"/>
            <a:ext cx="566928" cy="566928"/>
          </a:xfrm>
          <a:prstGeom prst="ellipse">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09360" y="2359152"/>
            <a:ext cx="566928" cy="357021"/>
          </a:xfrm>
          <a:prstGeom prst="rect">
            <a:avLst/>
          </a:prstGeom>
          <a:noFill/>
        </p:spPr>
        <p:txBody>
          <a:bodyPr wrap="square" lIns="54864" tIns="54864" rIns="54864" bIns="54864" anchor="t">
            <a:spAutoFit/>
          </a:bodyPr>
          <a:lstStyle/>
          <a:p>
            <a:pPr algn="ctr"/>
            <a:r>
              <a:rPr sz="1600" b="1">
                <a:solidFill>
                  <a:srgbClr val="FFFFFF"/>
                </a:solidFill>
                <a:latin typeface="Aptos"/>
              </a:rPr>
              <a:t>3</a:t>
            </a:r>
          </a:p>
        </p:txBody>
      </p:sp>
      <p:sp>
        <p:nvSpPr>
          <p:cNvPr id="15" name="TextBox 14"/>
          <p:cNvSpPr txBox="1"/>
          <p:nvPr/>
        </p:nvSpPr>
        <p:spPr>
          <a:xfrm>
            <a:off x="5897880" y="2944368"/>
            <a:ext cx="1417320" cy="357021"/>
          </a:xfrm>
          <a:prstGeom prst="rect">
            <a:avLst/>
          </a:prstGeom>
          <a:noFill/>
        </p:spPr>
        <p:txBody>
          <a:bodyPr wrap="square" lIns="54864" tIns="54864" rIns="54864" bIns="54864" anchor="t">
            <a:spAutoFit/>
          </a:bodyPr>
          <a:lstStyle/>
          <a:p>
            <a:pPr algn="ctr"/>
            <a:r>
              <a:rPr sz="1600" b="1">
                <a:solidFill>
                  <a:srgbClr val="FFFFFF"/>
                </a:solidFill>
                <a:latin typeface="Aptos"/>
              </a:rPr>
              <a:t>fit imputer</a:t>
            </a:r>
          </a:p>
        </p:txBody>
      </p:sp>
      <p:cxnSp>
        <p:nvCxnSpPr>
          <p:cNvPr id="16" name="Connector 15"/>
          <p:cNvCxnSpPr/>
          <p:nvPr/>
        </p:nvCxnSpPr>
        <p:spPr>
          <a:xfrm>
            <a:off x="6995160" y="2468880"/>
            <a:ext cx="1645920" cy="0"/>
          </a:xfrm>
          <a:prstGeom prst="line">
            <a:avLst/>
          </a:prstGeom>
          <a:ln w="19050">
            <a:solidFill>
              <a:srgbClr val="E4EBEA"/>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9052560" y="2194560"/>
            <a:ext cx="566928" cy="56692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052560" y="2359152"/>
            <a:ext cx="566928" cy="357021"/>
          </a:xfrm>
          <a:prstGeom prst="rect">
            <a:avLst/>
          </a:prstGeom>
          <a:noFill/>
        </p:spPr>
        <p:txBody>
          <a:bodyPr wrap="square" lIns="54864" tIns="54864" rIns="54864" bIns="54864" anchor="t">
            <a:spAutoFit/>
          </a:bodyPr>
          <a:lstStyle/>
          <a:p>
            <a:pPr algn="ctr"/>
            <a:r>
              <a:rPr sz="1600" b="1">
                <a:solidFill>
                  <a:srgbClr val="FFFFFF"/>
                </a:solidFill>
                <a:latin typeface="Aptos"/>
              </a:rPr>
              <a:t>4</a:t>
            </a:r>
          </a:p>
        </p:txBody>
      </p:sp>
      <p:sp>
        <p:nvSpPr>
          <p:cNvPr id="19" name="TextBox 18"/>
          <p:cNvSpPr txBox="1"/>
          <p:nvPr/>
        </p:nvSpPr>
        <p:spPr>
          <a:xfrm>
            <a:off x="8641080" y="2944368"/>
            <a:ext cx="1417320" cy="603242"/>
          </a:xfrm>
          <a:prstGeom prst="rect">
            <a:avLst/>
          </a:prstGeom>
          <a:noFill/>
        </p:spPr>
        <p:txBody>
          <a:bodyPr wrap="square" lIns="54864" tIns="54864" rIns="54864" bIns="54864" anchor="t">
            <a:spAutoFit/>
          </a:bodyPr>
          <a:lstStyle/>
          <a:p>
            <a:pPr algn="ctr"/>
            <a:r>
              <a:rPr sz="1600" b="1">
                <a:solidFill>
                  <a:srgbClr val="FFFFFF"/>
                </a:solidFill>
                <a:latin typeface="Aptos"/>
              </a:rPr>
              <a:t>score hidden cells</a:t>
            </a:r>
          </a:p>
        </p:txBody>
      </p:sp>
      <p:sp>
        <p:nvSpPr>
          <p:cNvPr id="20" name="Rounded Rectangle 19"/>
          <p:cNvSpPr/>
          <p:nvPr/>
        </p:nvSpPr>
        <p:spPr>
          <a:xfrm>
            <a:off x="777240" y="3886200"/>
            <a:ext cx="5212080" cy="1234440"/>
          </a:xfrm>
          <a:prstGeom prst="roundRect">
            <a:avLst>
              <a:gd name="adj" fmla="val 8000"/>
            </a:avLst>
          </a:prstGeom>
          <a:solidFill>
            <a:schemeClr val="bg1">
              <a:lumMod val="50000"/>
            </a:schemeClr>
          </a:solidFill>
          <a:ln>
            <a:solidFill>
              <a:srgbClr val="1831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51560" y="4133087"/>
            <a:ext cx="2286000" cy="387798"/>
          </a:xfrm>
          <a:prstGeom prst="rect">
            <a:avLst/>
          </a:prstGeom>
          <a:noFill/>
        </p:spPr>
        <p:txBody>
          <a:bodyPr wrap="square" lIns="54864" tIns="54864" rIns="54864" bIns="54864" anchor="t">
            <a:spAutoFit/>
          </a:bodyPr>
          <a:lstStyle/>
          <a:p>
            <a:pPr algn="l"/>
            <a:r>
              <a:rPr b="1">
                <a:solidFill>
                  <a:srgbClr val="E9C46A"/>
                </a:solidFill>
                <a:latin typeface="Aptos Display"/>
              </a:rPr>
              <a:t>Compared methods</a:t>
            </a:r>
          </a:p>
        </p:txBody>
      </p:sp>
      <p:sp>
        <p:nvSpPr>
          <p:cNvPr id="22" name="TextBox 21"/>
          <p:cNvSpPr txBox="1"/>
          <p:nvPr/>
        </p:nvSpPr>
        <p:spPr>
          <a:xfrm>
            <a:off x="1051560" y="4498848"/>
            <a:ext cx="4480560" cy="326243"/>
          </a:xfrm>
          <a:prstGeom prst="rect">
            <a:avLst/>
          </a:prstGeom>
          <a:noFill/>
        </p:spPr>
        <p:txBody>
          <a:bodyPr wrap="square" lIns="54864" tIns="54864" rIns="54864" bIns="54864" anchor="t">
            <a:spAutoFit/>
          </a:bodyPr>
          <a:lstStyle/>
          <a:p>
            <a:pPr algn="l"/>
            <a:r>
              <a:rPr sz="1400" b="0">
                <a:solidFill>
                  <a:srgbClr val="E4EBEA"/>
                </a:solidFill>
                <a:latin typeface="Aptos"/>
              </a:rPr>
              <a:t>Median  |  KNN  |  Iterative  |  Autoencoder-style MLP</a:t>
            </a:r>
          </a:p>
        </p:txBody>
      </p:sp>
      <p:sp>
        <p:nvSpPr>
          <p:cNvPr id="23" name="Rounded Rectangle 22"/>
          <p:cNvSpPr/>
          <p:nvPr/>
        </p:nvSpPr>
        <p:spPr>
          <a:xfrm>
            <a:off x="6263640" y="3886200"/>
            <a:ext cx="5166360" cy="1234440"/>
          </a:xfrm>
          <a:prstGeom prst="roundRect">
            <a:avLst>
              <a:gd name="adj" fmla="val 8000"/>
            </a:avLst>
          </a:prstGeom>
          <a:solidFill>
            <a:schemeClr val="bg1">
              <a:lumMod val="50000"/>
            </a:schemeClr>
          </a:solidFill>
          <a:ln>
            <a:solidFill>
              <a:srgbClr val="1831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37960" y="4133087"/>
            <a:ext cx="2560320" cy="387798"/>
          </a:xfrm>
          <a:prstGeom prst="rect">
            <a:avLst/>
          </a:prstGeom>
          <a:noFill/>
        </p:spPr>
        <p:txBody>
          <a:bodyPr wrap="square" lIns="54864" tIns="54864" rIns="54864" bIns="54864" anchor="t">
            <a:spAutoFit/>
          </a:bodyPr>
          <a:lstStyle/>
          <a:p>
            <a:pPr algn="l"/>
            <a:r>
              <a:rPr b="1">
                <a:solidFill>
                  <a:srgbClr val="E9C46A"/>
                </a:solidFill>
                <a:latin typeface="Aptos Display"/>
              </a:rPr>
              <a:t>Important guardrails</a:t>
            </a:r>
          </a:p>
        </p:txBody>
      </p:sp>
      <p:sp>
        <p:nvSpPr>
          <p:cNvPr id="25" name="TextBox 24"/>
          <p:cNvSpPr txBox="1"/>
          <p:nvPr/>
        </p:nvSpPr>
        <p:spPr>
          <a:xfrm>
            <a:off x="6537960" y="4498848"/>
            <a:ext cx="4526280" cy="541687"/>
          </a:xfrm>
          <a:prstGeom prst="rect">
            <a:avLst/>
          </a:prstGeom>
          <a:noFill/>
        </p:spPr>
        <p:txBody>
          <a:bodyPr wrap="square" lIns="54864" tIns="54864" rIns="54864" bIns="54864" anchor="t">
            <a:spAutoFit/>
          </a:bodyPr>
          <a:lstStyle/>
          <a:p>
            <a:pPr algn="l"/>
            <a:r>
              <a:rPr sz="1400" b="0">
                <a:solidFill>
                  <a:srgbClr val="E4EBEA"/>
                </a:solidFill>
                <a:latin typeface="Aptos"/>
              </a:rPr>
              <a:t>Range-clean first  |  constrain outputs  |  score masked cells only  |  preserve raw data</a:t>
            </a:r>
          </a:p>
        </p:txBody>
      </p:sp>
      <p:sp>
        <p:nvSpPr>
          <p:cNvPr id="26" name="TextBox 25"/>
          <p:cNvSpPr txBox="1"/>
          <p:nvPr/>
        </p:nvSpPr>
        <p:spPr>
          <a:xfrm>
            <a:off x="777240" y="5870448"/>
            <a:ext cx="10698480" cy="387798"/>
          </a:xfrm>
          <a:prstGeom prst="rect">
            <a:avLst/>
          </a:prstGeom>
          <a:noFill/>
        </p:spPr>
        <p:txBody>
          <a:bodyPr wrap="square" lIns="54864" tIns="54864" rIns="54864" bIns="54864" anchor="t">
            <a:spAutoFit/>
          </a:bodyPr>
          <a:lstStyle/>
          <a:p>
            <a:pPr algn="ctr"/>
            <a:r>
              <a:rPr b="1" dirty="0">
                <a:solidFill>
                  <a:srgbClr val="E9C46A"/>
                </a:solidFill>
                <a:latin typeface="Aptos"/>
              </a:rPr>
              <a:t>Local result: iterative selected  |  validation rows: 10,000  |  masked cells: 29,943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206240" cy="228600"/>
          </a:xfrm>
          <a:prstGeom prst="rect">
            <a:avLst/>
          </a:prstGeom>
          <a:noFill/>
        </p:spPr>
        <p:txBody>
          <a:bodyPr wrap="square" lIns="54864" tIns="54864" rIns="54864" bIns="54864" anchor="t">
            <a:spAutoFit/>
          </a:bodyPr>
          <a:lstStyle/>
          <a:p>
            <a:pPr algn="l"/>
            <a:r>
              <a:rPr sz="1000" b="1">
                <a:solidFill>
                  <a:srgbClr val="0F766E"/>
                </a:solidFill>
                <a:latin typeface="Aptos"/>
              </a:rPr>
              <a:t>03  /  INSPECTION</a:t>
            </a:r>
          </a:p>
        </p:txBody>
      </p:sp>
      <p:sp>
        <p:nvSpPr>
          <p:cNvPr id="3" name="TextBox 2"/>
          <p:cNvSpPr txBox="1"/>
          <p:nvPr/>
        </p:nvSpPr>
        <p:spPr>
          <a:xfrm>
            <a:off x="548640" y="566928"/>
            <a:ext cx="10424160" cy="502920"/>
          </a:xfrm>
          <a:prstGeom prst="rect">
            <a:avLst/>
          </a:prstGeom>
          <a:noFill/>
        </p:spPr>
        <p:txBody>
          <a:bodyPr wrap="square" lIns="54864" tIns="54864" rIns="54864" bIns="54864" anchor="t">
            <a:spAutoFit/>
          </a:bodyPr>
          <a:lstStyle/>
          <a:p>
            <a:pPr algn="l"/>
            <a:r>
              <a:rPr sz="2700" b="1">
                <a:solidFill>
                  <a:srgbClr val="0B1F33"/>
                </a:solidFill>
                <a:latin typeface="Aptos Display"/>
              </a:rPr>
              <a:t>Correlation asks whether variables move together</a:t>
            </a:r>
          </a:p>
        </p:txBody>
      </p:sp>
      <p:sp>
        <p:nvSpPr>
          <p:cNvPr id="4" name="TextBox 3"/>
          <p:cNvSpPr txBox="1"/>
          <p:nvPr/>
        </p:nvSpPr>
        <p:spPr>
          <a:xfrm>
            <a:off x="10652760" y="310896"/>
            <a:ext cx="914400" cy="201168"/>
          </a:xfrm>
          <a:prstGeom prst="rect">
            <a:avLst/>
          </a:prstGeom>
          <a:noFill/>
        </p:spPr>
        <p:txBody>
          <a:bodyPr wrap="square" lIns="54864" tIns="54864" rIns="54864" bIns="54864" anchor="t">
            <a:spAutoFit/>
          </a:bodyPr>
          <a:lstStyle/>
          <a:p>
            <a:pPr algn="r"/>
            <a:r>
              <a:rPr sz="1000" b="1">
                <a:solidFill>
                  <a:srgbClr val="5B6971"/>
                </a:solidFill>
                <a:latin typeface="Aptos"/>
              </a:rPr>
              <a:t>M1  /  15</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685799" y="1444752"/>
            <a:ext cx="5595503" cy="4709548"/>
          </a:xfrm>
          <a:prstGeom prst="rect">
            <a:avLst/>
          </a:prstGeom>
        </p:spPr>
      </p:pic>
      <p:sp>
        <p:nvSpPr>
          <p:cNvPr id="7" name="Rounded Rectangle 6"/>
          <p:cNvSpPr/>
          <p:nvPr/>
        </p:nvSpPr>
        <p:spPr>
          <a:xfrm>
            <a:off x="6629400" y="1645920"/>
            <a:ext cx="4617720" cy="416052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0" y="1993392"/>
            <a:ext cx="3291840" cy="541687"/>
          </a:xfrm>
          <a:prstGeom prst="rect">
            <a:avLst/>
          </a:prstGeom>
          <a:noFill/>
        </p:spPr>
        <p:txBody>
          <a:bodyPr wrap="square" lIns="54864" tIns="54864" rIns="54864" bIns="54864" anchor="t">
            <a:spAutoFit/>
          </a:bodyPr>
          <a:lstStyle/>
          <a:p>
            <a:pPr algn="l"/>
            <a:r>
              <a:rPr sz="2800" b="1">
                <a:solidFill>
                  <a:srgbClr val="0F766E"/>
                </a:solidFill>
                <a:latin typeface="Aptos Display"/>
              </a:rPr>
              <a:t>How to read it</a:t>
            </a:r>
          </a:p>
        </p:txBody>
      </p:sp>
      <p:sp>
        <p:nvSpPr>
          <p:cNvPr id="9" name="Oval 8"/>
          <p:cNvSpPr/>
          <p:nvPr/>
        </p:nvSpPr>
        <p:spPr>
          <a:xfrm>
            <a:off x="7040880" y="2752344"/>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7150608" y="2545054"/>
            <a:ext cx="3959352" cy="603242"/>
          </a:xfrm>
          <a:prstGeom prst="rect">
            <a:avLst/>
          </a:prstGeom>
          <a:noFill/>
        </p:spPr>
        <p:txBody>
          <a:bodyPr wrap="square" lIns="54864" tIns="54864" rIns="54864" bIns="54864" anchor="t">
            <a:spAutoFit/>
          </a:bodyPr>
          <a:lstStyle/>
          <a:p>
            <a:pPr algn="l"/>
            <a:r>
              <a:rPr sz="1600" b="0" dirty="0">
                <a:solidFill>
                  <a:srgbClr val="23303A"/>
                </a:solidFill>
                <a:latin typeface="Aptos"/>
              </a:rPr>
              <a:t>Spearman correlation uses ranks, so it captures monotonic association.</a:t>
            </a:r>
          </a:p>
        </p:txBody>
      </p:sp>
      <p:sp>
        <p:nvSpPr>
          <p:cNvPr id="11" name="Oval 10"/>
          <p:cNvSpPr/>
          <p:nvPr/>
        </p:nvSpPr>
        <p:spPr>
          <a:xfrm>
            <a:off x="7040880" y="3209544"/>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7150608" y="3044690"/>
            <a:ext cx="3959352" cy="603242"/>
          </a:xfrm>
          <a:prstGeom prst="rect">
            <a:avLst/>
          </a:prstGeom>
          <a:noFill/>
        </p:spPr>
        <p:txBody>
          <a:bodyPr wrap="square" lIns="54864" tIns="54864" rIns="54864" bIns="54864" anchor="t">
            <a:spAutoFit/>
          </a:bodyPr>
          <a:lstStyle/>
          <a:p>
            <a:pPr algn="l"/>
            <a:r>
              <a:rPr sz="1600" b="0" dirty="0">
                <a:solidFill>
                  <a:srgbClr val="23303A"/>
                </a:solidFill>
                <a:latin typeface="Aptos"/>
              </a:rPr>
              <a:t>+1 means variables rise together; -1 means one rises as the other falls.</a:t>
            </a:r>
          </a:p>
        </p:txBody>
      </p:sp>
      <p:sp>
        <p:nvSpPr>
          <p:cNvPr id="13" name="Oval 12"/>
          <p:cNvSpPr/>
          <p:nvPr/>
        </p:nvSpPr>
        <p:spPr>
          <a:xfrm>
            <a:off x="7040880" y="3666744"/>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7150608" y="3541961"/>
            <a:ext cx="3264408" cy="603242"/>
          </a:xfrm>
          <a:prstGeom prst="rect">
            <a:avLst/>
          </a:prstGeom>
          <a:noFill/>
        </p:spPr>
        <p:txBody>
          <a:bodyPr wrap="square" lIns="54864" tIns="54864" rIns="54864" bIns="54864" anchor="t">
            <a:spAutoFit/>
          </a:bodyPr>
          <a:lstStyle/>
          <a:p>
            <a:pPr algn="l"/>
            <a:r>
              <a:rPr sz="1600" b="0" dirty="0">
                <a:solidFill>
                  <a:srgbClr val="23303A"/>
                </a:solidFill>
                <a:latin typeface="Aptos"/>
              </a:rPr>
              <a:t>0 means little monotonic association in this table.</a:t>
            </a:r>
          </a:p>
        </p:txBody>
      </p:sp>
      <p:sp>
        <p:nvSpPr>
          <p:cNvPr id="15" name="Oval 14"/>
          <p:cNvSpPr/>
          <p:nvPr/>
        </p:nvSpPr>
        <p:spPr>
          <a:xfrm>
            <a:off x="6999732" y="4322922"/>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7143750" y="4102701"/>
            <a:ext cx="4123944" cy="603242"/>
          </a:xfrm>
          <a:prstGeom prst="rect">
            <a:avLst/>
          </a:prstGeom>
          <a:noFill/>
        </p:spPr>
        <p:txBody>
          <a:bodyPr wrap="square" lIns="54864" tIns="54864" rIns="54864" bIns="54864" anchor="t">
            <a:spAutoFit/>
          </a:bodyPr>
          <a:lstStyle/>
          <a:p>
            <a:pPr algn="l"/>
            <a:r>
              <a:rPr sz="1600" b="0" dirty="0">
                <a:solidFill>
                  <a:srgbClr val="23303A"/>
                </a:solidFill>
                <a:latin typeface="Aptos"/>
              </a:rPr>
              <a:t>Correlation is not causation and does not prove predictive usefulness.</a:t>
            </a:r>
          </a:p>
        </p:txBody>
      </p:sp>
      <p:sp>
        <p:nvSpPr>
          <p:cNvPr id="17" name="Oval 16"/>
          <p:cNvSpPr/>
          <p:nvPr/>
        </p:nvSpPr>
        <p:spPr>
          <a:xfrm>
            <a:off x="7040880" y="4846320"/>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7205472" y="4663440"/>
            <a:ext cx="4041648" cy="603242"/>
          </a:xfrm>
          <a:prstGeom prst="rect">
            <a:avLst/>
          </a:prstGeom>
          <a:noFill/>
        </p:spPr>
        <p:txBody>
          <a:bodyPr wrap="square" lIns="54864" tIns="54864" rIns="54864" bIns="54864" anchor="t">
            <a:spAutoFit/>
          </a:bodyPr>
          <a:lstStyle/>
          <a:p>
            <a:pPr algn="l"/>
            <a:r>
              <a:rPr sz="1600" b="0" dirty="0">
                <a:solidFill>
                  <a:srgbClr val="23303A"/>
                </a:solidFill>
                <a:latin typeface="Aptos"/>
              </a:rPr>
              <a:t>Different time windows can create leakage concerns even when correlation is strong.</a:t>
            </a:r>
          </a:p>
        </p:txBody>
      </p:sp>
      <p:sp>
        <p:nvSpPr>
          <p:cNvPr id="19" name="Rectangle 18"/>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206240" cy="228600"/>
          </a:xfrm>
          <a:prstGeom prst="rect">
            <a:avLst/>
          </a:prstGeom>
          <a:noFill/>
        </p:spPr>
        <p:txBody>
          <a:bodyPr wrap="square" lIns="54864" tIns="54864" rIns="54864" bIns="54864" anchor="t">
            <a:spAutoFit/>
          </a:bodyPr>
          <a:lstStyle/>
          <a:p>
            <a:pPr algn="l"/>
            <a:r>
              <a:rPr sz="1000" b="1">
                <a:solidFill>
                  <a:srgbClr val="0F766E"/>
                </a:solidFill>
                <a:latin typeface="Aptos"/>
              </a:rPr>
              <a:t>05  /  OUTPUTS</a:t>
            </a:r>
          </a:p>
        </p:txBody>
      </p:sp>
      <p:sp>
        <p:nvSpPr>
          <p:cNvPr id="3" name="TextBox 2"/>
          <p:cNvSpPr txBox="1"/>
          <p:nvPr/>
        </p:nvSpPr>
        <p:spPr>
          <a:xfrm>
            <a:off x="548640" y="566928"/>
            <a:ext cx="10424160" cy="502920"/>
          </a:xfrm>
          <a:prstGeom prst="rect">
            <a:avLst/>
          </a:prstGeom>
          <a:noFill/>
        </p:spPr>
        <p:txBody>
          <a:bodyPr wrap="square" lIns="54864" tIns="54864" rIns="54864" bIns="54864" anchor="t">
            <a:spAutoFit/>
          </a:bodyPr>
          <a:lstStyle/>
          <a:p>
            <a:pPr algn="l"/>
            <a:r>
              <a:rPr sz="2700" b="1">
                <a:solidFill>
                  <a:srgbClr val="0B1F33"/>
                </a:solidFill>
                <a:latin typeface="Aptos Display"/>
              </a:rPr>
              <a:t>What M1 hands forward</a:t>
            </a:r>
          </a:p>
        </p:txBody>
      </p:sp>
      <p:sp>
        <p:nvSpPr>
          <p:cNvPr id="4" name="TextBox 3"/>
          <p:cNvSpPr txBox="1"/>
          <p:nvPr/>
        </p:nvSpPr>
        <p:spPr>
          <a:xfrm>
            <a:off x="10652760" y="310896"/>
            <a:ext cx="914400" cy="201168"/>
          </a:xfrm>
          <a:prstGeom prst="rect">
            <a:avLst/>
          </a:prstGeom>
          <a:noFill/>
        </p:spPr>
        <p:txBody>
          <a:bodyPr wrap="square" lIns="54864" tIns="54864" rIns="54864" bIns="54864" anchor="t">
            <a:spAutoFit/>
          </a:bodyPr>
          <a:lstStyle/>
          <a:p>
            <a:pPr algn="r"/>
            <a:r>
              <a:rPr sz="1000" b="1">
                <a:solidFill>
                  <a:srgbClr val="5B6971"/>
                </a:solidFill>
                <a:latin typeface="Aptos"/>
              </a:rPr>
              <a:t>M1  /  16</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554480"/>
            <a:ext cx="91440" cy="804672"/>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1051560" y="1591056"/>
            <a:ext cx="4800600" cy="357021"/>
          </a:xfrm>
          <a:prstGeom prst="rect">
            <a:avLst/>
          </a:prstGeom>
          <a:noFill/>
        </p:spPr>
        <p:txBody>
          <a:bodyPr wrap="square" lIns="54864" tIns="54864" rIns="54864" bIns="54864" anchor="t">
            <a:spAutoFit/>
          </a:bodyPr>
          <a:lstStyle/>
          <a:p>
            <a:pPr algn="l"/>
            <a:r>
              <a:rPr sz="1600" b="1">
                <a:solidFill>
                  <a:srgbClr val="0B1F33"/>
                </a:solidFill>
                <a:latin typeface="Aptos Display"/>
              </a:rPr>
              <a:t>M1_variable_dictionary.csv</a:t>
            </a:r>
          </a:p>
        </p:txBody>
      </p:sp>
      <p:sp>
        <p:nvSpPr>
          <p:cNvPr id="8" name="TextBox 7"/>
          <p:cNvSpPr txBox="1"/>
          <p:nvPr/>
        </p:nvSpPr>
        <p:spPr>
          <a:xfrm>
            <a:off x="1051560" y="1911095"/>
            <a:ext cx="4800600" cy="326243"/>
          </a:xfrm>
          <a:prstGeom prst="rect">
            <a:avLst/>
          </a:prstGeom>
          <a:noFill/>
        </p:spPr>
        <p:txBody>
          <a:bodyPr wrap="square" lIns="54864" tIns="54864" rIns="54864" bIns="54864" anchor="t">
            <a:spAutoFit/>
          </a:bodyPr>
          <a:lstStyle/>
          <a:p>
            <a:pPr algn="l"/>
            <a:r>
              <a:rPr sz="1400" b="0">
                <a:solidFill>
                  <a:srgbClr val="23303A"/>
                </a:solidFill>
                <a:latin typeface="Aptos"/>
              </a:rPr>
              <a:t>families, dtypes, non-missing counts, missing percentage</a:t>
            </a:r>
          </a:p>
        </p:txBody>
      </p:sp>
      <p:sp>
        <p:nvSpPr>
          <p:cNvPr id="9" name="Rectangle 8"/>
          <p:cNvSpPr/>
          <p:nvPr/>
        </p:nvSpPr>
        <p:spPr>
          <a:xfrm>
            <a:off x="6309359" y="1554480"/>
            <a:ext cx="91440" cy="804672"/>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6583679" y="1591056"/>
            <a:ext cx="4800600" cy="357021"/>
          </a:xfrm>
          <a:prstGeom prst="rect">
            <a:avLst/>
          </a:prstGeom>
          <a:noFill/>
        </p:spPr>
        <p:txBody>
          <a:bodyPr wrap="square" lIns="54864" tIns="54864" rIns="54864" bIns="54864" anchor="t">
            <a:spAutoFit/>
          </a:bodyPr>
          <a:lstStyle/>
          <a:p>
            <a:pPr algn="l"/>
            <a:r>
              <a:rPr sz="1600" b="1">
                <a:solidFill>
                  <a:srgbClr val="0B1F33"/>
                </a:solidFill>
                <a:latin typeface="Aptos Display"/>
              </a:rPr>
              <a:t>M1_missingness.csv</a:t>
            </a:r>
          </a:p>
        </p:txBody>
      </p:sp>
      <p:sp>
        <p:nvSpPr>
          <p:cNvPr id="11" name="TextBox 10"/>
          <p:cNvSpPr txBox="1"/>
          <p:nvPr/>
        </p:nvSpPr>
        <p:spPr>
          <a:xfrm>
            <a:off x="6583679" y="1911095"/>
            <a:ext cx="4800600" cy="326243"/>
          </a:xfrm>
          <a:prstGeom prst="rect">
            <a:avLst/>
          </a:prstGeom>
          <a:noFill/>
        </p:spPr>
        <p:txBody>
          <a:bodyPr wrap="square" lIns="54864" tIns="54864" rIns="54864" bIns="54864" anchor="t">
            <a:spAutoFit/>
          </a:bodyPr>
          <a:lstStyle/>
          <a:p>
            <a:pPr algn="l"/>
            <a:r>
              <a:rPr sz="1400" b="0">
                <a:solidFill>
                  <a:srgbClr val="23303A"/>
                </a:solidFill>
                <a:latin typeface="Aptos"/>
              </a:rPr>
              <a:t>column-level missingness for audit and discussion</a:t>
            </a:r>
          </a:p>
        </p:txBody>
      </p:sp>
      <p:sp>
        <p:nvSpPr>
          <p:cNvPr id="12" name="Rectangle 11"/>
          <p:cNvSpPr/>
          <p:nvPr/>
        </p:nvSpPr>
        <p:spPr>
          <a:xfrm>
            <a:off x="777240" y="2816352"/>
            <a:ext cx="91440" cy="804672"/>
          </a:xfrm>
          <a:prstGeom prst="rect">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p:cNvSpPr txBox="1"/>
          <p:nvPr/>
        </p:nvSpPr>
        <p:spPr>
          <a:xfrm>
            <a:off x="1051560" y="2852928"/>
            <a:ext cx="4800600" cy="357021"/>
          </a:xfrm>
          <a:prstGeom prst="rect">
            <a:avLst/>
          </a:prstGeom>
          <a:noFill/>
        </p:spPr>
        <p:txBody>
          <a:bodyPr wrap="square" lIns="54864" tIns="54864" rIns="54864" bIns="54864" anchor="t">
            <a:spAutoFit/>
          </a:bodyPr>
          <a:lstStyle/>
          <a:p>
            <a:pPr algn="l"/>
            <a:r>
              <a:rPr sz="1600" b="1">
                <a:solidFill>
                  <a:srgbClr val="0B1F33"/>
                </a:solidFill>
                <a:latin typeface="Aptos Display"/>
              </a:rPr>
              <a:t>M1_imputation_comparison.csv</a:t>
            </a:r>
          </a:p>
        </p:txBody>
      </p:sp>
      <p:sp>
        <p:nvSpPr>
          <p:cNvPr id="14" name="TextBox 13"/>
          <p:cNvSpPr txBox="1"/>
          <p:nvPr/>
        </p:nvSpPr>
        <p:spPr>
          <a:xfrm>
            <a:off x="1051560" y="3172968"/>
            <a:ext cx="4800600" cy="326243"/>
          </a:xfrm>
          <a:prstGeom prst="rect">
            <a:avLst/>
          </a:prstGeom>
          <a:noFill/>
        </p:spPr>
        <p:txBody>
          <a:bodyPr wrap="square" lIns="54864" tIns="54864" rIns="54864" bIns="54864" anchor="t">
            <a:spAutoFit/>
          </a:bodyPr>
          <a:lstStyle/>
          <a:p>
            <a:pPr algn="l"/>
            <a:r>
              <a:rPr sz="1400" b="0" dirty="0">
                <a:solidFill>
                  <a:srgbClr val="23303A"/>
                </a:solidFill>
                <a:latin typeface="Aptos"/>
              </a:rPr>
              <a:t>MSE, MAE, and masked-cell counts by method</a:t>
            </a:r>
          </a:p>
        </p:txBody>
      </p:sp>
      <p:sp>
        <p:nvSpPr>
          <p:cNvPr id="15" name="Rectangle 14"/>
          <p:cNvSpPr/>
          <p:nvPr/>
        </p:nvSpPr>
        <p:spPr>
          <a:xfrm>
            <a:off x="6309359" y="2816352"/>
            <a:ext cx="91440" cy="804672"/>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6583679" y="2852928"/>
            <a:ext cx="4800600" cy="357021"/>
          </a:xfrm>
          <a:prstGeom prst="rect">
            <a:avLst/>
          </a:prstGeom>
          <a:noFill/>
        </p:spPr>
        <p:txBody>
          <a:bodyPr wrap="square" lIns="54864" tIns="54864" rIns="54864" bIns="54864" anchor="t">
            <a:spAutoFit/>
          </a:bodyPr>
          <a:lstStyle/>
          <a:p>
            <a:pPr algn="l"/>
            <a:r>
              <a:rPr sz="1600" b="1">
                <a:solidFill>
                  <a:srgbClr val="0B1F33"/>
                </a:solidFill>
                <a:latin typeface="Aptos Display"/>
              </a:rPr>
              <a:t>M1_vital_imputation_audit.csv</a:t>
            </a:r>
          </a:p>
        </p:txBody>
      </p:sp>
      <p:sp>
        <p:nvSpPr>
          <p:cNvPr id="17" name="TextBox 16"/>
          <p:cNvSpPr txBox="1"/>
          <p:nvPr/>
        </p:nvSpPr>
        <p:spPr>
          <a:xfrm>
            <a:off x="6583679" y="3172968"/>
            <a:ext cx="4800600" cy="326243"/>
          </a:xfrm>
          <a:prstGeom prst="rect">
            <a:avLst/>
          </a:prstGeom>
          <a:noFill/>
        </p:spPr>
        <p:txBody>
          <a:bodyPr wrap="square" lIns="54864" tIns="54864" rIns="54864" bIns="54864" anchor="t">
            <a:spAutoFit/>
          </a:bodyPr>
          <a:lstStyle/>
          <a:p>
            <a:pPr algn="l"/>
            <a:r>
              <a:rPr sz="1400" b="0">
                <a:solidFill>
                  <a:srgbClr val="23303A"/>
                </a:solidFill>
                <a:latin typeface="Aptos"/>
              </a:rPr>
              <a:t>raw vs imputed names, ranges, and missing-after checks</a:t>
            </a:r>
          </a:p>
        </p:txBody>
      </p:sp>
      <p:sp>
        <p:nvSpPr>
          <p:cNvPr id="18" name="Rectangle 17"/>
          <p:cNvSpPr/>
          <p:nvPr/>
        </p:nvSpPr>
        <p:spPr>
          <a:xfrm>
            <a:off x="777240" y="4078224"/>
            <a:ext cx="91440" cy="804672"/>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TextBox 18"/>
          <p:cNvSpPr txBox="1"/>
          <p:nvPr/>
        </p:nvSpPr>
        <p:spPr>
          <a:xfrm>
            <a:off x="1051560" y="4114800"/>
            <a:ext cx="4800600" cy="357021"/>
          </a:xfrm>
          <a:prstGeom prst="rect">
            <a:avLst/>
          </a:prstGeom>
          <a:noFill/>
        </p:spPr>
        <p:txBody>
          <a:bodyPr wrap="square" lIns="54864" tIns="54864" rIns="54864" bIns="54864" anchor="t">
            <a:spAutoFit/>
          </a:bodyPr>
          <a:lstStyle/>
          <a:p>
            <a:pPr algn="l"/>
            <a:r>
              <a:rPr sz="1600" b="1" dirty="0">
                <a:solidFill>
                  <a:srgbClr val="0B1F33"/>
                </a:solidFill>
                <a:latin typeface="Aptos Display"/>
              </a:rPr>
              <a:t>M1_quality_checks.csv</a:t>
            </a:r>
          </a:p>
        </p:txBody>
      </p:sp>
      <p:sp>
        <p:nvSpPr>
          <p:cNvPr id="20" name="TextBox 19"/>
          <p:cNvSpPr txBox="1"/>
          <p:nvPr/>
        </p:nvSpPr>
        <p:spPr>
          <a:xfrm>
            <a:off x="1051560" y="4434840"/>
            <a:ext cx="4800600" cy="326243"/>
          </a:xfrm>
          <a:prstGeom prst="rect">
            <a:avLst/>
          </a:prstGeom>
          <a:noFill/>
        </p:spPr>
        <p:txBody>
          <a:bodyPr wrap="square" lIns="54864" tIns="54864" rIns="54864" bIns="54864" anchor="t">
            <a:spAutoFit/>
          </a:bodyPr>
          <a:lstStyle/>
          <a:p>
            <a:pPr algn="l"/>
            <a:r>
              <a:rPr sz="1400" b="0">
                <a:solidFill>
                  <a:srgbClr val="23303A"/>
                </a:solidFill>
                <a:latin typeface="Aptos"/>
              </a:rPr>
              <a:t>negative LOS, zero LOS, IDs, targets, and range flags</a:t>
            </a:r>
          </a:p>
        </p:txBody>
      </p:sp>
      <p:sp>
        <p:nvSpPr>
          <p:cNvPr id="21" name="Rectangle 20"/>
          <p:cNvSpPr/>
          <p:nvPr/>
        </p:nvSpPr>
        <p:spPr>
          <a:xfrm>
            <a:off x="6309359" y="4078224"/>
            <a:ext cx="91440" cy="804672"/>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6583679" y="4114800"/>
            <a:ext cx="4800600" cy="357021"/>
          </a:xfrm>
          <a:prstGeom prst="rect">
            <a:avLst/>
          </a:prstGeom>
          <a:noFill/>
        </p:spPr>
        <p:txBody>
          <a:bodyPr wrap="square" lIns="54864" tIns="54864" rIns="54864" bIns="54864" anchor="t">
            <a:spAutoFit/>
          </a:bodyPr>
          <a:lstStyle/>
          <a:p>
            <a:pPr algn="l"/>
            <a:r>
              <a:rPr sz="1600" b="1">
                <a:solidFill>
                  <a:srgbClr val="0B1F33"/>
                </a:solidFill>
                <a:latin typeface="Aptos Display"/>
              </a:rPr>
              <a:t>M1_target_summary.csv / M1_acuity_summary.csv</a:t>
            </a:r>
          </a:p>
        </p:txBody>
      </p:sp>
      <p:sp>
        <p:nvSpPr>
          <p:cNvPr id="23" name="TextBox 22"/>
          <p:cNvSpPr txBox="1"/>
          <p:nvPr/>
        </p:nvSpPr>
        <p:spPr>
          <a:xfrm>
            <a:off x="6583679" y="4434840"/>
            <a:ext cx="4800600" cy="326243"/>
          </a:xfrm>
          <a:prstGeom prst="rect">
            <a:avLst/>
          </a:prstGeom>
          <a:noFill/>
        </p:spPr>
        <p:txBody>
          <a:bodyPr wrap="square" lIns="54864" tIns="54864" rIns="54864" bIns="54864" anchor="t">
            <a:spAutoFit/>
          </a:bodyPr>
          <a:lstStyle/>
          <a:p>
            <a:pPr algn="l"/>
            <a:r>
              <a:rPr sz="1400" b="0" dirty="0">
                <a:solidFill>
                  <a:srgbClr val="23303A"/>
                </a:solidFill>
                <a:latin typeface="Aptos"/>
              </a:rPr>
              <a:t>outcome prevalence and descriptive acuity comparisons</a:t>
            </a:r>
          </a:p>
        </p:txBody>
      </p:sp>
      <p:sp>
        <p:nvSpPr>
          <p:cNvPr id="24" name="Rounded Rectangle 23"/>
          <p:cNvSpPr/>
          <p:nvPr/>
        </p:nvSpPr>
        <p:spPr>
          <a:xfrm>
            <a:off x="777240" y="5614416"/>
            <a:ext cx="10607040" cy="50292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60120" y="5760720"/>
            <a:ext cx="10241280" cy="357021"/>
          </a:xfrm>
          <a:prstGeom prst="rect">
            <a:avLst/>
          </a:prstGeom>
          <a:noFill/>
        </p:spPr>
        <p:txBody>
          <a:bodyPr wrap="square" lIns="54864" tIns="54864" rIns="54864" bIns="54864" anchor="t">
            <a:spAutoFit/>
          </a:bodyPr>
          <a:lstStyle/>
          <a:p>
            <a:pPr algn="ctr"/>
            <a:r>
              <a:rPr sz="1600" b="1" dirty="0">
                <a:solidFill>
                  <a:srgbClr val="0B1F33"/>
                </a:solidFill>
                <a:latin typeface="Aptos"/>
              </a:rPr>
              <a:t>Raw vital columns stay available; selected method-suffixed columns provide complete modeling estimates.</a:t>
            </a:r>
          </a:p>
        </p:txBody>
      </p:sp>
      <p:sp>
        <p:nvSpPr>
          <p:cNvPr id="26" name="Rectangle 25"/>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a:extLst>
              <a:ext uri="{FF2B5EF4-FFF2-40B4-BE49-F238E27FC236}">
                <a16:creationId xmlns:a16="http://schemas.microsoft.com/office/drawing/2014/main" id="{270972E9-C507-6A79-B022-04D988EAF26A}"/>
              </a:ext>
            </a:extLst>
          </p:cNvPr>
          <p:cNvSpPr/>
          <p:nvPr/>
        </p:nvSpPr>
        <p:spPr>
          <a:xfrm>
            <a:off x="777240" y="1570719"/>
            <a:ext cx="4800600" cy="797172"/>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
        <p:nvSpPr>
          <p:cNvPr id="31" name="Rectangle 30">
            <a:extLst>
              <a:ext uri="{FF2B5EF4-FFF2-40B4-BE49-F238E27FC236}">
                <a16:creationId xmlns:a16="http://schemas.microsoft.com/office/drawing/2014/main" id="{2A4FED44-85B5-CD38-5680-14BC4F5EB531}"/>
              </a:ext>
            </a:extLst>
          </p:cNvPr>
          <p:cNvSpPr/>
          <p:nvPr/>
        </p:nvSpPr>
        <p:spPr>
          <a:xfrm>
            <a:off x="804949" y="2803773"/>
            <a:ext cx="4800600" cy="797172"/>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
        <p:nvSpPr>
          <p:cNvPr id="33" name="Rectangle 32">
            <a:extLst>
              <a:ext uri="{FF2B5EF4-FFF2-40B4-BE49-F238E27FC236}">
                <a16:creationId xmlns:a16="http://schemas.microsoft.com/office/drawing/2014/main" id="{0B071A65-83AE-00C2-342E-723C5ED1F9CD}"/>
              </a:ext>
            </a:extLst>
          </p:cNvPr>
          <p:cNvSpPr/>
          <p:nvPr/>
        </p:nvSpPr>
        <p:spPr>
          <a:xfrm>
            <a:off x="791095" y="4078384"/>
            <a:ext cx="4800600" cy="797172"/>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
        <p:nvSpPr>
          <p:cNvPr id="35" name="Rectangle 34">
            <a:extLst>
              <a:ext uri="{FF2B5EF4-FFF2-40B4-BE49-F238E27FC236}">
                <a16:creationId xmlns:a16="http://schemas.microsoft.com/office/drawing/2014/main" id="{49CA4984-663A-01DE-F765-578FDF5BEBE7}"/>
              </a:ext>
            </a:extLst>
          </p:cNvPr>
          <p:cNvSpPr/>
          <p:nvPr/>
        </p:nvSpPr>
        <p:spPr>
          <a:xfrm>
            <a:off x="6319058" y="1570719"/>
            <a:ext cx="4800600" cy="797172"/>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
        <p:nvSpPr>
          <p:cNvPr id="37" name="Rectangle 36">
            <a:extLst>
              <a:ext uri="{FF2B5EF4-FFF2-40B4-BE49-F238E27FC236}">
                <a16:creationId xmlns:a16="http://schemas.microsoft.com/office/drawing/2014/main" id="{ABBE09C4-703D-F35E-57D3-9C0795FB6EAD}"/>
              </a:ext>
            </a:extLst>
          </p:cNvPr>
          <p:cNvSpPr/>
          <p:nvPr/>
        </p:nvSpPr>
        <p:spPr>
          <a:xfrm>
            <a:off x="6305195" y="2831484"/>
            <a:ext cx="4800600" cy="797172"/>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
        <p:nvSpPr>
          <p:cNvPr id="39" name="Rectangle 38">
            <a:extLst>
              <a:ext uri="{FF2B5EF4-FFF2-40B4-BE49-F238E27FC236}">
                <a16:creationId xmlns:a16="http://schemas.microsoft.com/office/drawing/2014/main" id="{0436AD90-D87E-0A71-04FA-7E90335EDB05}"/>
              </a:ext>
            </a:extLst>
          </p:cNvPr>
          <p:cNvSpPr/>
          <p:nvPr/>
        </p:nvSpPr>
        <p:spPr>
          <a:xfrm>
            <a:off x="6291343" y="4078394"/>
            <a:ext cx="4800600" cy="797172"/>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Y"/>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3657600" cy="182880"/>
          </a:xfrm>
          <a:prstGeom prst="rect">
            <a:avLst/>
          </a:prstGeom>
          <a:noFill/>
        </p:spPr>
        <p:txBody>
          <a:bodyPr wrap="square" lIns="54864" tIns="54864" rIns="54864" bIns="54864" anchor="t">
            <a:spAutoFit/>
          </a:bodyPr>
          <a:lstStyle/>
          <a:p>
            <a:pPr algn="l"/>
            <a:r>
              <a:rPr sz="1000" b="1">
                <a:solidFill>
                  <a:srgbClr val="E9C46A"/>
                </a:solidFill>
                <a:latin typeface="Aptos"/>
              </a:rPr>
              <a:t>05  /  outputs</a:t>
            </a:r>
          </a:p>
        </p:txBody>
      </p:sp>
      <p:sp>
        <p:nvSpPr>
          <p:cNvPr id="3" name="TextBox 2"/>
          <p:cNvSpPr txBox="1"/>
          <p:nvPr/>
        </p:nvSpPr>
        <p:spPr>
          <a:xfrm>
            <a:off x="548640" y="658368"/>
            <a:ext cx="8046720" cy="541687"/>
          </a:xfrm>
          <a:prstGeom prst="rect">
            <a:avLst/>
          </a:prstGeom>
          <a:noFill/>
        </p:spPr>
        <p:txBody>
          <a:bodyPr wrap="square" lIns="54864" tIns="54864" rIns="54864" bIns="54864" anchor="t">
            <a:spAutoFit/>
          </a:bodyPr>
          <a:lstStyle/>
          <a:p>
            <a:pPr algn="l"/>
            <a:r>
              <a:rPr sz="2800" b="1" dirty="0">
                <a:solidFill>
                  <a:srgbClr val="FFFFFF"/>
                </a:solidFill>
                <a:latin typeface="Aptos Display"/>
              </a:rPr>
              <a:t>The student workflow inside M1</a:t>
            </a:r>
          </a:p>
        </p:txBody>
      </p:sp>
      <p:sp>
        <p:nvSpPr>
          <p:cNvPr id="4" name="Oval 3"/>
          <p:cNvSpPr/>
          <p:nvPr/>
        </p:nvSpPr>
        <p:spPr>
          <a:xfrm>
            <a:off x="822960" y="1581912"/>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 name="TextBox 4"/>
          <p:cNvSpPr txBox="1"/>
          <p:nvPr/>
        </p:nvSpPr>
        <p:spPr>
          <a:xfrm>
            <a:off x="822960" y="1655064"/>
            <a:ext cx="292608" cy="280077"/>
          </a:xfrm>
          <a:prstGeom prst="rect">
            <a:avLst/>
          </a:prstGeom>
          <a:noFill/>
        </p:spPr>
        <p:txBody>
          <a:bodyPr wrap="square" lIns="54864" tIns="54864" rIns="54864" bIns="54864" anchor="t">
            <a:spAutoFit/>
          </a:bodyPr>
          <a:lstStyle/>
          <a:p>
            <a:pPr algn="ctr"/>
            <a:r>
              <a:rPr sz="1100" b="1">
                <a:solidFill>
                  <a:srgbClr val="FFFFFF"/>
                </a:solidFill>
                <a:latin typeface="Aptos"/>
              </a:rPr>
              <a:t>1</a:t>
            </a:r>
          </a:p>
        </p:txBody>
      </p:sp>
      <p:sp>
        <p:nvSpPr>
          <p:cNvPr id="6" name="TextBox 5"/>
          <p:cNvSpPr txBox="1"/>
          <p:nvPr/>
        </p:nvSpPr>
        <p:spPr>
          <a:xfrm>
            <a:off x="1280160" y="1554480"/>
            <a:ext cx="4572000" cy="726353"/>
          </a:xfrm>
          <a:prstGeom prst="rect">
            <a:avLst/>
          </a:prstGeom>
          <a:noFill/>
        </p:spPr>
        <p:txBody>
          <a:bodyPr wrap="square" lIns="54864" tIns="54864" rIns="54864" bIns="54864" anchor="t">
            <a:spAutoFit/>
          </a:bodyPr>
          <a:lstStyle/>
          <a:p>
            <a:pPr algn="l"/>
            <a:r>
              <a:rPr sz="2000" b="0">
                <a:solidFill>
                  <a:srgbClr val="E4EBEA"/>
                </a:solidFill>
                <a:latin typeface="Aptos"/>
              </a:rPr>
              <a:t>Run from the workspace root or confirm the data path.</a:t>
            </a:r>
          </a:p>
        </p:txBody>
      </p:sp>
      <p:sp>
        <p:nvSpPr>
          <p:cNvPr id="7" name="Oval 6"/>
          <p:cNvSpPr/>
          <p:nvPr/>
        </p:nvSpPr>
        <p:spPr>
          <a:xfrm>
            <a:off x="6309360" y="1581912"/>
            <a:ext cx="292608" cy="292608"/>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 name="TextBox 7"/>
          <p:cNvSpPr txBox="1"/>
          <p:nvPr/>
        </p:nvSpPr>
        <p:spPr>
          <a:xfrm>
            <a:off x="6309360" y="1655064"/>
            <a:ext cx="292608" cy="280077"/>
          </a:xfrm>
          <a:prstGeom prst="rect">
            <a:avLst/>
          </a:prstGeom>
          <a:noFill/>
        </p:spPr>
        <p:txBody>
          <a:bodyPr wrap="square" lIns="54864" tIns="54864" rIns="54864" bIns="54864" anchor="t">
            <a:spAutoFit/>
          </a:bodyPr>
          <a:lstStyle/>
          <a:p>
            <a:pPr algn="ctr"/>
            <a:r>
              <a:rPr sz="1100" b="1">
                <a:solidFill>
                  <a:srgbClr val="FFFFFF"/>
                </a:solidFill>
                <a:latin typeface="Aptos"/>
              </a:rPr>
              <a:t>2</a:t>
            </a:r>
          </a:p>
        </p:txBody>
      </p:sp>
      <p:sp>
        <p:nvSpPr>
          <p:cNvPr id="9" name="TextBox 8"/>
          <p:cNvSpPr txBox="1"/>
          <p:nvPr/>
        </p:nvSpPr>
        <p:spPr>
          <a:xfrm>
            <a:off x="6766560" y="1554480"/>
            <a:ext cx="4572000" cy="726353"/>
          </a:xfrm>
          <a:prstGeom prst="rect">
            <a:avLst/>
          </a:prstGeom>
          <a:noFill/>
        </p:spPr>
        <p:txBody>
          <a:bodyPr wrap="square" lIns="54864" tIns="54864" rIns="54864" bIns="54864" anchor="t">
            <a:spAutoFit/>
          </a:bodyPr>
          <a:lstStyle/>
          <a:p>
            <a:pPr algn="l"/>
            <a:r>
              <a:rPr sz="2000" b="0">
                <a:solidFill>
                  <a:srgbClr val="E4EBEA"/>
                </a:solidFill>
                <a:latin typeface="Aptos"/>
              </a:rPr>
              <a:t>Verify rows, columns, unique stays, and repeated subjects.</a:t>
            </a:r>
          </a:p>
        </p:txBody>
      </p:sp>
      <p:sp>
        <p:nvSpPr>
          <p:cNvPr id="10" name="Oval 9"/>
          <p:cNvSpPr/>
          <p:nvPr/>
        </p:nvSpPr>
        <p:spPr>
          <a:xfrm>
            <a:off x="822960" y="2587751"/>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TextBox 10"/>
          <p:cNvSpPr txBox="1"/>
          <p:nvPr/>
        </p:nvSpPr>
        <p:spPr>
          <a:xfrm>
            <a:off x="822960" y="2660903"/>
            <a:ext cx="292608" cy="280077"/>
          </a:xfrm>
          <a:prstGeom prst="rect">
            <a:avLst/>
          </a:prstGeom>
          <a:noFill/>
        </p:spPr>
        <p:txBody>
          <a:bodyPr wrap="square" lIns="54864" tIns="54864" rIns="54864" bIns="54864" anchor="t">
            <a:spAutoFit/>
          </a:bodyPr>
          <a:lstStyle/>
          <a:p>
            <a:pPr algn="ctr"/>
            <a:r>
              <a:rPr sz="1100" b="1">
                <a:solidFill>
                  <a:srgbClr val="FFFFFF"/>
                </a:solidFill>
                <a:latin typeface="Aptos"/>
              </a:rPr>
              <a:t>3</a:t>
            </a:r>
          </a:p>
        </p:txBody>
      </p:sp>
      <p:sp>
        <p:nvSpPr>
          <p:cNvPr id="12" name="TextBox 11"/>
          <p:cNvSpPr txBox="1"/>
          <p:nvPr/>
        </p:nvSpPr>
        <p:spPr>
          <a:xfrm>
            <a:off x="1280160" y="2560320"/>
            <a:ext cx="4572000" cy="726353"/>
          </a:xfrm>
          <a:prstGeom prst="rect">
            <a:avLst/>
          </a:prstGeom>
          <a:noFill/>
        </p:spPr>
        <p:txBody>
          <a:bodyPr wrap="square" lIns="54864" tIns="54864" rIns="54864" bIns="54864" anchor="t">
            <a:spAutoFit/>
          </a:bodyPr>
          <a:lstStyle/>
          <a:p>
            <a:pPr algn="l"/>
            <a:r>
              <a:rPr sz="2000" b="0">
                <a:solidFill>
                  <a:srgbClr val="E4EBEA"/>
                </a:solidFill>
                <a:latin typeface="Aptos"/>
              </a:rPr>
              <a:t>Read the generated variable dictionary before plotting.</a:t>
            </a:r>
          </a:p>
        </p:txBody>
      </p:sp>
      <p:sp>
        <p:nvSpPr>
          <p:cNvPr id="13" name="Oval 12"/>
          <p:cNvSpPr/>
          <p:nvPr/>
        </p:nvSpPr>
        <p:spPr>
          <a:xfrm>
            <a:off x="6309360" y="2587751"/>
            <a:ext cx="292608" cy="292608"/>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TextBox 13"/>
          <p:cNvSpPr txBox="1"/>
          <p:nvPr/>
        </p:nvSpPr>
        <p:spPr>
          <a:xfrm>
            <a:off x="6309360" y="2660903"/>
            <a:ext cx="292608" cy="280077"/>
          </a:xfrm>
          <a:prstGeom prst="rect">
            <a:avLst/>
          </a:prstGeom>
          <a:noFill/>
        </p:spPr>
        <p:txBody>
          <a:bodyPr wrap="square" lIns="54864" tIns="54864" rIns="54864" bIns="54864" anchor="t">
            <a:spAutoFit/>
          </a:bodyPr>
          <a:lstStyle/>
          <a:p>
            <a:pPr algn="ctr"/>
            <a:r>
              <a:rPr sz="1100" b="1">
                <a:solidFill>
                  <a:srgbClr val="FFFFFF"/>
                </a:solidFill>
                <a:latin typeface="Aptos"/>
              </a:rPr>
              <a:t>4</a:t>
            </a:r>
          </a:p>
        </p:txBody>
      </p:sp>
      <p:sp>
        <p:nvSpPr>
          <p:cNvPr id="15" name="TextBox 14"/>
          <p:cNvSpPr txBox="1"/>
          <p:nvPr/>
        </p:nvSpPr>
        <p:spPr>
          <a:xfrm>
            <a:off x="6766560" y="2560320"/>
            <a:ext cx="4572000" cy="726353"/>
          </a:xfrm>
          <a:prstGeom prst="rect">
            <a:avLst/>
          </a:prstGeom>
          <a:noFill/>
        </p:spPr>
        <p:txBody>
          <a:bodyPr wrap="square" lIns="54864" tIns="54864" rIns="54864" bIns="54864" anchor="t">
            <a:spAutoFit/>
          </a:bodyPr>
          <a:lstStyle/>
          <a:p>
            <a:pPr algn="l"/>
            <a:r>
              <a:rPr sz="2000" b="0">
                <a:solidFill>
                  <a:srgbClr val="E4EBEA"/>
                </a:solidFill>
                <a:latin typeface="Aptos"/>
              </a:rPr>
              <a:t>Compare numerical summaries with units and missingness.</a:t>
            </a:r>
          </a:p>
        </p:txBody>
      </p:sp>
      <p:sp>
        <p:nvSpPr>
          <p:cNvPr id="16" name="Oval 15"/>
          <p:cNvSpPr/>
          <p:nvPr/>
        </p:nvSpPr>
        <p:spPr>
          <a:xfrm>
            <a:off x="822960" y="3593592"/>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822960" y="3666744"/>
            <a:ext cx="292608" cy="280077"/>
          </a:xfrm>
          <a:prstGeom prst="rect">
            <a:avLst/>
          </a:prstGeom>
          <a:noFill/>
        </p:spPr>
        <p:txBody>
          <a:bodyPr wrap="square" lIns="54864" tIns="54864" rIns="54864" bIns="54864" anchor="t">
            <a:spAutoFit/>
          </a:bodyPr>
          <a:lstStyle/>
          <a:p>
            <a:pPr algn="ctr"/>
            <a:r>
              <a:rPr sz="1100" b="1">
                <a:solidFill>
                  <a:srgbClr val="FFFFFF"/>
                </a:solidFill>
                <a:latin typeface="Aptos"/>
              </a:rPr>
              <a:t>5</a:t>
            </a:r>
          </a:p>
        </p:txBody>
      </p:sp>
      <p:sp>
        <p:nvSpPr>
          <p:cNvPr id="18" name="TextBox 17"/>
          <p:cNvSpPr txBox="1"/>
          <p:nvPr/>
        </p:nvSpPr>
        <p:spPr>
          <a:xfrm>
            <a:off x="1280160" y="3566160"/>
            <a:ext cx="4572000" cy="726353"/>
          </a:xfrm>
          <a:prstGeom prst="rect">
            <a:avLst/>
          </a:prstGeom>
          <a:noFill/>
        </p:spPr>
        <p:txBody>
          <a:bodyPr wrap="square" lIns="54864" tIns="54864" rIns="54864" bIns="54864" anchor="t">
            <a:spAutoFit/>
          </a:bodyPr>
          <a:lstStyle/>
          <a:p>
            <a:pPr algn="l"/>
            <a:r>
              <a:rPr sz="2000" b="0">
                <a:solidFill>
                  <a:srgbClr val="E4EBEA"/>
                </a:solidFill>
                <a:latin typeface="Aptos"/>
              </a:rPr>
              <a:t>Inspect categorical frequencies without hiding missing labels.</a:t>
            </a:r>
          </a:p>
        </p:txBody>
      </p:sp>
      <p:sp>
        <p:nvSpPr>
          <p:cNvPr id="19" name="Oval 18"/>
          <p:cNvSpPr/>
          <p:nvPr/>
        </p:nvSpPr>
        <p:spPr>
          <a:xfrm>
            <a:off x="6309360" y="3593592"/>
            <a:ext cx="292608" cy="292608"/>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TextBox 19"/>
          <p:cNvSpPr txBox="1"/>
          <p:nvPr/>
        </p:nvSpPr>
        <p:spPr>
          <a:xfrm>
            <a:off x="6309360" y="3666744"/>
            <a:ext cx="292608" cy="280077"/>
          </a:xfrm>
          <a:prstGeom prst="rect">
            <a:avLst/>
          </a:prstGeom>
          <a:noFill/>
        </p:spPr>
        <p:txBody>
          <a:bodyPr wrap="square" lIns="54864" tIns="54864" rIns="54864" bIns="54864" anchor="t">
            <a:spAutoFit/>
          </a:bodyPr>
          <a:lstStyle/>
          <a:p>
            <a:pPr algn="ctr"/>
            <a:r>
              <a:rPr sz="1100" b="1">
                <a:solidFill>
                  <a:srgbClr val="FFFFFF"/>
                </a:solidFill>
                <a:latin typeface="Aptos"/>
              </a:rPr>
              <a:t>6</a:t>
            </a:r>
          </a:p>
        </p:txBody>
      </p:sp>
      <p:sp>
        <p:nvSpPr>
          <p:cNvPr id="21" name="TextBox 20"/>
          <p:cNvSpPr txBox="1"/>
          <p:nvPr/>
        </p:nvSpPr>
        <p:spPr>
          <a:xfrm>
            <a:off x="6766560" y="3566160"/>
            <a:ext cx="4572000" cy="726353"/>
          </a:xfrm>
          <a:prstGeom prst="rect">
            <a:avLst/>
          </a:prstGeom>
          <a:noFill/>
        </p:spPr>
        <p:txBody>
          <a:bodyPr wrap="square" lIns="54864" tIns="54864" rIns="54864" bIns="54864" anchor="t">
            <a:spAutoFit/>
          </a:bodyPr>
          <a:lstStyle/>
          <a:p>
            <a:pPr algn="l"/>
            <a:r>
              <a:rPr sz="2000" b="0">
                <a:solidFill>
                  <a:srgbClr val="E4EBEA"/>
                </a:solidFill>
                <a:latin typeface="Aptos"/>
              </a:rPr>
              <a:t>Compare imputation methods on artificially masked cells.</a:t>
            </a:r>
          </a:p>
        </p:txBody>
      </p:sp>
      <p:sp>
        <p:nvSpPr>
          <p:cNvPr id="22" name="Oval 21"/>
          <p:cNvSpPr/>
          <p:nvPr/>
        </p:nvSpPr>
        <p:spPr>
          <a:xfrm>
            <a:off x="822960" y="4599432"/>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822960" y="4672584"/>
            <a:ext cx="292608" cy="280077"/>
          </a:xfrm>
          <a:prstGeom prst="rect">
            <a:avLst/>
          </a:prstGeom>
          <a:noFill/>
        </p:spPr>
        <p:txBody>
          <a:bodyPr wrap="square" lIns="54864" tIns="54864" rIns="54864" bIns="54864" anchor="t">
            <a:spAutoFit/>
          </a:bodyPr>
          <a:lstStyle/>
          <a:p>
            <a:pPr algn="ctr"/>
            <a:r>
              <a:rPr sz="1100" b="1">
                <a:solidFill>
                  <a:srgbClr val="FFFFFF"/>
                </a:solidFill>
                <a:latin typeface="Aptos"/>
              </a:rPr>
              <a:t>7</a:t>
            </a:r>
          </a:p>
        </p:txBody>
      </p:sp>
      <p:sp>
        <p:nvSpPr>
          <p:cNvPr id="24" name="TextBox 23"/>
          <p:cNvSpPr txBox="1"/>
          <p:nvPr/>
        </p:nvSpPr>
        <p:spPr>
          <a:xfrm>
            <a:off x="1280160" y="4572000"/>
            <a:ext cx="4572000" cy="726353"/>
          </a:xfrm>
          <a:prstGeom prst="rect">
            <a:avLst/>
          </a:prstGeom>
          <a:noFill/>
        </p:spPr>
        <p:txBody>
          <a:bodyPr wrap="square" lIns="54864" tIns="54864" rIns="54864" bIns="54864" anchor="t">
            <a:spAutoFit/>
          </a:bodyPr>
          <a:lstStyle/>
          <a:p>
            <a:pPr algn="l"/>
            <a:r>
              <a:rPr sz="2000" b="0">
                <a:solidFill>
                  <a:srgbClr val="E4EBEA"/>
                </a:solidFill>
                <a:latin typeface="Aptos"/>
              </a:rPr>
              <a:t>Review leakage boundaries before using a field as a predictor.</a:t>
            </a:r>
          </a:p>
        </p:txBody>
      </p:sp>
      <p:sp>
        <p:nvSpPr>
          <p:cNvPr id="25" name="Oval 24"/>
          <p:cNvSpPr/>
          <p:nvPr/>
        </p:nvSpPr>
        <p:spPr>
          <a:xfrm>
            <a:off x="6309360" y="4599432"/>
            <a:ext cx="292608" cy="292608"/>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6" name="TextBox 25"/>
          <p:cNvSpPr txBox="1"/>
          <p:nvPr/>
        </p:nvSpPr>
        <p:spPr>
          <a:xfrm>
            <a:off x="6309360" y="4672584"/>
            <a:ext cx="292608" cy="280077"/>
          </a:xfrm>
          <a:prstGeom prst="rect">
            <a:avLst/>
          </a:prstGeom>
          <a:noFill/>
        </p:spPr>
        <p:txBody>
          <a:bodyPr wrap="square" lIns="54864" tIns="54864" rIns="54864" bIns="54864" anchor="t">
            <a:spAutoFit/>
          </a:bodyPr>
          <a:lstStyle/>
          <a:p>
            <a:pPr algn="ctr"/>
            <a:r>
              <a:rPr sz="1100" b="1">
                <a:solidFill>
                  <a:srgbClr val="FFFFFF"/>
                </a:solidFill>
                <a:latin typeface="Aptos"/>
              </a:rPr>
              <a:t>8</a:t>
            </a:r>
          </a:p>
        </p:txBody>
      </p:sp>
      <p:sp>
        <p:nvSpPr>
          <p:cNvPr id="27" name="TextBox 26"/>
          <p:cNvSpPr txBox="1"/>
          <p:nvPr/>
        </p:nvSpPr>
        <p:spPr>
          <a:xfrm>
            <a:off x="6766560" y="4572000"/>
            <a:ext cx="4572000" cy="726353"/>
          </a:xfrm>
          <a:prstGeom prst="rect">
            <a:avLst/>
          </a:prstGeom>
          <a:noFill/>
        </p:spPr>
        <p:txBody>
          <a:bodyPr wrap="square" lIns="54864" tIns="54864" rIns="54864" bIns="54864" anchor="t">
            <a:spAutoFit/>
          </a:bodyPr>
          <a:lstStyle/>
          <a:p>
            <a:pPr algn="l"/>
            <a:r>
              <a:rPr sz="2000" b="0">
                <a:solidFill>
                  <a:srgbClr val="E4EBEA"/>
                </a:solidFill>
                <a:latin typeface="Aptos"/>
              </a:rPr>
              <a:t>Inspect the exported handoff tables and document limitations.</a:t>
            </a:r>
          </a:p>
        </p:txBody>
      </p:sp>
      <p:sp>
        <p:nvSpPr>
          <p:cNvPr id="28" name="Rectangle 27"/>
          <p:cNvSpPr/>
          <p:nvPr/>
        </p:nvSpPr>
        <p:spPr>
          <a:xfrm>
            <a:off x="822960" y="5989320"/>
            <a:ext cx="10515600" cy="45720"/>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6172200"/>
            <a:ext cx="10515600" cy="387798"/>
          </a:xfrm>
          <a:prstGeom prst="rect">
            <a:avLst/>
          </a:prstGeom>
          <a:noFill/>
        </p:spPr>
        <p:txBody>
          <a:bodyPr wrap="square" lIns="54864" tIns="54864" rIns="54864" bIns="54864" anchor="t">
            <a:spAutoFit/>
          </a:bodyPr>
          <a:lstStyle/>
          <a:p>
            <a:pPr algn="ctr"/>
            <a:r>
              <a:rPr b="1" dirty="0">
                <a:solidFill>
                  <a:srgbClr val="E9C46A"/>
                </a:solidFill>
                <a:latin typeface="Aptos"/>
              </a:rPr>
              <a:t>The deliverable is not just a cleaned table. It is a defensible explanation of what the table means.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206240" cy="228600"/>
          </a:xfrm>
          <a:prstGeom prst="rect">
            <a:avLst/>
          </a:prstGeom>
          <a:noFill/>
        </p:spPr>
        <p:txBody>
          <a:bodyPr wrap="square" lIns="54864" tIns="54864" rIns="54864" bIns="54864" anchor="t">
            <a:spAutoFit/>
          </a:bodyPr>
          <a:lstStyle/>
          <a:p>
            <a:pPr algn="l"/>
            <a:r>
              <a:rPr sz="1000" b="1">
                <a:solidFill>
                  <a:srgbClr val="0F766E"/>
                </a:solidFill>
                <a:latin typeface="Aptos"/>
              </a:rPr>
              <a:t>M1  /  CLOSE</a:t>
            </a:r>
          </a:p>
        </p:txBody>
      </p:sp>
      <p:sp>
        <p:nvSpPr>
          <p:cNvPr id="3" name="TextBox 2"/>
          <p:cNvSpPr txBox="1"/>
          <p:nvPr/>
        </p:nvSpPr>
        <p:spPr>
          <a:xfrm>
            <a:off x="548640" y="566928"/>
            <a:ext cx="10424160" cy="541687"/>
          </a:xfrm>
          <a:prstGeom prst="rect">
            <a:avLst/>
          </a:prstGeom>
          <a:noFill/>
        </p:spPr>
        <p:txBody>
          <a:bodyPr wrap="square" lIns="54864" tIns="54864" rIns="54864" bIns="54864" anchor="t">
            <a:spAutoFit/>
          </a:bodyPr>
          <a:lstStyle/>
          <a:p>
            <a:pPr algn="l"/>
            <a:r>
              <a:rPr sz="2800" b="1" dirty="0">
                <a:solidFill>
                  <a:srgbClr val="0B1F33"/>
                </a:solidFill>
                <a:latin typeface="Aptos Display"/>
              </a:rPr>
              <a:t>Before you model, be able to say what the row means</a:t>
            </a:r>
          </a:p>
        </p:txBody>
      </p:sp>
      <p:sp>
        <p:nvSpPr>
          <p:cNvPr id="4" name="TextBox 3"/>
          <p:cNvSpPr txBox="1"/>
          <p:nvPr/>
        </p:nvSpPr>
        <p:spPr>
          <a:xfrm>
            <a:off x="10652760" y="310896"/>
            <a:ext cx="914400" cy="201168"/>
          </a:xfrm>
          <a:prstGeom prst="rect">
            <a:avLst/>
          </a:prstGeom>
          <a:noFill/>
        </p:spPr>
        <p:txBody>
          <a:bodyPr wrap="square" lIns="54864" tIns="54864" rIns="54864" bIns="54864" anchor="t">
            <a:spAutoFit/>
          </a:bodyPr>
          <a:lstStyle/>
          <a:p>
            <a:pPr algn="r"/>
            <a:r>
              <a:rPr sz="1000" b="1">
                <a:solidFill>
                  <a:srgbClr val="5B6971"/>
                </a:solidFill>
                <a:latin typeface="Aptos"/>
              </a:rPr>
              <a:t>M1  /  18</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45920"/>
            <a:ext cx="6583680" cy="541687"/>
          </a:xfrm>
          <a:prstGeom prst="rect">
            <a:avLst/>
          </a:prstGeom>
          <a:noFill/>
        </p:spPr>
        <p:txBody>
          <a:bodyPr wrap="square" lIns="54864" tIns="54864" rIns="54864" bIns="54864" anchor="t">
            <a:spAutoFit/>
          </a:bodyPr>
          <a:lstStyle/>
          <a:p>
            <a:pPr algn="l"/>
            <a:r>
              <a:rPr sz="2800" b="1" dirty="0">
                <a:solidFill>
                  <a:srgbClr val="0B1F33"/>
                </a:solidFill>
                <a:latin typeface="Aptos Display"/>
              </a:rPr>
              <a:t>A strong analysis begins with four answers:</a:t>
            </a:r>
          </a:p>
        </p:txBody>
      </p:sp>
      <p:sp>
        <p:nvSpPr>
          <p:cNvPr id="7" name="Oval 6"/>
          <p:cNvSpPr/>
          <p:nvPr/>
        </p:nvSpPr>
        <p:spPr>
          <a:xfrm>
            <a:off x="868680" y="2518839"/>
            <a:ext cx="713232" cy="713232"/>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832103" y="2642615"/>
            <a:ext cx="786384" cy="418576"/>
          </a:xfrm>
          <a:prstGeom prst="rect">
            <a:avLst/>
          </a:prstGeom>
          <a:noFill/>
        </p:spPr>
        <p:txBody>
          <a:bodyPr wrap="square" lIns="54864" tIns="54864" rIns="54864" bIns="54864" anchor="t">
            <a:spAutoFit/>
          </a:bodyPr>
          <a:lstStyle/>
          <a:p>
            <a:pPr algn="ctr"/>
            <a:r>
              <a:rPr sz="2000" b="1">
                <a:solidFill>
                  <a:srgbClr val="FFFFFF"/>
                </a:solidFill>
                <a:latin typeface="Aptos"/>
              </a:rPr>
              <a:t>Who?</a:t>
            </a:r>
          </a:p>
        </p:txBody>
      </p:sp>
      <p:sp>
        <p:nvSpPr>
          <p:cNvPr id="9" name="TextBox 8"/>
          <p:cNvSpPr txBox="1"/>
          <p:nvPr/>
        </p:nvSpPr>
        <p:spPr>
          <a:xfrm>
            <a:off x="1828800" y="2532888"/>
            <a:ext cx="4160520" cy="726353"/>
          </a:xfrm>
          <a:prstGeom prst="rect">
            <a:avLst/>
          </a:prstGeom>
          <a:noFill/>
        </p:spPr>
        <p:txBody>
          <a:bodyPr wrap="square" lIns="54864" tIns="54864" rIns="54864" bIns="54864" anchor="t">
            <a:spAutoFit/>
          </a:bodyPr>
          <a:lstStyle/>
          <a:p>
            <a:pPr algn="l"/>
            <a:r>
              <a:rPr sz="2000" b="1">
                <a:solidFill>
                  <a:srgbClr val="23303A"/>
                </a:solidFill>
                <a:latin typeface="Aptos"/>
              </a:rPr>
              <a:t>Which people and encounters are represented?</a:t>
            </a:r>
          </a:p>
        </p:txBody>
      </p:sp>
      <p:sp>
        <p:nvSpPr>
          <p:cNvPr id="10" name="Oval 9"/>
          <p:cNvSpPr/>
          <p:nvPr/>
        </p:nvSpPr>
        <p:spPr>
          <a:xfrm>
            <a:off x="6355080" y="2423160"/>
            <a:ext cx="713232" cy="71323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6307975" y="2464606"/>
            <a:ext cx="786384" cy="726353"/>
          </a:xfrm>
          <a:prstGeom prst="rect">
            <a:avLst/>
          </a:prstGeom>
          <a:noFill/>
        </p:spPr>
        <p:txBody>
          <a:bodyPr wrap="square" lIns="54864" tIns="54864" rIns="54864" bIns="54864" anchor="t">
            <a:spAutoFit/>
          </a:bodyPr>
          <a:lstStyle/>
          <a:p>
            <a:pPr algn="ctr"/>
            <a:r>
              <a:rPr sz="2000" b="1" dirty="0">
                <a:solidFill>
                  <a:srgbClr val="FFFFFF"/>
                </a:solidFill>
                <a:latin typeface="Aptos"/>
              </a:rPr>
              <a:t>What?</a:t>
            </a:r>
          </a:p>
        </p:txBody>
      </p:sp>
      <p:sp>
        <p:nvSpPr>
          <p:cNvPr id="12" name="TextBox 11"/>
          <p:cNvSpPr txBox="1"/>
          <p:nvPr/>
        </p:nvSpPr>
        <p:spPr>
          <a:xfrm>
            <a:off x="7315200" y="2532888"/>
            <a:ext cx="4160520" cy="726353"/>
          </a:xfrm>
          <a:prstGeom prst="rect">
            <a:avLst/>
          </a:prstGeom>
          <a:noFill/>
        </p:spPr>
        <p:txBody>
          <a:bodyPr wrap="square" lIns="54864" tIns="54864" rIns="54864" bIns="54864" anchor="t">
            <a:spAutoFit/>
          </a:bodyPr>
          <a:lstStyle/>
          <a:p>
            <a:pPr algn="l"/>
            <a:r>
              <a:rPr sz="2000" b="1">
                <a:solidFill>
                  <a:srgbClr val="23303A"/>
                </a:solidFill>
                <a:latin typeface="Aptos"/>
              </a:rPr>
              <a:t>What does one row and each variable represent?</a:t>
            </a:r>
          </a:p>
        </p:txBody>
      </p:sp>
      <p:sp>
        <p:nvSpPr>
          <p:cNvPr id="13" name="Oval 12"/>
          <p:cNvSpPr/>
          <p:nvPr/>
        </p:nvSpPr>
        <p:spPr>
          <a:xfrm>
            <a:off x="868680" y="3749039"/>
            <a:ext cx="713232" cy="713232"/>
          </a:xfrm>
          <a:prstGeom prst="ellipse">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832103" y="3804499"/>
            <a:ext cx="786384" cy="726353"/>
          </a:xfrm>
          <a:prstGeom prst="rect">
            <a:avLst/>
          </a:prstGeom>
          <a:noFill/>
        </p:spPr>
        <p:txBody>
          <a:bodyPr wrap="square" lIns="54864" tIns="54864" rIns="54864" bIns="54864" anchor="t">
            <a:spAutoFit/>
          </a:bodyPr>
          <a:lstStyle/>
          <a:p>
            <a:pPr algn="ctr"/>
            <a:r>
              <a:rPr sz="2000" b="1" dirty="0">
                <a:solidFill>
                  <a:srgbClr val="FFFFFF"/>
                </a:solidFill>
                <a:latin typeface="Aptos"/>
              </a:rPr>
              <a:t>When?</a:t>
            </a:r>
          </a:p>
        </p:txBody>
      </p:sp>
      <p:sp>
        <p:nvSpPr>
          <p:cNvPr id="15" name="TextBox 14"/>
          <p:cNvSpPr txBox="1"/>
          <p:nvPr/>
        </p:nvSpPr>
        <p:spPr>
          <a:xfrm>
            <a:off x="1828800" y="3858768"/>
            <a:ext cx="4160520" cy="726353"/>
          </a:xfrm>
          <a:prstGeom prst="rect">
            <a:avLst/>
          </a:prstGeom>
          <a:noFill/>
        </p:spPr>
        <p:txBody>
          <a:bodyPr wrap="square" lIns="54864" tIns="54864" rIns="54864" bIns="54864" anchor="t">
            <a:spAutoFit/>
          </a:bodyPr>
          <a:lstStyle/>
          <a:p>
            <a:pPr algn="l"/>
            <a:r>
              <a:rPr sz="2000" b="1">
                <a:solidFill>
                  <a:srgbClr val="23303A"/>
                </a:solidFill>
                <a:latin typeface="Aptos"/>
              </a:rPr>
              <a:t>When could each value have been known?</a:t>
            </a:r>
          </a:p>
        </p:txBody>
      </p:sp>
      <p:sp>
        <p:nvSpPr>
          <p:cNvPr id="16" name="Oval 15"/>
          <p:cNvSpPr/>
          <p:nvPr/>
        </p:nvSpPr>
        <p:spPr>
          <a:xfrm>
            <a:off x="6355080" y="3749039"/>
            <a:ext cx="713232" cy="713232"/>
          </a:xfrm>
          <a:prstGeom prst="ellipse">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p:cNvSpPr txBox="1"/>
          <p:nvPr/>
        </p:nvSpPr>
        <p:spPr>
          <a:xfrm>
            <a:off x="6329588" y="3749039"/>
            <a:ext cx="786384" cy="726353"/>
          </a:xfrm>
          <a:prstGeom prst="rect">
            <a:avLst/>
          </a:prstGeom>
          <a:noFill/>
        </p:spPr>
        <p:txBody>
          <a:bodyPr wrap="square" lIns="54864" tIns="54864" rIns="54864" bIns="54864" anchor="t">
            <a:spAutoFit/>
          </a:bodyPr>
          <a:lstStyle/>
          <a:p>
            <a:pPr algn="ctr"/>
            <a:r>
              <a:rPr sz="2000" b="1" dirty="0">
                <a:solidFill>
                  <a:srgbClr val="0B1F33"/>
                </a:solidFill>
                <a:latin typeface="Aptos"/>
              </a:rPr>
              <a:t>How sure?</a:t>
            </a:r>
          </a:p>
        </p:txBody>
      </p:sp>
      <p:sp>
        <p:nvSpPr>
          <p:cNvPr id="18" name="TextBox 17"/>
          <p:cNvSpPr txBox="1"/>
          <p:nvPr/>
        </p:nvSpPr>
        <p:spPr>
          <a:xfrm>
            <a:off x="7315200" y="3858768"/>
            <a:ext cx="4160520" cy="726353"/>
          </a:xfrm>
          <a:prstGeom prst="rect">
            <a:avLst/>
          </a:prstGeom>
          <a:noFill/>
        </p:spPr>
        <p:txBody>
          <a:bodyPr wrap="square" lIns="54864" tIns="54864" rIns="54864" bIns="54864" anchor="t">
            <a:spAutoFit/>
          </a:bodyPr>
          <a:lstStyle/>
          <a:p>
            <a:pPr algn="l"/>
            <a:r>
              <a:rPr sz="2000" b="1">
                <a:solidFill>
                  <a:srgbClr val="23303A"/>
                </a:solidFill>
                <a:latin typeface="Aptos"/>
              </a:rPr>
              <a:t>What is observed, missing, cleaned, imputed, or downstream?</a:t>
            </a:r>
          </a:p>
        </p:txBody>
      </p:sp>
      <p:sp>
        <p:nvSpPr>
          <p:cNvPr id="19" name="Rounded Rectangle 18"/>
          <p:cNvSpPr/>
          <p:nvPr/>
        </p:nvSpPr>
        <p:spPr>
          <a:xfrm>
            <a:off x="868680" y="5257800"/>
            <a:ext cx="10378440" cy="68580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51560" y="5360634"/>
            <a:ext cx="9921240" cy="480131"/>
          </a:xfrm>
          <a:prstGeom prst="rect">
            <a:avLst/>
          </a:prstGeom>
          <a:noFill/>
        </p:spPr>
        <p:txBody>
          <a:bodyPr wrap="square" lIns="54864" tIns="54864" rIns="54864" bIns="54864" anchor="t">
            <a:spAutoFit/>
          </a:bodyPr>
          <a:lstStyle/>
          <a:p>
            <a:pPr algn="ctr"/>
            <a:r>
              <a:rPr sz="2400" b="1" dirty="0">
                <a:solidFill>
                  <a:srgbClr val="0B1F33"/>
                </a:solidFill>
                <a:latin typeface="Aptos Display"/>
              </a:rPr>
              <a:t>M1 turns a clinical data extract into a transparent analytical starting point.</a:t>
            </a:r>
          </a:p>
        </p:txBody>
      </p:sp>
      <p:sp>
        <p:nvSpPr>
          <p:cNvPr id="21" name="Rectangle 20"/>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6583680"/>
            <a:ext cx="8229600" cy="146304"/>
          </a:xfrm>
          <a:prstGeom prst="rect">
            <a:avLst/>
          </a:prstGeom>
          <a:noFill/>
        </p:spPr>
        <p:txBody>
          <a:bodyPr wrap="square" lIns="54864" tIns="54864" rIns="54864" bIns="54864" anchor="t">
            <a:spAutoFit/>
          </a:bodyPr>
          <a:lstStyle/>
          <a:p>
            <a:pPr algn="l"/>
            <a:r>
              <a:rPr sz="800" b="0">
                <a:solidFill>
                  <a:srgbClr val="5B6971"/>
                </a:solidFill>
                <a:latin typeface="Aptos"/>
              </a:rPr>
              <a:t>Next step: carry the declared row grain, timing boundary, and data-quality evidence into modeling</a:t>
            </a:r>
          </a:p>
        </p:txBody>
      </p:sp>
    </p:spTree>
  </p:cSld>
  <p:clrMapOvr>
    <a:masterClrMapping/>
  </p:clrMapOvr>
</p:sld>
</file>

<file path=ppt/theme/theme1.xml><?xml version="1.0" encoding="utf-8"?>
<a:theme xmlns:a="http://schemas.openxmlformats.org/drawingml/2006/main" name="Axis">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 id="{2A75EA04-0AE5-4074-9538-7DA6C138DAE9}" vid="{E39B6906-D52F-4B95-B43C-27F512CB47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Axis</Template>
  <TotalTime>78</TotalTime>
  <Words>3994</Words>
  <Application>Microsoft Office PowerPoint</Application>
  <PresentationFormat>Widescreen</PresentationFormat>
  <Paragraphs>330</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Neue Haas Grotesk Text Pro</vt:lpstr>
      <vt:lpstr>Axis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Waqar Aziz</cp:lastModifiedBy>
  <cp:revision>6</cp:revision>
  <dcterms:created xsi:type="dcterms:W3CDTF">2013-01-27T09:14:16Z</dcterms:created>
  <dcterms:modified xsi:type="dcterms:W3CDTF">2026-09-01T05:56:46Z</dcterms:modified>
  <cp:category/>
</cp:coreProperties>
</file>